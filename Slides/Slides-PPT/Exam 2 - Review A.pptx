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 id="2147483684" r:id="rId3"/>
  </p:sldMasterIdLst>
  <p:notesMasterIdLst>
    <p:notesMasterId r:id="rId66"/>
  </p:notesMasterIdLst>
  <p:sldIdLst>
    <p:sldId id="268" r:id="rId4"/>
    <p:sldId id="440" r:id="rId5"/>
    <p:sldId id="862" r:id="rId6"/>
    <p:sldId id="501" r:id="rId7"/>
    <p:sldId id="515" r:id="rId8"/>
    <p:sldId id="510" r:id="rId9"/>
    <p:sldId id="518" r:id="rId10"/>
    <p:sldId id="530" r:id="rId11"/>
    <p:sldId id="522" r:id="rId12"/>
    <p:sldId id="529" r:id="rId13"/>
    <p:sldId id="531" r:id="rId14"/>
    <p:sldId id="532" r:id="rId15"/>
    <p:sldId id="810" r:id="rId16"/>
    <p:sldId id="847" r:id="rId17"/>
    <p:sldId id="811" r:id="rId18"/>
    <p:sldId id="848" r:id="rId19"/>
    <p:sldId id="804" r:id="rId20"/>
    <p:sldId id="815" r:id="rId21"/>
    <p:sldId id="816" r:id="rId22"/>
    <p:sldId id="854" r:id="rId23"/>
    <p:sldId id="548" r:id="rId24"/>
    <p:sldId id="853" r:id="rId25"/>
    <p:sldId id="823" r:id="rId26"/>
    <p:sldId id="824" r:id="rId27"/>
    <p:sldId id="849" r:id="rId28"/>
    <p:sldId id="636" r:id="rId29"/>
    <p:sldId id="822" r:id="rId30"/>
    <p:sldId id="818" r:id="rId31"/>
    <p:sldId id="827" r:id="rId32"/>
    <p:sldId id="814" r:id="rId33"/>
    <p:sldId id="820" r:id="rId34"/>
    <p:sldId id="859" r:id="rId35"/>
    <p:sldId id="860" r:id="rId36"/>
    <p:sldId id="850" r:id="rId37"/>
    <p:sldId id="819" r:id="rId38"/>
    <p:sldId id="805" r:id="rId39"/>
    <p:sldId id="851" r:id="rId40"/>
    <p:sldId id="825" r:id="rId41"/>
    <p:sldId id="826" r:id="rId42"/>
    <p:sldId id="852" r:id="rId43"/>
    <p:sldId id="796" r:id="rId44"/>
    <p:sldId id="806" r:id="rId45"/>
    <p:sldId id="661" r:id="rId46"/>
    <p:sldId id="648" r:id="rId47"/>
    <p:sldId id="549" r:id="rId48"/>
    <p:sldId id="798" r:id="rId49"/>
    <p:sldId id="835" r:id="rId50"/>
    <p:sldId id="836" r:id="rId51"/>
    <p:sldId id="837" r:id="rId52"/>
    <p:sldId id="855" r:id="rId53"/>
    <p:sldId id="856" r:id="rId54"/>
    <p:sldId id="857" r:id="rId55"/>
    <p:sldId id="838" r:id="rId56"/>
    <p:sldId id="839" r:id="rId57"/>
    <p:sldId id="270" r:id="rId58"/>
    <p:sldId id="640" r:id="rId59"/>
    <p:sldId id="642" r:id="rId60"/>
    <p:sldId id="641" r:id="rId61"/>
    <p:sldId id="652" r:id="rId62"/>
    <p:sldId id="656" r:id="rId63"/>
    <p:sldId id="762" r:id="rId64"/>
    <p:sldId id="655"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6E19"/>
    <a:srgbClr val="0081E2"/>
    <a:srgbClr val="00DA63"/>
    <a:srgbClr val="548235"/>
    <a:srgbClr val="000000"/>
    <a:srgbClr val="AE69F3"/>
    <a:srgbClr val="E60000"/>
    <a:srgbClr val="F7FA82"/>
    <a:srgbClr val="00B050"/>
    <a:srgbClr val="FF93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26" autoAdjust="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386AF1-EF24-4659-9089-2771856A9EA2}" type="datetimeFigureOut">
              <a:rPr lang="en-US" smtClean="0"/>
              <a:t>7/27/2026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B3017C-A127-4C06-BF43-1875A8859C4B}" type="slidenum">
              <a:rPr lang="en-US" smtClean="0"/>
              <a:t>‹#›</a:t>
            </a:fld>
            <a:endParaRPr lang="en-US"/>
          </a:p>
        </p:txBody>
      </p:sp>
    </p:spTree>
    <p:extLst>
      <p:ext uri="{BB962C8B-B14F-4D97-AF65-F5344CB8AC3E}">
        <p14:creationId xmlns:p14="http://schemas.microsoft.com/office/powerpoint/2010/main" val="759606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Hi everyone, welcome to the second module of the course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2183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Data</a:t>
            </a:r>
            <a:r>
              <a:rPr lang="en-US" sz="1200" baseline="0" dirty="0"/>
              <a:t> structures are ways to collect data.  There are basic categories of data structures: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8631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Discussed, touched upon, went over, covered</a:t>
            </a:r>
          </a:p>
          <a:p>
            <a:r>
              <a:rPr lang="en-US" dirty="0"/>
              <a:t>Emerges out of the limitations offered by our second approach</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42394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For any possible way of organizing data, we must think about cost;</a:t>
            </a:r>
          </a:p>
          <a:p>
            <a:pPr marL="163084" indent="0">
              <a:buNone/>
            </a:pPr>
            <a:r>
              <a:rPr lang="en-US" dirty="0"/>
              <a:t> minimize time cost of most frequent operations; </a:t>
            </a:r>
          </a:p>
          <a:p>
            <a:pPr marL="163084" indent="0">
              <a:buNone/>
            </a:pPr>
            <a:r>
              <a:rPr lang="en-US" dirty="0"/>
              <a:t>Lets say we have a social network, we might need to find If a is friends with B</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145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For any possible way of organizing data, we must think about cost;</a:t>
            </a:r>
          </a:p>
          <a:p>
            <a:pPr marL="163084" indent="0">
              <a:buNone/>
            </a:pPr>
            <a:r>
              <a:rPr lang="en-US" dirty="0"/>
              <a:t> minimize time cost of most frequent operations; </a:t>
            </a:r>
          </a:p>
          <a:p>
            <a:pPr marL="163084" indent="0">
              <a:buNone/>
            </a:pPr>
            <a:r>
              <a:rPr lang="en-US" dirty="0"/>
              <a:t>Lets say we have a social network, we might need to find If a is friends with B</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57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57344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For any possible way of organizing data, we must think about cost;</a:t>
            </a:r>
          </a:p>
          <a:p>
            <a:pPr marL="163084" indent="0">
              <a:buNone/>
            </a:pPr>
            <a:r>
              <a:rPr lang="en-US" dirty="0"/>
              <a:t> minimize time cost of most frequent operations; </a:t>
            </a:r>
          </a:p>
          <a:p>
            <a:pPr marL="163084" indent="0">
              <a:buNone/>
            </a:pPr>
            <a:r>
              <a:rPr lang="en-US" dirty="0"/>
              <a:t>Lets say we have a social network, we might need to find If a is friends with B</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13108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For any possible way of organizing data, we must think about cost;</a:t>
            </a:r>
          </a:p>
          <a:p>
            <a:pPr marL="163084" indent="0">
              <a:buNone/>
            </a:pPr>
            <a:r>
              <a:rPr lang="en-US" dirty="0"/>
              <a:t> minimize time cost of most frequent operations; </a:t>
            </a:r>
          </a:p>
          <a:p>
            <a:pPr marL="163084" indent="0">
              <a:buNone/>
            </a:pPr>
            <a:r>
              <a:rPr lang="en-US" dirty="0"/>
              <a:t>Lets say we have a social network, we might need to find If a is friends with B</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70369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2902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Can perform binary search</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75936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For any possible way of organizing data, we must think about cost;</a:t>
            </a:r>
          </a:p>
          <a:p>
            <a:pPr marL="163084" indent="0">
              <a:buNone/>
            </a:pPr>
            <a:r>
              <a:rPr lang="en-US" dirty="0"/>
              <a:t> minimize time cost of most frequent operations; </a:t>
            </a:r>
          </a:p>
          <a:p>
            <a:pPr marL="163084" indent="0">
              <a:buNone/>
            </a:pPr>
            <a:r>
              <a:rPr lang="en-US" dirty="0"/>
              <a:t>Lets say we have a social network, we might need to find If a is friends with B</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98237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Hi everyone, welcome to the second module of the course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39996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96711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70561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29211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90772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seen sorting already: Heap sort, </a:t>
            </a:r>
            <a:r>
              <a:rPr lang="en-US" dirty="0" err="1"/>
              <a:t>inorder</a:t>
            </a:r>
            <a:r>
              <a:rPr lang="en-US" dirty="0"/>
              <a:t> of trees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17776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seen sorting already: Heap sort, </a:t>
            </a:r>
            <a:r>
              <a:rPr lang="en-US" dirty="0" err="1"/>
              <a:t>inorder</a:t>
            </a:r>
            <a:r>
              <a:rPr lang="en-US" dirty="0"/>
              <a:t> of trees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79390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seen sorting already: Heap sort, </a:t>
            </a:r>
            <a:r>
              <a:rPr lang="en-US" dirty="0" err="1"/>
              <a:t>inorder</a:t>
            </a:r>
            <a:r>
              <a:rPr lang="en-US" dirty="0"/>
              <a:t> of trees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49732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seen sorting already: Heap sort, </a:t>
            </a:r>
            <a:r>
              <a:rPr lang="en-US" dirty="0" err="1"/>
              <a:t>inorder</a:t>
            </a:r>
            <a:r>
              <a:rPr lang="en-US" dirty="0"/>
              <a:t> of trees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85441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For any possible way of organizing data, we must think about cost;</a:t>
            </a:r>
          </a:p>
          <a:p>
            <a:pPr marL="163084" indent="0">
              <a:buNone/>
            </a:pPr>
            <a:r>
              <a:rPr lang="en-US" dirty="0"/>
              <a:t> minimize time cost of most frequent operations; </a:t>
            </a:r>
          </a:p>
          <a:p>
            <a:pPr marL="163084" indent="0">
              <a:buNone/>
            </a:pPr>
            <a:r>
              <a:rPr lang="en-US" dirty="0"/>
              <a:t>Lets say we have a social network, we might need to find If a is friends with B</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3521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seen sorting already: Heap sort, </a:t>
            </a:r>
            <a:r>
              <a:rPr lang="en-US" dirty="0" err="1"/>
              <a:t>inorder</a:t>
            </a:r>
            <a:r>
              <a:rPr lang="en-US" dirty="0"/>
              <a:t> of trees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79668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For any possible way of organizing data, we must think about cost;</a:t>
            </a:r>
          </a:p>
          <a:p>
            <a:pPr marL="163084" indent="0">
              <a:buNone/>
            </a:pPr>
            <a:r>
              <a:rPr lang="en-US" dirty="0"/>
              <a:t> minimize time cost of most frequent operations; </a:t>
            </a:r>
          </a:p>
          <a:p>
            <a:pPr marL="163084" indent="0">
              <a:buNone/>
            </a:pPr>
            <a:r>
              <a:rPr lang="en-US" dirty="0"/>
              <a:t>Lets say we have a social network, we might need to find If a is friends with B</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63490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For any possible way of organizing data, we must think about cost;</a:t>
            </a:r>
          </a:p>
          <a:p>
            <a:pPr marL="163084" indent="0">
              <a:buNone/>
            </a:pPr>
            <a:r>
              <a:rPr lang="en-US" dirty="0"/>
              <a:t> minimize time cost of most frequent operations; </a:t>
            </a:r>
          </a:p>
          <a:p>
            <a:pPr marL="163084" indent="0">
              <a:buNone/>
            </a:pPr>
            <a:r>
              <a:rPr lang="en-US" dirty="0"/>
              <a:t>Lets say we have a social network, we might need to find If a is friends with B</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145531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03724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86826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11936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For any possible way of organizing data, we must think about cost;</a:t>
            </a:r>
          </a:p>
          <a:p>
            <a:pPr marL="163084" indent="0">
              <a:buNone/>
            </a:pPr>
            <a:r>
              <a:rPr lang="en-US" dirty="0"/>
              <a:t> minimize time cost of most frequent operations; </a:t>
            </a:r>
          </a:p>
          <a:p>
            <a:pPr marL="163084" indent="0">
              <a:buNone/>
            </a:pPr>
            <a:r>
              <a:rPr lang="en-US" dirty="0"/>
              <a:t>Lets say we have a social network, we might need to find If a is friends with B</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12263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For any possible way of organizing data, we must think about cost;</a:t>
            </a:r>
          </a:p>
          <a:p>
            <a:pPr marL="163084" indent="0">
              <a:buNone/>
            </a:pPr>
            <a:r>
              <a:rPr lang="en-US" dirty="0"/>
              <a:t> minimize time cost of most frequent operations; </a:t>
            </a:r>
          </a:p>
          <a:p>
            <a:pPr marL="163084" indent="0">
              <a:buNone/>
            </a:pPr>
            <a:r>
              <a:rPr lang="en-US" dirty="0"/>
              <a:t>Lets say we have a social network, we might need to find If a is friends with B</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68636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seen sorting already: Heap sort, </a:t>
            </a:r>
            <a:r>
              <a:rPr lang="en-US" dirty="0" err="1"/>
              <a:t>inorder</a:t>
            </a:r>
            <a:r>
              <a:rPr lang="en-US" dirty="0"/>
              <a:t> of trees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12522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seen sorting already: Heap sort, </a:t>
            </a:r>
            <a:r>
              <a:rPr lang="en-US" dirty="0" err="1"/>
              <a:t>inorder</a:t>
            </a:r>
            <a:r>
              <a:rPr lang="en-US" dirty="0"/>
              <a:t> of trees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19005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6BB2F-420C-38D2-5CA3-7BF56E78E4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8FB3E8-558F-75CD-6F5D-641CF863DF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8B8C32-6346-EEE8-30FC-8634E76C8369}"/>
              </a:ext>
            </a:extLst>
          </p:cNvPr>
          <p:cNvSpPr>
            <a:spLocks noGrp="1"/>
          </p:cNvSpPr>
          <p:nvPr>
            <p:ph type="body" idx="1"/>
          </p:nvPr>
        </p:nvSpPr>
        <p:spPr/>
        <p:txBody>
          <a:bodyPr/>
          <a:lstStyle/>
          <a:p>
            <a:r>
              <a:rPr lang="en-US" dirty="0"/>
              <a:t>We have seen sorting already: Heap sort, </a:t>
            </a:r>
            <a:r>
              <a:rPr lang="en-US" dirty="0" err="1"/>
              <a:t>inorder</a:t>
            </a:r>
            <a:r>
              <a:rPr lang="en-US" dirty="0"/>
              <a:t> of trees</a:t>
            </a:r>
          </a:p>
        </p:txBody>
      </p:sp>
      <p:sp>
        <p:nvSpPr>
          <p:cNvPr id="4" name="Slide Number Placeholder 3">
            <a:extLst>
              <a:ext uri="{FF2B5EF4-FFF2-40B4-BE49-F238E27FC236}">
                <a16:creationId xmlns:a16="http://schemas.microsoft.com/office/drawing/2014/main" id="{6F4ECC77-C06C-6B65-B937-985DD3C169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39892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2EAED-DFAA-E9B4-B4D3-B777BCF7B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5B00CE-400C-5AD4-63BE-DB357F666A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377276-E6F6-88F8-E46D-D34D36D44875}"/>
              </a:ext>
            </a:extLst>
          </p:cNvPr>
          <p:cNvSpPr>
            <a:spLocks noGrp="1"/>
          </p:cNvSpPr>
          <p:nvPr>
            <p:ph type="body" idx="1"/>
          </p:nvPr>
        </p:nvSpPr>
        <p:spPr/>
        <p:txBody>
          <a:bodyPr/>
          <a:lstStyle/>
          <a:p>
            <a:r>
              <a:rPr lang="en-US" dirty="0"/>
              <a:t>We have seen sorting already: Heap sort, </a:t>
            </a:r>
            <a:r>
              <a:rPr lang="en-US" dirty="0" err="1"/>
              <a:t>inorder</a:t>
            </a:r>
            <a:r>
              <a:rPr lang="en-US" dirty="0"/>
              <a:t> of trees</a:t>
            </a:r>
          </a:p>
        </p:txBody>
      </p:sp>
      <p:sp>
        <p:nvSpPr>
          <p:cNvPr id="4" name="Slide Number Placeholder 3">
            <a:extLst>
              <a:ext uri="{FF2B5EF4-FFF2-40B4-BE49-F238E27FC236}">
                <a16:creationId xmlns:a16="http://schemas.microsoft.com/office/drawing/2014/main" id="{F9FCAF92-49EC-4AB1-C667-80062AC97D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699047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36138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seen sorting already: Heap sort, </a:t>
            </a:r>
            <a:r>
              <a:rPr lang="en-US" dirty="0" err="1"/>
              <a:t>inorder</a:t>
            </a:r>
            <a:r>
              <a:rPr lang="en-US" dirty="0"/>
              <a:t> of trees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34673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seen sorting already: Heap sort, </a:t>
            </a:r>
            <a:r>
              <a:rPr lang="en-US" dirty="0" err="1"/>
              <a:t>inorder</a:t>
            </a:r>
            <a:r>
              <a:rPr lang="en-US" dirty="0"/>
              <a:t> of trees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2177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16591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seen sorting already: Heap sort, </a:t>
            </a:r>
            <a:r>
              <a:rPr lang="en-US" dirty="0" err="1"/>
              <a:t>inorder</a:t>
            </a:r>
            <a:r>
              <a:rPr lang="en-US" dirty="0"/>
              <a:t> of trees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20365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seen sorting already: Heap sort, </a:t>
            </a:r>
            <a:r>
              <a:rPr lang="en-US" dirty="0" err="1"/>
              <a:t>inorder</a:t>
            </a:r>
            <a:r>
              <a:rPr lang="en-US" dirty="0"/>
              <a:t> of trees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70234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24249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seen sorting already: Heap sort, </a:t>
            </a:r>
            <a:r>
              <a:rPr lang="en-US" dirty="0" err="1"/>
              <a:t>inorder</a:t>
            </a:r>
            <a:r>
              <a:rPr lang="en-US" dirty="0"/>
              <a:t> of trees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81571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seen sorting already: Heap sort, </a:t>
            </a:r>
            <a:r>
              <a:rPr lang="en-US" dirty="0" err="1"/>
              <a:t>inorder</a:t>
            </a:r>
            <a:r>
              <a:rPr lang="en-US" dirty="0"/>
              <a:t> of trees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794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Hi everyone, welcome to the second module of the course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38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err="1"/>
              <a:t>Memoization</a:t>
            </a:r>
            <a:r>
              <a:rPr lang="en-US" dirty="0"/>
              <a:t> –top down, call stack avoids some problems</a:t>
            </a:r>
          </a:p>
          <a:p>
            <a:pPr marL="163084" indent="0">
              <a:buNone/>
            </a:pPr>
            <a:r>
              <a:rPr lang="en-US" dirty="0"/>
              <a:t>Tabulation bottom up all subproblems </a:t>
            </a:r>
          </a:p>
          <a:p>
            <a:pPr marL="163084" indent="0">
              <a:buNone/>
            </a:pPr>
            <a:r>
              <a:rPr lang="en-US" dirty="0"/>
              <a:t>32 – 14, 8, 1</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07694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56562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3253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36068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608202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84559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B82E9-BA68-EFEF-12CA-7C984197B0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F68F8E-716E-2840-8508-F39BAB7455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52F003-E6A1-44BD-F7D1-95A3E68E172C}"/>
              </a:ext>
            </a:extLst>
          </p:cNvPr>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a:extLst>
              <a:ext uri="{FF2B5EF4-FFF2-40B4-BE49-F238E27FC236}">
                <a16:creationId xmlns:a16="http://schemas.microsoft.com/office/drawing/2014/main" id="{DC4535DD-1A11-3F5E-7E5A-25FC25133D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923940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D031C-90A6-827A-CB69-627AFF0E58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B8491A-797A-5913-D282-4ECF6BCF48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8D3673-E29D-431F-8FFA-6BDE5E283AD7}"/>
              </a:ext>
            </a:extLst>
          </p:cNvPr>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a:extLst>
              <a:ext uri="{FF2B5EF4-FFF2-40B4-BE49-F238E27FC236}">
                <a16:creationId xmlns:a16="http://schemas.microsoft.com/office/drawing/2014/main" id="{09BA720B-9193-7526-86AE-53C49FF791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392215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2A8A7-A6BD-3F52-95FE-43E9F371C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A1D3E-2A0E-471E-CAC7-4EF428474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1927C0-3D10-2573-5414-904168E3A4C7}"/>
              </a:ext>
            </a:extLst>
          </p:cNvPr>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a:extLst>
              <a:ext uri="{FF2B5EF4-FFF2-40B4-BE49-F238E27FC236}">
                <a16:creationId xmlns:a16="http://schemas.microsoft.com/office/drawing/2014/main" id="{520705FF-A256-4BDA-C2D1-984E09BC6E9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640715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033111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3084" indent="0">
              <a:buNone/>
            </a:pPr>
            <a:r>
              <a:rPr lang="en-US" dirty="0"/>
              <a:t>In the last lecture we covered BFS and DFS and today we will continue with some applications of these traversals in common problem.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59503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FFFF"/>
                </a:solidFill>
                <a:latin typeface="Tw Cen MT" charset="0"/>
                <a:ea typeface="ＭＳ Ｐゴシック" charset="0"/>
                <a:cs typeface="Arial" charset="0"/>
              </a:rPr>
              <a:t>In an undirected graph a cycle must contain at least three distinct vertices</a:t>
            </a:r>
          </a:p>
          <a:p>
            <a:endParaRPr lang="en-US" dirty="0"/>
          </a:p>
        </p:txBody>
      </p:sp>
      <p:sp>
        <p:nvSpPr>
          <p:cNvPr id="4" name="Slide Number Placeholder 3"/>
          <p:cNvSpPr>
            <a:spLocks noGrp="1"/>
          </p:cNvSpPr>
          <p:nvPr>
            <p:ph type="sldNum" sz="quarter" idx="5"/>
          </p:nvPr>
        </p:nvSpPr>
        <p:spPr/>
        <p:txBody>
          <a:bodyPr/>
          <a:lstStyle/>
          <a:p>
            <a:fld id="{E2B3017C-A127-4C06-BF43-1875A8859C4B}" type="slidenum">
              <a:rPr lang="en-US" smtClean="0"/>
              <a:t>55</a:t>
            </a:fld>
            <a:endParaRPr lang="en-US"/>
          </a:p>
        </p:txBody>
      </p:sp>
    </p:spTree>
    <p:extLst>
      <p:ext uri="{BB962C8B-B14F-4D97-AF65-F5344CB8AC3E}">
        <p14:creationId xmlns:p14="http://schemas.microsoft.com/office/powerpoint/2010/main" val="17779405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Data</a:t>
            </a:r>
            <a:r>
              <a:rPr lang="en-US" sz="1200" baseline="0" dirty="0"/>
              <a:t> structures are ways to collect data.  There are basic categories of data structures: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1516065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Data</a:t>
            </a:r>
            <a:r>
              <a:rPr lang="en-US" sz="1200" baseline="0" dirty="0"/>
              <a:t> structures are ways to collect data.  There are basic categories of data structures: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961756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Data</a:t>
            </a:r>
            <a:r>
              <a:rPr lang="en-US" sz="1200" baseline="0" dirty="0"/>
              <a:t> structures are ways to collect data.  There are basic categories of data structures: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957533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Data</a:t>
            </a:r>
            <a:r>
              <a:rPr lang="en-US" sz="1200" baseline="0" dirty="0"/>
              <a:t> structures are ways to collect data.  There are basic categories of data structures: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309092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Data</a:t>
            </a:r>
            <a:r>
              <a:rPr lang="en-US" sz="1200" baseline="0" dirty="0"/>
              <a:t> structures are ways to collect data.  There are basic categories of data structures: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951853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Data</a:t>
            </a:r>
            <a:r>
              <a:rPr lang="en-US" sz="1200" baseline="0" dirty="0"/>
              <a:t> structures are ways to collect data.  There are basic categories of data structures: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53373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Data</a:t>
            </a:r>
            <a:r>
              <a:rPr lang="en-US" sz="1200" baseline="0" dirty="0"/>
              <a:t> structures are ways to collect data.  There are basic categories of data structures: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B3017C-A127-4C06-BF43-1875A8859C4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5217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616885-9ED8-4298-9149-C5A410E7F61A}" type="datetime1">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1206162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25EFF0-82F5-4880-81B9-BC73A963ECC3}" type="datetime1">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2329462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946811-681C-4AC5-84B7-A52FB525DDA0}" type="datetime1">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2213679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26718EC-8AAB-4CFD-80CE-1D0FB821064C}" type="datetime1">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679070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FC400D-05DF-4711-8592-640F86665B5F}" type="datetime1">
              <a:rPr lang="en-US" smtClean="0"/>
              <a:t>7/27/2026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1453909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1DCA921-A295-445C-9DF4-D32E11171EBC}" type="datetime1">
              <a:rPr lang="en-US" smtClean="0"/>
              <a:t>7/27/2026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449976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0F1947-2C73-49DA-BF00-06FEB90FBFE0}" type="datetime1">
              <a:rPr lang="en-US" smtClean="0"/>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3211642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09FA88-D630-40A8-A7C1-451FFA95718D}" type="datetime1">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2435752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B22107A-0A76-4A69-98CE-85E509F6FEC6}" type="datetime1">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17470509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647952-6535-4065-B4F6-C94B3D00772F}" type="datetime1">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1402797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870D39-F97D-4ECC-909C-35255E9A37F7}" type="datetime1">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6485584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8C9C2D7-406E-45EE-9F57-B83131B49240}"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34250263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C9C2D7-406E-45EE-9F57-B83131B49240}"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37073860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8C9C2D7-406E-45EE-9F57-B83131B49240}"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13930753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C9C2D7-406E-45EE-9F57-B83131B49240}"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20969326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8C9C2D7-406E-45EE-9F57-B83131B49240}" type="datetimeFigureOut">
              <a:rPr lang="en-US" smtClean="0"/>
              <a:t>7/27/2026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36384572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8C9C2D7-406E-45EE-9F57-B83131B49240}" type="datetimeFigureOut">
              <a:rPr lang="en-US" smtClean="0"/>
              <a:t>7/27/2026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15573456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C9C2D7-406E-45EE-9F57-B83131B49240}" type="datetimeFigureOut">
              <a:rPr lang="en-US" smtClean="0"/>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385659148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C9C2D7-406E-45EE-9F57-B83131B49240}"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29378280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8C9C2D7-406E-45EE-9F57-B83131B49240}"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22852449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C9C2D7-406E-45EE-9F57-B83131B49240}"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37874999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8C9C2D7-406E-45EE-9F57-B83131B49240}"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33970242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6102986-03F9-49CE-9549-6DAF4ABD4DCF}" type="datetime1">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8425199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E43DACA-0FA7-424C-92D4-51134B044685}" type="datetime1">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34228672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CB28B7-38A3-44BA-8BB4-5B47C2BF3BD2}" type="datetime1">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14945968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A2B67DD-BCF4-41EC-A521-3E2065A2C160}" type="datetime1">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9771664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FFCD756-2EEF-41AD-961B-D2E14532BBFE}" type="datetime1">
              <a:rPr lang="en-US" smtClean="0"/>
              <a:t>7/27/2026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6345407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FE56AE-F2B9-4B93-9316-CEE37B0A3D10}" type="datetime1">
              <a:rPr lang="en-US" smtClean="0"/>
              <a:t>7/27/2026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5463290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E34BFD-4BE6-4326-B488-4925B8F88029}" type="datetime1">
              <a:rPr lang="en-US" smtClean="0"/>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37617529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D5A15F-386D-4F5E-B18E-A5253D08A68B}" type="datetime1">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15880781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FECA50-76EA-4488-A0A9-47718990E066}" type="datetime1">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39206943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8C2337-FE2D-4F56-B5A7-E47AA711FE2D}" type="datetime1">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17149058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15B577-2704-450E-A544-8B9E3CD52124}" type="datetime1">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C28E0-2F8B-4999-AEA2-B3AA3AE8994F}" type="slidenum">
              <a:rPr lang="en-US" smtClean="0"/>
              <a:t>‹#›</a:t>
            </a:fld>
            <a:endParaRPr lang="en-US"/>
          </a:p>
        </p:txBody>
      </p:sp>
    </p:spTree>
    <p:extLst>
      <p:ext uri="{BB962C8B-B14F-4D97-AF65-F5344CB8AC3E}">
        <p14:creationId xmlns:p14="http://schemas.microsoft.com/office/powerpoint/2010/main" val="1654094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C3CE7D-A49F-42F1-B54B-0205BF41E480}" type="datetime1">
              <a:rPr lang="en-US" smtClean="0"/>
              <a:t>7/27/2026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7C28E0-2F8B-4999-AEA2-B3AA3AE8994F}" type="slidenum">
              <a:rPr lang="en-US" smtClean="0"/>
              <a:t>‹#›</a:t>
            </a:fld>
            <a:endParaRPr lang="en-US"/>
          </a:p>
        </p:txBody>
      </p:sp>
    </p:spTree>
    <p:extLst>
      <p:ext uri="{BB962C8B-B14F-4D97-AF65-F5344CB8AC3E}">
        <p14:creationId xmlns:p14="http://schemas.microsoft.com/office/powerpoint/2010/main" val="25269870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C9C2D7-406E-45EE-9F57-B83131B49240}" type="datetimeFigureOut">
              <a:rPr lang="en-US" smtClean="0"/>
              <a:t>7/27/2026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7C28E0-2F8B-4999-AEA2-B3AA3AE8994F}" type="slidenum">
              <a:rPr lang="en-US" smtClean="0"/>
              <a:t>‹#›</a:t>
            </a:fld>
            <a:endParaRPr lang="en-US"/>
          </a:p>
        </p:txBody>
      </p:sp>
    </p:spTree>
    <p:extLst>
      <p:ext uri="{BB962C8B-B14F-4D97-AF65-F5344CB8AC3E}">
        <p14:creationId xmlns:p14="http://schemas.microsoft.com/office/powerpoint/2010/main" val="405923617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E0F906-E77D-43BE-85B2-6D4FB37C813C}" type="datetime1">
              <a:rPr lang="en-US" smtClean="0"/>
              <a:t>7/27/2026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7C28E0-2F8B-4999-AEA2-B3AA3AE8994F}" type="slidenum">
              <a:rPr lang="en-US" smtClean="0"/>
              <a:t>‹#›</a:t>
            </a:fld>
            <a:endParaRPr lang="en-US"/>
          </a:p>
        </p:txBody>
      </p:sp>
    </p:spTree>
    <p:extLst>
      <p:ext uri="{BB962C8B-B14F-4D97-AF65-F5344CB8AC3E}">
        <p14:creationId xmlns:p14="http://schemas.microsoft.com/office/powerpoint/2010/main" val="20850972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hyperlink" Target="https://docs.google.com/document/d/1zKwfphLSXi76TU0u-bPqh3P-8sD-SwGPPCNFuGh6r5o/"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hyperlink" Target="https://www.onlinegdb.com/Hy8M0CnsS" TargetMode="External"/><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hyperlink" Target="https://onlinegdb.com/HkJq9iFaI" TargetMode="External"/><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5.jpe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3.xml"/><Relationship Id="rId5" Type="http://schemas.openxmlformats.org/officeDocument/2006/relationships/image" Target="../media/image9.jpe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6.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80.png"/><Relationship Id="rId7"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0.png"/><Relationship Id="rId4" Type="http://schemas.openxmlformats.org/officeDocument/2006/relationships/image" Target="../media/image90.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2.xml"/><Relationship Id="rId1" Type="http://schemas.openxmlformats.org/officeDocument/2006/relationships/slideLayout" Target="../slideLayouts/slideLayout13.xml"/><Relationship Id="rId5" Type="http://schemas.openxmlformats.org/officeDocument/2006/relationships/image" Target="../media/image1.pn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7.xml"/><Relationship Id="rId1" Type="http://schemas.openxmlformats.org/officeDocument/2006/relationships/slideLayout" Target="../slideLayouts/slideLayout24.xml"/><Relationship Id="rId5" Type="http://schemas.openxmlformats.org/officeDocument/2006/relationships/image" Target="../media/image1.png"/><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24.xml"/><Relationship Id="rId4" Type="http://schemas.openxmlformats.org/officeDocument/2006/relationships/image" Target="../media/image1.png"/></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0.xml"/><Relationship Id="rId1" Type="http://schemas.openxmlformats.org/officeDocument/2006/relationships/slideLayout" Target="../slideLayouts/slideLayout24.xml"/><Relationship Id="rId5" Type="http://schemas.openxmlformats.org/officeDocument/2006/relationships/image" Target="../media/image1.png"/><Relationship Id="rId4" Type="http://schemas.openxmlformats.org/officeDocument/2006/relationships/image" Target="../media/image2.png"/></Relationships>
</file>

<file path=ppt/slides/_rels/slide6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24.xml"/><Relationship Id="rId5" Type="http://schemas.openxmlformats.org/officeDocument/2006/relationships/image" Target="../media/image1.png"/><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24.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descr="Logo COP3530">
            <a:extLst>
              <a:ext uri="{FF2B5EF4-FFF2-40B4-BE49-F238E27FC236}">
                <a16:creationId xmlns:a16="http://schemas.microsoft.com/office/drawing/2014/main" id="{F5930E70-AA2A-4DEA-8F19-8204A14E7598}"/>
              </a:ext>
            </a:extLst>
          </p:cNvPr>
          <p:cNvPicPr>
            <a:picLocks noChangeAspect="1"/>
          </p:cNvPicPr>
          <p:nvPr/>
        </p:nvPicPr>
        <p:blipFill>
          <a:blip r:embed="rId3"/>
          <a:stretch>
            <a:fillRect/>
          </a:stretch>
        </p:blipFill>
        <p:spPr>
          <a:xfrm>
            <a:off x="9896244" y="5351818"/>
            <a:ext cx="2162976" cy="1506182"/>
          </a:xfrm>
          <a:prstGeom prst="rect">
            <a:avLst/>
          </a:prstGeom>
        </p:spPr>
      </p:pic>
      <p:sp>
        <p:nvSpPr>
          <p:cNvPr id="3" name="TextBox 2">
            <a:extLst>
              <a:ext uri="{FF2B5EF4-FFF2-40B4-BE49-F238E27FC236}">
                <a16:creationId xmlns:a16="http://schemas.microsoft.com/office/drawing/2014/main" id="{309D5D4F-8054-48EF-9170-C7D04C6E7DC6}"/>
              </a:ext>
            </a:extLst>
          </p:cNvPr>
          <p:cNvSpPr txBox="1"/>
          <p:nvPr/>
        </p:nvSpPr>
        <p:spPr>
          <a:xfrm>
            <a:off x="578855" y="2641769"/>
            <a:ext cx="11034289" cy="923330"/>
          </a:xfrm>
          <a:prstGeom prst="rect">
            <a:avLst/>
          </a:prstGeom>
          <a:noFill/>
        </p:spPr>
        <p:txBody>
          <a:bodyPr wrap="square" rtlCol="0">
            <a:spAutoFit/>
          </a:bodyPr>
          <a:lstStyle/>
          <a:p>
            <a:pPr lvl="0" algn="ctr" defTabSz="457200">
              <a:defRPr/>
            </a:pPr>
            <a:r>
              <a:rPr lang="en-US" sz="5400" dirty="0">
                <a:solidFill>
                  <a:prstClr val="white"/>
                </a:solidFill>
                <a:latin typeface="Gotham Bold" pitchFamily="50" charset="0"/>
              </a:rPr>
              <a:t>Final Exam Review</a:t>
            </a:r>
          </a:p>
        </p:txBody>
      </p:sp>
    </p:spTree>
    <p:extLst>
      <p:ext uri="{BB962C8B-B14F-4D97-AF65-F5344CB8AC3E}">
        <p14:creationId xmlns:p14="http://schemas.microsoft.com/office/powerpoint/2010/main" val="30600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Categories of Data Structures</a:t>
            </a: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9" name="Title 1">
            <a:extLst>
              <a:ext uri="{FF2B5EF4-FFF2-40B4-BE49-F238E27FC236}">
                <a16:creationId xmlns:a16="http://schemas.microsoft.com/office/drawing/2014/main" id="{753E7F3E-4912-4FEA-B34E-7E95D57C3114}"/>
              </a:ext>
            </a:extLst>
          </p:cNvPr>
          <p:cNvSpPr txBox="1">
            <a:spLocks/>
          </p:cNvSpPr>
          <p:nvPr/>
        </p:nvSpPr>
        <p:spPr>
          <a:xfrm>
            <a:off x="1175426" y="3221815"/>
            <a:ext cx="1237034" cy="1325563"/>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br>
              <a:rPr kumimoji="0" lang="en-US" sz="1800" b="0" i="0" u="none" strike="noStrike" kern="1200" cap="none" spc="0" normalizeH="0" baseline="0" noProof="0" dirty="0">
                <a:ln>
                  <a:noFill/>
                </a:ln>
                <a:solidFill>
                  <a:prstClr val="white"/>
                </a:solidFill>
                <a:effectLst/>
                <a:uLnTx/>
                <a:uFillTx/>
                <a:latin typeface="Gotham Bold" pitchFamily="50" charset="0"/>
                <a:ea typeface="+mj-ea"/>
                <a:cs typeface="+mj-cs"/>
              </a:rPr>
            </a:br>
            <a:br>
              <a:rPr kumimoji="0" lang="en-US" sz="1800" b="0" i="0" u="none" strike="noStrike" kern="1200" cap="none" spc="0" normalizeH="0" baseline="0" noProof="0" dirty="0">
                <a:ln>
                  <a:noFill/>
                </a:ln>
                <a:solidFill>
                  <a:prstClr val="white"/>
                </a:solidFill>
                <a:effectLst/>
                <a:uLnTx/>
                <a:uFillTx/>
                <a:latin typeface="Gotham Bold" pitchFamily="50" charset="0"/>
                <a:ea typeface="+mj-ea"/>
                <a:cs typeface="+mj-cs"/>
              </a:rPr>
            </a:br>
            <a:br>
              <a:rPr kumimoji="0" lang="en-US" sz="1800" b="0" i="0" u="none" strike="noStrike" kern="1200" cap="none" spc="0" normalizeH="0" baseline="0" noProof="0" dirty="0">
                <a:ln>
                  <a:noFill/>
                </a:ln>
                <a:solidFill>
                  <a:prstClr val="white"/>
                </a:solidFill>
                <a:effectLst/>
                <a:uLnTx/>
                <a:uFillTx/>
                <a:latin typeface="Gotham Bold" pitchFamily="50" charset="0"/>
                <a:ea typeface="+mj-ea"/>
                <a:cs typeface="+mj-cs"/>
              </a:rPr>
            </a:br>
            <a:br>
              <a:rPr kumimoji="0" lang="en-US" sz="1800" b="0" i="0" u="none" strike="noStrike" kern="1200" cap="none" spc="0" normalizeH="0" baseline="0" noProof="0" dirty="0">
                <a:ln>
                  <a:noFill/>
                </a:ln>
                <a:solidFill>
                  <a:prstClr val="white"/>
                </a:solidFill>
                <a:effectLst/>
                <a:uLnTx/>
                <a:uFillTx/>
                <a:latin typeface="Gotham Bold" pitchFamily="50" charset="0"/>
                <a:ea typeface="+mj-ea"/>
                <a:cs typeface="+mj-cs"/>
              </a:rPr>
            </a:br>
            <a:br>
              <a:rPr kumimoji="0" lang="en-US" sz="1800" b="0" i="0" u="none" strike="noStrike" kern="1200" cap="none" spc="0" normalizeH="0" baseline="0" noProof="0" dirty="0">
                <a:ln>
                  <a:noFill/>
                </a:ln>
                <a:solidFill>
                  <a:prstClr val="white"/>
                </a:solidFill>
                <a:effectLst/>
                <a:uLnTx/>
                <a:uFillTx/>
                <a:latin typeface="Gotham Bold" pitchFamily="50" charset="0"/>
                <a:ea typeface="+mj-ea"/>
                <a:cs typeface="+mj-cs"/>
              </a:rPr>
            </a:br>
            <a:endParaRPr kumimoji="0" lang="en-US" sz="1800" b="0" i="0" u="none" strike="noStrike" kern="1200" cap="none" spc="0" normalizeH="0" baseline="0" noProof="0" dirty="0">
              <a:ln>
                <a:noFill/>
              </a:ln>
              <a:solidFill>
                <a:prstClr val="white"/>
              </a:solidFill>
              <a:effectLst/>
              <a:uLnTx/>
              <a:uFillTx/>
              <a:latin typeface="Gotham Bold" pitchFamily="50" charset="0"/>
              <a:ea typeface="+mj-ea"/>
              <a:cs typeface="+mj-cs"/>
            </a:endParaRPr>
          </a:p>
        </p:txBody>
      </p:sp>
      <p:sp>
        <p:nvSpPr>
          <p:cNvPr id="6" name="Rectangle 3" descr="Linear Ordered&#10;">
            <a:extLst>
              <a:ext uri="{FF2B5EF4-FFF2-40B4-BE49-F238E27FC236}">
                <a16:creationId xmlns:a16="http://schemas.microsoft.com/office/drawing/2014/main" id="{DE85FF53-6E49-47B6-8225-7E1DAC29FE5C}"/>
              </a:ext>
            </a:extLst>
          </p:cNvPr>
          <p:cNvSpPr>
            <a:spLocks noChangeArrowheads="1"/>
          </p:cNvSpPr>
          <p:nvPr/>
        </p:nvSpPr>
        <p:spPr bwMode="auto">
          <a:xfrm>
            <a:off x="1409223" y="1869648"/>
            <a:ext cx="2286000" cy="457200"/>
          </a:xfrm>
          <a:prstGeom prst="rect">
            <a:avLst/>
          </a:prstGeom>
          <a:solidFill>
            <a:schemeClr val="accent6">
              <a:lumMod val="75000"/>
            </a:schemeClr>
          </a:solidFill>
          <a:ln w="9525">
            <a:no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Gotham Bold" pitchFamily="50" charset="0"/>
                <a:ea typeface="+mn-ea"/>
                <a:cs typeface="+mn-cs"/>
              </a:rPr>
              <a:t>Linear Ordered</a:t>
            </a:r>
          </a:p>
        </p:txBody>
      </p:sp>
      <p:sp>
        <p:nvSpPr>
          <p:cNvPr id="7" name="Rectangle 4" descr="Non-linear Ordered&#10;">
            <a:extLst>
              <a:ext uri="{FF2B5EF4-FFF2-40B4-BE49-F238E27FC236}">
                <a16:creationId xmlns:a16="http://schemas.microsoft.com/office/drawing/2014/main" id="{730497DA-87E3-4A4E-9552-C89037D50ABD}"/>
              </a:ext>
            </a:extLst>
          </p:cNvPr>
          <p:cNvSpPr>
            <a:spLocks noChangeArrowheads="1"/>
          </p:cNvSpPr>
          <p:nvPr/>
        </p:nvSpPr>
        <p:spPr bwMode="auto">
          <a:xfrm>
            <a:off x="4383120" y="1869648"/>
            <a:ext cx="2286000" cy="457200"/>
          </a:xfrm>
          <a:prstGeom prst="rect">
            <a:avLst/>
          </a:prstGeom>
          <a:solidFill>
            <a:schemeClr val="accent6">
              <a:lumMod val="75000"/>
            </a:schemeClr>
          </a:solidFill>
          <a:ln w="9525">
            <a:noFill/>
            <a:round/>
            <a:headEnd/>
            <a:tailEnd/>
          </a:ln>
        </p:spPr>
        <p:txBody>
          <a:bodyPr anchor="ctr"/>
          <a:lstStyle/>
          <a:p>
            <a:pPr algn="ctr"/>
            <a:r>
              <a:rPr lang="en-US" sz="1600" dirty="0">
                <a:solidFill>
                  <a:prstClr val="white"/>
                </a:solidFill>
                <a:latin typeface="Gotham Bold" pitchFamily="50" charset="0"/>
              </a:rPr>
              <a:t>Non-linear Ordered</a:t>
            </a:r>
          </a:p>
        </p:txBody>
      </p:sp>
      <p:sp>
        <p:nvSpPr>
          <p:cNvPr id="8" name="Rectangle 12" descr="Not Ordered&#10;">
            <a:extLst>
              <a:ext uri="{FF2B5EF4-FFF2-40B4-BE49-F238E27FC236}">
                <a16:creationId xmlns:a16="http://schemas.microsoft.com/office/drawing/2014/main" id="{D25B0EDD-7867-4D65-BDBC-5EDF27FB2CB3}"/>
              </a:ext>
            </a:extLst>
          </p:cNvPr>
          <p:cNvSpPr>
            <a:spLocks noChangeArrowheads="1"/>
          </p:cNvSpPr>
          <p:nvPr/>
        </p:nvSpPr>
        <p:spPr bwMode="auto">
          <a:xfrm>
            <a:off x="7357017" y="1869648"/>
            <a:ext cx="2286000" cy="457200"/>
          </a:xfrm>
          <a:prstGeom prst="rect">
            <a:avLst/>
          </a:prstGeom>
          <a:solidFill>
            <a:srgbClr val="548235"/>
          </a:solidFill>
          <a:ln w="9525">
            <a:no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Gotham Bold" pitchFamily="50" charset="0"/>
                <a:ea typeface="+mn-ea"/>
                <a:cs typeface="+mn-cs"/>
              </a:rPr>
              <a:t>Not Ordered</a:t>
            </a:r>
          </a:p>
        </p:txBody>
      </p:sp>
      <p:sp>
        <p:nvSpPr>
          <p:cNvPr id="11" name="Rectangle 5" descr="lists">
            <a:extLst>
              <a:ext uri="{FF2B5EF4-FFF2-40B4-BE49-F238E27FC236}">
                <a16:creationId xmlns:a16="http://schemas.microsoft.com/office/drawing/2014/main" id="{BBD6B998-2174-4960-9806-558F886FCB85}"/>
              </a:ext>
            </a:extLst>
          </p:cNvPr>
          <p:cNvSpPr>
            <a:spLocks noChangeArrowheads="1"/>
          </p:cNvSpPr>
          <p:nvPr/>
        </p:nvSpPr>
        <p:spPr bwMode="auto">
          <a:xfrm>
            <a:off x="1409223" y="2588102"/>
            <a:ext cx="2286000" cy="457200"/>
          </a:xfrm>
          <a:prstGeom prst="rect">
            <a:avLst/>
          </a:prstGeom>
          <a:solidFill>
            <a:schemeClr val="accent6">
              <a:lumMod val="40000"/>
              <a:lumOff val="60000"/>
            </a:schemeClr>
          </a:solidFill>
          <a:ln w="9525">
            <a:no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Gotham Bold" pitchFamily="50" charset="0"/>
                <a:ea typeface="+mn-ea"/>
                <a:cs typeface="+mn-cs"/>
              </a:rPr>
              <a:t>Lists</a:t>
            </a:r>
          </a:p>
        </p:txBody>
      </p:sp>
      <p:sp>
        <p:nvSpPr>
          <p:cNvPr id="13" name="Rectangle 6" descr="stacks">
            <a:extLst>
              <a:ext uri="{FF2B5EF4-FFF2-40B4-BE49-F238E27FC236}">
                <a16:creationId xmlns:a16="http://schemas.microsoft.com/office/drawing/2014/main" id="{93E8E40F-D540-4C4F-975D-8707208E0269}"/>
              </a:ext>
            </a:extLst>
          </p:cNvPr>
          <p:cNvSpPr>
            <a:spLocks noChangeArrowheads="1"/>
          </p:cNvSpPr>
          <p:nvPr/>
        </p:nvSpPr>
        <p:spPr bwMode="auto">
          <a:xfrm>
            <a:off x="1409223" y="3301425"/>
            <a:ext cx="2286000" cy="457200"/>
          </a:xfrm>
          <a:prstGeom prst="rect">
            <a:avLst/>
          </a:prstGeom>
          <a:solidFill>
            <a:schemeClr val="accent6">
              <a:lumMod val="40000"/>
              <a:lumOff val="60000"/>
            </a:schemeClr>
          </a:solidFill>
          <a:ln w="9525">
            <a:no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Gotham Bold" pitchFamily="50" charset="0"/>
                <a:ea typeface="+mn-ea"/>
                <a:cs typeface="+mn-cs"/>
              </a:rPr>
              <a:t>Stacks</a:t>
            </a:r>
          </a:p>
        </p:txBody>
      </p:sp>
      <p:sp>
        <p:nvSpPr>
          <p:cNvPr id="14" name="Rectangle 7" descr="queues">
            <a:extLst>
              <a:ext uri="{FF2B5EF4-FFF2-40B4-BE49-F238E27FC236}">
                <a16:creationId xmlns:a16="http://schemas.microsoft.com/office/drawing/2014/main" id="{DBB16A03-0ADE-4DE8-A76F-D33130AF0BD3}"/>
              </a:ext>
            </a:extLst>
          </p:cNvPr>
          <p:cNvSpPr>
            <a:spLocks noChangeArrowheads="1"/>
          </p:cNvSpPr>
          <p:nvPr/>
        </p:nvSpPr>
        <p:spPr bwMode="auto">
          <a:xfrm>
            <a:off x="1409223" y="4014748"/>
            <a:ext cx="2286000" cy="457200"/>
          </a:xfrm>
          <a:prstGeom prst="rect">
            <a:avLst/>
          </a:prstGeom>
          <a:solidFill>
            <a:schemeClr val="accent6">
              <a:lumMod val="40000"/>
              <a:lumOff val="60000"/>
            </a:schemeClr>
          </a:solidFill>
          <a:ln w="9525">
            <a:no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Gotham Bold" pitchFamily="50" charset="0"/>
                <a:ea typeface="+mn-ea"/>
                <a:cs typeface="+mn-cs"/>
              </a:rPr>
              <a:t>Queues</a:t>
            </a:r>
          </a:p>
        </p:txBody>
      </p:sp>
      <p:sp>
        <p:nvSpPr>
          <p:cNvPr id="15" name="Rectangle 8" descr="trees">
            <a:extLst>
              <a:ext uri="{FF2B5EF4-FFF2-40B4-BE49-F238E27FC236}">
                <a16:creationId xmlns:a16="http://schemas.microsoft.com/office/drawing/2014/main" id="{CA97C4B6-41C6-4BDA-B757-AFF8296F1FAF}"/>
              </a:ext>
            </a:extLst>
          </p:cNvPr>
          <p:cNvSpPr>
            <a:spLocks noChangeArrowheads="1"/>
          </p:cNvSpPr>
          <p:nvPr/>
        </p:nvSpPr>
        <p:spPr bwMode="auto">
          <a:xfrm>
            <a:off x="4383120" y="2599434"/>
            <a:ext cx="2286000" cy="457200"/>
          </a:xfrm>
          <a:prstGeom prst="rect">
            <a:avLst/>
          </a:prstGeom>
          <a:solidFill>
            <a:schemeClr val="accent6">
              <a:lumMod val="40000"/>
              <a:lumOff val="60000"/>
            </a:schemeClr>
          </a:solidFill>
          <a:ln w="9525">
            <a:noFill/>
            <a:round/>
            <a:headEnd/>
            <a:tailEnd/>
          </a:ln>
        </p:spPr>
        <p:txBody>
          <a:bodyPr anchor="ctr"/>
          <a:lstStyle/>
          <a:p>
            <a:pPr algn="ctr"/>
            <a:r>
              <a:rPr lang="en-US" sz="1600">
                <a:solidFill>
                  <a:srgbClr val="000000"/>
                </a:solidFill>
                <a:latin typeface="Gotham Bold" pitchFamily="50" charset="0"/>
              </a:rPr>
              <a:t>Trees</a:t>
            </a:r>
          </a:p>
        </p:txBody>
      </p:sp>
      <p:sp>
        <p:nvSpPr>
          <p:cNvPr id="16" name="Rectangle 9" descr="graphs">
            <a:extLst>
              <a:ext uri="{FF2B5EF4-FFF2-40B4-BE49-F238E27FC236}">
                <a16:creationId xmlns:a16="http://schemas.microsoft.com/office/drawing/2014/main" id="{5A639A53-6E3A-46B8-96B3-AE35D359F227}"/>
              </a:ext>
            </a:extLst>
          </p:cNvPr>
          <p:cNvSpPr>
            <a:spLocks noChangeArrowheads="1"/>
          </p:cNvSpPr>
          <p:nvPr/>
        </p:nvSpPr>
        <p:spPr bwMode="auto">
          <a:xfrm>
            <a:off x="4390154" y="3301425"/>
            <a:ext cx="2286000" cy="457200"/>
          </a:xfrm>
          <a:prstGeom prst="rect">
            <a:avLst/>
          </a:prstGeom>
          <a:solidFill>
            <a:schemeClr val="accent6">
              <a:lumMod val="40000"/>
              <a:lumOff val="60000"/>
            </a:schemeClr>
          </a:solidFill>
          <a:ln w="9525">
            <a:no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effectLst/>
                <a:uLnTx/>
                <a:uFillTx/>
                <a:latin typeface="Gotham Bold" pitchFamily="50" charset="0"/>
                <a:ea typeface="+mn-ea"/>
                <a:cs typeface="+mn-cs"/>
              </a:rPr>
              <a:t>Graphs</a:t>
            </a:r>
          </a:p>
        </p:txBody>
      </p:sp>
      <p:sp>
        <p:nvSpPr>
          <p:cNvPr id="17" name="Rectangle 10" descr="sets">
            <a:extLst>
              <a:ext uri="{FF2B5EF4-FFF2-40B4-BE49-F238E27FC236}">
                <a16:creationId xmlns:a16="http://schemas.microsoft.com/office/drawing/2014/main" id="{427D114F-9822-4AEC-85B6-AB7AA86FC1EF}"/>
              </a:ext>
            </a:extLst>
          </p:cNvPr>
          <p:cNvSpPr>
            <a:spLocks noChangeArrowheads="1"/>
          </p:cNvSpPr>
          <p:nvPr/>
        </p:nvSpPr>
        <p:spPr bwMode="auto">
          <a:xfrm>
            <a:off x="7357017" y="2584634"/>
            <a:ext cx="2286000" cy="457200"/>
          </a:xfrm>
          <a:prstGeom prst="rect">
            <a:avLst/>
          </a:prstGeom>
          <a:solidFill>
            <a:schemeClr val="accent6">
              <a:lumMod val="40000"/>
              <a:lumOff val="60000"/>
            </a:schemeClr>
          </a:solidFill>
          <a:ln w="9525">
            <a:no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effectLst/>
                <a:uLnTx/>
                <a:uFillTx/>
                <a:latin typeface="Gotham Bold" pitchFamily="50" charset="0"/>
                <a:ea typeface="+mn-ea"/>
                <a:cs typeface="+mn-cs"/>
              </a:rPr>
              <a:t>Sets</a:t>
            </a:r>
          </a:p>
        </p:txBody>
      </p:sp>
      <p:sp>
        <p:nvSpPr>
          <p:cNvPr id="18" name="Rectangle 11" descr="tables/maps">
            <a:extLst>
              <a:ext uri="{FF2B5EF4-FFF2-40B4-BE49-F238E27FC236}">
                <a16:creationId xmlns:a16="http://schemas.microsoft.com/office/drawing/2014/main" id="{91B71668-7876-4A5F-BBA8-A87FE410596D}"/>
              </a:ext>
            </a:extLst>
          </p:cNvPr>
          <p:cNvSpPr>
            <a:spLocks noChangeArrowheads="1"/>
          </p:cNvSpPr>
          <p:nvPr/>
        </p:nvSpPr>
        <p:spPr bwMode="auto">
          <a:xfrm>
            <a:off x="7357017" y="3301425"/>
            <a:ext cx="2286000" cy="457200"/>
          </a:xfrm>
          <a:prstGeom prst="rect">
            <a:avLst/>
          </a:prstGeom>
          <a:solidFill>
            <a:schemeClr val="accent6">
              <a:lumMod val="40000"/>
              <a:lumOff val="60000"/>
            </a:schemeClr>
          </a:solidFill>
          <a:ln w="9525">
            <a:noFill/>
            <a:round/>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effectLst/>
                <a:uLnTx/>
                <a:uFillTx/>
                <a:latin typeface="Gotham Bold" pitchFamily="50" charset="0"/>
                <a:ea typeface="+mn-ea"/>
                <a:cs typeface="+mn-cs"/>
              </a:rPr>
              <a:t>Tables/Maps</a:t>
            </a:r>
          </a:p>
        </p:txBody>
      </p:sp>
      <p:grpSp>
        <p:nvGrpSpPr>
          <p:cNvPr id="19" name="Group 18" descr="Unordered Data Structures">
            <a:extLst>
              <a:ext uri="{FF2B5EF4-FFF2-40B4-BE49-F238E27FC236}">
                <a16:creationId xmlns:a16="http://schemas.microsoft.com/office/drawing/2014/main" id="{9DB3FDB7-0936-41DB-AB4E-89612624879A}"/>
              </a:ext>
            </a:extLst>
          </p:cNvPr>
          <p:cNvGrpSpPr/>
          <p:nvPr/>
        </p:nvGrpSpPr>
        <p:grpSpPr>
          <a:xfrm>
            <a:off x="7735077" y="4418737"/>
            <a:ext cx="1752600" cy="1447800"/>
            <a:chOff x="6664452" y="3364300"/>
            <a:chExt cx="1752600" cy="1447800"/>
          </a:xfrm>
        </p:grpSpPr>
        <p:sp>
          <p:nvSpPr>
            <p:cNvPr id="20" name="Oval 34">
              <a:extLst>
                <a:ext uri="{FF2B5EF4-FFF2-40B4-BE49-F238E27FC236}">
                  <a16:creationId xmlns:a16="http://schemas.microsoft.com/office/drawing/2014/main" id="{4DA0BD3C-FE2F-43DD-82C7-53C99E353609}"/>
                </a:ext>
              </a:extLst>
            </p:cNvPr>
            <p:cNvSpPr>
              <a:spLocks noChangeArrowheads="1"/>
            </p:cNvSpPr>
            <p:nvPr/>
          </p:nvSpPr>
          <p:spPr bwMode="auto">
            <a:xfrm>
              <a:off x="7245091" y="3583885"/>
              <a:ext cx="301752" cy="301752"/>
            </a:xfrm>
            <a:prstGeom prst="ellipse">
              <a:avLst/>
            </a:prstGeom>
            <a:solidFill>
              <a:schemeClr val="bg2">
                <a:lumMod val="10000"/>
              </a:schemeClr>
            </a:solidFill>
            <a:ln w="9525">
              <a:solidFill>
                <a:schemeClr val="bg2">
                  <a:lumMod val="75000"/>
                </a:schemeClr>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Oval 35">
              <a:extLst>
                <a:ext uri="{FF2B5EF4-FFF2-40B4-BE49-F238E27FC236}">
                  <a16:creationId xmlns:a16="http://schemas.microsoft.com/office/drawing/2014/main" id="{6F36547F-F6D3-4F93-A534-9BE6FD96771D}"/>
                </a:ext>
              </a:extLst>
            </p:cNvPr>
            <p:cNvSpPr>
              <a:spLocks noChangeArrowheads="1"/>
            </p:cNvSpPr>
            <p:nvPr/>
          </p:nvSpPr>
          <p:spPr bwMode="auto">
            <a:xfrm>
              <a:off x="7854691" y="3812485"/>
              <a:ext cx="301752" cy="301752"/>
            </a:xfrm>
            <a:prstGeom prst="ellipse">
              <a:avLst/>
            </a:prstGeom>
            <a:solidFill>
              <a:schemeClr val="bg2">
                <a:lumMod val="10000"/>
              </a:schemeClr>
            </a:solidFill>
            <a:ln w="9525">
              <a:solidFill>
                <a:schemeClr val="bg2">
                  <a:lumMod val="75000"/>
                </a:schemeClr>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Oval 36">
              <a:extLst>
                <a:ext uri="{FF2B5EF4-FFF2-40B4-BE49-F238E27FC236}">
                  <a16:creationId xmlns:a16="http://schemas.microsoft.com/office/drawing/2014/main" id="{7ED1D9A0-9254-4941-8BA5-7F80FC0B6597}"/>
                </a:ext>
              </a:extLst>
            </p:cNvPr>
            <p:cNvSpPr>
              <a:spLocks noChangeArrowheads="1"/>
            </p:cNvSpPr>
            <p:nvPr/>
          </p:nvSpPr>
          <p:spPr bwMode="auto">
            <a:xfrm>
              <a:off x="7016491" y="4193485"/>
              <a:ext cx="301752" cy="301752"/>
            </a:xfrm>
            <a:prstGeom prst="ellipse">
              <a:avLst/>
            </a:prstGeom>
            <a:solidFill>
              <a:schemeClr val="bg2">
                <a:lumMod val="10000"/>
              </a:schemeClr>
            </a:solidFill>
            <a:ln w="9525">
              <a:solidFill>
                <a:schemeClr val="bg2">
                  <a:lumMod val="75000"/>
                </a:schemeClr>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Oval 37">
              <a:extLst>
                <a:ext uri="{FF2B5EF4-FFF2-40B4-BE49-F238E27FC236}">
                  <a16:creationId xmlns:a16="http://schemas.microsoft.com/office/drawing/2014/main" id="{7EAC7BCB-669A-4D38-907E-A5D53411E62E}"/>
                </a:ext>
              </a:extLst>
            </p:cNvPr>
            <p:cNvSpPr>
              <a:spLocks noChangeArrowheads="1"/>
            </p:cNvSpPr>
            <p:nvPr/>
          </p:nvSpPr>
          <p:spPr bwMode="auto">
            <a:xfrm>
              <a:off x="7563420" y="4191292"/>
              <a:ext cx="301752" cy="301752"/>
            </a:xfrm>
            <a:prstGeom prst="ellipse">
              <a:avLst/>
            </a:prstGeom>
            <a:solidFill>
              <a:schemeClr val="bg2">
                <a:lumMod val="10000"/>
              </a:schemeClr>
            </a:solidFill>
            <a:ln w="9525">
              <a:solidFill>
                <a:schemeClr val="bg2">
                  <a:lumMod val="75000"/>
                </a:schemeClr>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Oval 33">
              <a:extLst>
                <a:ext uri="{FF2B5EF4-FFF2-40B4-BE49-F238E27FC236}">
                  <a16:creationId xmlns:a16="http://schemas.microsoft.com/office/drawing/2014/main" id="{34594F30-7AE2-4A79-A664-861715F4D7CC}"/>
                </a:ext>
              </a:extLst>
            </p:cNvPr>
            <p:cNvSpPr>
              <a:spLocks noChangeArrowheads="1"/>
            </p:cNvSpPr>
            <p:nvPr/>
          </p:nvSpPr>
          <p:spPr bwMode="auto">
            <a:xfrm>
              <a:off x="6664452" y="3364300"/>
              <a:ext cx="1752600" cy="1447800"/>
            </a:xfrm>
            <a:prstGeom prst="ellipse">
              <a:avLst/>
            </a:prstGeom>
            <a:noFill/>
            <a:ln w="19050">
              <a:solidFill>
                <a:schemeClr val="bg2">
                  <a:lumMod val="75000"/>
                </a:schemeClr>
              </a:solidFill>
              <a:round/>
              <a:headEnd/>
              <a:tailEnd/>
            </a:ln>
            <a:extLst>
              <a:ext uri="{909E8E84-426E-40dd-AFC4-6F175D3DCCD1}">
                <a14:hiddenFill xmlns:a14="http://schemas.microsoft.com/office/drawing/2010/main" xmlns="">
                  <a:solidFill>
                    <a:srgbClr val="FFFFFF"/>
                  </a:solid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5" name="Group 24" descr="Linear Data Structures">
            <a:extLst>
              <a:ext uri="{FF2B5EF4-FFF2-40B4-BE49-F238E27FC236}">
                <a16:creationId xmlns:a16="http://schemas.microsoft.com/office/drawing/2014/main" id="{C4FE9C71-86DE-4070-982E-BADCC35B4E91}"/>
              </a:ext>
            </a:extLst>
          </p:cNvPr>
          <p:cNvGrpSpPr/>
          <p:nvPr/>
        </p:nvGrpSpPr>
        <p:grpSpPr>
          <a:xfrm>
            <a:off x="1831868" y="4993848"/>
            <a:ext cx="1456888" cy="304800"/>
            <a:chOff x="877748" y="4343400"/>
            <a:chExt cx="1456888" cy="304800"/>
          </a:xfrm>
          <a:solidFill>
            <a:schemeClr val="accent6">
              <a:lumMod val="75000"/>
            </a:schemeClr>
          </a:solidFill>
        </p:grpSpPr>
        <p:sp>
          <p:nvSpPr>
            <p:cNvPr id="26" name="Oval 13">
              <a:extLst>
                <a:ext uri="{FF2B5EF4-FFF2-40B4-BE49-F238E27FC236}">
                  <a16:creationId xmlns:a16="http://schemas.microsoft.com/office/drawing/2014/main" id="{1FDDD2FA-8EB8-4969-BDE9-BBEFF8E1747E}"/>
                </a:ext>
              </a:extLst>
            </p:cNvPr>
            <p:cNvSpPr>
              <a:spLocks noChangeArrowheads="1"/>
            </p:cNvSpPr>
            <p:nvPr/>
          </p:nvSpPr>
          <p:spPr bwMode="auto">
            <a:xfrm>
              <a:off x="877748" y="4343400"/>
              <a:ext cx="304800" cy="304800"/>
            </a:xfrm>
            <a:prstGeom prst="ellipse">
              <a:avLst/>
            </a:prstGeom>
            <a:grpFill/>
            <a:ln w="9525">
              <a:solidFill>
                <a:schemeClr val="accent6">
                  <a:lumMod val="75000"/>
                </a:schemeClr>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Oval 14">
              <a:extLst>
                <a:ext uri="{FF2B5EF4-FFF2-40B4-BE49-F238E27FC236}">
                  <a16:creationId xmlns:a16="http://schemas.microsoft.com/office/drawing/2014/main" id="{81226823-D927-4CFC-9D60-DFF03265882C}"/>
                </a:ext>
              </a:extLst>
            </p:cNvPr>
            <p:cNvSpPr>
              <a:spLocks noChangeArrowheads="1"/>
            </p:cNvSpPr>
            <p:nvPr/>
          </p:nvSpPr>
          <p:spPr bwMode="auto">
            <a:xfrm>
              <a:off x="1453792" y="4343400"/>
              <a:ext cx="304800" cy="304800"/>
            </a:xfrm>
            <a:prstGeom prst="ellipse">
              <a:avLst/>
            </a:prstGeom>
            <a:grpFill/>
            <a:ln w="9525">
              <a:solidFill>
                <a:schemeClr val="accent6">
                  <a:lumMod val="75000"/>
                </a:schemeClr>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Oval 15">
              <a:extLst>
                <a:ext uri="{FF2B5EF4-FFF2-40B4-BE49-F238E27FC236}">
                  <a16:creationId xmlns:a16="http://schemas.microsoft.com/office/drawing/2014/main" id="{44CAFCF0-8DD4-458A-BF11-416332294BBE}"/>
                </a:ext>
              </a:extLst>
            </p:cNvPr>
            <p:cNvSpPr>
              <a:spLocks noChangeArrowheads="1"/>
            </p:cNvSpPr>
            <p:nvPr/>
          </p:nvSpPr>
          <p:spPr bwMode="auto">
            <a:xfrm>
              <a:off x="2029836" y="4343400"/>
              <a:ext cx="304800" cy="304800"/>
            </a:xfrm>
            <a:prstGeom prst="ellipse">
              <a:avLst/>
            </a:prstGeom>
            <a:grpFill/>
            <a:ln w="9525">
              <a:solidFill>
                <a:schemeClr val="accent6">
                  <a:lumMod val="75000"/>
                </a:schemeClr>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549FE957-18FD-4073-A520-F7172DE43CA8}"/>
                </a:ext>
              </a:extLst>
            </p:cNvPr>
            <p:cNvCxnSpPr>
              <a:cxnSpLocks noChangeShapeType="1"/>
              <a:stCxn id="26" idx="6"/>
              <a:endCxn id="27" idx="2"/>
            </p:cNvCxnSpPr>
            <p:nvPr/>
          </p:nvCxnSpPr>
          <p:spPr bwMode="auto">
            <a:xfrm>
              <a:off x="1182548" y="4495800"/>
              <a:ext cx="271244" cy="0"/>
            </a:xfrm>
            <a:prstGeom prst="line">
              <a:avLst/>
            </a:prstGeom>
            <a:grpFill/>
            <a:ln w="25400">
              <a:solidFill>
                <a:schemeClr val="accent6">
                  <a:lumMod val="75000"/>
                </a:schemeClr>
              </a:solidFill>
              <a:round/>
              <a:headEnd/>
              <a:tailEnd/>
            </a:ln>
            <a:extLst>
              <a:ext uri="{909E8E84-426E-40dd-AFC4-6F175D3DCCD1}">
                <a14:hiddenFill xmlns:a14="http://schemas.microsoft.com/office/drawing/2010/main" xmlns="">
                  <a:noFill/>
                </a14:hiddenFill>
              </a:ext>
            </a:extLst>
          </p:spPr>
        </p:cxnSp>
        <p:cxnSp>
          <p:nvCxnSpPr>
            <p:cNvPr id="30" name="Straight Connector 29">
              <a:extLst>
                <a:ext uri="{FF2B5EF4-FFF2-40B4-BE49-F238E27FC236}">
                  <a16:creationId xmlns:a16="http://schemas.microsoft.com/office/drawing/2014/main" id="{EB6D8996-2669-4634-9753-F687C728F274}"/>
                </a:ext>
              </a:extLst>
            </p:cNvPr>
            <p:cNvCxnSpPr>
              <a:cxnSpLocks noChangeShapeType="1"/>
            </p:cNvCxnSpPr>
            <p:nvPr/>
          </p:nvCxnSpPr>
          <p:spPr bwMode="auto">
            <a:xfrm>
              <a:off x="1750203" y="4495800"/>
              <a:ext cx="304800" cy="0"/>
            </a:xfrm>
            <a:prstGeom prst="line">
              <a:avLst/>
            </a:prstGeom>
            <a:grpFill/>
            <a:ln w="25400">
              <a:solidFill>
                <a:schemeClr val="accent6">
                  <a:lumMod val="75000"/>
                </a:schemeClr>
              </a:solidFill>
              <a:round/>
              <a:headEnd/>
              <a:tailEnd/>
            </a:ln>
            <a:extLst>
              <a:ext uri="{909E8E84-426E-40dd-AFC4-6F175D3DCCD1}">
                <a14:hiddenFill xmlns:a14="http://schemas.microsoft.com/office/drawing/2010/main" xmlns="">
                  <a:noFill/>
                </a14:hiddenFill>
              </a:ext>
            </a:extLst>
          </p:spPr>
        </p:cxnSp>
      </p:grpSp>
      <p:grpSp>
        <p:nvGrpSpPr>
          <p:cNvPr id="31" name="Group 30" descr="Non-Linear Data Structures">
            <a:extLst>
              <a:ext uri="{FF2B5EF4-FFF2-40B4-BE49-F238E27FC236}">
                <a16:creationId xmlns:a16="http://schemas.microsoft.com/office/drawing/2014/main" id="{BBCA3FB5-E4E4-4A55-A2BA-67A34490B071}"/>
              </a:ext>
            </a:extLst>
          </p:cNvPr>
          <p:cNvGrpSpPr/>
          <p:nvPr/>
        </p:nvGrpSpPr>
        <p:grpSpPr>
          <a:xfrm>
            <a:off x="5225372" y="4686961"/>
            <a:ext cx="987552" cy="911352"/>
            <a:chOff x="4079846" y="3744286"/>
            <a:chExt cx="987552" cy="911352"/>
          </a:xfrm>
          <a:solidFill>
            <a:schemeClr val="accent6">
              <a:lumMod val="75000"/>
            </a:schemeClr>
          </a:solidFill>
        </p:grpSpPr>
        <p:sp>
          <p:nvSpPr>
            <p:cNvPr id="32" name="Oval 31">
              <a:extLst>
                <a:ext uri="{FF2B5EF4-FFF2-40B4-BE49-F238E27FC236}">
                  <a16:creationId xmlns:a16="http://schemas.microsoft.com/office/drawing/2014/main" id="{8D06E595-9B3B-4CCB-9BDB-BBDFCB0F342C}"/>
                </a:ext>
              </a:extLst>
            </p:cNvPr>
            <p:cNvSpPr>
              <a:spLocks noChangeArrowheads="1"/>
            </p:cNvSpPr>
            <p:nvPr/>
          </p:nvSpPr>
          <p:spPr bwMode="auto">
            <a:xfrm>
              <a:off x="4079846" y="3744286"/>
              <a:ext cx="301752" cy="301752"/>
            </a:xfrm>
            <a:prstGeom prst="ellipse">
              <a:avLst/>
            </a:prstGeom>
            <a:grpFill/>
            <a:ln w="9525">
              <a:solidFill>
                <a:schemeClr val="accent6">
                  <a:lumMod val="75000"/>
                </a:schemeClr>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5247F677-4DCC-4D8C-A1AE-1F791E081050}"/>
                </a:ext>
              </a:extLst>
            </p:cNvPr>
            <p:cNvSpPr>
              <a:spLocks noChangeArrowheads="1"/>
            </p:cNvSpPr>
            <p:nvPr/>
          </p:nvSpPr>
          <p:spPr bwMode="auto">
            <a:xfrm>
              <a:off x="4765646" y="3820486"/>
              <a:ext cx="301752" cy="301752"/>
            </a:xfrm>
            <a:prstGeom prst="ellipse">
              <a:avLst/>
            </a:prstGeom>
            <a:grpFill/>
            <a:ln w="9525">
              <a:solidFill>
                <a:schemeClr val="accent6">
                  <a:lumMod val="75000"/>
                </a:schemeClr>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Oval 33">
              <a:extLst>
                <a:ext uri="{FF2B5EF4-FFF2-40B4-BE49-F238E27FC236}">
                  <a16:creationId xmlns:a16="http://schemas.microsoft.com/office/drawing/2014/main" id="{F9D2F77B-58EA-434A-9B0C-23C2FAFE2AE0}"/>
                </a:ext>
              </a:extLst>
            </p:cNvPr>
            <p:cNvSpPr>
              <a:spLocks noChangeArrowheads="1"/>
            </p:cNvSpPr>
            <p:nvPr/>
          </p:nvSpPr>
          <p:spPr bwMode="auto">
            <a:xfrm>
              <a:off x="4232246" y="4353886"/>
              <a:ext cx="301752" cy="301752"/>
            </a:xfrm>
            <a:prstGeom prst="ellipse">
              <a:avLst/>
            </a:prstGeom>
            <a:grpFill/>
            <a:ln w="9525">
              <a:solidFill>
                <a:schemeClr val="accent6">
                  <a:lumMod val="75000"/>
                </a:schemeClr>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Oval 34">
              <a:extLst>
                <a:ext uri="{FF2B5EF4-FFF2-40B4-BE49-F238E27FC236}">
                  <a16:creationId xmlns:a16="http://schemas.microsoft.com/office/drawing/2014/main" id="{3AE1F873-515C-4395-9A03-190B6BF121AE}"/>
                </a:ext>
              </a:extLst>
            </p:cNvPr>
            <p:cNvSpPr>
              <a:spLocks noChangeArrowheads="1"/>
            </p:cNvSpPr>
            <p:nvPr/>
          </p:nvSpPr>
          <p:spPr bwMode="auto">
            <a:xfrm>
              <a:off x="4689446" y="4277686"/>
              <a:ext cx="301752" cy="301752"/>
            </a:xfrm>
            <a:prstGeom prst="ellipse">
              <a:avLst/>
            </a:prstGeom>
            <a:grpFill/>
            <a:ln w="9525">
              <a:solidFill>
                <a:schemeClr val="accent6">
                  <a:lumMod val="75000"/>
                </a:schemeClr>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36" name="Straight Connector 27">
              <a:extLst>
                <a:ext uri="{FF2B5EF4-FFF2-40B4-BE49-F238E27FC236}">
                  <a16:creationId xmlns:a16="http://schemas.microsoft.com/office/drawing/2014/main" id="{5A300474-4AF3-4B14-AC0F-944DB12EE000}"/>
                </a:ext>
              </a:extLst>
            </p:cNvPr>
            <p:cNvCxnSpPr>
              <a:cxnSpLocks noChangeShapeType="1"/>
              <a:stCxn id="32" idx="6"/>
              <a:endCxn id="33" idx="2"/>
            </p:cNvCxnSpPr>
            <p:nvPr/>
          </p:nvCxnSpPr>
          <p:spPr bwMode="auto">
            <a:xfrm>
              <a:off x="4381598" y="3895162"/>
              <a:ext cx="384048" cy="76200"/>
            </a:xfrm>
            <a:prstGeom prst="line">
              <a:avLst/>
            </a:prstGeom>
            <a:grpFill/>
            <a:ln w="25400">
              <a:solidFill>
                <a:schemeClr val="accent6">
                  <a:lumMod val="75000"/>
                </a:schemeClr>
              </a:solidFill>
              <a:round/>
              <a:headEnd/>
              <a:tailEnd/>
            </a:ln>
            <a:extLst>
              <a:ext uri="{909E8E84-426E-40dd-AFC4-6F175D3DCCD1}">
                <a14:hiddenFill xmlns:a14="http://schemas.microsoft.com/office/drawing/2010/main" xmlns="">
                  <a:noFill/>
                </a14:hiddenFill>
              </a:ext>
            </a:extLst>
          </p:spPr>
        </p:cxnSp>
        <p:cxnSp>
          <p:nvCxnSpPr>
            <p:cNvPr id="37" name="Straight Connector 29">
              <a:extLst>
                <a:ext uri="{FF2B5EF4-FFF2-40B4-BE49-F238E27FC236}">
                  <a16:creationId xmlns:a16="http://schemas.microsoft.com/office/drawing/2014/main" id="{2B26994C-2449-49C4-959A-08A707E3B0EA}"/>
                </a:ext>
              </a:extLst>
            </p:cNvPr>
            <p:cNvCxnSpPr>
              <a:cxnSpLocks noChangeShapeType="1"/>
              <a:stCxn id="33" idx="4"/>
              <a:endCxn id="35" idx="0"/>
            </p:cNvCxnSpPr>
            <p:nvPr/>
          </p:nvCxnSpPr>
          <p:spPr bwMode="auto">
            <a:xfrm flipH="1">
              <a:off x="4840322" y="4122238"/>
              <a:ext cx="76200" cy="155448"/>
            </a:xfrm>
            <a:prstGeom prst="line">
              <a:avLst/>
            </a:prstGeom>
            <a:grpFill/>
            <a:ln w="25400">
              <a:solidFill>
                <a:schemeClr val="accent6">
                  <a:lumMod val="75000"/>
                </a:schemeClr>
              </a:solidFill>
              <a:round/>
              <a:headEnd/>
              <a:tailEnd/>
            </a:ln>
            <a:extLst>
              <a:ext uri="{909E8E84-426E-40dd-AFC4-6F175D3DCCD1}">
                <a14:hiddenFill xmlns:a14="http://schemas.microsoft.com/office/drawing/2010/main" xmlns="">
                  <a:noFill/>
                </a14:hiddenFill>
              </a:ext>
            </a:extLst>
          </p:spPr>
        </p:cxnSp>
        <p:cxnSp>
          <p:nvCxnSpPr>
            <p:cNvPr id="38" name="Straight Connector 31">
              <a:extLst>
                <a:ext uri="{FF2B5EF4-FFF2-40B4-BE49-F238E27FC236}">
                  <a16:creationId xmlns:a16="http://schemas.microsoft.com/office/drawing/2014/main" id="{16A74199-DDE2-460E-8EF9-DC0C699CAD5D}"/>
                </a:ext>
              </a:extLst>
            </p:cNvPr>
            <p:cNvCxnSpPr>
              <a:cxnSpLocks noChangeShapeType="1"/>
              <a:stCxn id="32" idx="5"/>
              <a:endCxn id="35" idx="1"/>
            </p:cNvCxnSpPr>
            <p:nvPr/>
          </p:nvCxnSpPr>
          <p:spPr bwMode="auto">
            <a:xfrm>
              <a:off x="4337407" y="4001847"/>
              <a:ext cx="396230" cy="320030"/>
            </a:xfrm>
            <a:prstGeom prst="line">
              <a:avLst/>
            </a:prstGeom>
            <a:grpFill/>
            <a:ln w="25400">
              <a:solidFill>
                <a:schemeClr val="accent6">
                  <a:lumMod val="75000"/>
                </a:schemeClr>
              </a:solidFill>
              <a:round/>
              <a:headEnd/>
              <a:tailEnd/>
            </a:ln>
            <a:extLst>
              <a:ext uri="{909E8E84-426E-40dd-AFC4-6F175D3DCCD1}">
                <a14:hiddenFill xmlns:a14="http://schemas.microsoft.com/office/drawing/2010/main" xmlns="">
                  <a:noFill/>
                </a14:hiddenFill>
              </a:ext>
            </a:extLst>
          </p:spPr>
        </p:cxnSp>
        <p:cxnSp>
          <p:nvCxnSpPr>
            <p:cNvPr id="39" name="Straight Connector 31">
              <a:extLst>
                <a:ext uri="{FF2B5EF4-FFF2-40B4-BE49-F238E27FC236}">
                  <a16:creationId xmlns:a16="http://schemas.microsoft.com/office/drawing/2014/main" id="{F8A83CAE-9C4A-4C60-8A1C-7F6AE7A2B7EC}"/>
                </a:ext>
              </a:extLst>
            </p:cNvPr>
            <p:cNvCxnSpPr>
              <a:cxnSpLocks noChangeShapeType="1"/>
              <a:stCxn id="32" idx="4"/>
            </p:cNvCxnSpPr>
            <p:nvPr/>
          </p:nvCxnSpPr>
          <p:spPr bwMode="auto">
            <a:xfrm>
              <a:off x="4230722" y="4046038"/>
              <a:ext cx="169093" cy="363987"/>
            </a:xfrm>
            <a:prstGeom prst="line">
              <a:avLst/>
            </a:prstGeom>
            <a:grpFill/>
            <a:ln w="25400">
              <a:solidFill>
                <a:schemeClr val="accent6">
                  <a:lumMod val="75000"/>
                </a:schemeClr>
              </a:solidFill>
              <a:round/>
              <a:headEnd/>
              <a:tailEnd/>
            </a:ln>
            <a:extLst>
              <a:ext uri="{909E8E84-426E-40dd-AFC4-6F175D3DCCD1}">
                <a14:hiddenFill xmlns:a14="http://schemas.microsoft.com/office/drawing/2010/main" xmlns="">
                  <a:noFill/>
                </a14:hiddenFill>
              </a:ext>
            </a:extLst>
          </p:spPr>
        </p:cxnSp>
      </p:grpSp>
    </p:spTree>
    <p:extLst>
      <p:ext uri="{BB962C8B-B14F-4D97-AF65-F5344CB8AC3E}">
        <p14:creationId xmlns:p14="http://schemas.microsoft.com/office/powerpoint/2010/main" val="38458402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fontScale="90000"/>
          </a:bodyPr>
          <a:lstStyle/>
          <a:p>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r>
              <a:rPr lang="en-US" dirty="0">
                <a:solidFill>
                  <a:schemeClr val="bg1"/>
                </a:solidFill>
                <a:latin typeface="Gotham Bold" pitchFamily="50" charset="0"/>
              </a:rPr>
              <a:t>Exam 2 Logistics</a:t>
            </a:r>
            <a:br>
              <a:rPr lang="en-US" dirty="0">
                <a:solidFill>
                  <a:schemeClr val="bg1"/>
                </a:solidFill>
                <a:latin typeface="Gotham Bold" pitchFamily="50" charset="0"/>
              </a:rPr>
            </a:br>
            <a:br>
              <a:rPr lang="en-US" dirty="0">
                <a:solidFill>
                  <a:schemeClr val="bg1"/>
                </a:solidFill>
                <a:latin typeface="Gotham Bold" pitchFamily="50" charset="0"/>
              </a:rPr>
            </a:br>
            <a:br>
              <a:rPr lang="en-US" dirty="0">
                <a:solidFill>
                  <a:schemeClr val="bg1"/>
                </a:solidFill>
                <a:latin typeface="Gotham Bold" pitchFamily="50" charset="0"/>
              </a:rPr>
            </a:br>
            <a:endParaRPr lang="en-US" dirty="0">
              <a:solidFill>
                <a:schemeClr val="bg1"/>
              </a:solidFill>
              <a:latin typeface="Gotham Bold" pitchFamily="50" charset="0"/>
            </a:endParaRPr>
          </a:p>
        </p:txBody>
      </p:sp>
      <p:sp>
        <p:nvSpPr>
          <p:cNvPr id="4" name="Title 1">
            <a:extLst>
              <a:ext uri="{FF2B5EF4-FFF2-40B4-BE49-F238E27FC236}">
                <a16:creationId xmlns:a16="http://schemas.microsoft.com/office/drawing/2014/main" id="{4A681ECE-2602-4BFB-B297-488969F24B6C}"/>
              </a:ext>
            </a:extLst>
          </p:cNvPr>
          <p:cNvSpPr txBox="1">
            <a:spLocks/>
          </p:cNvSpPr>
          <p:nvPr/>
        </p:nvSpPr>
        <p:spPr>
          <a:xfrm>
            <a:off x="987636" y="1483169"/>
            <a:ext cx="10876415" cy="4755667"/>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285750" marR="0" lvl="0" indent="-285750" algn="l" defTabSz="914400" rtl="0" eaLnBrk="1" fontAlgn="auto" latinLnBrk="0" hangingPunct="1">
              <a:lnSpc>
                <a:spcPct val="150000"/>
              </a:lnSpc>
              <a:spcBef>
                <a:spcPct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j-ea"/>
                <a:cs typeface="+mj-cs"/>
              </a:rPr>
              <a:t>Date and timings : </a:t>
            </a:r>
            <a:r>
              <a:rPr kumimoji="0" lang="en-US" sz="1800" b="0" i="0" u="none" strike="noStrike" kern="1200" cap="none" spc="0" normalizeH="0" baseline="0" noProof="0" dirty="0">
                <a:ln>
                  <a:noFill/>
                </a:ln>
                <a:solidFill>
                  <a:srgbClr val="00B050"/>
                </a:solidFill>
                <a:effectLst/>
                <a:uLnTx/>
                <a:uFillTx/>
                <a:latin typeface="Consolas" panose="020B0609020204030204" pitchFamily="49" charset="0"/>
                <a:ea typeface="+mj-ea"/>
                <a:cs typeface="+mj-cs"/>
              </a:rPr>
              <a:t>Exam 2 will be on </a:t>
            </a:r>
            <a:r>
              <a:rPr kumimoji="0" lang="en-US" sz="1800" b="0" i="0" u="none" strike="noStrike" kern="1200" cap="none" spc="0" normalizeH="0" baseline="0" noProof="0">
                <a:ln>
                  <a:noFill/>
                </a:ln>
                <a:solidFill>
                  <a:srgbClr val="00B050"/>
                </a:solidFill>
                <a:effectLst/>
                <a:uLnTx/>
                <a:uFillTx/>
                <a:latin typeface="Consolas" panose="020B0609020204030204" pitchFamily="49" charset="0"/>
                <a:ea typeface="+mj-ea"/>
                <a:cs typeface="+mj-cs"/>
              </a:rPr>
              <a:t>July 28, </a:t>
            </a:r>
            <a:r>
              <a:rPr kumimoji="0" lang="en-US" sz="1800" b="0" i="0" u="none" strike="noStrike" kern="1200" cap="none" spc="0" normalizeH="0" baseline="0" noProof="0" dirty="0">
                <a:ln>
                  <a:noFill/>
                </a:ln>
                <a:solidFill>
                  <a:srgbClr val="00B050"/>
                </a:solidFill>
                <a:effectLst/>
                <a:uLnTx/>
                <a:uFillTx/>
                <a:latin typeface="Consolas" panose="020B0609020204030204" pitchFamily="49" charset="0"/>
                <a:ea typeface="+mj-ea"/>
                <a:cs typeface="+mj-cs"/>
              </a:rPr>
              <a:t>8 pm to midnight via Honorlock and you can take it at home.</a:t>
            </a:r>
            <a:endPar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j-ea"/>
              <a:cs typeface="+mj-cs"/>
            </a:endParaRPr>
          </a:p>
          <a:p>
            <a:pPr marL="285750" marR="0" lvl="0" indent="-285750" algn="l" defTabSz="914400" rtl="0" eaLnBrk="1" fontAlgn="auto" latinLnBrk="0" hangingPunct="1">
              <a:lnSpc>
                <a:spcPct val="150000"/>
              </a:lnSpc>
              <a:spcBef>
                <a:spcPct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j-ea"/>
                <a:cs typeface="+mj-cs"/>
              </a:rPr>
              <a:t>The exam duration is 2 hours. </a:t>
            </a:r>
          </a:p>
          <a:p>
            <a:pPr marL="285750" marR="0" lvl="0" indent="-285750" algn="l" defTabSz="914400" rtl="0" eaLnBrk="1" fontAlgn="auto" latinLnBrk="0" hangingPunct="1">
              <a:lnSpc>
                <a:spcPct val="150000"/>
              </a:lnSpc>
              <a:spcBef>
                <a:spcPct val="0"/>
              </a:spcBef>
              <a:spcAft>
                <a:spcPts val="0"/>
              </a:spcAft>
              <a:buClrTx/>
              <a:buSzTx/>
              <a:buFont typeface="Wingdings" panose="05000000000000000000" pitchFamily="2" charset="2"/>
              <a:buChar char="§"/>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j-ea"/>
                <a:cs typeface="+mj-cs"/>
              </a:rPr>
              <a:t>You are allowed the following for your exam:</a:t>
            </a:r>
          </a:p>
          <a:p>
            <a:pPr marL="742950"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
              <a:tabLst/>
              <a:defRPr/>
            </a:pPr>
            <a:r>
              <a:rPr kumimoji="0" lang="en-US"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one double sided handwritten sheet of notes (letter size/A4 page).</a:t>
            </a:r>
          </a:p>
          <a:p>
            <a:pPr marL="742950" marR="0" lvl="1"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
              <a:tabLst/>
              <a:defRPr/>
            </a:pPr>
            <a:r>
              <a:rPr kumimoji="0" lang="en-US"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4 double sided blank sheets of scratch paper (letter size/A4 page).</a:t>
            </a:r>
          </a:p>
          <a:p>
            <a:pPr marL="342900" lvl="0" indent="-342900">
              <a:buFont typeface="Arial" panose="020B0604020202020204" pitchFamily="34" charset="0"/>
              <a:buChar char="•"/>
              <a:defRPr/>
            </a:pPr>
            <a:endParaRPr lang="en-US" sz="1800" dirty="0">
              <a:solidFill>
                <a:srgbClr val="0081E2"/>
              </a:solidFill>
              <a:latin typeface="Consolas" panose="020B0609020204030204" pitchFamily="49" charset="0"/>
            </a:endParaRPr>
          </a:p>
          <a:p>
            <a:pPr marL="342900" lvl="0" indent="-342900">
              <a:buFont typeface="Arial" panose="020B0604020202020204" pitchFamily="34" charset="0"/>
              <a:buChar char="•"/>
              <a:defRPr/>
            </a:pPr>
            <a:r>
              <a:rPr lang="en-US" sz="1800" dirty="0">
                <a:solidFill>
                  <a:srgbClr val="00DA63"/>
                </a:solidFill>
                <a:latin typeface="Consolas" panose="020B0609020204030204" pitchFamily="49" charset="0"/>
              </a:rPr>
              <a:t>Exam 2 Topics and Expectations Guide</a:t>
            </a:r>
            <a:r>
              <a:rPr lang="en-US" sz="1800" dirty="0">
                <a:solidFill>
                  <a:srgbClr val="0081E2"/>
                </a:solidFill>
                <a:latin typeface="Consolas" panose="020B0609020204030204" pitchFamily="49" charset="0"/>
              </a:rPr>
              <a:t>: </a:t>
            </a:r>
            <a:r>
              <a:rPr lang="en-US" sz="1800" dirty="0">
                <a:solidFill>
                  <a:srgbClr val="EB6E19"/>
                </a:solidFill>
                <a:latin typeface="Consolas" panose="020B0609020204030204" pitchFamily="49" charset="0"/>
                <a:hlinkClick r:id="rId3">
                  <a:extLst>
                    <a:ext uri="{A12FA001-AC4F-418D-AE19-62706E023703}">
                      <ahyp:hlinkClr xmlns:ahyp="http://schemas.microsoft.com/office/drawing/2018/hyperlinkcolor" val="tx"/>
                    </a:ext>
                  </a:extLst>
                </a:hlinkClick>
              </a:rPr>
              <a:t>Link</a:t>
            </a:r>
            <a:endParaRPr lang="en-US" sz="1800" dirty="0">
              <a:solidFill>
                <a:srgbClr val="EB6E19"/>
              </a:solidFill>
              <a:latin typeface="Consolas" panose="020B0609020204030204" pitchFamily="49" charset="0"/>
            </a:endParaRPr>
          </a:p>
          <a:p>
            <a:pPr lvl="0">
              <a:defRPr/>
            </a:pPr>
            <a:endParaRPr lang="en-US" sz="1800" dirty="0">
              <a:solidFill>
                <a:srgbClr val="0081E2"/>
              </a:solidFill>
              <a:latin typeface="Consolas" panose="020B0609020204030204" pitchFamily="49" charset="0"/>
            </a:endParaRPr>
          </a:p>
          <a:p>
            <a:pPr marL="285750" indent="-285750">
              <a:lnSpc>
                <a:spcPct val="150000"/>
              </a:lnSpc>
              <a:spcBef>
                <a:spcPts val="0"/>
              </a:spcBef>
              <a:buFont typeface="Wingdings" panose="05000000000000000000" pitchFamily="2" charset="2"/>
              <a:buChar char="§"/>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1598491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r>
              <a:rPr lang="en-US" dirty="0">
                <a:solidFill>
                  <a:schemeClr val="bg1"/>
                </a:solidFill>
                <a:latin typeface="Gotham Bold" pitchFamily="50" charset="0"/>
              </a:rPr>
              <a:t>Common Representations</a:t>
            </a:r>
          </a:p>
        </p:txBody>
      </p:sp>
      <p:grpSp>
        <p:nvGrpSpPr>
          <p:cNvPr id="8" name="Group 7">
            <a:extLst>
              <a:ext uri="{FF2B5EF4-FFF2-40B4-BE49-F238E27FC236}">
                <a16:creationId xmlns:a16="http://schemas.microsoft.com/office/drawing/2014/main" id="{BFBC837B-EC73-427B-95FC-D056E7706469}"/>
              </a:ext>
              <a:ext uri="{C183D7F6-B498-43B3-948B-1728B52AA6E4}">
                <adec:decorative xmlns:adec="http://schemas.microsoft.com/office/drawing/2017/decorative" val="1"/>
              </a:ext>
            </a:extLst>
          </p:cNvPr>
          <p:cNvGrpSpPr/>
          <p:nvPr/>
        </p:nvGrpSpPr>
        <p:grpSpPr>
          <a:xfrm>
            <a:off x="1937588" y="2479396"/>
            <a:ext cx="3162953" cy="2167861"/>
            <a:chOff x="5833534" y="912535"/>
            <a:chExt cx="3162953" cy="2167861"/>
          </a:xfrm>
        </p:grpSpPr>
        <p:sp>
          <p:nvSpPr>
            <p:cNvPr id="10" name="Oval 9">
              <a:extLst>
                <a:ext uri="{FF2B5EF4-FFF2-40B4-BE49-F238E27FC236}">
                  <a16:creationId xmlns:a16="http://schemas.microsoft.com/office/drawing/2014/main" id="{7F59A168-5377-451B-9712-72CCD762AB2F}"/>
                </a:ext>
              </a:extLst>
            </p:cNvPr>
            <p:cNvSpPr/>
            <p:nvPr/>
          </p:nvSpPr>
          <p:spPr>
            <a:xfrm>
              <a:off x="6536268" y="1312313"/>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B</a:t>
              </a:r>
            </a:p>
          </p:txBody>
        </p:sp>
        <p:sp>
          <p:nvSpPr>
            <p:cNvPr id="14" name="Oval 13">
              <a:extLst>
                <a:ext uri="{FF2B5EF4-FFF2-40B4-BE49-F238E27FC236}">
                  <a16:creationId xmlns:a16="http://schemas.microsoft.com/office/drawing/2014/main" id="{72FAB0BB-3C19-4206-B18A-6AAB24E78530}"/>
                </a:ext>
              </a:extLst>
            </p:cNvPr>
            <p:cNvSpPr/>
            <p:nvPr/>
          </p:nvSpPr>
          <p:spPr>
            <a:xfrm>
              <a:off x="5833534" y="212936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a:t>
              </a:r>
            </a:p>
          </p:txBody>
        </p:sp>
        <p:sp>
          <p:nvSpPr>
            <p:cNvPr id="15" name="Oval 14">
              <a:extLst>
                <a:ext uri="{FF2B5EF4-FFF2-40B4-BE49-F238E27FC236}">
                  <a16:creationId xmlns:a16="http://schemas.microsoft.com/office/drawing/2014/main" id="{A0913F43-1911-4304-AE83-F3A0F171E39F}"/>
                </a:ext>
              </a:extLst>
            </p:cNvPr>
            <p:cNvSpPr/>
            <p:nvPr/>
          </p:nvSpPr>
          <p:spPr>
            <a:xfrm>
              <a:off x="7958667" y="225001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E</a:t>
              </a:r>
            </a:p>
          </p:txBody>
        </p:sp>
        <p:sp>
          <p:nvSpPr>
            <p:cNvPr id="16" name="Oval 15">
              <a:extLst>
                <a:ext uri="{FF2B5EF4-FFF2-40B4-BE49-F238E27FC236}">
                  <a16:creationId xmlns:a16="http://schemas.microsoft.com/office/drawing/2014/main" id="{10BFE9D5-0A71-46DE-A73A-EE6F676D343E}"/>
                </a:ext>
              </a:extLst>
            </p:cNvPr>
            <p:cNvSpPr/>
            <p:nvPr/>
          </p:nvSpPr>
          <p:spPr>
            <a:xfrm>
              <a:off x="8538841" y="136004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F</a:t>
              </a:r>
            </a:p>
          </p:txBody>
        </p:sp>
        <p:sp>
          <p:nvSpPr>
            <p:cNvPr id="17" name="Oval 16">
              <a:extLst>
                <a:ext uri="{FF2B5EF4-FFF2-40B4-BE49-F238E27FC236}">
                  <a16:creationId xmlns:a16="http://schemas.microsoft.com/office/drawing/2014/main" id="{96A0919B-14A8-41C6-B25B-1F6B60C6EF39}"/>
                </a:ext>
              </a:extLst>
            </p:cNvPr>
            <p:cNvSpPr/>
            <p:nvPr/>
          </p:nvSpPr>
          <p:spPr>
            <a:xfrm>
              <a:off x="6807200" y="2607188"/>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a:t>
              </a:r>
            </a:p>
          </p:txBody>
        </p:sp>
        <p:sp>
          <p:nvSpPr>
            <p:cNvPr id="18" name="Oval 17">
              <a:extLst>
                <a:ext uri="{FF2B5EF4-FFF2-40B4-BE49-F238E27FC236}">
                  <a16:creationId xmlns:a16="http://schemas.microsoft.com/office/drawing/2014/main" id="{E192B131-1481-459D-BDE7-46F9157E56F9}"/>
                </a:ext>
              </a:extLst>
            </p:cNvPr>
            <p:cNvSpPr/>
            <p:nvPr/>
          </p:nvSpPr>
          <p:spPr>
            <a:xfrm>
              <a:off x="7703887" y="912535"/>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D</a:t>
              </a:r>
            </a:p>
          </p:txBody>
        </p:sp>
        <p:cxnSp>
          <p:nvCxnSpPr>
            <p:cNvPr id="19" name="Straight Arrow Connector 18">
              <a:extLst>
                <a:ext uri="{FF2B5EF4-FFF2-40B4-BE49-F238E27FC236}">
                  <a16:creationId xmlns:a16="http://schemas.microsoft.com/office/drawing/2014/main" id="{751C21A2-990F-40F9-ADF3-15EE1F1B1105}"/>
                </a:ext>
              </a:extLst>
            </p:cNvPr>
            <p:cNvCxnSpPr>
              <a:cxnSpLocks/>
              <a:stCxn id="14" idx="7"/>
              <a:endCxn id="10" idx="3"/>
            </p:cNvCxnSpPr>
            <p:nvPr/>
          </p:nvCxnSpPr>
          <p:spPr>
            <a:xfrm flipV="1">
              <a:off x="6223779" y="1702558"/>
              <a:ext cx="379444" cy="493763"/>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63992A6-8F5E-4715-A286-34CBEC70F6D2}"/>
                </a:ext>
              </a:extLst>
            </p:cNvPr>
            <p:cNvCxnSpPr>
              <a:cxnSpLocks/>
            </p:cNvCxnSpPr>
            <p:nvPr/>
          </p:nvCxnSpPr>
          <p:spPr>
            <a:xfrm flipV="1">
              <a:off x="8291203" y="1769513"/>
              <a:ext cx="379444" cy="493763"/>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9FDD037-8C23-4254-B2AF-918541F093F4}"/>
                </a:ext>
              </a:extLst>
            </p:cNvPr>
            <p:cNvCxnSpPr>
              <a:cxnSpLocks/>
              <a:endCxn id="17" idx="0"/>
            </p:cNvCxnSpPr>
            <p:nvPr/>
          </p:nvCxnSpPr>
          <p:spPr>
            <a:xfrm flipH="1">
              <a:off x="7035800" y="1360046"/>
              <a:ext cx="803322" cy="1247142"/>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BFEF09E-6F2B-4A17-8DA3-EAD027DBF680}"/>
                </a:ext>
              </a:extLst>
            </p:cNvPr>
            <p:cNvCxnSpPr>
              <a:cxnSpLocks/>
              <a:endCxn id="15" idx="2"/>
            </p:cNvCxnSpPr>
            <p:nvPr/>
          </p:nvCxnSpPr>
          <p:spPr>
            <a:xfrm flipV="1">
              <a:off x="7274425" y="2478616"/>
              <a:ext cx="684242" cy="365146"/>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7082262-AEA1-43C9-8866-6620760003A5}"/>
                </a:ext>
              </a:extLst>
            </p:cNvPr>
            <p:cNvCxnSpPr>
              <a:cxnSpLocks/>
              <a:endCxn id="18" idx="1"/>
            </p:cNvCxnSpPr>
            <p:nvPr/>
          </p:nvCxnSpPr>
          <p:spPr>
            <a:xfrm flipV="1">
              <a:off x="6977767" y="979490"/>
              <a:ext cx="793075" cy="432092"/>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CEFB491-B8DF-4560-A299-EA5C43A76DF9}"/>
                </a:ext>
              </a:extLst>
            </p:cNvPr>
            <p:cNvCxnSpPr>
              <a:cxnSpLocks/>
              <a:endCxn id="16" idx="1"/>
            </p:cNvCxnSpPr>
            <p:nvPr/>
          </p:nvCxnSpPr>
          <p:spPr>
            <a:xfrm>
              <a:off x="8142303" y="1208081"/>
              <a:ext cx="463493" cy="218920"/>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011DAD8-4445-4B70-A99A-989BF5ABD744}"/>
                </a:ext>
              </a:extLst>
            </p:cNvPr>
            <p:cNvCxnSpPr>
              <a:cxnSpLocks/>
              <a:endCxn id="17" idx="1"/>
            </p:cNvCxnSpPr>
            <p:nvPr/>
          </p:nvCxnSpPr>
          <p:spPr>
            <a:xfrm>
              <a:off x="6255996" y="2478616"/>
              <a:ext cx="618159" cy="195527"/>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6B95B89-5390-49EC-9A0F-E63D3BAE6991}"/>
                </a:ext>
              </a:extLst>
            </p:cNvPr>
            <p:cNvSpPr txBox="1"/>
            <p:nvPr/>
          </p:nvSpPr>
          <p:spPr>
            <a:xfrm>
              <a:off x="6082133" y="1724871"/>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10</a:t>
              </a:r>
            </a:p>
          </p:txBody>
        </p:sp>
        <p:sp>
          <p:nvSpPr>
            <p:cNvPr id="27" name="TextBox 26">
              <a:extLst>
                <a:ext uri="{FF2B5EF4-FFF2-40B4-BE49-F238E27FC236}">
                  <a16:creationId xmlns:a16="http://schemas.microsoft.com/office/drawing/2014/main" id="{85852CD4-F459-4845-B3F4-E7CB86C9E311}"/>
                </a:ext>
              </a:extLst>
            </p:cNvPr>
            <p:cNvSpPr txBox="1"/>
            <p:nvPr/>
          </p:nvSpPr>
          <p:spPr>
            <a:xfrm>
              <a:off x="6933393" y="1004536"/>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60</a:t>
              </a:r>
            </a:p>
          </p:txBody>
        </p:sp>
        <p:sp>
          <p:nvSpPr>
            <p:cNvPr id="28" name="TextBox 27">
              <a:extLst>
                <a:ext uri="{FF2B5EF4-FFF2-40B4-BE49-F238E27FC236}">
                  <a16:creationId xmlns:a16="http://schemas.microsoft.com/office/drawing/2014/main" id="{DF819778-0A9B-4DE9-8D37-1CE51389C530}"/>
                </a:ext>
              </a:extLst>
            </p:cNvPr>
            <p:cNvSpPr txBox="1"/>
            <p:nvPr/>
          </p:nvSpPr>
          <p:spPr>
            <a:xfrm>
              <a:off x="8212341" y="972508"/>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80</a:t>
              </a:r>
            </a:p>
          </p:txBody>
        </p:sp>
        <p:sp>
          <p:nvSpPr>
            <p:cNvPr id="29" name="TextBox 28">
              <a:extLst>
                <a:ext uri="{FF2B5EF4-FFF2-40B4-BE49-F238E27FC236}">
                  <a16:creationId xmlns:a16="http://schemas.microsoft.com/office/drawing/2014/main" id="{047086FC-EF9D-4675-BC85-63091B91333F}"/>
                </a:ext>
              </a:extLst>
            </p:cNvPr>
            <p:cNvSpPr txBox="1"/>
            <p:nvPr/>
          </p:nvSpPr>
          <p:spPr>
            <a:xfrm>
              <a:off x="7484208" y="2711064"/>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5</a:t>
              </a:r>
            </a:p>
          </p:txBody>
        </p:sp>
        <p:sp>
          <p:nvSpPr>
            <p:cNvPr id="30" name="TextBox 29">
              <a:extLst>
                <a:ext uri="{FF2B5EF4-FFF2-40B4-BE49-F238E27FC236}">
                  <a16:creationId xmlns:a16="http://schemas.microsoft.com/office/drawing/2014/main" id="{BE1BFAC0-0BEC-4681-9BC0-E21854C5D197}"/>
                </a:ext>
              </a:extLst>
            </p:cNvPr>
            <p:cNvSpPr txBox="1"/>
            <p:nvPr/>
          </p:nvSpPr>
          <p:spPr>
            <a:xfrm>
              <a:off x="7035259" y="1653656"/>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40</a:t>
              </a:r>
            </a:p>
          </p:txBody>
        </p:sp>
        <p:sp>
          <p:nvSpPr>
            <p:cNvPr id="31" name="TextBox 30">
              <a:extLst>
                <a:ext uri="{FF2B5EF4-FFF2-40B4-BE49-F238E27FC236}">
                  <a16:creationId xmlns:a16="http://schemas.microsoft.com/office/drawing/2014/main" id="{852C6F6F-B017-448C-A2D7-B02A5581D670}"/>
                </a:ext>
              </a:extLst>
            </p:cNvPr>
            <p:cNvSpPr txBox="1"/>
            <p:nvPr/>
          </p:nvSpPr>
          <p:spPr>
            <a:xfrm>
              <a:off x="8523364" y="2005869"/>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50</a:t>
              </a:r>
            </a:p>
          </p:txBody>
        </p:sp>
        <p:sp>
          <p:nvSpPr>
            <p:cNvPr id="32" name="TextBox 31">
              <a:extLst>
                <a:ext uri="{FF2B5EF4-FFF2-40B4-BE49-F238E27FC236}">
                  <a16:creationId xmlns:a16="http://schemas.microsoft.com/office/drawing/2014/main" id="{AB194BE0-58BC-4076-BDF8-4B511D84E3F7}"/>
                </a:ext>
              </a:extLst>
            </p:cNvPr>
            <p:cNvSpPr txBox="1"/>
            <p:nvPr/>
          </p:nvSpPr>
          <p:spPr>
            <a:xfrm>
              <a:off x="6234270" y="2648661"/>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15</a:t>
              </a:r>
            </a:p>
          </p:txBody>
        </p:sp>
      </p:grpSp>
      <p:sp>
        <p:nvSpPr>
          <p:cNvPr id="33" name="TextBox 32">
            <a:extLst>
              <a:ext uri="{FF2B5EF4-FFF2-40B4-BE49-F238E27FC236}">
                <a16:creationId xmlns:a16="http://schemas.microsoft.com/office/drawing/2014/main" id="{137FC86C-7C5C-47AF-8B2A-7D2A4A4464D0}"/>
              </a:ext>
              <a:ext uri="{C183D7F6-B498-43B3-948B-1728B52AA6E4}">
                <adec:decorative xmlns:adec="http://schemas.microsoft.com/office/drawing/2017/decorative" val="1"/>
              </a:ext>
            </a:extLst>
          </p:cNvPr>
          <p:cNvSpPr txBox="1"/>
          <p:nvPr/>
        </p:nvSpPr>
        <p:spPr>
          <a:xfrm>
            <a:off x="3519065" y="4952547"/>
            <a:ext cx="47312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G</a:t>
            </a:r>
          </a:p>
        </p:txBody>
      </p:sp>
      <p:sp>
        <p:nvSpPr>
          <p:cNvPr id="34" name="TextBox 33">
            <a:extLst>
              <a:ext uri="{FF2B5EF4-FFF2-40B4-BE49-F238E27FC236}">
                <a16:creationId xmlns:a16="http://schemas.microsoft.com/office/drawing/2014/main" id="{DD0840A7-E04B-4845-B9D6-AAFCCFD05E32}"/>
              </a:ext>
            </a:extLst>
          </p:cNvPr>
          <p:cNvSpPr txBox="1"/>
          <p:nvPr/>
        </p:nvSpPr>
        <p:spPr>
          <a:xfrm>
            <a:off x="6331542" y="2097132"/>
            <a:ext cx="3922870" cy="2246769"/>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Edge List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Adjacency Matrix</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Adjacency List</a:t>
            </a:r>
          </a:p>
        </p:txBody>
      </p:sp>
    </p:spTree>
    <p:extLst>
      <p:ext uri="{BB962C8B-B14F-4D97-AF65-F5344CB8AC3E}">
        <p14:creationId xmlns:p14="http://schemas.microsoft.com/office/powerpoint/2010/main" val="3992545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r>
              <a:rPr lang="en-US" dirty="0">
                <a:solidFill>
                  <a:schemeClr val="bg1"/>
                </a:solidFill>
                <a:latin typeface="Gotham Bold" pitchFamily="50" charset="0"/>
              </a:rPr>
              <a:t>Edge List</a:t>
            </a:r>
          </a:p>
        </p:txBody>
      </p:sp>
      <p:grpSp>
        <p:nvGrpSpPr>
          <p:cNvPr id="8" name="Group 7">
            <a:extLst>
              <a:ext uri="{FF2B5EF4-FFF2-40B4-BE49-F238E27FC236}">
                <a16:creationId xmlns:a16="http://schemas.microsoft.com/office/drawing/2014/main" id="{BFBC837B-EC73-427B-95FC-D056E7706469}"/>
              </a:ext>
              <a:ext uri="{C183D7F6-B498-43B3-948B-1728B52AA6E4}">
                <adec:decorative xmlns:adec="http://schemas.microsoft.com/office/drawing/2017/decorative" val="1"/>
              </a:ext>
            </a:extLst>
          </p:cNvPr>
          <p:cNvGrpSpPr/>
          <p:nvPr/>
        </p:nvGrpSpPr>
        <p:grpSpPr>
          <a:xfrm>
            <a:off x="1937588" y="2479396"/>
            <a:ext cx="3162953" cy="2167861"/>
            <a:chOff x="5833534" y="912535"/>
            <a:chExt cx="3162953" cy="2167861"/>
          </a:xfrm>
        </p:grpSpPr>
        <p:sp>
          <p:nvSpPr>
            <p:cNvPr id="10" name="Oval 9">
              <a:extLst>
                <a:ext uri="{FF2B5EF4-FFF2-40B4-BE49-F238E27FC236}">
                  <a16:creationId xmlns:a16="http://schemas.microsoft.com/office/drawing/2014/main" id="{7F59A168-5377-451B-9712-72CCD762AB2F}"/>
                </a:ext>
              </a:extLst>
            </p:cNvPr>
            <p:cNvSpPr/>
            <p:nvPr/>
          </p:nvSpPr>
          <p:spPr>
            <a:xfrm>
              <a:off x="6536268" y="1312313"/>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B</a:t>
              </a:r>
            </a:p>
          </p:txBody>
        </p:sp>
        <p:sp>
          <p:nvSpPr>
            <p:cNvPr id="14" name="Oval 13">
              <a:extLst>
                <a:ext uri="{FF2B5EF4-FFF2-40B4-BE49-F238E27FC236}">
                  <a16:creationId xmlns:a16="http://schemas.microsoft.com/office/drawing/2014/main" id="{72FAB0BB-3C19-4206-B18A-6AAB24E78530}"/>
                </a:ext>
              </a:extLst>
            </p:cNvPr>
            <p:cNvSpPr/>
            <p:nvPr/>
          </p:nvSpPr>
          <p:spPr>
            <a:xfrm>
              <a:off x="5833534" y="212936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a:t>
              </a:r>
            </a:p>
          </p:txBody>
        </p:sp>
        <p:sp>
          <p:nvSpPr>
            <p:cNvPr id="15" name="Oval 14">
              <a:extLst>
                <a:ext uri="{FF2B5EF4-FFF2-40B4-BE49-F238E27FC236}">
                  <a16:creationId xmlns:a16="http://schemas.microsoft.com/office/drawing/2014/main" id="{A0913F43-1911-4304-AE83-F3A0F171E39F}"/>
                </a:ext>
              </a:extLst>
            </p:cNvPr>
            <p:cNvSpPr/>
            <p:nvPr/>
          </p:nvSpPr>
          <p:spPr>
            <a:xfrm>
              <a:off x="7958667" y="225001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E</a:t>
              </a:r>
            </a:p>
          </p:txBody>
        </p:sp>
        <p:sp>
          <p:nvSpPr>
            <p:cNvPr id="16" name="Oval 15">
              <a:extLst>
                <a:ext uri="{FF2B5EF4-FFF2-40B4-BE49-F238E27FC236}">
                  <a16:creationId xmlns:a16="http://schemas.microsoft.com/office/drawing/2014/main" id="{10BFE9D5-0A71-46DE-A73A-EE6F676D343E}"/>
                </a:ext>
              </a:extLst>
            </p:cNvPr>
            <p:cNvSpPr/>
            <p:nvPr/>
          </p:nvSpPr>
          <p:spPr>
            <a:xfrm>
              <a:off x="8538841" y="136004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F</a:t>
              </a:r>
            </a:p>
          </p:txBody>
        </p:sp>
        <p:sp>
          <p:nvSpPr>
            <p:cNvPr id="17" name="Oval 16">
              <a:extLst>
                <a:ext uri="{FF2B5EF4-FFF2-40B4-BE49-F238E27FC236}">
                  <a16:creationId xmlns:a16="http://schemas.microsoft.com/office/drawing/2014/main" id="{96A0919B-14A8-41C6-B25B-1F6B60C6EF39}"/>
                </a:ext>
              </a:extLst>
            </p:cNvPr>
            <p:cNvSpPr/>
            <p:nvPr/>
          </p:nvSpPr>
          <p:spPr>
            <a:xfrm>
              <a:off x="6807200" y="2607188"/>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a:t>
              </a:r>
            </a:p>
          </p:txBody>
        </p:sp>
        <p:sp>
          <p:nvSpPr>
            <p:cNvPr id="18" name="Oval 17">
              <a:extLst>
                <a:ext uri="{FF2B5EF4-FFF2-40B4-BE49-F238E27FC236}">
                  <a16:creationId xmlns:a16="http://schemas.microsoft.com/office/drawing/2014/main" id="{E192B131-1481-459D-BDE7-46F9157E56F9}"/>
                </a:ext>
              </a:extLst>
            </p:cNvPr>
            <p:cNvSpPr/>
            <p:nvPr/>
          </p:nvSpPr>
          <p:spPr>
            <a:xfrm>
              <a:off x="7703887" y="912535"/>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D</a:t>
              </a:r>
            </a:p>
          </p:txBody>
        </p:sp>
        <p:cxnSp>
          <p:nvCxnSpPr>
            <p:cNvPr id="19" name="Straight Arrow Connector 18">
              <a:extLst>
                <a:ext uri="{FF2B5EF4-FFF2-40B4-BE49-F238E27FC236}">
                  <a16:creationId xmlns:a16="http://schemas.microsoft.com/office/drawing/2014/main" id="{751C21A2-990F-40F9-ADF3-15EE1F1B1105}"/>
                </a:ext>
              </a:extLst>
            </p:cNvPr>
            <p:cNvCxnSpPr>
              <a:cxnSpLocks/>
              <a:stCxn id="14" idx="7"/>
              <a:endCxn id="10" idx="3"/>
            </p:cNvCxnSpPr>
            <p:nvPr/>
          </p:nvCxnSpPr>
          <p:spPr>
            <a:xfrm flipV="1">
              <a:off x="6223779" y="1702558"/>
              <a:ext cx="379444" cy="493763"/>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63992A6-8F5E-4715-A286-34CBEC70F6D2}"/>
                </a:ext>
              </a:extLst>
            </p:cNvPr>
            <p:cNvCxnSpPr>
              <a:cxnSpLocks/>
            </p:cNvCxnSpPr>
            <p:nvPr/>
          </p:nvCxnSpPr>
          <p:spPr>
            <a:xfrm flipV="1">
              <a:off x="8291203" y="1769513"/>
              <a:ext cx="379444" cy="493763"/>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9FDD037-8C23-4254-B2AF-918541F093F4}"/>
                </a:ext>
              </a:extLst>
            </p:cNvPr>
            <p:cNvCxnSpPr>
              <a:cxnSpLocks/>
              <a:endCxn id="17" idx="0"/>
            </p:cNvCxnSpPr>
            <p:nvPr/>
          </p:nvCxnSpPr>
          <p:spPr>
            <a:xfrm flipH="1">
              <a:off x="7035800" y="1360046"/>
              <a:ext cx="803322" cy="1247142"/>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BFEF09E-6F2B-4A17-8DA3-EAD027DBF680}"/>
                </a:ext>
              </a:extLst>
            </p:cNvPr>
            <p:cNvCxnSpPr>
              <a:cxnSpLocks/>
              <a:endCxn id="15" idx="2"/>
            </p:cNvCxnSpPr>
            <p:nvPr/>
          </p:nvCxnSpPr>
          <p:spPr>
            <a:xfrm flipV="1">
              <a:off x="7274425" y="2478616"/>
              <a:ext cx="684242" cy="365146"/>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7082262-AEA1-43C9-8866-6620760003A5}"/>
                </a:ext>
              </a:extLst>
            </p:cNvPr>
            <p:cNvCxnSpPr>
              <a:cxnSpLocks/>
              <a:endCxn id="18" idx="1"/>
            </p:cNvCxnSpPr>
            <p:nvPr/>
          </p:nvCxnSpPr>
          <p:spPr>
            <a:xfrm flipV="1">
              <a:off x="6977767" y="979490"/>
              <a:ext cx="793075" cy="432092"/>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CEFB491-B8DF-4560-A299-EA5C43A76DF9}"/>
                </a:ext>
              </a:extLst>
            </p:cNvPr>
            <p:cNvCxnSpPr>
              <a:cxnSpLocks/>
              <a:endCxn id="16" idx="1"/>
            </p:cNvCxnSpPr>
            <p:nvPr/>
          </p:nvCxnSpPr>
          <p:spPr>
            <a:xfrm>
              <a:off x="8142303" y="1208081"/>
              <a:ext cx="463493" cy="218920"/>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011DAD8-4445-4B70-A99A-989BF5ABD744}"/>
                </a:ext>
              </a:extLst>
            </p:cNvPr>
            <p:cNvCxnSpPr>
              <a:cxnSpLocks/>
              <a:endCxn id="17" idx="1"/>
            </p:cNvCxnSpPr>
            <p:nvPr/>
          </p:nvCxnSpPr>
          <p:spPr>
            <a:xfrm>
              <a:off x="6255996" y="2478616"/>
              <a:ext cx="618159" cy="195527"/>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6B95B89-5390-49EC-9A0F-E63D3BAE6991}"/>
                </a:ext>
              </a:extLst>
            </p:cNvPr>
            <p:cNvSpPr txBox="1"/>
            <p:nvPr/>
          </p:nvSpPr>
          <p:spPr>
            <a:xfrm>
              <a:off x="6082133" y="1724871"/>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10</a:t>
              </a:r>
            </a:p>
          </p:txBody>
        </p:sp>
        <p:sp>
          <p:nvSpPr>
            <p:cNvPr id="27" name="TextBox 26">
              <a:extLst>
                <a:ext uri="{FF2B5EF4-FFF2-40B4-BE49-F238E27FC236}">
                  <a16:creationId xmlns:a16="http://schemas.microsoft.com/office/drawing/2014/main" id="{85852CD4-F459-4845-B3F4-E7CB86C9E311}"/>
                </a:ext>
              </a:extLst>
            </p:cNvPr>
            <p:cNvSpPr txBox="1"/>
            <p:nvPr/>
          </p:nvSpPr>
          <p:spPr>
            <a:xfrm>
              <a:off x="6933393" y="1004536"/>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60</a:t>
              </a:r>
            </a:p>
          </p:txBody>
        </p:sp>
        <p:sp>
          <p:nvSpPr>
            <p:cNvPr id="28" name="TextBox 27">
              <a:extLst>
                <a:ext uri="{FF2B5EF4-FFF2-40B4-BE49-F238E27FC236}">
                  <a16:creationId xmlns:a16="http://schemas.microsoft.com/office/drawing/2014/main" id="{DF819778-0A9B-4DE9-8D37-1CE51389C530}"/>
                </a:ext>
              </a:extLst>
            </p:cNvPr>
            <p:cNvSpPr txBox="1"/>
            <p:nvPr/>
          </p:nvSpPr>
          <p:spPr>
            <a:xfrm>
              <a:off x="8212341" y="972508"/>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80</a:t>
              </a:r>
            </a:p>
          </p:txBody>
        </p:sp>
        <p:sp>
          <p:nvSpPr>
            <p:cNvPr id="29" name="TextBox 28">
              <a:extLst>
                <a:ext uri="{FF2B5EF4-FFF2-40B4-BE49-F238E27FC236}">
                  <a16:creationId xmlns:a16="http://schemas.microsoft.com/office/drawing/2014/main" id="{047086FC-EF9D-4675-BC85-63091B91333F}"/>
                </a:ext>
              </a:extLst>
            </p:cNvPr>
            <p:cNvSpPr txBox="1"/>
            <p:nvPr/>
          </p:nvSpPr>
          <p:spPr>
            <a:xfrm>
              <a:off x="7484208" y="2711064"/>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5</a:t>
              </a:r>
            </a:p>
          </p:txBody>
        </p:sp>
        <p:sp>
          <p:nvSpPr>
            <p:cNvPr id="30" name="TextBox 29">
              <a:extLst>
                <a:ext uri="{FF2B5EF4-FFF2-40B4-BE49-F238E27FC236}">
                  <a16:creationId xmlns:a16="http://schemas.microsoft.com/office/drawing/2014/main" id="{BE1BFAC0-0BEC-4681-9BC0-E21854C5D197}"/>
                </a:ext>
              </a:extLst>
            </p:cNvPr>
            <p:cNvSpPr txBox="1"/>
            <p:nvPr/>
          </p:nvSpPr>
          <p:spPr>
            <a:xfrm>
              <a:off x="7035259" y="1653656"/>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40</a:t>
              </a:r>
            </a:p>
          </p:txBody>
        </p:sp>
        <p:sp>
          <p:nvSpPr>
            <p:cNvPr id="31" name="TextBox 30">
              <a:extLst>
                <a:ext uri="{FF2B5EF4-FFF2-40B4-BE49-F238E27FC236}">
                  <a16:creationId xmlns:a16="http://schemas.microsoft.com/office/drawing/2014/main" id="{852C6F6F-B017-448C-A2D7-B02A5581D670}"/>
                </a:ext>
              </a:extLst>
            </p:cNvPr>
            <p:cNvSpPr txBox="1"/>
            <p:nvPr/>
          </p:nvSpPr>
          <p:spPr>
            <a:xfrm>
              <a:off x="8523364" y="2005869"/>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50</a:t>
              </a:r>
            </a:p>
          </p:txBody>
        </p:sp>
        <p:sp>
          <p:nvSpPr>
            <p:cNvPr id="32" name="TextBox 31">
              <a:extLst>
                <a:ext uri="{FF2B5EF4-FFF2-40B4-BE49-F238E27FC236}">
                  <a16:creationId xmlns:a16="http://schemas.microsoft.com/office/drawing/2014/main" id="{AB194BE0-58BC-4076-BDF8-4B511D84E3F7}"/>
                </a:ext>
              </a:extLst>
            </p:cNvPr>
            <p:cNvSpPr txBox="1"/>
            <p:nvPr/>
          </p:nvSpPr>
          <p:spPr>
            <a:xfrm>
              <a:off x="6234270" y="2648661"/>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15</a:t>
              </a:r>
            </a:p>
          </p:txBody>
        </p:sp>
      </p:grpSp>
      <p:sp>
        <p:nvSpPr>
          <p:cNvPr id="33" name="TextBox 32">
            <a:extLst>
              <a:ext uri="{FF2B5EF4-FFF2-40B4-BE49-F238E27FC236}">
                <a16:creationId xmlns:a16="http://schemas.microsoft.com/office/drawing/2014/main" id="{137FC86C-7C5C-47AF-8B2A-7D2A4A4464D0}"/>
              </a:ext>
              <a:ext uri="{C183D7F6-B498-43B3-948B-1728B52AA6E4}">
                <adec:decorative xmlns:adec="http://schemas.microsoft.com/office/drawing/2017/decorative" val="1"/>
              </a:ext>
            </a:extLst>
          </p:cNvPr>
          <p:cNvSpPr txBox="1"/>
          <p:nvPr/>
        </p:nvSpPr>
        <p:spPr>
          <a:xfrm>
            <a:off x="3519065" y="4952547"/>
            <a:ext cx="47312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G</a:t>
            </a:r>
          </a:p>
        </p:txBody>
      </p:sp>
      <p:sp>
        <p:nvSpPr>
          <p:cNvPr id="35" name="TextBox 34">
            <a:extLst>
              <a:ext uri="{FF2B5EF4-FFF2-40B4-BE49-F238E27FC236}">
                <a16:creationId xmlns:a16="http://schemas.microsoft.com/office/drawing/2014/main" id="{A42680A6-F3D8-48FE-8806-3EB226C08E5E}"/>
              </a:ext>
            </a:extLst>
          </p:cNvPr>
          <p:cNvSpPr txBox="1"/>
          <p:nvPr/>
        </p:nvSpPr>
        <p:spPr>
          <a:xfrm>
            <a:off x="999251" y="5835676"/>
            <a:ext cx="7320784" cy="369332"/>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G = {(A,B), (A,C), (B,D), (D,C), (D,F), (E,F), (C,E)} </a:t>
            </a:r>
          </a:p>
        </p:txBody>
      </p:sp>
      <p:graphicFrame>
        <p:nvGraphicFramePr>
          <p:cNvPr id="36" name="Table 37">
            <a:extLst>
              <a:ext uri="{FF2B5EF4-FFF2-40B4-BE49-F238E27FC236}">
                <a16:creationId xmlns:a16="http://schemas.microsoft.com/office/drawing/2014/main" id="{8B6C99C0-A4DD-4768-8BD0-4F7D4774E521}"/>
              </a:ext>
            </a:extLst>
          </p:cNvPr>
          <p:cNvGraphicFramePr>
            <a:graphicFrameLocks noGrp="1"/>
          </p:cNvGraphicFramePr>
          <p:nvPr/>
        </p:nvGraphicFramePr>
        <p:xfrm>
          <a:off x="7329961" y="2185882"/>
          <a:ext cx="1980147" cy="3066196"/>
        </p:xfrm>
        <a:graphic>
          <a:graphicData uri="http://schemas.openxmlformats.org/drawingml/2006/table">
            <a:tbl>
              <a:tblPr firstRow="1" bandRow="1"/>
              <a:tblGrid>
                <a:gridCol w="660049">
                  <a:extLst>
                    <a:ext uri="{9D8B030D-6E8A-4147-A177-3AD203B41FA5}">
                      <a16:colId xmlns:a16="http://schemas.microsoft.com/office/drawing/2014/main" val="3195872750"/>
                    </a:ext>
                  </a:extLst>
                </a:gridCol>
                <a:gridCol w="660049">
                  <a:extLst>
                    <a:ext uri="{9D8B030D-6E8A-4147-A177-3AD203B41FA5}">
                      <a16:colId xmlns:a16="http://schemas.microsoft.com/office/drawing/2014/main" val="2537297066"/>
                    </a:ext>
                  </a:extLst>
                </a:gridCol>
                <a:gridCol w="660049">
                  <a:extLst>
                    <a:ext uri="{9D8B030D-6E8A-4147-A177-3AD203B41FA5}">
                      <a16:colId xmlns:a16="http://schemas.microsoft.com/office/drawing/2014/main" val="989015309"/>
                    </a:ext>
                  </a:extLst>
                </a:gridCol>
              </a:tblGrid>
              <a:tr h="438028">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A</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B</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10</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1334001219"/>
                  </a:ext>
                </a:extLst>
              </a:tr>
              <a:tr h="438028">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A</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C</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15</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1692779649"/>
                  </a:ext>
                </a:extLst>
              </a:tr>
              <a:tr h="438028">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B</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D</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60</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3354054619"/>
                  </a:ext>
                </a:extLst>
              </a:tr>
              <a:tr h="438028">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D</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C</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40</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2535969509"/>
                  </a:ext>
                </a:extLst>
              </a:tr>
              <a:tr h="438028">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D</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F</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80</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691306843"/>
                  </a:ext>
                </a:extLst>
              </a:tr>
              <a:tr h="438028">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E</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F</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50</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2878904023"/>
                  </a:ext>
                </a:extLst>
              </a:tr>
              <a:tr h="438028">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C</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E</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pPr marL="0" algn="ctr" defTabSz="914400" rtl="0" eaLnBrk="1" latinLnBrk="0" hangingPunct="1"/>
                      <a:r>
                        <a:rPr lang="en-US" sz="1800" kern="1200" dirty="0">
                          <a:solidFill>
                            <a:srgbClr val="0081E2"/>
                          </a:solidFill>
                          <a:latin typeface="Consolas" panose="020B0609020204030204" pitchFamily="49" charset="0"/>
                          <a:ea typeface="+mn-ea"/>
                          <a:cs typeface="+mn-cs"/>
                        </a:rPr>
                        <a:t>5</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3676283760"/>
                  </a:ext>
                </a:extLst>
              </a:tr>
            </a:tbl>
          </a:graphicData>
        </a:graphic>
      </p:graphicFrame>
    </p:spTree>
    <p:extLst>
      <p:ext uri="{BB962C8B-B14F-4D97-AF65-F5344CB8AC3E}">
        <p14:creationId xmlns:p14="http://schemas.microsoft.com/office/powerpoint/2010/main" val="3340861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r>
              <a:rPr lang="en-US" dirty="0">
                <a:solidFill>
                  <a:schemeClr val="bg1"/>
                </a:solidFill>
                <a:latin typeface="Gotham Bold" pitchFamily="50" charset="0"/>
              </a:rPr>
              <a:t>Edge List</a:t>
            </a:r>
          </a:p>
        </p:txBody>
      </p:sp>
      <p:grpSp>
        <p:nvGrpSpPr>
          <p:cNvPr id="8" name="Group 7">
            <a:extLst>
              <a:ext uri="{FF2B5EF4-FFF2-40B4-BE49-F238E27FC236}">
                <a16:creationId xmlns:a16="http://schemas.microsoft.com/office/drawing/2014/main" id="{BFBC837B-EC73-427B-95FC-D056E7706469}"/>
              </a:ext>
              <a:ext uri="{C183D7F6-B498-43B3-948B-1728B52AA6E4}">
                <adec:decorative xmlns:adec="http://schemas.microsoft.com/office/drawing/2017/decorative" val="1"/>
              </a:ext>
            </a:extLst>
          </p:cNvPr>
          <p:cNvGrpSpPr/>
          <p:nvPr/>
        </p:nvGrpSpPr>
        <p:grpSpPr>
          <a:xfrm>
            <a:off x="1319585" y="1854048"/>
            <a:ext cx="3162953" cy="2167861"/>
            <a:chOff x="5833534" y="912535"/>
            <a:chExt cx="3162953" cy="2167861"/>
          </a:xfrm>
        </p:grpSpPr>
        <p:sp>
          <p:nvSpPr>
            <p:cNvPr id="10" name="Oval 9">
              <a:extLst>
                <a:ext uri="{FF2B5EF4-FFF2-40B4-BE49-F238E27FC236}">
                  <a16:creationId xmlns:a16="http://schemas.microsoft.com/office/drawing/2014/main" id="{7F59A168-5377-451B-9712-72CCD762AB2F}"/>
                </a:ext>
              </a:extLst>
            </p:cNvPr>
            <p:cNvSpPr/>
            <p:nvPr/>
          </p:nvSpPr>
          <p:spPr>
            <a:xfrm>
              <a:off x="6536268" y="1312313"/>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B</a:t>
              </a:r>
            </a:p>
          </p:txBody>
        </p:sp>
        <p:sp>
          <p:nvSpPr>
            <p:cNvPr id="14" name="Oval 13">
              <a:extLst>
                <a:ext uri="{FF2B5EF4-FFF2-40B4-BE49-F238E27FC236}">
                  <a16:creationId xmlns:a16="http://schemas.microsoft.com/office/drawing/2014/main" id="{72FAB0BB-3C19-4206-B18A-6AAB24E78530}"/>
                </a:ext>
              </a:extLst>
            </p:cNvPr>
            <p:cNvSpPr/>
            <p:nvPr/>
          </p:nvSpPr>
          <p:spPr>
            <a:xfrm>
              <a:off x="5833534" y="212936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a:t>
              </a:r>
            </a:p>
          </p:txBody>
        </p:sp>
        <p:sp>
          <p:nvSpPr>
            <p:cNvPr id="15" name="Oval 14">
              <a:extLst>
                <a:ext uri="{FF2B5EF4-FFF2-40B4-BE49-F238E27FC236}">
                  <a16:creationId xmlns:a16="http://schemas.microsoft.com/office/drawing/2014/main" id="{A0913F43-1911-4304-AE83-F3A0F171E39F}"/>
                </a:ext>
              </a:extLst>
            </p:cNvPr>
            <p:cNvSpPr/>
            <p:nvPr/>
          </p:nvSpPr>
          <p:spPr>
            <a:xfrm>
              <a:off x="7958667" y="225001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E</a:t>
              </a:r>
            </a:p>
          </p:txBody>
        </p:sp>
        <p:sp>
          <p:nvSpPr>
            <p:cNvPr id="16" name="Oval 15">
              <a:extLst>
                <a:ext uri="{FF2B5EF4-FFF2-40B4-BE49-F238E27FC236}">
                  <a16:creationId xmlns:a16="http://schemas.microsoft.com/office/drawing/2014/main" id="{10BFE9D5-0A71-46DE-A73A-EE6F676D343E}"/>
                </a:ext>
              </a:extLst>
            </p:cNvPr>
            <p:cNvSpPr/>
            <p:nvPr/>
          </p:nvSpPr>
          <p:spPr>
            <a:xfrm>
              <a:off x="8538841" y="136004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F</a:t>
              </a:r>
            </a:p>
          </p:txBody>
        </p:sp>
        <p:sp>
          <p:nvSpPr>
            <p:cNvPr id="17" name="Oval 16">
              <a:extLst>
                <a:ext uri="{FF2B5EF4-FFF2-40B4-BE49-F238E27FC236}">
                  <a16:creationId xmlns:a16="http://schemas.microsoft.com/office/drawing/2014/main" id="{96A0919B-14A8-41C6-B25B-1F6B60C6EF39}"/>
                </a:ext>
              </a:extLst>
            </p:cNvPr>
            <p:cNvSpPr/>
            <p:nvPr/>
          </p:nvSpPr>
          <p:spPr>
            <a:xfrm>
              <a:off x="6807200" y="2607188"/>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a:t>
              </a:r>
            </a:p>
          </p:txBody>
        </p:sp>
        <p:sp>
          <p:nvSpPr>
            <p:cNvPr id="18" name="Oval 17">
              <a:extLst>
                <a:ext uri="{FF2B5EF4-FFF2-40B4-BE49-F238E27FC236}">
                  <a16:creationId xmlns:a16="http://schemas.microsoft.com/office/drawing/2014/main" id="{E192B131-1481-459D-BDE7-46F9157E56F9}"/>
                </a:ext>
              </a:extLst>
            </p:cNvPr>
            <p:cNvSpPr/>
            <p:nvPr/>
          </p:nvSpPr>
          <p:spPr>
            <a:xfrm>
              <a:off x="7703887" y="912535"/>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D</a:t>
              </a:r>
            </a:p>
          </p:txBody>
        </p:sp>
        <p:cxnSp>
          <p:nvCxnSpPr>
            <p:cNvPr id="19" name="Straight Arrow Connector 18">
              <a:extLst>
                <a:ext uri="{FF2B5EF4-FFF2-40B4-BE49-F238E27FC236}">
                  <a16:creationId xmlns:a16="http://schemas.microsoft.com/office/drawing/2014/main" id="{751C21A2-990F-40F9-ADF3-15EE1F1B1105}"/>
                </a:ext>
              </a:extLst>
            </p:cNvPr>
            <p:cNvCxnSpPr>
              <a:cxnSpLocks/>
              <a:stCxn id="14" idx="7"/>
              <a:endCxn id="10" idx="3"/>
            </p:cNvCxnSpPr>
            <p:nvPr/>
          </p:nvCxnSpPr>
          <p:spPr>
            <a:xfrm flipV="1">
              <a:off x="6223779" y="1702558"/>
              <a:ext cx="379444" cy="493763"/>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63992A6-8F5E-4715-A286-34CBEC70F6D2}"/>
                </a:ext>
              </a:extLst>
            </p:cNvPr>
            <p:cNvCxnSpPr>
              <a:cxnSpLocks/>
            </p:cNvCxnSpPr>
            <p:nvPr/>
          </p:nvCxnSpPr>
          <p:spPr>
            <a:xfrm flipV="1">
              <a:off x="8291203" y="1769513"/>
              <a:ext cx="379444" cy="493763"/>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9FDD037-8C23-4254-B2AF-918541F093F4}"/>
                </a:ext>
              </a:extLst>
            </p:cNvPr>
            <p:cNvCxnSpPr>
              <a:cxnSpLocks/>
              <a:endCxn id="17" idx="0"/>
            </p:cNvCxnSpPr>
            <p:nvPr/>
          </p:nvCxnSpPr>
          <p:spPr>
            <a:xfrm flipH="1">
              <a:off x="7035800" y="1360046"/>
              <a:ext cx="803322" cy="1247142"/>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BFEF09E-6F2B-4A17-8DA3-EAD027DBF680}"/>
                </a:ext>
              </a:extLst>
            </p:cNvPr>
            <p:cNvCxnSpPr>
              <a:cxnSpLocks/>
              <a:endCxn id="15" idx="2"/>
            </p:cNvCxnSpPr>
            <p:nvPr/>
          </p:nvCxnSpPr>
          <p:spPr>
            <a:xfrm flipV="1">
              <a:off x="7274425" y="2478616"/>
              <a:ext cx="684242" cy="365146"/>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7082262-AEA1-43C9-8866-6620760003A5}"/>
                </a:ext>
              </a:extLst>
            </p:cNvPr>
            <p:cNvCxnSpPr>
              <a:cxnSpLocks/>
              <a:endCxn id="18" idx="1"/>
            </p:cNvCxnSpPr>
            <p:nvPr/>
          </p:nvCxnSpPr>
          <p:spPr>
            <a:xfrm flipV="1">
              <a:off x="6977767" y="979490"/>
              <a:ext cx="793075" cy="432092"/>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CEFB491-B8DF-4560-A299-EA5C43A76DF9}"/>
                </a:ext>
              </a:extLst>
            </p:cNvPr>
            <p:cNvCxnSpPr>
              <a:cxnSpLocks/>
              <a:endCxn id="16" idx="1"/>
            </p:cNvCxnSpPr>
            <p:nvPr/>
          </p:nvCxnSpPr>
          <p:spPr>
            <a:xfrm>
              <a:off x="8142303" y="1208081"/>
              <a:ext cx="463493" cy="218920"/>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011DAD8-4445-4B70-A99A-989BF5ABD744}"/>
                </a:ext>
              </a:extLst>
            </p:cNvPr>
            <p:cNvCxnSpPr>
              <a:cxnSpLocks/>
              <a:endCxn id="17" idx="1"/>
            </p:cNvCxnSpPr>
            <p:nvPr/>
          </p:nvCxnSpPr>
          <p:spPr>
            <a:xfrm>
              <a:off x="6255996" y="2478616"/>
              <a:ext cx="618159" cy="195527"/>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6B95B89-5390-49EC-9A0F-E63D3BAE6991}"/>
                </a:ext>
              </a:extLst>
            </p:cNvPr>
            <p:cNvSpPr txBox="1"/>
            <p:nvPr/>
          </p:nvSpPr>
          <p:spPr>
            <a:xfrm>
              <a:off x="6082133" y="1724871"/>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10</a:t>
              </a:r>
            </a:p>
          </p:txBody>
        </p:sp>
        <p:sp>
          <p:nvSpPr>
            <p:cNvPr id="27" name="TextBox 26">
              <a:extLst>
                <a:ext uri="{FF2B5EF4-FFF2-40B4-BE49-F238E27FC236}">
                  <a16:creationId xmlns:a16="http://schemas.microsoft.com/office/drawing/2014/main" id="{85852CD4-F459-4845-B3F4-E7CB86C9E311}"/>
                </a:ext>
              </a:extLst>
            </p:cNvPr>
            <p:cNvSpPr txBox="1"/>
            <p:nvPr/>
          </p:nvSpPr>
          <p:spPr>
            <a:xfrm>
              <a:off x="6933393" y="1004536"/>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60</a:t>
              </a:r>
            </a:p>
          </p:txBody>
        </p:sp>
        <p:sp>
          <p:nvSpPr>
            <p:cNvPr id="28" name="TextBox 27">
              <a:extLst>
                <a:ext uri="{FF2B5EF4-FFF2-40B4-BE49-F238E27FC236}">
                  <a16:creationId xmlns:a16="http://schemas.microsoft.com/office/drawing/2014/main" id="{DF819778-0A9B-4DE9-8D37-1CE51389C530}"/>
                </a:ext>
              </a:extLst>
            </p:cNvPr>
            <p:cNvSpPr txBox="1"/>
            <p:nvPr/>
          </p:nvSpPr>
          <p:spPr>
            <a:xfrm>
              <a:off x="8212341" y="972508"/>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80</a:t>
              </a:r>
            </a:p>
          </p:txBody>
        </p:sp>
        <p:sp>
          <p:nvSpPr>
            <p:cNvPr id="29" name="TextBox 28">
              <a:extLst>
                <a:ext uri="{FF2B5EF4-FFF2-40B4-BE49-F238E27FC236}">
                  <a16:creationId xmlns:a16="http://schemas.microsoft.com/office/drawing/2014/main" id="{047086FC-EF9D-4675-BC85-63091B91333F}"/>
                </a:ext>
              </a:extLst>
            </p:cNvPr>
            <p:cNvSpPr txBox="1"/>
            <p:nvPr/>
          </p:nvSpPr>
          <p:spPr>
            <a:xfrm>
              <a:off x="7484208" y="2711064"/>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5</a:t>
              </a:r>
            </a:p>
          </p:txBody>
        </p:sp>
        <p:sp>
          <p:nvSpPr>
            <p:cNvPr id="30" name="TextBox 29">
              <a:extLst>
                <a:ext uri="{FF2B5EF4-FFF2-40B4-BE49-F238E27FC236}">
                  <a16:creationId xmlns:a16="http://schemas.microsoft.com/office/drawing/2014/main" id="{BE1BFAC0-0BEC-4681-9BC0-E21854C5D197}"/>
                </a:ext>
              </a:extLst>
            </p:cNvPr>
            <p:cNvSpPr txBox="1"/>
            <p:nvPr/>
          </p:nvSpPr>
          <p:spPr>
            <a:xfrm>
              <a:off x="7035259" y="1653656"/>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40</a:t>
              </a:r>
            </a:p>
          </p:txBody>
        </p:sp>
        <p:sp>
          <p:nvSpPr>
            <p:cNvPr id="31" name="TextBox 30">
              <a:extLst>
                <a:ext uri="{FF2B5EF4-FFF2-40B4-BE49-F238E27FC236}">
                  <a16:creationId xmlns:a16="http://schemas.microsoft.com/office/drawing/2014/main" id="{852C6F6F-B017-448C-A2D7-B02A5581D670}"/>
                </a:ext>
              </a:extLst>
            </p:cNvPr>
            <p:cNvSpPr txBox="1"/>
            <p:nvPr/>
          </p:nvSpPr>
          <p:spPr>
            <a:xfrm>
              <a:off x="8523364" y="2005869"/>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50</a:t>
              </a:r>
            </a:p>
          </p:txBody>
        </p:sp>
        <p:sp>
          <p:nvSpPr>
            <p:cNvPr id="32" name="TextBox 31">
              <a:extLst>
                <a:ext uri="{FF2B5EF4-FFF2-40B4-BE49-F238E27FC236}">
                  <a16:creationId xmlns:a16="http://schemas.microsoft.com/office/drawing/2014/main" id="{AB194BE0-58BC-4076-BDF8-4B511D84E3F7}"/>
                </a:ext>
              </a:extLst>
            </p:cNvPr>
            <p:cNvSpPr txBox="1"/>
            <p:nvPr/>
          </p:nvSpPr>
          <p:spPr>
            <a:xfrm>
              <a:off x="6234270" y="2648661"/>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15</a:t>
              </a:r>
            </a:p>
          </p:txBody>
        </p:sp>
      </p:grpSp>
      <p:sp>
        <p:nvSpPr>
          <p:cNvPr id="33" name="TextBox 32">
            <a:extLst>
              <a:ext uri="{FF2B5EF4-FFF2-40B4-BE49-F238E27FC236}">
                <a16:creationId xmlns:a16="http://schemas.microsoft.com/office/drawing/2014/main" id="{137FC86C-7C5C-47AF-8B2A-7D2A4A4464D0}"/>
              </a:ext>
              <a:ext uri="{C183D7F6-B498-43B3-948B-1728B52AA6E4}">
                <adec:decorative xmlns:adec="http://schemas.microsoft.com/office/drawing/2017/decorative" val="1"/>
              </a:ext>
            </a:extLst>
          </p:cNvPr>
          <p:cNvSpPr txBox="1"/>
          <p:nvPr/>
        </p:nvSpPr>
        <p:spPr>
          <a:xfrm>
            <a:off x="3519065" y="4952547"/>
            <a:ext cx="47312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G</a:t>
            </a:r>
          </a:p>
        </p:txBody>
      </p:sp>
      <p:sp>
        <p:nvSpPr>
          <p:cNvPr id="36" name="TextBox 35">
            <a:extLst>
              <a:ext uri="{FF2B5EF4-FFF2-40B4-BE49-F238E27FC236}">
                <a16:creationId xmlns:a16="http://schemas.microsoft.com/office/drawing/2014/main" id="{63595A21-8DBA-4E11-87BA-C992B3BB3308}"/>
              </a:ext>
            </a:extLst>
          </p:cNvPr>
          <p:cNvSpPr txBox="1"/>
          <p:nvPr/>
        </p:nvSpPr>
        <p:spPr>
          <a:xfrm>
            <a:off x="527963" y="4258801"/>
            <a:ext cx="3194311"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G = </a:t>
            </a:r>
            <a:r>
              <a:rPr kumimoji="0" lang="en-US" sz="16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{(A,B), (A,C), (B,D), (D,C), (D,F), (E,F), (C,E)} </a:t>
            </a:r>
          </a:p>
        </p:txBody>
      </p:sp>
      <p:grpSp>
        <p:nvGrpSpPr>
          <p:cNvPr id="37" name="Group 36">
            <a:extLst>
              <a:ext uri="{FF2B5EF4-FFF2-40B4-BE49-F238E27FC236}">
                <a16:creationId xmlns:a16="http://schemas.microsoft.com/office/drawing/2014/main" id="{A919DB6E-AAFF-4E6A-8911-CA54F97B5798}"/>
              </a:ext>
            </a:extLst>
          </p:cNvPr>
          <p:cNvGrpSpPr/>
          <p:nvPr/>
        </p:nvGrpSpPr>
        <p:grpSpPr>
          <a:xfrm>
            <a:off x="6287080" y="1221769"/>
            <a:ext cx="5593921" cy="5078314"/>
            <a:chOff x="5545667" y="1320484"/>
            <a:chExt cx="4195441" cy="3808736"/>
          </a:xfrm>
        </p:grpSpPr>
        <p:sp>
          <p:nvSpPr>
            <p:cNvPr id="38" name="TextBox 37">
              <a:extLst>
                <a:ext uri="{FF2B5EF4-FFF2-40B4-BE49-F238E27FC236}">
                  <a16:creationId xmlns:a16="http://schemas.microsoft.com/office/drawing/2014/main" id="{3BDEF5CC-ED2F-458A-8B64-75BF78C8A2F9}"/>
                </a:ext>
              </a:extLst>
            </p:cNvPr>
            <p:cNvSpPr txBox="1"/>
            <p:nvPr/>
          </p:nvSpPr>
          <p:spPr>
            <a:xfrm>
              <a:off x="5545667" y="1320484"/>
              <a:ext cx="4195441" cy="380873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Common Operations: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Connectedness</a:t>
              </a: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Adjacency</a:t>
              </a: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Space: </a:t>
              </a:r>
              <a:r>
                <a:rPr kumimoji="0" lang="en-US"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O(E)</a:t>
              </a:r>
            </a:p>
          </p:txBody>
        </p:sp>
        <p:sp>
          <p:nvSpPr>
            <p:cNvPr id="39" name="TextBox 38">
              <a:extLst>
                <a:ext uri="{FF2B5EF4-FFF2-40B4-BE49-F238E27FC236}">
                  <a16:creationId xmlns:a16="http://schemas.microsoft.com/office/drawing/2014/main" id="{F1DC5009-7532-4DE4-925F-D8CF2E02CE67}"/>
                </a:ext>
              </a:extLst>
            </p:cNvPr>
            <p:cNvSpPr txBox="1"/>
            <p:nvPr/>
          </p:nvSpPr>
          <p:spPr>
            <a:xfrm>
              <a:off x="6417280" y="2171442"/>
              <a:ext cx="2173694" cy="27699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Is A connected to B?</a:t>
              </a:r>
            </a:p>
          </p:txBody>
        </p:sp>
        <p:sp>
          <p:nvSpPr>
            <p:cNvPr id="40" name="TextBox 39">
              <a:extLst>
                <a:ext uri="{FF2B5EF4-FFF2-40B4-BE49-F238E27FC236}">
                  <a16:creationId xmlns:a16="http://schemas.microsoft.com/office/drawing/2014/main" id="{16C31E14-49DE-4AFC-BFD2-E4F3051C335A}"/>
                </a:ext>
              </a:extLst>
            </p:cNvPr>
            <p:cNvSpPr txBox="1"/>
            <p:nvPr/>
          </p:nvSpPr>
          <p:spPr>
            <a:xfrm>
              <a:off x="6335596" y="3446719"/>
              <a:ext cx="3213179" cy="27699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What are A’s adjacent nodes?</a:t>
              </a:r>
            </a:p>
          </p:txBody>
        </p:sp>
        <p:sp>
          <p:nvSpPr>
            <p:cNvPr id="41" name="TextBox 40">
              <a:extLst>
                <a:ext uri="{FF2B5EF4-FFF2-40B4-BE49-F238E27FC236}">
                  <a16:creationId xmlns:a16="http://schemas.microsoft.com/office/drawing/2014/main" id="{980C47BB-5DA6-4A91-AFF8-59C5968F80C9}"/>
                </a:ext>
              </a:extLst>
            </p:cNvPr>
            <p:cNvSpPr txBox="1"/>
            <p:nvPr/>
          </p:nvSpPr>
          <p:spPr>
            <a:xfrm>
              <a:off x="6556540" y="2488507"/>
              <a:ext cx="2173694" cy="34624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2060"/>
                  </a:solidFill>
                  <a:effectLst/>
                  <a:uLnTx/>
                  <a:uFillTx/>
                  <a:latin typeface="Calibri" panose="020F0502020204030204"/>
                  <a:ea typeface="+mn-ea"/>
                  <a:cs typeface="+mn-cs"/>
                </a:rPr>
                <a:t>	</a:t>
              </a:r>
            </a:p>
          </p:txBody>
        </p:sp>
      </p:grpSp>
      <p:graphicFrame>
        <p:nvGraphicFramePr>
          <p:cNvPr id="42" name="Table 37">
            <a:extLst>
              <a:ext uri="{FF2B5EF4-FFF2-40B4-BE49-F238E27FC236}">
                <a16:creationId xmlns:a16="http://schemas.microsoft.com/office/drawing/2014/main" id="{7392B059-9473-42E4-878D-5EA4BB227C6C}"/>
              </a:ext>
            </a:extLst>
          </p:cNvPr>
          <p:cNvGraphicFramePr>
            <a:graphicFrameLocks noGrp="1"/>
          </p:cNvGraphicFramePr>
          <p:nvPr/>
        </p:nvGraphicFramePr>
        <p:xfrm>
          <a:off x="4248894" y="4021909"/>
          <a:ext cx="1730076" cy="2678991"/>
        </p:xfrm>
        <a:graphic>
          <a:graphicData uri="http://schemas.openxmlformats.org/drawingml/2006/table">
            <a:tbl>
              <a:tblPr firstRow="1" bandRow="1"/>
              <a:tblGrid>
                <a:gridCol w="576692">
                  <a:extLst>
                    <a:ext uri="{9D8B030D-6E8A-4147-A177-3AD203B41FA5}">
                      <a16:colId xmlns:a16="http://schemas.microsoft.com/office/drawing/2014/main" val="3195872750"/>
                    </a:ext>
                  </a:extLst>
                </a:gridCol>
                <a:gridCol w="576692">
                  <a:extLst>
                    <a:ext uri="{9D8B030D-6E8A-4147-A177-3AD203B41FA5}">
                      <a16:colId xmlns:a16="http://schemas.microsoft.com/office/drawing/2014/main" val="2537297066"/>
                    </a:ext>
                  </a:extLst>
                </a:gridCol>
                <a:gridCol w="576692">
                  <a:extLst>
                    <a:ext uri="{9D8B030D-6E8A-4147-A177-3AD203B41FA5}">
                      <a16:colId xmlns:a16="http://schemas.microsoft.com/office/drawing/2014/main" val="989015309"/>
                    </a:ext>
                  </a:extLst>
                </a:gridCol>
              </a:tblGrid>
              <a:tr h="382713">
                <a:tc>
                  <a:txBody>
                    <a:bodyPr/>
                    <a:lstStyle/>
                    <a:p>
                      <a:pPr algn="ctr"/>
                      <a:r>
                        <a:rPr lang="en-US" sz="1500" dirty="0">
                          <a:solidFill>
                            <a:srgbClr val="0081E2"/>
                          </a:solidFill>
                        </a:rPr>
                        <a:t>A</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500" dirty="0">
                          <a:solidFill>
                            <a:srgbClr val="0081E2"/>
                          </a:solidFill>
                        </a:rPr>
                        <a:t>B</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500" dirty="0">
                          <a:solidFill>
                            <a:srgbClr val="0081E2"/>
                          </a:solidFill>
                        </a:rPr>
                        <a:t>10</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334001219"/>
                  </a:ext>
                </a:extLst>
              </a:tr>
              <a:tr h="382713">
                <a:tc>
                  <a:txBody>
                    <a:bodyPr/>
                    <a:lstStyle/>
                    <a:p>
                      <a:pPr algn="ctr"/>
                      <a:r>
                        <a:rPr lang="en-US" sz="1500" dirty="0">
                          <a:solidFill>
                            <a:srgbClr val="0081E2"/>
                          </a:solidFill>
                        </a:rPr>
                        <a:t>A</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500" dirty="0">
                          <a:solidFill>
                            <a:srgbClr val="0081E2"/>
                          </a:solidFill>
                        </a:rPr>
                        <a:t>C</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500" dirty="0">
                          <a:solidFill>
                            <a:srgbClr val="0081E2"/>
                          </a:solidFill>
                        </a:rPr>
                        <a:t>15</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692779649"/>
                  </a:ext>
                </a:extLst>
              </a:tr>
              <a:tr h="382713">
                <a:tc>
                  <a:txBody>
                    <a:bodyPr/>
                    <a:lstStyle/>
                    <a:p>
                      <a:pPr algn="ctr"/>
                      <a:r>
                        <a:rPr lang="en-US" sz="1500" dirty="0">
                          <a:solidFill>
                            <a:srgbClr val="0081E2"/>
                          </a:solidFill>
                        </a:rPr>
                        <a:t>B</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500" dirty="0">
                          <a:solidFill>
                            <a:srgbClr val="0081E2"/>
                          </a:solidFill>
                        </a:rPr>
                        <a:t>D</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500" dirty="0">
                          <a:solidFill>
                            <a:srgbClr val="0081E2"/>
                          </a:solidFill>
                        </a:rPr>
                        <a:t>60</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3354054619"/>
                  </a:ext>
                </a:extLst>
              </a:tr>
              <a:tr h="382713">
                <a:tc>
                  <a:txBody>
                    <a:bodyPr/>
                    <a:lstStyle/>
                    <a:p>
                      <a:pPr algn="ctr"/>
                      <a:r>
                        <a:rPr lang="en-US" sz="1500" dirty="0">
                          <a:solidFill>
                            <a:srgbClr val="0081E2"/>
                          </a:solidFill>
                        </a:rPr>
                        <a:t>D</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500" dirty="0">
                          <a:solidFill>
                            <a:srgbClr val="0081E2"/>
                          </a:solidFill>
                        </a:rPr>
                        <a:t>C</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500" dirty="0">
                          <a:solidFill>
                            <a:srgbClr val="0081E2"/>
                          </a:solidFill>
                        </a:rPr>
                        <a:t>40</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2535969509"/>
                  </a:ext>
                </a:extLst>
              </a:tr>
              <a:tr h="382713">
                <a:tc>
                  <a:txBody>
                    <a:bodyPr/>
                    <a:lstStyle/>
                    <a:p>
                      <a:pPr algn="ctr"/>
                      <a:r>
                        <a:rPr lang="en-US" sz="1500" dirty="0">
                          <a:solidFill>
                            <a:srgbClr val="0081E2"/>
                          </a:solidFill>
                        </a:rPr>
                        <a:t>D</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500" dirty="0">
                          <a:solidFill>
                            <a:srgbClr val="0081E2"/>
                          </a:solidFill>
                        </a:rPr>
                        <a:t>F</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500" dirty="0">
                          <a:solidFill>
                            <a:srgbClr val="0081E2"/>
                          </a:solidFill>
                        </a:rPr>
                        <a:t>80</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691306843"/>
                  </a:ext>
                </a:extLst>
              </a:tr>
              <a:tr h="382713">
                <a:tc>
                  <a:txBody>
                    <a:bodyPr/>
                    <a:lstStyle/>
                    <a:p>
                      <a:pPr algn="ctr"/>
                      <a:r>
                        <a:rPr lang="en-US" sz="1500" dirty="0">
                          <a:solidFill>
                            <a:srgbClr val="0081E2"/>
                          </a:solidFill>
                        </a:rPr>
                        <a:t>E</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500" dirty="0">
                          <a:solidFill>
                            <a:srgbClr val="0081E2"/>
                          </a:solidFill>
                        </a:rPr>
                        <a:t>F</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500" dirty="0">
                          <a:solidFill>
                            <a:srgbClr val="0081E2"/>
                          </a:solidFill>
                        </a:rPr>
                        <a:t>50</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2878904023"/>
                  </a:ext>
                </a:extLst>
              </a:tr>
              <a:tr h="382713">
                <a:tc>
                  <a:txBody>
                    <a:bodyPr/>
                    <a:lstStyle/>
                    <a:p>
                      <a:pPr algn="ctr"/>
                      <a:r>
                        <a:rPr lang="en-US" sz="1500" dirty="0">
                          <a:solidFill>
                            <a:srgbClr val="0081E2"/>
                          </a:solidFill>
                        </a:rPr>
                        <a:t>C</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500" dirty="0">
                          <a:solidFill>
                            <a:srgbClr val="0081E2"/>
                          </a:solidFill>
                        </a:rPr>
                        <a:t>E</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500" dirty="0">
                          <a:solidFill>
                            <a:srgbClr val="0081E2"/>
                          </a:solidFill>
                        </a:rPr>
                        <a:t>5</a:t>
                      </a:r>
                    </a:p>
                  </a:txBody>
                  <a:tcPr marL="121920" marR="121920" marT="60960" marB="60960">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3676283760"/>
                  </a:ext>
                </a:extLst>
              </a:tr>
            </a:tbl>
          </a:graphicData>
        </a:graphic>
      </p:graphicFrame>
      <p:sp>
        <p:nvSpPr>
          <p:cNvPr id="34" name="TextBox 33">
            <a:extLst>
              <a:ext uri="{FF2B5EF4-FFF2-40B4-BE49-F238E27FC236}">
                <a16:creationId xmlns:a16="http://schemas.microsoft.com/office/drawing/2014/main" id="{2272874E-52D5-4376-AEEE-A99EE981B817}"/>
              </a:ext>
            </a:extLst>
          </p:cNvPr>
          <p:cNvSpPr txBox="1"/>
          <p:nvPr/>
        </p:nvSpPr>
        <p:spPr>
          <a:xfrm>
            <a:off x="7634911" y="2779133"/>
            <a:ext cx="289825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	~ O(E)</a:t>
            </a:r>
          </a:p>
        </p:txBody>
      </p:sp>
      <p:sp>
        <p:nvSpPr>
          <p:cNvPr id="35" name="TextBox 34">
            <a:extLst>
              <a:ext uri="{FF2B5EF4-FFF2-40B4-BE49-F238E27FC236}">
                <a16:creationId xmlns:a16="http://schemas.microsoft.com/office/drawing/2014/main" id="{597F6334-7822-40E3-9D8C-35DF6B100E2F}"/>
              </a:ext>
            </a:extLst>
          </p:cNvPr>
          <p:cNvSpPr txBox="1"/>
          <p:nvPr/>
        </p:nvSpPr>
        <p:spPr>
          <a:xfrm>
            <a:off x="7314457" y="4428714"/>
            <a:ext cx="3167805"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 O(E)</a:t>
            </a:r>
          </a:p>
        </p:txBody>
      </p:sp>
      <p:sp>
        <p:nvSpPr>
          <p:cNvPr id="43" name="TextBox 42">
            <a:extLst>
              <a:ext uri="{FF2B5EF4-FFF2-40B4-BE49-F238E27FC236}">
                <a16:creationId xmlns:a16="http://schemas.microsoft.com/office/drawing/2014/main" id="{24F9D8FA-58CF-4CF8-B065-0F1F4214E2BF}"/>
              </a:ext>
            </a:extLst>
          </p:cNvPr>
          <p:cNvSpPr txBox="1"/>
          <p:nvPr/>
        </p:nvSpPr>
        <p:spPr>
          <a:xfrm>
            <a:off x="7578524" y="5087399"/>
            <a:ext cx="352376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O(|E|) ~ O(|V| * |V|)</a:t>
            </a:r>
            <a:endParaRPr kumimoji="0" lang="en-US" sz="1800" b="0" i="0" u="none" strike="noStrike" kern="1200" cap="none" spc="0" normalizeH="0" baseline="0" noProof="0" dirty="0">
              <a:ln>
                <a:noFill/>
              </a:ln>
              <a:solidFill>
                <a:srgbClr val="00DA63"/>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1045095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r>
              <a:rPr lang="en-US" dirty="0">
                <a:solidFill>
                  <a:schemeClr val="bg1"/>
                </a:solidFill>
                <a:latin typeface="Gotham Bold" pitchFamily="50" charset="0"/>
              </a:rPr>
              <a:t>Adjacency Matrix</a:t>
            </a:r>
          </a:p>
        </p:txBody>
      </p:sp>
      <p:grpSp>
        <p:nvGrpSpPr>
          <p:cNvPr id="8" name="Group 7">
            <a:extLst>
              <a:ext uri="{FF2B5EF4-FFF2-40B4-BE49-F238E27FC236}">
                <a16:creationId xmlns:a16="http://schemas.microsoft.com/office/drawing/2014/main" id="{BFBC837B-EC73-427B-95FC-D056E7706469}"/>
              </a:ext>
              <a:ext uri="{C183D7F6-B498-43B3-948B-1728B52AA6E4}">
                <adec:decorative xmlns:adec="http://schemas.microsoft.com/office/drawing/2017/decorative" val="1"/>
              </a:ext>
            </a:extLst>
          </p:cNvPr>
          <p:cNvGrpSpPr/>
          <p:nvPr/>
        </p:nvGrpSpPr>
        <p:grpSpPr>
          <a:xfrm>
            <a:off x="1937588" y="2479396"/>
            <a:ext cx="3162953" cy="2167861"/>
            <a:chOff x="5833534" y="912535"/>
            <a:chExt cx="3162953" cy="2167861"/>
          </a:xfrm>
        </p:grpSpPr>
        <p:sp>
          <p:nvSpPr>
            <p:cNvPr id="10" name="Oval 9">
              <a:extLst>
                <a:ext uri="{FF2B5EF4-FFF2-40B4-BE49-F238E27FC236}">
                  <a16:creationId xmlns:a16="http://schemas.microsoft.com/office/drawing/2014/main" id="{7F59A168-5377-451B-9712-72CCD762AB2F}"/>
                </a:ext>
              </a:extLst>
            </p:cNvPr>
            <p:cNvSpPr/>
            <p:nvPr/>
          </p:nvSpPr>
          <p:spPr>
            <a:xfrm>
              <a:off x="6536268" y="1312313"/>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B</a:t>
              </a:r>
            </a:p>
          </p:txBody>
        </p:sp>
        <p:sp>
          <p:nvSpPr>
            <p:cNvPr id="14" name="Oval 13">
              <a:extLst>
                <a:ext uri="{FF2B5EF4-FFF2-40B4-BE49-F238E27FC236}">
                  <a16:creationId xmlns:a16="http://schemas.microsoft.com/office/drawing/2014/main" id="{72FAB0BB-3C19-4206-B18A-6AAB24E78530}"/>
                </a:ext>
              </a:extLst>
            </p:cNvPr>
            <p:cNvSpPr/>
            <p:nvPr/>
          </p:nvSpPr>
          <p:spPr>
            <a:xfrm>
              <a:off x="5833534" y="212936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a:t>
              </a:r>
            </a:p>
          </p:txBody>
        </p:sp>
        <p:sp>
          <p:nvSpPr>
            <p:cNvPr id="15" name="Oval 14">
              <a:extLst>
                <a:ext uri="{FF2B5EF4-FFF2-40B4-BE49-F238E27FC236}">
                  <a16:creationId xmlns:a16="http://schemas.microsoft.com/office/drawing/2014/main" id="{A0913F43-1911-4304-AE83-F3A0F171E39F}"/>
                </a:ext>
              </a:extLst>
            </p:cNvPr>
            <p:cNvSpPr/>
            <p:nvPr/>
          </p:nvSpPr>
          <p:spPr>
            <a:xfrm>
              <a:off x="7958667" y="225001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E</a:t>
              </a:r>
            </a:p>
          </p:txBody>
        </p:sp>
        <p:sp>
          <p:nvSpPr>
            <p:cNvPr id="16" name="Oval 15">
              <a:extLst>
                <a:ext uri="{FF2B5EF4-FFF2-40B4-BE49-F238E27FC236}">
                  <a16:creationId xmlns:a16="http://schemas.microsoft.com/office/drawing/2014/main" id="{10BFE9D5-0A71-46DE-A73A-EE6F676D343E}"/>
                </a:ext>
              </a:extLst>
            </p:cNvPr>
            <p:cNvSpPr/>
            <p:nvPr/>
          </p:nvSpPr>
          <p:spPr>
            <a:xfrm>
              <a:off x="8538841" y="136004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F</a:t>
              </a:r>
            </a:p>
          </p:txBody>
        </p:sp>
        <p:sp>
          <p:nvSpPr>
            <p:cNvPr id="17" name="Oval 16">
              <a:extLst>
                <a:ext uri="{FF2B5EF4-FFF2-40B4-BE49-F238E27FC236}">
                  <a16:creationId xmlns:a16="http://schemas.microsoft.com/office/drawing/2014/main" id="{96A0919B-14A8-41C6-B25B-1F6B60C6EF39}"/>
                </a:ext>
              </a:extLst>
            </p:cNvPr>
            <p:cNvSpPr/>
            <p:nvPr/>
          </p:nvSpPr>
          <p:spPr>
            <a:xfrm>
              <a:off x="6807200" y="2607188"/>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a:t>
              </a:r>
            </a:p>
          </p:txBody>
        </p:sp>
        <p:sp>
          <p:nvSpPr>
            <p:cNvPr id="18" name="Oval 17">
              <a:extLst>
                <a:ext uri="{FF2B5EF4-FFF2-40B4-BE49-F238E27FC236}">
                  <a16:creationId xmlns:a16="http://schemas.microsoft.com/office/drawing/2014/main" id="{E192B131-1481-459D-BDE7-46F9157E56F9}"/>
                </a:ext>
              </a:extLst>
            </p:cNvPr>
            <p:cNvSpPr/>
            <p:nvPr/>
          </p:nvSpPr>
          <p:spPr>
            <a:xfrm>
              <a:off x="7703887" y="912535"/>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D</a:t>
              </a:r>
            </a:p>
          </p:txBody>
        </p:sp>
        <p:cxnSp>
          <p:nvCxnSpPr>
            <p:cNvPr id="19" name="Straight Arrow Connector 18">
              <a:extLst>
                <a:ext uri="{FF2B5EF4-FFF2-40B4-BE49-F238E27FC236}">
                  <a16:creationId xmlns:a16="http://schemas.microsoft.com/office/drawing/2014/main" id="{751C21A2-990F-40F9-ADF3-15EE1F1B1105}"/>
                </a:ext>
              </a:extLst>
            </p:cNvPr>
            <p:cNvCxnSpPr>
              <a:cxnSpLocks/>
              <a:stCxn id="14" idx="7"/>
              <a:endCxn id="10" idx="3"/>
            </p:cNvCxnSpPr>
            <p:nvPr/>
          </p:nvCxnSpPr>
          <p:spPr>
            <a:xfrm flipV="1">
              <a:off x="6223779" y="1702558"/>
              <a:ext cx="379444" cy="493763"/>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63992A6-8F5E-4715-A286-34CBEC70F6D2}"/>
                </a:ext>
              </a:extLst>
            </p:cNvPr>
            <p:cNvCxnSpPr>
              <a:cxnSpLocks/>
            </p:cNvCxnSpPr>
            <p:nvPr/>
          </p:nvCxnSpPr>
          <p:spPr>
            <a:xfrm flipV="1">
              <a:off x="8291203" y="1769513"/>
              <a:ext cx="379444" cy="493763"/>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9FDD037-8C23-4254-B2AF-918541F093F4}"/>
                </a:ext>
              </a:extLst>
            </p:cNvPr>
            <p:cNvCxnSpPr>
              <a:cxnSpLocks/>
              <a:endCxn id="17" idx="0"/>
            </p:cNvCxnSpPr>
            <p:nvPr/>
          </p:nvCxnSpPr>
          <p:spPr>
            <a:xfrm flipH="1">
              <a:off x="7035800" y="1360046"/>
              <a:ext cx="803322" cy="1247142"/>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BFEF09E-6F2B-4A17-8DA3-EAD027DBF680}"/>
                </a:ext>
              </a:extLst>
            </p:cNvPr>
            <p:cNvCxnSpPr>
              <a:cxnSpLocks/>
              <a:endCxn id="15" idx="2"/>
            </p:cNvCxnSpPr>
            <p:nvPr/>
          </p:nvCxnSpPr>
          <p:spPr>
            <a:xfrm flipV="1">
              <a:off x="7274425" y="2478616"/>
              <a:ext cx="684242" cy="365146"/>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7082262-AEA1-43C9-8866-6620760003A5}"/>
                </a:ext>
              </a:extLst>
            </p:cNvPr>
            <p:cNvCxnSpPr>
              <a:cxnSpLocks/>
              <a:endCxn id="18" idx="1"/>
            </p:cNvCxnSpPr>
            <p:nvPr/>
          </p:nvCxnSpPr>
          <p:spPr>
            <a:xfrm flipV="1">
              <a:off x="6977767" y="979490"/>
              <a:ext cx="793075" cy="432092"/>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CEFB491-B8DF-4560-A299-EA5C43A76DF9}"/>
                </a:ext>
              </a:extLst>
            </p:cNvPr>
            <p:cNvCxnSpPr>
              <a:cxnSpLocks/>
              <a:endCxn id="16" idx="1"/>
            </p:cNvCxnSpPr>
            <p:nvPr/>
          </p:nvCxnSpPr>
          <p:spPr>
            <a:xfrm>
              <a:off x="8142303" y="1208081"/>
              <a:ext cx="463493" cy="218920"/>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011DAD8-4445-4B70-A99A-989BF5ABD744}"/>
                </a:ext>
              </a:extLst>
            </p:cNvPr>
            <p:cNvCxnSpPr>
              <a:cxnSpLocks/>
              <a:endCxn id="17" idx="1"/>
            </p:cNvCxnSpPr>
            <p:nvPr/>
          </p:nvCxnSpPr>
          <p:spPr>
            <a:xfrm>
              <a:off x="6255996" y="2478616"/>
              <a:ext cx="618159" cy="195527"/>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6B95B89-5390-49EC-9A0F-E63D3BAE6991}"/>
                </a:ext>
              </a:extLst>
            </p:cNvPr>
            <p:cNvSpPr txBox="1"/>
            <p:nvPr/>
          </p:nvSpPr>
          <p:spPr>
            <a:xfrm>
              <a:off x="6082133" y="1724871"/>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10</a:t>
              </a:r>
            </a:p>
          </p:txBody>
        </p:sp>
        <p:sp>
          <p:nvSpPr>
            <p:cNvPr id="27" name="TextBox 26">
              <a:extLst>
                <a:ext uri="{FF2B5EF4-FFF2-40B4-BE49-F238E27FC236}">
                  <a16:creationId xmlns:a16="http://schemas.microsoft.com/office/drawing/2014/main" id="{85852CD4-F459-4845-B3F4-E7CB86C9E311}"/>
                </a:ext>
              </a:extLst>
            </p:cNvPr>
            <p:cNvSpPr txBox="1"/>
            <p:nvPr/>
          </p:nvSpPr>
          <p:spPr>
            <a:xfrm>
              <a:off x="6933393" y="1004536"/>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60</a:t>
              </a:r>
            </a:p>
          </p:txBody>
        </p:sp>
        <p:sp>
          <p:nvSpPr>
            <p:cNvPr id="28" name="TextBox 27">
              <a:extLst>
                <a:ext uri="{FF2B5EF4-FFF2-40B4-BE49-F238E27FC236}">
                  <a16:creationId xmlns:a16="http://schemas.microsoft.com/office/drawing/2014/main" id="{DF819778-0A9B-4DE9-8D37-1CE51389C530}"/>
                </a:ext>
              </a:extLst>
            </p:cNvPr>
            <p:cNvSpPr txBox="1"/>
            <p:nvPr/>
          </p:nvSpPr>
          <p:spPr>
            <a:xfrm>
              <a:off x="8212341" y="972508"/>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80</a:t>
              </a:r>
            </a:p>
          </p:txBody>
        </p:sp>
        <p:sp>
          <p:nvSpPr>
            <p:cNvPr id="29" name="TextBox 28">
              <a:extLst>
                <a:ext uri="{FF2B5EF4-FFF2-40B4-BE49-F238E27FC236}">
                  <a16:creationId xmlns:a16="http://schemas.microsoft.com/office/drawing/2014/main" id="{047086FC-EF9D-4675-BC85-63091B91333F}"/>
                </a:ext>
              </a:extLst>
            </p:cNvPr>
            <p:cNvSpPr txBox="1"/>
            <p:nvPr/>
          </p:nvSpPr>
          <p:spPr>
            <a:xfrm>
              <a:off x="7484208" y="2711064"/>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5</a:t>
              </a:r>
            </a:p>
          </p:txBody>
        </p:sp>
        <p:sp>
          <p:nvSpPr>
            <p:cNvPr id="30" name="TextBox 29">
              <a:extLst>
                <a:ext uri="{FF2B5EF4-FFF2-40B4-BE49-F238E27FC236}">
                  <a16:creationId xmlns:a16="http://schemas.microsoft.com/office/drawing/2014/main" id="{BE1BFAC0-0BEC-4681-9BC0-E21854C5D197}"/>
                </a:ext>
              </a:extLst>
            </p:cNvPr>
            <p:cNvSpPr txBox="1"/>
            <p:nvPr/>
          </p:nvSpPr>
          <p:spPr>
            <a:xfrm>
              <a:off x="7035259" y="1653656"/>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40</a:t>
              </a:r>
            </a:p>
          </p:txBody>
        </p:sp>
        <p:sp>
          <p:nvSpPr>
            <p:cNvPr id="31" name="TextBox 30">
              <a:extLst>
                <a:ext uri="{FF2B5EF4-FFF2-40B4-BE49-F238E27FC236}">
                  <a16:creationId xmlns:a16="http://schemas.microsoft.com/office/drawing/2014/main" id="{852C6F6F-B017-448C-A2D7-B02A5581D670}"/>
                </a:ext>
              </a:extLst>
            </p:cNvPr>
            <p:cNvSpPr txBox="1"/>
            <p:nvPr/>
          </p:nvSpPr>
          <p:spPr>
            <a:xfrm>
              <a:off x="8523364" y="2005869"/>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50</a:t>
              </a:r>
            </a:p>
          </p:txBody>
        </p:sp>
        <p:sp>
          <p:nvSpPr>
            <p:cNvPr id="32" name="TextBox 31">
              <a:extLst>
                <a:ext uri="{FF2B5EF4-FFF2-40B4-BE49-F238E27FC236}">
                  <a16:creationId xmlns:a16="http://schemas.microsoft.com/office/drawing/2014/main" id="{AB194BE0-58BC-4076-BDF8-4B511D84E3F7}"/>
                </a:ext>
              </a:extLst>
            </p:cNvPr>
            <p:cNvSpPr txBox="1"/>
            <p:nvPr/>
          </p:nvSpPr>
          <p:spPr>
            <a:xfrm>
              <a:off x="6234270" y="2648661"/>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15</a:t>
              </a:r>
            </a:p>
          </p:txBody>
        </p:sp>
      </p:grpSp>
      <p:sp>
        <p:nvSpPr>
          <p:cNvPr id="33" name="TextBox 32">
            <a:extLst>
              <a:ext uri="{FF2B5EF4-FFF2-40B4-BE49-F238E27FC236}">
                <a16:creationId xmlns:a16="http://schemas.microsoft.com/office/drawing/2014/main" id="{137FC86C-7C5C-47AF-8B2A-7D2A4A4464D0}"/>
              </a:ext>
              <a:ext uri="{C183D7F6-B498-43B3-948B-1728B52AA6E4}">
                <adec:decorative xmlns:adec="http://schemas.microsoft.com/office/drawing/2017/decorative" val="1"/>
              </a:ext>
            </a:extLst>
          </p:cNvPr>
          <p:cNvSpPr txBox="1"/>
          <p:nvPr/>
        </p:nvSpPr>
        <p:spPr>
          <a:xfrm>
            <a:off x="3519065" y="4952547"/>
            <a:ext cx="47312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G</a:t>
            </a:r>
          </a:p>
        </p:txBody>
      </p:sp>
      <p:graphicFrame>
        <p:nvGraphicFramePr>
          <p:cNvPr id="34" name="Table 37">
            <a:extLst>
              <a:ext uri="{FF2B5EF4-FFF2-40B4-BE49-F238E27FC236}">
                <a16:creationId xmlns:a16="http://schemas.microsoft.com/office/drawing/2014/main" id="{FA9CDB6D-CEBA-4DC7-B838-0FA4619CEC55}"/>
              </a:ext>
            </a:extLst>
          </p:cNvPr>
          <p:cNvGraphicFramePr>
            <a:graphicFrameLocks noGrp="1"/>
          </p:cNvGraphicFramePr>
          <p:nvPr/>
        </p:nvGraphicFramePr>
        <p:xfrm>
          <a:off x="6279982" y="1990302"/>
          <a:ext cx="5215464" cy="2966718"/>
        </p:xfrm>
        <a:graphic>
          <a:graphicData uri="http://schemas.openxmlformats.org/drawingml/2006/table">
            <a:tbl>
              <a:tblPr firstRow="1" bandRow="1"/>
              <a:tblGrid>
                <a:gridCol w="869244">
                  <a:extLst>
                    <a:ext uri="{9D8B030D-6E8A-4147-A177-3AD203B41FA5}">
                      <a16:colId xmlns:a16="http://schemas.microsoft.com/office/drawing/2014/main" val="3195872750"/>
                    </a:ext>
                  </a:extLst>
                </a:gridCol>
                <a:gridCol w="869244">
                  <a:extLst>
                    <a:ext uri="{9D8B030D-6E8A-4147-A177-3AD203B41FA5}">
                      <a16:colId xmlns:a16="http://schemas.microsoft.com/office/drawing/2014/main" val="2537297066"/>
                    </a:ext>
                  </a:extLst>
                </a:gridCol>
                <a:gridCol w="869244">
                  <a:extLst>
                    <a:ext uri="{9D8B030D-6E8A-4147-A177-3AD203B41FA5}">
                      <a16:colId xmlns:a16="http://schemas.microsoft.com/office/drawing/2014/main" val="989015309"/>
                    </a:ext>
                  </a:extLst>
                </a:gridCol>
                <a:gridCol w="869244">
                  <a:extLst>
                    <a:ext uri="{9D8B030D-6E8A-4147-A177-3AD203B41FA5}">
                      <a16:colId xmlns:a16="http://schemas.microsoft.com/office/drawing/2014/main" val="259513047"/>
                    </a:ext>
                  </a:extLst>
                </a:gridCol>
                <a:gridCol w="869244">
                  <a:extLst>
                    <a:ext uri="{9D8B030D-6E8A-4147-A177-3AD203B41FA5}">
                      <a16:colId xmlns:a16="http://schemas.microsoft.com/office/drawing/2014/main" val="1504135409"/>
                    </a:ext>
                  </a:extLst>
                </a:gridCol>
                <a:gridCol w="869244">
                  <a:extLst>
                    <a:ext uri="{9D8B030D-6E8A-4147-A177-3AD203B41FA5}">
                      <a16:colId xmlns:a16="http://schemas.microsoft.com/office/drawing/2014/main" val="4151598922"/>
                    </a:ext>
                  </a:extLst>
                </a:gridCol>
              </a:tblGrid>
              <a:tr h="494453">
                <a:tc>
                  <a:txBody>
                    <a:bodyPr/>
                    <a:lstStyle/>
                    <a:p>
                      <a:pPr algn="ctr"/>
                      <a:r>
                        <a:rPr lang="en-US" sz="20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dirty="0">
                          <a:solidFill>
                            <a:srgbClr val="0081E2"/>
                          </a:solidFill>
                          <a:latin typeface="Consolas" panose="020B0609020204030204" pitchFamily="49" charset="0"/>
                        </a:rPr>
                        <a:t>10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dirty="0">
                          <a:solidFill>
                            <a:srgbClr val="0081E2"/>
                          </a:solidFill>
                          <a:latin typeface="Consolas" panose="020B0609020204030204" pitchFamily="49" charset="0"/>
                        </a:rPr>
                        <a:t>15</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a:solidFill>
                            <a:srgbClr val="0081E2"/>
                          </a:solidFill>
                          <a:latin typeface="Consolas" panose="020B0609020204030204" pitchFamily="49" charset="0"/>
                        </a:rPr>
                        <a:t>0</a:t>
                      </a:r>
                      <a:endParaRPr lang="en-US" sz="20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a:solidFill>
                            <a:srgbClr val="0081E2"/>
                          </a:solidFill>
                          <a:latin typeface="Consolas" panose="020B0609020204030204" pitchFamily="49" charset="0"/>
                        </a:rPr>
                        <a:t>0</a:t>
                      </a:r>
                      <a:endParaRPr lang="en-US" sz="20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334001219"/>
                  </a:ext>
                </a:extLst>
              </a:tr>
              <a:tr h="494453">
                <a:tc>
                  <a:txBody>
                    <a:bodyPr/>
                    <a:lstStyle/>
                    <a:p>
                      <a:pPr algn="ctr"/>
                      <a:r>
                        <a:rPr lang="en-US" sz="20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dirty="0">
                          <a:solidFill>
                            <a:srgbClr val="0081E2"/>
                          </a:solidFill>
                          <a:latin typeface="Consolas" panose="020B0609020204030204" pitchFamily="49" charset="0"/>
                        </a:rPr>
                        <a:t>60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a:solidFill>
                            <a:srgbClr val="0081E2"/>
                          </a:solidFill>
                          <a:latin typeface="Consolas" panose="020B0609020204030204" pitchFamily="49" charset="0"/>
                        </a:rPr>
                        <a:t>0</a:t>
                      </a:r>
                      <a:endParaRPr lang="en-US" sz="20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a:solidFill>
                            <a:srgbClr val="0081E2"/>
                          </a:solidFill>
                          <a:latin typeface="Consolas" panose="020B0609020204030204" pitchFamily="49" charset="0"/>
                        </a:rPr>
                        <a:t>0</a:t>
                      </a:r>
                      <a:endParaRPr lang="en-US" sz="20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3354054619"/>
                  </a:ext>
                </a:extLst>
              </a:tr>
              <a:tr h="494453">
                <a:tc>
                  <a:txBody>
                    <a:bodyPr/>
                    <a:lstStyle/>
                    <a:p>
                      <a:pPr algn="ctr"/>
                      <a:r>
                        <a:rPr lang="en-US" sz="20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a:solidFill>
                            <a:srgbClr val="0081E2"/>
                          </a:solidFill>
                          <a:latin typeface="Consolas" panose="020B0609020204030204" pitchFamily="49" charset="0"/>
                        </a:rPr>
                        <a:t>5</a:t>
                      </a:r>
                      <a:endParaRPr lang="en-US" sz="20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a:solidFill>
                            <a:srgbClr val="0081E2"/>
                          </a:solidFill>
                          <a:latin typeface="Consolas" panose="020B0609020204030204" pitchFamily="49" charset="0"/>
                        </a:rPr>
                        <a:t>0</a:t>
                      </a:r>
                      <a:endParaRPr lang="en-US" sz="20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2535969509"/>
                  </a:ext>
                </a:extLst>
              </a:tr>
              <a:tr h="494453">
                <a:tc>
                  <a:txBody>
                    <a:bodyPr/>
                    <a:lstStyle/>
                    <a:p>
                      <a:pPr algn="ctr"/>
                      <a:r>
                        <a:rPr lang="en-US" sz="20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dirty="0">
                          <a:solidFill>
                            <a:srgbClr val="0081E2"/>
                          </a:solidFill>
                          <a:latin typeface="Consolas" panose="020B0609020204030204" pitchFamily="49" charset="0"/>
                        </a:rPr>
                        <a:t>40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a:solidFill>
                            <a:srgbClr val="0081E2"/>
                          </a:solidFill>
                          <a:latin typeface="Consolas" panose="020B0609020204030204" pitchFamily="49" charset="0"/>
                        </a:rPr>
                        <a:t>80</a:t>
                      </a:r>
                      <a:endParaRPr lang="en-US" sz="20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691306843"/>
                  </a:ext>
                </a:extLst>
              </a:tr>
              <a:tr h="494453">
                <a:tc>
                  <a:txBody>
                    <a:bodyPr/>
                    <a:lstStyle/>
                    <a:p>
                      <a:pPr algn="ctr"/>
                      <a:r>
                        <a:rPr lang="en-US" sz="20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a:solidFill>
                            <a:srgbClr val="0081E2"/>
                          </a:solidFill>
                          <a:latin typeface="Consolas" panose="020B0609020204030204" pitchFamily="49" charset="0"/>
                        </a:rPr>
                        <a:t>0</a:t>
                      </a:r>
                      <a:endParaRPr lang="en-US" sz="20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a:solidFill>
                            <a:srgbClr val="0081E2"/>
                          </a:solidFill>
                          <a:latin typeface="Consolas" panose="020B0609020204030204" pitchFamily="49" charset="0"/>
                        </a:rPr>
                        <a:t>0</a:t>
                      </a:r>
                      <a:endParaRPr lang="en-US" sz="20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a:solidFill>
                            <a:srgbClr val="0081E2"/>
                          </a:solidFill>
                          <a:latin typeface="Consolas" panose="020B0609020204030204" pitchFamily="49" charset="0"/>
                        </a:rPr>
                        <a:t>0</a:t>
                      </a:r>
                      <a:endParaRPr lang="en-US" sz="20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dirty="0">
                          <a:solidFill>
                            <a:srgbClr val="0081E2"/>
                          </a:solidFill>
                          <a:latin typeface="Consolas" panose="020B0609020204030204" pitchFamily="49" charset="0"/>
                        </a:rPr>
                        <a:t>50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2878904023"/>
                  </a:ext>
                </a:extLst>
              </a:tr>
              <a:tr h="494453">
                <a:tc>
                  <a:txBody>
                    <a:bodyPr/>
                    <a:lstStyle/>
                    <a:p>
                      <a:pPr algn="ctr"/>
                      <a:r>
                        <a:rPr lang="en-US" sz="2000">
                          <a:solidFill>
                            <a:srgbClr val="0081E2"/>
                          </a:solidFill>
                          <a:latin typeface="Consolas" panose="020B0609020204030204" pitchFamily="49" charset="0"/>
                        </a:rPr>
                        <a:t>0</a:t>
                      </a:r>
                      <a:endParaRPr lang="en-US" sz="20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a:solidFill>
                            <a:srgbClr val="0081E2"/>
                          </a:solidFill>
                          <a:latin typeface="Consolas" panose="020B0609020204030204" pitchFamily="49" charset="0"/>
                        </a:rPr>
                        <a:t>0</a:t>
                      </a:r>
                      <a:endParaRPr lang="en-US" sz="20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a:solidFill>
                            <a:srgbClr val="0081E2"/>
                          </a:solidFill>
                          <a:latin typeface="Consolas" panose="020B0609020204030204" pitchFamily="49" charset="0"/>
                        </a:rPr>
                        <a:t>0</a:t>
                      </a:r>
                      <a:endParaRPr lang="en-US" sz="20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a:solidFill>
                            <a:srgbClr val="0081E2"/>
                          </a:solidFill>
                          <a:latin typeface="Consolas" panose="020B0609020204030204" pitchFamily="49" charset="0"/>
                        </a:rPr>
                        <a:t>0</a:t>
                      </a:r>
                      <a:endParaRPr lang="en-US" sz="20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20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3676283760"/>
                  </a:ext>
                </a:extLst>
              </a:tr>
            </a:tbl>
          </a:graphicData>
        </a:graphic>
      </p:graphicFrame>
      <p:sp>
        <p:nvSpPr>
          <p:cNvPr id="37" name="TextBox 36">
            <a:extLst>
              <a:ext uri="{FF2B5EF4-FFF2-40B4-BE49-F238E27FC236}">
                <a16:creationId xmlns:a16="http://schemas.microsoft.com/office/drawing/2014/main" id="{B52B5096-5219-4F44-9E03-8C9C703C2569}"/>
              </a:ext>
            </a:extLst>
          </p:cNvPr>
          <p:cNvSpPr txBox="1"/>
          <p:nvPr/>
        </p:nvSpPr>
        <p:spPr>
          <a:xfrm>
            <a:off x="5566666" y="2029483"/>
            <a:ext cx="630829" cy="2888355"/>
          </a:xfrm>
          <a:prstGeom prst="rect">
            <a:avLst/>
          </a:prstGeom>
        </p:spPr>
        <p:txBody>
          <a:bodyPr wrap="square" rtlCol="0" anchor="ctr">
            <a:spAutoFit/>
          </a:bodyPr>
          <a:lstStyle/>
          <a:p>
            <a:pPr marL="0" marR="0" lvl="0" indent="0" algn="ctr" defTabSz="914400" rtl="0" eaLnBrk="1" fontAlgn="auto" latinLnBrk="0" hangingPunct="1">
              <a:lnSpc>
                <a:spcPct val="100000"/>
              </a:lnSpc>
              <a:spcBef>
                <a:spcPts val="400"/>
              </a:spcBef>
              <a:spcAft>
                <a:spcPts val="0"/>
              </a:spcAft>
              <a:buClrTx/>
              <a:buSzTx/>
              <a:buFontTx/>
              <a:buNone/>
              <a:tabLst/>
              <a:defRPr/>
            </a:pPr>
            <a:r>
              <a:rPr kumimoji="0" lang="en-US" sz="2667"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A</a:t>
            </a:r>
          </a:p>
          <a:p>
            <a:pPr marL="0" marR="0" lvl="0" indent="0" algn="ctr" defTabSz="914400" rtl="0" eaLnBrk="1" fontAlgn="auto" latinLnBrk="0" hangingPunct="1">
              <a:lnSpc>
                <a:spcPct val="100000"/>
              </a:lnSpc>
              <a:spcBef>
                <a:spcPts val="400"/>
              </a:spcBef>
              <a:spcAft>
                <a:spcPts val="0"/>
              </a:spcAft>
              <a:buClrTx/>
              <a:buSzTx/>
              <a:buFontTx/>
              <a:buNone/>
              <a:tabLst/>
              <a:defRPr/>
            </a:pPr>
            <a:r>
              <a:rPr kumimoji="0" lang="en-US" sz="2667"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B</a:t>
            </a:r>
          </a:p>
          <a:p>
            <a:pPr marL="0" marR="0" lvl="0" indent="0" algn="ctr" defTabSz="914400" rtl="0" eaLnBrk="1" fontAlgn="auto" latinLnBrk="0" hangingPunct="1">
              <a:lnSpc>
                <a:spcPct val="100000"/>
              </a:lnSpc>
              <a:spcBef>
                <a:spcPts val="400"/>
              </a:spcBef>
              <a:spcAft>
                <a:spcPts val="0"/>
              </a:spcAft>
              <a:buClrTx/>
              <a:buSzTx/>
              <a:buFontTx/>
              <a:buNone/>
              <a:tabLst/>
              <a:defRPr/>
            </a:pPr>
            <a:r>
              <a:rPr kumimoji="0" lang="en-US" sz="2667"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C</a:t>
            </a:r>
          </a:p>
          <a:p>
            <a:pPr marL="0" marR="0" lvl="0" indent="0" algn="ctr" defTabSz="914400" rtl="0" eaLnBrk="1" fontAlgn="auto" latinLnBrk="0" hangingPunct="1">
              <a:lnSpc>
                <a:spcPct val="100000"/>
              </a:lnSpc>
              <a:spcBef>
                <a:spcPts val="800"/>
              </a:spcBef>
              <a:spcAft>
                <a:spcPts val="0"/>
              </a:spcAft>
              <a:buClrTx/>
              <a:buSzTx/>
              <a:buFontTx/>
              <a:buNone/>
              <a:tabLst/>
              <a:defRPr/>
            </a:pPr>
            <a:r>
              <a:rPr kumimoji="0" lang="en-US" sz="2667"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D</a:t>
            </a:r>
          </a:p>
          <a:p>
            <a:pPr marL="0" marR="0" lvl="0" indent="0" algn="ctr" defTabSz="914400" rtl="0" eaLnBrk="1" fontAlgn="auto" latinLnBrk="0" hangingPunct="1">
              <a:lnSpc>
                <a:spcPct val="100000"/>
              </a:lnSpc>
              <a:spcBef>
                <a:spcPts val="533"/>
              </a:spcBef>
              <a:spcAft>
                <a:spcPts val="0"/>
              </a:spcAft>
              <a:buClrTx/>
              <a:buSzTx/>
              <a:buFontTx/>
              <a:buNone/>
              <a:tabLst/>
              <a:defRPr/>
            </a:pPr>
            <a:r>
              <a:rPr kumimoji="0" lang="en-US" sz="2667"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E</a:t>
            </a:r>
          </a:p>
          <a:p>
            <a:pPr marL="0" marR="0" lvl="0" indent="0" algn="ctr" defTabSz="914400" rtl="0" eaLnBrk="1" fontAlgn="auto" latinLnBrk="0" hangingPunct="1">
              <a:lnSpc>
                <a:spcPct val="100000"/>
              </a:lnSpc>
              <a:spcBef>
                <a:spcPts val="533"/>
              </a:spcBef>
              <a:spcAft>
                <a:spcPts val="0"/>
              </a:spcAft>
              <a:buClrTx/>
              <a:buSzTx/>
              <a:buFontTx/>
              <a:buNone/>
              <a:tabLst/>
              <a:defRPr/>
            </a:pPr>
            <a:r>
              <a:rPr kumimoji="0" lang="en-US" sz="2667"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F</a:t>
            </a:r>
          </a:p>
        </p:txBody>
      </p:sp>
      <p:sp>
        <p:nvSpPr>
          <p:cNvPr id="38" name="TextBox 37">
            <a:extLst>
              <a:ext uri="{FF2B5EF4-FFF2-40B4-BE49-F238E27FC236}">
                <a16:creationId xmlns:a16="http://schemas.microsoft.com/office/drawing/2014/main" id="{B0C1CBAF-349D-40C0-9337-3D323982E644}"/>
              </a:ext>
            </a:extLst>
          </p:cNvPr>
          <p:cNvSpPr txBox="1"/>
          <p:nvPr/>
        </p:nvSpPr>
        <p:spPr>
          <a:xfrm>
            <a:off x="6279982" y="1457215"/>
            <a:ext cx="5215464" cy="502766"/>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67"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A    B   C    D    E    F</a:t>
            </a:r>
          </a:p>
        </p:txBody>
      </p:sp>
      <p:sp>
        <p:nvSpPr>
          <p:cNvPr id="35" name="TextBox 34">
            <a:extLst>
              <a:ext uri="{FF2B5EF4-FFF2-40B4-BE49-F238E27FC236}">
                <a16:creationId xmlns:a16="http://schemas.microsoft.com/office/drawing/2014/main" id="{0CED1AC0-763F-4155-A614-605F4B79AB19}"/>
              </a:ext>
            </a:extLst>
          </p:cNvPr>
          <p:cNvSpPr txBox="1"/>
          <p:nvPr/>
        </p:nvSpPr>
        <p:spPr>
          <a:xfrm>
            <a:off x="696554" y="4885939"/>
            <a:ext cx="7946804" cy="1709827"/>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Insertion: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G[from][to] = weight; (if there is an edge, “from” -&gt; “to”)</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G[from][to] = 0;          (otherwise)</a:t>
            </a:r>
          </a:p>
        </p:txBody>
      </p:sp>
    </p:spTree>
    <p:extLst>
      <p:ext uri="{BB962C8B-B14F-4D97-AF65-F5344CB8AC3E}">
        <p14:creationId xmlns:p14="http://schemas.microsoft.com/office/powerpoint/2010/main" val="41142200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r>
              <a:rPr lang="en-US" dirty="0">
                <a:solidFill>
                  <a:schemeClr val="bg1"/>
                </a:solidFill>
                <a:latin typeface="Gotham Bold" pitchFamily="50" charset="0"/>
              </a:rPr>
              <a:t>Adjacency Matrix Implementation</a:t>
            </a:r>
          </a:p>
        </p:txBody>
      </p:sp>
      <p:grpSp>
        <p:nvGrpSpPr>
          <p:cNvPr id="8" name="Group 7">
            <a:extLst>
              <a:ext uri="{FF2B5EF4-FFF2-40B4-BE49-F238E27FC236}">
                <a16:creationId xmlns:a16="http://schemas.microsoft.com/office/drawing/2014/main" id="{BFBC837B-EC73-427B-95FC-D056E7706469}"/>
              </a:ext>
              <a:ext uri="{C183D7F6-B498-43B3-948B-1728B52AA6E4}">
                <adec:decorative xmlns:adec="http://schemas.microsoft.com/office/drawing/2017/decorative" val="1"/>
              </a:ext>
            </a:extLst>
          </p:cNvPr>
          <p:cNvGrpSpPr/>
          <p:nvPr/>
        </p:nvGrpSpPr>
        <p:grpSpPr>
          <a:xfrm>
            <a:off x="1073430" y="1926737"/>
            <a:ext cx="3162953" cy="2167861"/>
            <a:chOff x="5833534" y="912535"/>
            <a:chExt cx="3162953" cy="2167861"/>
          </a:xfrm>
        </p:grpSpPr>
        <p:sp>
          <p:nvSpPr>
            <p:cNvPr id="10" name="Oval 9">
              <a:extLst>
                <a:ext uri="{FF2B5EF4-FFF2-40B4-BE49-F238E27FC236}">
                  <a16:creationId xmlns:a16="http://schemas.microsoft.com/office/drawing/2014/main" id="{7F59A168-5377-451B-9712-72CCD762AB2F}"/>
                </a:ext>
              </a:extLst>
            </p:cNvPr>
            <p:cNvSpPr/>
            <p:nvPr/>
          </p:nvSpPr>
          <p:spPr>
            <a:xfrm>
              <a:off x="6536268" y="1312313"/>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B</a:t>
              </a:r>
            </a:p>
          </p:txBody>
        </p:sp>
        <p:sp>
          <p:nvSpPr>
            <p:cNvPr id="14" name="Oval 13">
              <a:extLst>
                <a:ext uri="{FF2B5EF4-FFF2-40B4-BE49-F238E27FC236}">
                  <a16:creationId xmlns:a16="http://schemas.microsoft.com/office/drawing/2014/main" id="{72FAB0BB-3C19-4206-B18A-6AAB24E78530}"/>
                </a:ext>
              </a:extLst>
            </p:cNvPr>
            <p:cNvSpPr/>
            <p:nvPr/>
          </p:nvSpPr>
          <p:spPr>
            <a:xfrm>
              <a:off x="5833534" y="212936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a:t>
              </a:r>
            </a:p>
          </p:txBody>
        </p:sp>
        <p:sp>
          <p:nvSpPr>
            <p:cNvPr id="15" name="Oval 14">
              <a:extLst>
                <a:ext uri="{FF2B5EF4-FFF2-40B4-BE49-F238E27FC236}">
                  <a16:creationId xmlns:a16="http://schemas.microsoft.com/office/drawing/2014/main" id="{A0913F43-1911-4304-AE83-F3A0F171E39F}"/>
                </a:ext>
              </a:extLst>
            </p:cNvPr>
            <p:cNvSpPr/>
            <p:nvPr/>
          </p:nvSpPr>
          <p:spPr>
            <a:xfrm>
              <a:off x="7958667" y="225001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E</a:t>
              </a:r>
            </a:p>
          </p:txBody>
        </p:sp>
        <p:sp>
          <p:nvSpPr>
            <p:cNvPr id="16" name="Oval 15">
              <a:extLst>
                <a:ext uri="{FF2B5EF4-FFF2-40B4-BE49-F238E27FC236}">
                  <a16:creationId xmlns:a16="http://schemas.microsoft.com/office/drawing/2014/main" id="{10BFE9D5-0A71-46DE-A73A-EE6F676D343E}"/>
                </a:ext>
              </a:extLst>
            </p:cNvPr>
            <p:cNvSpPr/>
            <p:nvPr/>
          </p:nvSpPr>
          <p:spPr>
            <a:xfrm>
              <a:off x="8538841" y="136004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F</a:t>
              </a:r>
            </a:p>
          </p:txBody>
        </p:sp>
        <p:sp>
          <p:nvSpPr>
            <p:cNvPr id="17" name="Oval 16">
              <a:extLst>
                <a:ext uri="{FF2B5EF4-FFF2-40B4-BE49-F238E27FC236}">
                  <a16:creationId xmlns:a16="http://schemas.microsoft.com/office/drawing/2014/main" id="{96A0919B-14A8-41C6-B25B-1F6B60C6EF39}"/>
                </a:ext>
              </a:extLst>
            </p:cNvPr>
            <p:cNvSpPr/>
            <p:nvPr/>
          </p:nvSpPr>
          <p:spPr>
            <a:xfrm>
              <a:off x="6807200" y="2607188"/>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a:t>
              </a:r>
            </a:p>
          </p:txBody>
        </p:sp>
        <p:sp>
          <p:nvSpPr>
            <p:cNvPr id="18" name="Oval 17">
              <a:extLst>
                <a:ext uri="{FF2B5EF4-FFF2-40B4-BE49-F238E27FC236}">
                  <a16:creationId xmlns:a16="http://schemas.microsoft.com/office/drawing/2014/main" id="{E192B131-1481-459D-BDE7-46F9157E56F9}"/>
                </a:ext>
              </a:extLst>
            </p:cNvPr>
            <p:cNvSpPr/>
            <p:nvPr/>
          </p:nvSpPr>
          <p:spPr>
            <a:xfrm>
              <a:off x="7703887" y="912535"/>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D</a:t>
              </a:r>
            </a:p>
          </p:txBody>
        </p:sp>
        <p:cxnSp>
          <p:nvCxnSpPr>
            <p:cNvPr id="19" name="Straight Arrow Connector 18">
              <a:extLst>
                <a:ext uri="{FF2B5EF4-FFF2-40B4-BE49-F238E27FC236}">
                  <a16:creationId xmlns:a16="http://schemas.microsoft.com/office/drawing/2014/main" id="{751C21A2-990F-40F9-ADF3-15EE1F1B1105}"/>
                </a:ext>
              </a:extLst>
            </p:cNvPr>
            <p:cNvCxnSpPr>
              <a:cxnSpLocks/>
              <a:stCxn id="14" idx="7"/>
              <a:endCxn id="10" idx="3"/>
            </p:cNvCxnSpPr>
            <p:nvPr/>
          </p:nvCxnSpPr>
          <p:spPr>
            <a:xfrm flipV="1">
              <a:off x="6223779" y="1702558"/>
              <a:ext cx="379444" cy="493763"/>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63992A6-8F5E-4715-A286-34CBEC70F6D2}"/>
                </a:ext>
              </a:extLst>
            </p:cNvPr>
            <p:cNvCxnSpPr>
              <a:cxnSpLocks/>
            </p:cNvCxnSpPr>
            <p:nvPr/>
          </p:nvCxnSpPr>
          <p:spPr>
            <a:xfrm flipV="1">
              <a:off x="8291203" y="1769513"/>
              <a:ext cx="379444" cy="493763"/>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9FDD037-8C23-4254-B2AF-918541F093F4}"/>
                </a:ext>
              </a:extLst>
            </p:cNvPr>
            <p:cNvCxnSpPr>
              <a:cxnSpLocks/>
              <a:endCxn id="17" idx="0"/>
            </p:cNvCxnSpPr>
            <p:nvPr/>
          </p:nvCxnSpPr>
          <p:spPr>
            <a:xfrm flipH="1">
              <a:off x="7035800" y="1360046"/>
              <a:ext cx="803322" cy="1247142"/>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BFEF09E-6F2B-4A17-8DA3-EAD027DBF680}"/>
                </a:ext>
              </a:extLst>
            </p:cNvPr>
            <p:cNvCxnSpPr>
              <a:cxnSpLocks/>
              <a:endCxn id="15" idx="2"/>
            </p:cNvCxnSpPr>
            <p:nvPr/>
          </p:nvCxnSpPr>
          <p:spPr>
            <a:xfrm flipV="1">
              <a:off x="7274425" y="2478616"/>
              <a:ext cx="684242" cy="365146"/>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7082262-AEA1-43C9-8866-6620760003A5}"/>
                </a:ext>
              </a:extLst>
            </p:cNvPr>
            <p:cNvCxnSpPr>
              <a:cxnSpLocks/>
              <a:endCxn id="18" idx="1"/>
            </p:cNvCxnSpPr>
            <p:nvPr/>
          </p:nvCxnSpPr>
          <p:spPr>
            <a:xfrm flipV="1">
              <a:off x="6977767" y="979490"/>
              <a:ext cx="793075" cy="432092"/>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CEFB491-B8DF-4560-A299-EA5C43A76DF9}"/>
                </a:ext>
              </a:extLst>
            </p:cNvPr>
            <p:cNvCxnSpPr>
              <a:cxnSpLocks/>
              <a:endCxn id="16" idx="1"/>
            </p:cNvCxnSpPr>
            <p:nvPr/>
          </p:nvCxnSpPr>
          <p:spPr>
            <a:xfrm>
              <a:off x="8142303" y="1208081"/>
              <a:ext cx="463493" cy="218920"/>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011DAD8-4445-4B70-A99A-989BF5ABD744}"/>
                </a:ext>
              </a:extLst>
            </p:cNvPr>
            <p:cNvCxnSpPr>
              <a:cxnSpLocks/>
              <a:endCxn id="17" idx="1"/>
            </p:cNvCxnSpPr>
            <p:nvPr/>
          </p:nvCxnSpPr>
          <p:spPr>
            <a:xfrm>
              <a:off x="6255996" y="2478616"/>
              <a:ext cx="618159" cy="195527"/>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6B95B89-5390-49EC-9A0F-E63D3BAE6991}"/>
                </a:ext>
              </a:extLst>
            </p:cNvPr>
            <p:cNvSpPr txBox="1"/>
            <p:nvPr/>
          </p:nvSpPr>
          <p:spPr>
            <a:xfrm>
              <a:off x="6082133" y="1724871"/>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10</a:t>
              </a:r>
            </a:p>
          </p:txBody>
        </p:sp>
        <p:sp>
          <p:nvSpPr>
            <p:cNvPr id="27" name="TextBox 26">
              <a:extLst>
                <a:ext uri="{FF2B5EF4-FFF2-40B4-BE49-F238E27FC236}">
                  <a16:creationId xmlns:a16="http://schemas.microsoft.com/office/drawing/2014/main" id="{85852CD4-F459-4845-B3F4-E7CB86C9E311}"/>
                </a:ext>
              </a:extLst>
            </p:cNvPr>
            <p:cNvSpPr txBox="1"/>
            <p:nvPr/>
          </p:nvSpPr>
          <p:spPr>
            <a:xfrm>
              <a:off x="6933393" y="1004536"/>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60</a:t>
              </a:r>
            </a:p>
          </p:txBody>
        </p:sp>
        <p:sp>
          <p:nvSpPr>
            <p:cNvPr id="28" name="TextBox 27">
              <a:extLst>
                <a:ext uri="{FF2B5EF4-FFF2-40B4-BE49-F238E27FC236}">
                  <a16:creationId xmlns:a16="http://schemas.microsoft.com/office/drawing/2014/main" id="{DF819778-0A9B-4DE9-8D37-1CE51389C530}"/>
                </a:ext>
              </a:extLst>
            </p:cNvPr>
            <p:cNvSpPr txBox="1"/>
            <p:nvPr/>
          </p:nvSpPr>
          <p:spPr>
            <a:xfrm>
              <a:off x="8212341" y="972508"/>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80</a:t>
              </a:r>
            </a:p>
          </p:txBody>
        </p:sp>
        <p:sp>
          <p:nvSpPr>
            <p:cNvPr id="29" name="TextBox 28">
              <a:extLst>
                <a:ext uri="{FF2B5EF4-FFF2-40B4-BE49-F238E27FC236}">
                  <a16:creationId xmlns:a16="http://schemas.microsoft.com/office/drawing/2014/main" id="{047086FC-EF9D-4675-BC85-63091B91333F}"/>
                </a:ext>
              </a:extLst>
            </p:cNvPr>
            <p:cNvSpPr txBox="1"/>
            <p:nvPr/>
          </p:nvSpPr>
          <p:spPr>
            <a:xfrm>
              <a:off x="7484208" y="2711064"/>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5</a:t>
              </a:r>
            </a:p>
          </p:txBody>
        </p:sp>
        <p:sp>
          <p:nvSpPr>
            <p:cNvPr id="30" name="TextBox 29">
              <a:extLst>
                <a:ext uri="{FF2B5EF4-FFF2-40B4-BE49-F238E27FC236}">
                  <a16:creationId xmlns:a16="http://schemas.microsoft.com/office/drawing/2014/main" id="{BE1BFAC0-0BEC-4681-9BC0-E21854C5D197}"/>
                </a:ext>
              </a:extLst>
            </p:cNvPr>
            <p:cNvSpPr txBox="1"/>
            <p:nvPr/>
          </p:nvSpPr>
          <p:spPr>
            <a:xfrm>
              <a:off x="7035259" y="1653656"/>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40</a:t>
              </a:r>
            </a:p>
          </p:txBody>
        </p:sp>
        <p:sp>
          <p:nvSpPr>
            <p:cNvPr id="31" name="TextBox 30">
              <a:extLst>
                <a:ext uri="{FF2B5EF4-FFF2-40B4-BE49-F238E27FC236}">
                  <a16:creationId xmlns:a16="http://schemas.microsoft.com/office/drawing/2014/main" id="{852C6F6F-B017-448C-A2D7-B02A5581D670}"/>
                </a:ext>
              </a:extLst>
            </p:cNvPr>
            <p:cNvSpPr txBox="1"/>
            <p:nvPr/>
          </p:nvSpPr>
          <p:spPr>
            <a:xfrm>
              <a:off x="8523364" y="2005869"/>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50</a:t>
              </a:r>
            </a:p>
          </p:txBody>
        </p:sp>
        <p:sp>
          <p:nvSpPr>
            <p:cNvPr id="32" name="TextBox 31">
              <a:extLst>
                <a:ext uri="{FF2B5EF4-FFF2-40B4-BE49-F238E27FC236}">
                  <a16:creationId xmlns:a16="http://schemas.microsoft.com/office/drawing/2014/main" id="{AB194BE0-58BC-4076-BDF8-4B511D84E3F7}"/>
                </a:ext>
              </a:extLst>
            </p:cNvPr>
            <p:cNvSpPr txBox="1"/>
            <p:nvPr/>
          </p:nvSpPr>
          <p:spPr>
            <a:xfrm>
              <a:off x="6234270" y="2648661"/>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15</a:t>
              </a:r>
            </a:p>
          </p:txBody>
        </p:sp>
      </p:grpSp>
      <p:sp>
        <p:nvSpPr>
          <p:cNvPr id="33" name="TextBox 32">
            <a:extLst>
              <a:ext uri="{FF2B5EF4-FFF2-40B4-BE49-F238E27FC236}">
                <a16:creationId xmlns:a16="http://schemas.microsoft.com/office/drawing/2014/main" id="{137FC86C-7C5C-47AF-8B2A-7D2A4A4464D0}"/>
              </a:ext>
              <a:ext uri="{C183D7F6-B498-43B3-948B-1728B52AA6E4}">
                <adec:decorative xmlns:adec="http://schemas.microsoft.com/office/drawing/2017/decorative" val="1"/>
              </a:ext>
            </a:extLst>
          </p:cNvPr>
          <p:cNvSpPr txBox="1"/>
          <p:nvPr/>
        </p:nvSpPr>
        <p:spPr>
          <a:xfrm>
            <a:off x="2654907" y="4399888"/>
            <a:ext cx="47312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G</a:t>
            </a:r>
          </a:p>
        </p:txBody>
      </p:sp>
      <p:sp>
        <p:nvSpPr>
          <p:cNvPr id="3" name="Rectangle 2">
            <a:extLst>
              <a:ext uri="{FF2B5EF4-FFF2-40B4-BE49-F238E27FC236}">
                <a16:creationId xmlns:a16="http://schemas.microsoft.com/office/drawing/2014/main" id="{DCE44059-F080-46BA-BCCF-478F642B83CA}"/>
              </a:ext>
            </a:extLst>
          </p:cNvPr>
          <p:cNvSpPr/>
          <p:nvPr/>
        </p:nvSpPr>
        <p:spPr>
          <a:xfrm>
            <a:off x="752311" y="4170562"/>
            <a:ext cx="1035600" cy="230832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Input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 B 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 C 15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B D 60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D C 40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 E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D F 80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E F 50</a:t>
            </a:r>
          </a:p>
        </p:txBody>
      </p:sp>
      <p:sp>
        <p:nvSpPr>
          <p:cNvPr id="4" name="Rectangle 3">
            <a:extLst>
              <a:ext uri="{FF2B5EF4-FFF2-40B4-BE49-F238E27FC236}">
                <a16:creationId xmlns:a16="http://schemas.microsoft.com/office/drawing/2014/main" id="{30F0BA95-46F0-4FD3-B77F-65DB306CDC6C}"/>
              </a:ext>
            </a:extLst>
          </p:cNvPr>
          <p:cNvSpPr/>
          <p:nvPr/>
        </p:nvSpPr>
        <p:spPr>
          <a:xfrm>
            <a:off x="4528392" y="6364069"/>
            <a:ext cx="3663182"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hlinkClick r:id="rId3">
                  <a:extLst>
                    <a:ext uri="{A12FA001-AC4F-418D-AE19-62706E023703}">
                      <ahyp:hlinkClr xmlns:ahyp="http://schemas.microsoft.com/office/drawing/2018/hyperlinkcolor" val="tx"/>
                    </a:ext>
                  </a:extLst>
                </a:hlinkClick>
              </a:rPr>
              <a:t>https://www.onlinegdb.com/Hy8M0CnsS</a:t>
            </a:r>
            <a:endPar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p:txBody>
      </p:sp>
      <p:sp>
        <p:nvSpPr>
          <p:cNvPr id="36" name="Rectangle 35">
            <a:extLst>
              <a:ext uri="{FF2B5EF4-FFF2-40B4-BE49-F238E27FC236}">
                <a16:creationId xmlns:a16="http://schemas.microsoft.com/office/drawing/2014/main" id="{A473EEC3-D630-4572-BD2F-DB20EA16F719}"/>
              </a:ext>
            </a:extLst>
          </p:cNvPr>
          <p:cNvSpPr/>
          <p:nvPr/>
        </p:nvSpPr>
        <p:spPr>
          <a:xfrm>
            <a:off x="3501032" y="4410400"/>
            <a:ext cx="1035600" cy="160043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Map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B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D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E 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F 5</a:t>
            </a:r>
          </a:p>
        </p:txBody>
      </p:sp>
      <p:graphicFrame>
        <p:nvGraphicFramePr>
          <p:cNvPr id="39" name="Table 37">
            <a:extLst>
              <a:ext uri="{FF2B5EF4-FFF2-40B4-BE49-F238E27FC236}">
                <a16:creationId xmlns:a16="http://schemas.microsoft.com/office/drawing/2014/main" id="{1A3DA07D-FAAC-4497-ADF0-CE815DECE0C1}"/>
              </a:ext>
            </a:extLst>
          </p:cNvPr>
          <p:cNvGraphicFramePr>
            <a:graphicFrameLocks noGrp="1"/>
          </p:cNvGraphicFramePr>
          <p:nvPr/>
        </p:nvGraphicFramePr>
        <p:xfrm>
          <a:off x="4528392" y="4453238"/>
          <a:ext cx="2285616" cy="1554480"/>
        </p:xfrm>
        <a:graphic>
          <a:graphicData uri="http://schemas.openxmlformats.org/drawingml/2006/table">
            <a:tbl>
              <a:tblPr firstRow="1" bandRow="1"/>
              <a:tblGrid>
                <a:gridCol w="380936">
                  <a:extLst>
                    <a:ext uri="{9D8B030D-6E8A-4147-A177-3AD203B41FA5}">
                      <a16:colId xmlns:a16="http://schemas.microsoft.com/office/drawing/2014/main" val="3195872750"/>
                    </a:ext>
                  </a:extLst>
                </a:gridCol>
                <a:gridCol w="380936">
                  <a:extLst>
                    <a:ext uri="{9D8B030D-6E8A-4147-A177-3AD203B41FA5}">
                      <a16:colId xmlns:a16="http://schemas.microsoft.com/office/drawing/2014/main" val="2537297066"/>
                    </a:ext>
                  </a:extLst>
                </a:gridCol>
                <a:gridCol w="380936">
                  <a:extLst>
                    <a:ext uri="{9D8B030D-6E8A-4147-A177-3AD203B41FA5}">
                      <a16:colId xmlns:a16="http://schemas.microsoft.com/office/drawing/2014/main" val="989015309"/>
                    </a:ext>
                  </a:extLst>
                </a:gridCol>
                <a:gridCol w="380936">
                  <a:extLst>
                    <a:ext uri="{9D8B030D-6E8A-4147-A177-3AD203B41FA5}">
                      <a16:colId xmlns:a16="http://schemas.microsoft.com/office/drawing/2014/main" val="259513047"/>
                    </a:ext>
                  </a:extLst>
                </a:gridCol>
                <a:gridCol w="380936">
                  <a:extLst>
                    <a:ext uri="{9D8B030D-6E8A-4147-A177-3AD203B41FA5}">
                      <a16:colId xmlns:a16="http://schemas.microsoft.com/office/drawing/2014/main" val="1504135409"/>
                    </a:ext>
                  </a:extLst>
                </a:gridCol>
                <a:gridCol w="380936">
                  <a:extLst>
                    <a:ext uri="{9D8B030D-6E8A-4147-A177-3AD203B41FA5}">
                      <a16:colId xmlns:a16="http://schemas.microsoft.com/office/drawing/2014/main" val="4151598922"/>
                    </a:ext>
                  </a:extLst>
                </a:gridCol>
              </a:tblGrid>
              <a:tr h="220306">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10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15</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334001219"/>
                  </a:ext>
                </a:extLst>
              </a:tr>
              <a:tr h="220306">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60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3354054619"/>
                  </a:ext>
                </a:extLst>
              </a:tr>
              <a:tr h="196346">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5</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2535969509"/>
                  </a:ext>
                </a:extLst>
              </a:tr>
              <a:tr h="220306">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40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80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691306843"/>
                  </a:ext>
                </a:extLst>
              </a:tr>
              <a:tr h="220306">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50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2878904023"/>
                  </a:ext>
                </a:extLst>
              </a:tr>
              <a:tr h="196346">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3676283760"/>
                  </a:ext>
                </a:extLst>
              </a:tr>
            </a:tbl>
          </a:graphicData>
        </a:graphic>
      </p:graphicFrame>
      <p:sp>
        <p:nvSpPr>
          <p:cNvPr id="40" name="TextBox 39">
            <a:extLst>
              <a:ext uri="{FF2B5EF4-FFF2-40B4-BE49-F238E27FC236}">
                <a16:creationId xmlns:a16="http://schemas.microsoft.com/office/drawing/2014/main" id="{B56FAF02-4C7D-47AB-8780-D8E21A5AD6AB}"/>
              </a:ext>
            </a:extLst>
          </p:cNvPr>
          <p:cNvSpPr txBox="1"/>
          <p:nvPr/>
        </p:nvSpPr>
        <p:spPr>
          <a:xfrm>
            <a:off x="4018832" y="4473965"/>
            <a:ext cx="630829" cy="1533753"/>
          </a:xfrm>
          <a:prstGeom prst="rect">
            <a:avLst/>
          </a:prstGeom>
        </p:spPr>
        <p:txBody>
          <a:bodyPr wrap="square" rtlCol="0" anchor="ctr">
            <a:spAutoFit/>
          </a:bodyPr>
          <a:lstStyle/>
          <a:p>
            <a:pPr marL="0" marR="0" lvl="0" indent="0" algn="ctr" defTabSz="914400" rtl="0" eaLnBrk="1" fontAlgn="auto" latinLnBrk="0" hangingPunct="1">
              <a:lnSpc>
                <a:spcPct val="100000"/>
              </a:lnSpc>
              <a:spcBef>
                <a:spcPts val="400"/>
              </a:spcBef>
              <a:spcAft>
                <a:spcPts val="0"/>
              </a:spcAft>
              <a:buClrTx/>
              <a:buSzTx/>
              <a:buFontTx/>
              <a:buNone/>
              <a:tabLst/>
              <a:defRPr/>
            </a:pP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0</a:t>
            </a:r>
          </a:p>
          <a:p>
            <a:pPr marL="0" marR="0" lvl="0" indent="0" algn="ctr" defTabSz="914400" rtl="0" eaLnBrk="1" fontAlgn="auto" latinLnBrk="0" hangingPunct="1">
              <a:lnSpc>
                <a:spcPct val="100000"/>
              </a:lnSpc>
              <a:spcBef>
                <a:spcPts val="400"/>
              </a:spcBef>
              <a:spcAft>
                <a:spcPts val="0"/>
              </a:spcAft>
              <a:buClrTx/>
              <a:buSzTx/>
              <a:buFontTx/>
              <a:buNone/>
              <a:tabLst/>
              <a:defRPr/>
            </a:pP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1</a:t>
            </a:r>
          </a:p>
          <a:p>
            <a:pPr marL="0" marR="0" lvl="0" indent="0" algn="ctr" defTabSz="914400" rtl="0" eaLnBrk="1" fontAlgn="auto" latinLnBrk="0" hangingPunct="1">
              <a:lnSpc>
                <a:spcPct val="100000"/>
              </a:lnSpc>
              <a:spcBef>
                <a:spcPts val="400"/>
              </a:spcBef>
              <a:spcAft>
                <a:spcPts val="0"/>
              </a:spcAft>
              <a:buClrTx/>
              <a:buSzTx/>
              <a:buFontTx/>
              <a:buNone/>
              <a:tabLst/>
              <a:defRPr/>
            </a:pP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2</a:t>
            </a:r>
          </a:p>
          <a:p>
            <a:pPr marL="0" marR="0" lvl="0" indent="0" algn="ctr" defTabSz="914400" rtl="0" eaLnBrk="1" fontAlgn="auto" latinLnBrk="0" hangingPunct="1">
              <a:lnSpc>
                <a:spcPct val="100000"/>
              </a:lnSpc>
              <a:spcBef>
                <a:spcPts val="800"/>
              </a:spcBef>
              <a:spcAft>
                <a:spcPts val="0"/>
              </a:spcAft>
              <a:buClrTx/>
              <a:buSzTx/>
              <a:buFontTx/>
              <a:buNone/>
              <a:tabLst/>
              <a:defRPr/>
            </a:pP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3</a:t>
            </a:r>
          </a:p>
          <a:p>
            <a:pPr marL="0" marR="0" lvl="0" indent="0" algn="ctr" defTabSz="914400" rtl="0" eaLnBrk="1" fontAlgn="auto" latinLnBrk="0" hangingPunct="1">
              <a:lnSpc>
                <a:spcPct val="100000"/>
              </a:lnSpc>
              <a:spcBef>
                <a:spcPts val="533"/>
              </a:spcBef>
              <a:spcAft>
                <a:spcPts val="0"/>
              </a:spcAft>
              <a:buClrTx/>
              <a:buSzTx/>
              <a:buFontTx/>
              <a:buNone/>
              <a:tabLst/>
              <a:defRPr/>
            </a:pP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4</a:t>
            </a:r>
          </a:p>
          <a:p>
            <a:pPr marL="0" marR="0" lvl="0" indent="0" algn="ctr" defTabSz="914400" rtl="0" eaLnBrk="1" fontAlgn="auto" latinLnBrk="0" hangingPunct="1">
              <a:lnSpc>
                <a:spcPct val="100000"/>
              </a:lnSpc>
              <a:spcBef>
                <a:spcPts val="533"/>
              </a:spcBef>
              <a:spcAft>
                <a:spcPts val="0"/>
              </a:spcAft>
              <a:buClrTx/>
              <a:buSzTx/>
              <a:buFontTx/>
              <a:buNone/>
              <a:tabLst/>
              <a:defRPr/>
            </a:pP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5</a:t>
            </a:r>
          </a:p>
        </p:txBody>
      </p:sp>
      <p:sp>
        <p:nvSpPr>
          <p:cNvPr id="41" name="TextBox 40">
            <a:extLst>
              <a:ext uri="{FF2B5EF4-FFF2-40B4-BE49-F238E27FC236}">
                <a16:creationId xmlns:a16="http://schemas.microsoft.com/office/drawing/2014/main" id="{23453C6D-6140-4820-BD6F-111E76897EFB}"/>
              </a:ext>
            </a:extLst>
          </p:cNvPr>
          <p:cNvSpPr txBox="1"/>
          <p:nvPr/>
        </p:nvSpPr>
        <p:spPr>
          <a:xfrm>
            <a:off x="4528392" y="4128063"/>
            <a:ext cx="5215464" cy="261610"/>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0    1    2    3    4    5</a:t>
            </a:r>
          </a:p>
        </p:txBody>
      </p:sp>
      <p:sp>
        <p:nvSpPr>
          <p:cNvPr id="34" name="TextBox 33">
            <a:extLst>
              <a:ext uri="{FF2B5EF4-FFF2-40B4-BE49-F238E27FC236}">
                <a16:creationId xmlns:a16="http://schemas.microsoft.com/office/drawing/2014/main" id="{FADB39EE-1E5D-495A-9459-A044A3916257}"/>
              </a:ext>
            </a:extLst>
          </p:cNvPr>
          <p:cNvSpPr txBox="1"/>
          <p:nvPr/>
        </p:nvSpPr>
        <p:spPr>
          <a:xfrm>
            <a:off x="6251515" y="1121566"/>
            <a:ext cx="7946804" cy="117064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Insertion: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G[from][to] = weight; (if there is an edge, “from” -&gt; “to”)</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G[from][to] = 0;          (otherwise)</a:t>
            </a:r>
          </a:p>
        </p:txBody>
      </p:sp>
      <p:graphicFrame>
        <p:nvGraphicFramePr>
          <p:cNvPr id="35" name="Table 34">
            <a:extLst>
              <a:ext uri="{FF2B5EF4-FFF2-40B4-BE49-F238E27FC236}">
                <a16:creationId xmlns:a16="http://schemas.microsoft.com/office/drawing/2014/main" id="{5A760BC2-203A-43D8-A20C-665E2323D963}"/>
              </a:ext>
            </a:extLst>
          </p:cNvPr>
          <p:cNvGraphicFramePr>
            <a:graphicFrameLocks noGrp="1"/>
          </p:cNvGraphicFramePr>
          <p:nvPr/>
        </p:nvGraphicFramePr>
        <p:xfrm>
          <a:off x="7152749" y="2374248"/>
          <a:ext cx="331802" cy="3844544"/>
        </p:xfrm>
        <a:graphic>
          <a:graphicData uri="http://schemas.openxmlformats.org/drawingml/2006/table">
            <a:tbl>
              <a:tblPr>
                <a:tableStyleId>{5C22544A-7EE6-4342-B048-85BDC9FD1C3A}</a:tableStyleId>
              </a:tblPr>
              <a:tblGrid>
                <a:gridCol w="331802">
                  <a:extLst>
                    <a:ext uri="{9D8B030D-6E8A-4147-A177-3AD203B41FA5}">
                      <a16:colId xmlns:a16="http://schemas.microsoft.com/office/drawing/2014/main" val="2652359085"/>
                    </a:ext>
                  </a:extLst>
                </a:gridCol>
              </a:tblGrid>
              <a:tr h="1199813">
                <a:tc>
                  <a:txBody>
                    <a:bodyPr/>
                    <a:lstStyle/>
                    <a:p>
                      <a:pPr marL="0" marR="0" algn="ctr">
                        <a:lnSpc>
                          <a:spcPct val="115000"/>
                        </a:lnSpc>
                        <a:spcBef>
                          <a:spcPts val="0"/>
                        </a:spcBef>
                        <a:spcAft>
                          <a:spcPts val="0"/>
                        </a:spcAft>
                        <a:tabLst>
                          <a:tab pos="571500" algn="l"/>
                        </a:tabLst>
                      </a:pPr>
                      <a:r>
                        <a:rPr lang="en-US" sz="1000" baseline="0" dirty="0">
                          <a:solidFill>
                            <a:schemeClr val="bg1"/>
                          </a:solidFill>
                          <a:effectLst/>
                          <a:latin typeface="Consolas" panose="020B0609020204030204" pitchFamily="49" charset="0"/>
                        </a:rPr>
                        <a:t>01</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02</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03</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04</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05</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06</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07</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08</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09</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10</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11</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12</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13</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14</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15</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16</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17</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18</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19</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20</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21</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22</a:t>
                      </a:r>
                    </a:p>
                  </a:txBody>
                  <a:tcPr marL="68580" marR="68580" marT="0" marB="0">
                    <a:lnL w="12700" cap="flat" cmpd="sng" algn="ctr">
                      <a:solidFill>
                        <a:srgbClr val="1199FF"/>
                      </a:solidFill>
                      <a:prstDash val="solid"/>
                      <a:round/>
                      <a:headEnd type="none" w="med" len="med"/>
                      <a:tailEnd type="none" w="med" len="med"/>
                    </a:lnL>
                    <a:lnR w="12700" cap="flat" cmpd="sng" algn="ctr">
                      <a:solidFill>
                        <a:srgbClr val="1199FF"/>
                      </a:solidFill>
                      <a:prstDash val="solid"/>
                      <a:round/>
                      <a:headEnd type="none" w="med" len="med"/>
                      <a:tailEnd type="none" w="med" len="med"/>
                    </a:lnR>
                    <a:lnT w="12700" cap="flat" cmpd="sng" algn="ctr">
                      <a:solidFill>
                        <a:srgbClr val="1199FF"/>
                      </a:solidFill>
                      <a:prstDash val="solid"/>
                      <a:round/>
                      <a:headEnd type="none" w="med" len="med"/>
                      <a:tailEnd type="none" w="med" len="med"/>
                    </a:lnT>
                    <a:lnB w="12700" cap="flat" cmpd="sng" algn="ctr">
                      <a:solidFill>
                        <a:srgbClr val="1199FF"/>
                      </a:solidFill>
                      <a:prstDash val="solid"/>
                      <a:round/>
                      <a:headEnd type="none" w="med" len="med"/>
                      <a:tailEnd type="none" w="med" len="med"/>
                    </a:lnB>
                    <a:solidFill>
                      <a:schemeClr val="tx1"/>
                    </a:solidFill>
                  </a:tcPr>
                </a:tc>
                <a:extLst>
                  <a:ext uri="{0D108BD9-81ED-4DB2-BD59-A6C34878D82A}">
                    <a16:rowId xmlns:a16="http://schemas.microsoft.com/office/drawing/2014/main" val="1362061028"/>
                  </a:ext>
                </a:extLst>
              </a:tr>
            </a:tbl>
          </a:graphicData>
        </a:graphic>
      </p:graphicFrame>
      <p:graphicFrame>
        <p:nvGraphicFramePr>
          <p:cNvPr id="37" name="Table 36">
            <a:extLst>
              <a:ext uri="{FF2B5EF4-FFF2-40B4-BE49-F238E27FC236}">
                <a16:creationId xmlns:a16="http://schemas.microsoft.com/office/drawing/2014/main" id="{BFE61E7B-91E3-4E84-A9B4-2B9E65B11419}"/>
              </a:ext>
              <a:ext uri="{C183D7F6-B498-43B3-948B-1728B52AA6E4}">
                <adec:decorative xmlns:adec="http://schemas.microsoft.com/office/drawing/2017/decorative" val="1"/>
              </a:ext>
            </a:extLst>
          </p:cNvPr>
          <p:cNvGraphicFramePr>
            <a:graphicFrameLocks noGrp="1"/>
          </p:cNvGraphicFramePr>
          <p:nvPr/>
        </p:nvGraphicFramePr>
        <p:xfrm>
          <a:off x="7480686" y="2374248"/>
          <a:ext cx="3953094" cy="3844544"/>
        </p:xfrm>
        <a:graphic>
          <a:graphicData uri="http://schemas.openxmlformats.org/drawingml/2006/table">
            <a:tbl>
              <a:tblPr>
                <a:solidFill>
                  <a:srgbClr val="000000"/>
                </a:solidFill>
                <a:tableStyleId>{5C22544A-7EE6-4342-B048-85BDC9FD1C3A}</a:tableStyleId>
              </a:tblPr>
              <a:tblGrid>
                <a:gridCol w="3953094">
                  <a:extLst>
                    <a:ext uri="{9D8B030D-6E8A-4147-A177-3AD203B41FA5}">
                      <a16:colId xmlns:a16="http://schemas.microsoft.com/office/drawing/2014/main" val="3829240360"/>
                    </a:ext>
                  </a:extLst>
                </a:gridCol>
              </a:tblGrid>
              <a:tr h="157979">
                <a:tc>
                  <a:txBody>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#include &lt;iostream&gt;</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#include&lt;map&gt;</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#define VERTICES 6</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using namespace std;        </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int main()</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int </a:t>
                      </a:r>
                      <a:r>
                        <a:rPr lang="en-US" sz="1000" kern="1200" baseline="0" dirty="0" err="1">
                          <a:solidFill>
                            <a:schemeClr val="bg1"/>
                          </a:solidFill>
                          <a:effectLst/>
                          <a:latin typeface="Consolas" panose="020B0609020204030204" pitchFamily="49" charset="0"/>
                          <a:ea typeface="+mn-ea"/>
                          <a:cs typeface="+mn-cs"/>
                        </a:rPr>
                        <a:t>no_lines</a:t>
                      </a:r>
                      <a:r>
                        <a:rPr lang="en-US" sz="1000" kern="1200" baseline="0" dirty="0">
                          <a:solidFill>
                            <a:schemeClr val="bg1"/>
                          </a:solidFill>
                          <a:effectLst/>
                          <a:latin typeface="Consolas" panose="020B0609020204030204" pitchFamily="49" charset="0"/>
                          <a:ea typeface="+mn-ea"/>
                          <a:cs typeface="+mn-cs"/>
                        </a:rPr>
                        <a:t>, </a:t>
                      </a:r>
                      <a:r>
                        <a:rPr lang="en-US" sz="1000" kern="1200" baseline="0" dirty="0" err="1">
                          <a:solidFill>
                            <a:schemeClr val="bg1"/>
                          </a:solidFill>
                          <a:effectLst/>
                          <a:latin typeface="Consolas" panose="020B0609020204030204" pitchFamily="49" charset="0"/>
                          <a:ea typeface="+mn-ea"/>
                          <a:cs typeface="+mn-cs"/>
                        </a:rPr>
                        <a:t>wt</a:t>
                      </a:r>
                      <a:r>
                        <a:rPr lang="en-US" sz="1000" kern="1200" baseline="0" dirty="0">
                          <a:solidFill>
                            <a:schemeClr val="bg1"/>
                          </a:solidFill>
                          <a:effectLst/>
                          <a:latin typeface="Consolas" panose="020B0609020204030204" pitchFamily="49" charset="0"/>
                          <a:ea typeface="+mn-ea"/>
                          <a:cs typeface="+mn-cs"/>
                        </a:rPr>
                        <a:t>, j=0;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string from, to;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rgbClr val="00DA63"/>
                          </a:solidFill>
                          <a:effectLst/>
                          <a:latin typeface="Consolas" panose="020B0609020204030204" pitchFamily="49" charset="0"/>
                          <a:ea typeface="+mn-ea"/>
                          <a:cs typeface="+mn-cs"/>
                        </a:rPr>
                        <a:t>int graph [VERTICES][VERTICES] = {0};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map&lt;string, int&gt; mapper;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err="1">
                          <a:solidFill>
                            <a:schemeClr val="bg1"/>
                          </a:solidFill>
                          <a:effectLst/>
                          <a:latin typeface="Consolas" panose="020B0609020204030204" pitchFamily="49" charset="0"/>
                          <a:ea typeface="+mn-ea"/>
                          <a:cs typeface="+mn-cs"/>
                        </a:rPr>
                        <a:t>cin</a:t>
                      </a:r>
                      <a:r>
                        <a:rPr lang="en-US" sz="1000" kern="1200" baseline="0" dirty="0">
                          <a:solidFill>
                            <a:schemeClr val="bg1"/>
                          </a:solidFill>
                          <a:effectLst/>
                          <a:latin typeface="Consolas" panose="020B0609020204030204" pitchFamily="49" charset="0"/>
                          <a:ea typeface="+mn-ea"/>
                          <a:cs typeface="+mn-cs"/>
                        </a:rPr>
                        <a:t> &gt;&gt; </a:t>
                      </a:r>
                      <a:r>
                        <a:rPr lang="en-US" sz="1000" kern="1200" baseline="0" dirty="0" err="1">
                          <a:solidFill>
                            <a:schemeClr val="bg1"/>
                          </a:solidFill>
                          <a:effectLst/>
                          <a:latin typeface="Consolas" panose="020B0609020204030204" pitchFamily="49" charset="0"/>
                          <a:ea typeface="+mn-ea"/>
                          <a:cs typeface="+mn-cs"/>
                        </a:rPr>
                        <a:t>no_lines</a:t>
                      </a:r>
                      <a:r>
                        <a:rPr lang="en-US" sz="1000" kern="1200" baseline="0" dirty="0">
                          <a:solidFill>
                            <a:schemeClr val="bg1"/>
                          </a:solidFill>
                          <a:effectLst/>
                          <a:latin typeface="Consolas" panose="020B0609020204030204" pitchFamily="49" charset="0"/>
                          <a:ea typeface="+mn-ea"/>
                          <a:cs typeface="+mn-cs"/>
                        </a:rPr>
                        <a:t>;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for(int i = 0; i &lt; </a:t>
                      </a:r>
                      <a:r>
                        <a:rPr lang="en-US" sz="1000" kern="1200" baseline="0" dirty="0" err="1">
                          <a:solidFill>
                            <a:schemeClr val="bg1"/>
                          </a:solidFill>
                          <a:effectLst/>
                          <a:latin typeface="Consolas" panose="020B0609020204030204" pitchFamily="49" charset="0"/>
                          <a:ea typeface="+mn-ea"/>
                          <a:cs typeface="+mn-cs"/>
                        </a:rPr>
                        <a:t>no_lines</a:t>
                      </a:r>
                      <a:r>
                        <a:rPr lang="en-US" sz="1000" kern="1200" baseline="0" dirty="0">
                          <a:solidFill>
                            <a:schemeClr val="bg1"/>
                          </a:solidFill>
                          <a:effectLst/>
                          <a:latin typeface="Consolas" panose="020B0609020204030204" pitchFamily="49" charset="0"/>
                          <a:ea typeface="+mn-ea"/>
                          <a:cs typeface="+mn-cs"/>
                        </a:rPr>
                        <a:t>; i++)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        </a:t>
                      </a:r>
                    </a:p>
                    <a:p>
                      <a:pPr marL="914400" marR="0" lvl="2"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err="1">
                          <a:solidFill>
                            <a:schemeClr val="bg1"/>
                          </a:solidFill>
                          <a:effectLst/>
                          <a:latin typeface="Consolas" panose="020B0609020204030204" pitchFamily="49" charset="0"/>
                          <a:ea typeface="+mn-ea"/>
                          <a:cs typeface="+mn-cs"/>
                        </a:rPr>
                        <a:t>cin</a:t>
                      </a:r>
                      <a:r>
                        <a:rPr lang="en-US" sz="1000" kern="1200" baseline="0" dirty="0">
                          <a:solidFill>
                            <a:schemeClr val="bg1"/>
                          </a:solidFill>
                          <a:effectLst/>
                          <a:latin typeface="Consolas" panose="020B0609020204030204" pitchFamily="49" charset="0"/>
                          <a:ea typeface="+mn-ea"/>
                          <a:cs typeface="+mn-cs"/>
                        </a:rPr>
                        <a:t> &gt;&gt; from &gt;&gt; to &gt;&gt; </a:t>
                      </a:r>
                      <a:r>
                        <a:rPr lang="en-US" sz="1000" kern="1200" baseline="0" dirty="0" err="1">
                          <a:solidFill>
                            <a:schemeClr val="bg1"/>
                          </a:solidFill>
                          <a:effectLst/>
                          <a:latin typeface="Consolas" panose="020B0609020204030204" pitchFamily="49" charset="0"/>
                          <a:ea typeface="+mn-ea"/>
                          <a:cs typeface="+mn-cs"/>
                        </a:rPr>
                        <a:t>wt</a:t>
                      </a:r>
                      <a:r>
                        <a:rPr lang="en-US" sz="1000" kern="1200" baseline="0" dirty="0">
                          <a:solidFill>
                            <a:schemeClr val="bg1"/>
                          </a:solidFill>
                          <a:effectLst/>
                          <a:latin typeface="Consolas" panose="020B0609020204030204" pitchFamily="49" charset="0"/>
                          <a:ea typeface="+mn-ea"/>
                          <a:cs typeface="+mn-cs"/>
                        </a:rPr>
                        <a:t>;                </a:t>
                      </a:r>
                    </a:p>
                    <a:p>
                      <a:pPr marL="914400" marR="0" lvl="2"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if (</a:t>
                      </a:r>
                      <a:r>
                        <a:rPr lang="en-US" sz="1000" kern="1200" baseline="0" dirty="0" err="1">
                          <a:solidFill>
                            <a:schemeClr val="bg1"/>
                          </a:solidFill>
                          <a:effectLst/>
                          <a:latin typeface="Consolas" panose="020B0609020204030204" pitchFamily="49" charset="0"/>
                          <a:ea typeface="+mn-ea"/>
                          <a:cs typeface="+mn-cs"/>
                        </a:rPr>
                        <a:t>mapper.find</a:t>
                      </a:r>
                      <a:r>
                        <a:rPr lang="en-US" sz="1000" kern="1200" baseline="0" dirty="0">
                          <a:solidFill>
                            <a:schemeClr val="bg1"/>
                          </a:solidFill>
                          <a:effectLst/>
                          <a:latin typeface="Consolas" panose="020B0609020204030204" pitchFamily="49" charset="0"/>
                          <a:ea typeface="+mn-ea"/>
                          <a:cs typeface="+mn-cs"/>
                        </a:rPr>
                        <a:t>(from) == </a:t>
                      </a:r>
                      <a:r>
                        <a:rPr lang="en-US" sz="1000" kern="1200" baseline="0" dirty="0" err="1">
                          <a:solidFill>
                            <a:schemeClr val="bg1"/>
                          </a:solidFill>
                          <a:effectLst/>
                          <a:latin typeface="Consolas" panose="020B0609020204030204" pitchFamily="49" charset="0"/>
                          <a:ea typeface="+mn-ea"/>
                          <a:cs typeface="+mn-cs"/>
                        </a:rPr>
                        <a:t>mapper.end</a:t>
                      </a:r>
                      <a:r>
                        <a:rPr lang="en-US" sz="1000" kern="1200" baseline="0" dirty="0">
                          <a:solidFill>
                            <a:schemeClr val="bg1"/>
                          </a:solidFill>
                          <a:effectLst/>
                          <a:latin typeface="Consolas" panose="020B0609020204030204" pitchFamily="49" charset="0"/>
                          <a:ea typeface="+mn-ea"/>
                          <a:cs typeface="+mn-cs"/>
                        </a:rPr>
                        <a:t>())            </a:t>
                      </a:r>
                    </a:p>
                    <a:p>
                      <a:pPr marL="1371600" marR="0" lvl="3"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mapper[from] = </a:t>
                      </a:r>
                      <a:r>
                        <a:rPr lang="en-US" sz="1000" kern="1200" baseline="0" dirty="0" err="1">
                          <a:solidFill>
                            <a:schemeClr val="bg1"/>
                          </a:solidFill>
                          <a:effectLst/>
                          <a:latin typeface="Consolas" panose="020B0609020204030204" pitchFamily="49" charset="0"/>
                          <a:ea typeface="+mn-ea"/>
                          <a:cs typeface="+mn-cs"/>
                        </a:rPr>
                        <a:t>j++</a:t>
                      </a:r>
                      <a:r>
                        <a:rPr lang="en-US" sz="1000" kern="1200" baseline="0" dirty="0">
                          <a:solidFill>
                            <a:schemeClr val="bg1"/>
                          </a:solidFill>
                          <a:effectLst/>
                          <a:latin typeface="Consolas" panose="020B0609020204030204" pitchFamily="49" charset="0"/>
                          <a:ea typeface="+mn-ea"/>
                          <a:cs typeface="+mn-cs"/>
                        </a:rPr>
                        <a:t>;        </a:t>
                      </a:r>
                    </a:p>
                    <a:p>
                      <a:pPr marL="914400" marR="0" lvl="2"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if (</a:t>
                      </a:r>
                      <a:r>
                        <a:rPr lang="en-US" sz="1000" kern="1200" baseline="0" dirty="0" err="1">
                          <a:solidFill>
                            <a:schemeClr val="bg1"/>
                          </a:solidFill>
                          <a:effectLst/>
                          <a:latin typeface="Consolas" panose="020B0609020204030204" pitchFamily="49" charset="0"/>
                          <a:ea typeface="+mn-ea"/>
                          <a:cs typeface="+mn-cs"/>
                        </a:rPr>
                        <a:t>mapper.find</a:t>
                      </a:r>
                      <a:r>
                        <a:rPr lang="en-US" sz="1000" kern="1200" baseline="0" dirty="0">
                          <a:solidFill>
                            <a:schemeClr val="bg1"/>
                          </a:solidFill>
                          <a:effectLst/>
                          <a:latin typeface="Consolas" panose="020B0609020204030204" pitchFamily="49" charset="0"/>
                          <a:ea typeface="+mn-ea"/>
                          <a:cs typeface="+mn-cs"/>
                        </a:rPr>
                        <a:t>(to) == </a:t>
                      </a:r>
                      <a:r>
                        <a:rPr lang="en-US" sz="1000" kern="1200" baseline="0" dirty="0" err="1">
                          <a:solidFill>
                            <a:schemeClr val="bg1"/>
                          </a:solidFill>
                          <a:effectLst/>
                          <a:latin typeface="Consolas" panose="020B0609020204030204" pitchFamily="49" charset="0"/>
                          <a:ea typeface="+mn-ea"/>
                          <a:cs typeface="+mn-cs"/>
                        </a:rPr>
                        <a:t>mapper.end</a:t>
                      </a:r>
                      <a:r>
                        <a:rPr lang="en-US" sz="1000" kern="1200" baseline="0" dirty="0">
                          <a:solidFill>
                            <a:schemeClr val="bg1"/>
                          </a:solidFill>
                          <a:effectLst/>
                          <a:latin typeface="Consolas" panose="020B0609020204030204" pitchFamily="49" charset="0"/>
                          <a:ea typeface="+mn-ea"/>
                          <a:cs typeface="+mn-cs"/>
                        </a:rPr>
                        <a:t>())            </a:t>
                      </a:r>
                    </a:p>
                    <a:p>
                      <a:pPr marL="1371600" marR="0" lvl="3"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mapper[to] = </a:t>
                      </a:r>
                      <a:r>
                        <a:rPr lang="en-US" sz="1000" kern="1200" baseline="0" dirty="0" err="1">
                          <a:solidFill>
                            <a:schemeClr val="bg1"/>
                          </a:solidFill>
                          <a:effectLst/>
                          <a:latin typeface="Consolas" panose="020B0609020204030204" pitchFamily="49" charset="0"/>
                          <a:ea typeface="+mn-ea"/>
                          <a:cs typeface="+mn-cs"/>
                        </a:rPr>
                        <a:t>j++</a:t>
                      </a:r>
                      <a:r>
                        <a:rPr lang="en-US" sz="1000" kern="1200" baseline="0" dirty="0">
                          <a:solidFill>
                            <a:schemeClr val="bg1"/>
                          </a:solidFill>
                          <a:effectLst/>
                          <a:latin typeface="Consolas" panose="020B0609020204030204" pitchFamily="49" charset="0"/>
                          <a:ea typeface="+mn-ea"/>
                          <a:cs typeface="+mn-cs"/>
                        </a:rPr>
                        <a:t>;                    </a:t>
                      </a:r>
                    </a:p>
                    <a:p>
                      <a:pPr marL="914400" marR="0" lvl="2"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rgbClr val="00DA63"/>
                          </a:solidFill>
                          <a:effectLst/>
                          <a:latin typeface="Consolas" panose="020B0609020204030204" pitchFamily="49" charset="0"/>
                          <a:ea typeface="+mn-ea"/>
                          <a:cs typeface="+mn-cs"/>
                        </a:rPr>
                        <a:t>graph[mapper[from]][mapper[to]] = </a:t>
                      </a:r>
                      <a:r>
                        <a:rPr lang="en-US" sz="1000" kern="1200" baseline="0" dirty="0" err="1">
                          <a:solidFill>
                            <a:srgbClr val="00DA63"/>
                          </a:solidFill>
                          <a:effectLst/>
                          <a:latin typeface="Consolas" panose="020B0609020204030204" pitchFamily="49" charset="0"/>
                          <a:ea typeface="+mn-ea"/>
                          <a:cs typeface="+mn-cs"/>
                        </a:rPr>
                        <a:t>wt</a:t>
                      </a:r>
                      <a:r>
                        <a:rPr lang="en-US" sz="1000" kern="1200" baseline="0" dirty="0">
                          <a:solidFill>
                            <a:srgbClr val="00DA63"/>
                          </a:solidFill>
                          <a:effectLst/>
                          <a:latin typeface="Consolas" panose="020B0609020204030204" pitchFamily="49" charset="0"/>
                          <a:ea typeface="+mn-ea"/>
                          <a:cs typeface="+mn-cs"/>
                        </a:rPr>
                        <a:t>;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return 0;</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a:t>
                      </a:r>
                    </a:p>
                  </a:txBody>
                  <a:tcPr marL="68580" marR="68580" marT="0" marB="0">
                    <a:lnL w="12700" cap="flat" cmpd="sng" algn="ctr">
                      <a:solidFill>
                        <a:srgbClr val="1199FF"/>
                      </a:solidFill>
                      <a:prstDash val="solid"/>
                      <a:round/>
                      <a:headEnd type="none" w="med" len="med"/>
                      <a:tailEnd type="none" w="med" len="med"/>
                    </a:lnL>
                    <a:lnR w="12700" cap="flat" cmpd="sng" algn="ctr">
                      <a:solidFill>
                        <a:srgbClr val="1199FF"/>
                      </a:solidFill>
                      <a:prstDash val="solid"/>
                      <a:round/>
                      <a:headEnd type="none" w="med" len="med"/>
                      <a:tailEnd type="none" w="med" len="med"/>
                    </a:lnR>
                    <a:lnT w="12700" cap="flat" cmpd="sng" algn="ctr">
                      <a:solidFill>
                        <a:srgbClr val="1199FF"/>
                      </a:solidFill>
                      <a:prstDash val="solid"/>
                      <a:round/>
                      <a:headEnd type="none" w="med" len="med"/>
                      <a:tailEnd type="none" w="med" len="med"/>
                    </a:lnT>
                    <a:lnB w="12700" cap="flat" cmpd="sng" algn="ctr">
                      <a:solidFill>
                        <a:srgbClr val="1199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362061028"/>
                  </a:ext>
                </a:extLst>
              </a:tr>
            </a:tbl>
          </a:graphicData>
        </a:graphic>
      </p:graphicFrame>
    </p:spTree>
    <p:extLst>
      <p:ext uri="{BB962C8B-B14F-4D97-AF65-F5344CB8AC3E}">
        <p14:creationId xmlns:p14="http://schemas.microsoft.com/office/powerpoint/2010/main" val="12067003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r>
              <a:rPr lang="en-US" dirty="0">
                <a:solidFill>
                  <a:schemeClr val="bg1"/>
                </a:solidFill>
                <a:latin typeface="Gotham Bold" pitchFamily="50" charset="0"/>
              </a:rPr>
              <a:t>Adjacency Matrix</a:t>
            </a:r>
          </a:p>
        </p:txBody>
      </p:sp>
      <p:grpSp>
        <p:nvGrpSpPr>
          <p:cNvPr id="37" name="Group 36">
            <a:extLst>
              <a:ext uri="{FF2B5EF4-FFF2-40B4-BE49-F238E27FC236}">
                <a16:creationId xmlns:a16="http://schemas.microsoft.com/office/drawing/2014/main" id="{A919DB6E-AAFF-4E6A-8911-CA54F97B5798}"/>
              </a:ext>
            </a:extLst>
          </p:cNvPr>
          <p:cNvGrpSpPr/>
          <p:nvPr/>
        </p:nvGrpSpPr>
        <p:grpSpPr>
          <a:xfrm>
            <a:off x="6287080" y="1221769"/>
            <a:ext cx="5593921" cy="5078313"/>
            <a:chOff x="5545667" y="1320484"/>
            <a:chExt cx="4195441" cy="3808735"/>
          </a:xfrm>
        </p:grpSpPr>
        <p:sp>
          <p:nvSpPr>
            <p:cNvPr id="38" name="TextBox 37">
              <a:extLst>
                <a:ext uri="{FF2B5EF4-FFF2-40B4-BE49-F238E27FC236}">
                  <a16:creationId xmlns:a16="http://schemas.microsoft.com/office/drawing/2014/main" id="{3BDEF5CC-ED2F-458A-8B64-75BF78C8A2F9}"/>
                </a:ext>
              </a:extLst>
            </p:cNvPr>
            <p:cNvSpPr txBox="1"/>
            <p:nvPr/>
          </p:nvSpPr>
          <p:spPr>
            <a:xfrm>
              <a:off x="5545667" y="1320484"/>
              <a:ext cx="4195441" cy="380873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Common Operations: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Connectedness</a:t>
              </a: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Adjacency</a:t>
              </a: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Space: </a:t>
              </a:r>
              <a:r>
                <a:rPr kumimoji="0" lang="en-US"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O(|V| * |V|)</a:t>
              </a: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p:txBody>
        </p:sp>
        <p:sp>
          <p:nvSpPr>
            <p:cNvPr id="39" name="TextBox 38">
              <a:extLst>
                <a:ext uri="{FF2B5EF4-FFF2-40B4-BE49-F238E27FC236}">
                  <a16:creationId xmlns:a16="http://schemas.microsoft.com/office/drawing/2014/main" id="{F1DC5009-7532-4DE4-925F-D8CF2E02CE67}"/>
                </a:ext>
              </a:extLst>
            </p:cNvPr>
            <p:cNvSpPr txBox="1"/>
            <p:nvPr/>
          </p:nvSpPr>
          <p:spPr>
            <a:xfrm>
              <a:off x="6417280" y="2171442"/>
              <a:ext cx="2173694" cy="27699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Is A connected to B?</a:t>
              </a:r>
            </a:p>
          </p:txBody>
        </p:sp>
        <p:sp>
          <p:nvSpPr>
            <p:cNvPr id="40" name="TextBox 39">
              <a:extLst>
                <a:ext uri="{FF2B5EF4-FFF2-40B4-BE49-F238E27FC236}">
                  <a16:creationId xmlns:a16="http://schemas.microsoft.com/office/drawing/2014/main" id="{16C31E14-49DE-4AFC-BFD2-E4F3051C335A}"/>
                </a:ext>
              </a:extLst>
            </p:cNvPr>
            <p:cNvSpPr txBox="1"/>
            <p:nvPr/>
          </p:nvSpPr>
          <p:spPr>
            <a:xfrm>
              <a:off x="6335596" y="3446719"/>
              <a:ext cx="3213179" cy="27699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What are A’s adjacent nodes?</a:t>
              </a:r>
            </a:p>
          </p:txBody>
        </p:sp>
        <p:sp>
          <p:nvSpPr>
            <p:cNvPr id="41" name="TextBox 40">
              <a:extLst>
                <a:ext uri="{FF2B5EF4-FFF2-40B4-BE49-F238E27FC236}">
                  <a16:creationId xmlns:a16="http://schemas.microsoft.com/office/drawing/2014/main" id="{980C47BB-5DA6-4A91-AFF8-59C5968F80C9}"/>
                </a:ext>
              </a:extLst>
            </p:cNvPr>
            <p:cNvSpPr txBox="1"/>
            <p:nvPr/>
          </p:nvSpPr>
          <p:spPr>
            <a:xfrm>
              <a:off x="6556540" y="2488507"/>
              <a:ext cx="2173694" cy="34624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2060"/>
                  </a:solidFill>
                  <a:effectLst/>
                  <a:uLnTx/>
                  <a:uFillTx/>
                  <a:latin typeface="Calibri" panose="020F0502020204030204"/>
                  <a:ea typeface="+mn-ea"/>
                  <a:cs typeface="+mn-cs"/>
                </a:rPr>
                <a:t>	</a:t>
              </a:r>
            </a:p>
          </p:txBody>
        </p:sp>
      </p:grpSp>
      <p:grpSp>
        <p:nvGrpSpPr>
          <p:cNvPr id="34" name="Group 33">
            <a:extLst>
              <a:ext uri="{FF2B5EF4-FFF2-40B4-BE49-F238E27FC236}">
                <a16:creationId xmlns:a16="http://schemas.microsoft.com/office/drawing/2014/main" id="{04335961-062C-42A4-9035-DFBBDD365146}"/>
              </a:ext>
              <a:ext uri="{C183D7F6-B498-43B3-948B-1728B52AA6E4}">
                <adec:decorative xmlns:adec="http://schemas.microsoft.com/office/drawing/2017/decorative" val="1"/>
              </a:ext>
            </a:extLst>
          </p:cNvPr>
          <p:cNvGrpSpPr/>
          <p:nvPr/>
        </p:nvGrpSpPr>
        <p:grpSpPr>
          <a:xfrm>
            <a:off x="1073430" y="1926737"/>
            <a:ext cx="3162953" cy="2167861"/>
            <a:chOff x="5833534" y="912535"/>
            <a:chExt cx="3162953" cy="2167861"/>
          </a:xfrm>
        </p:grpSpPr>
        <p:sp>
          <p:nvSpPr>
            <p:cNvPr id="35" name="Oval 34">
              <a:extLst>
                <a:ext uri="{FF2B5EF4-FFF2-40B4-BE49-F238E27FC236}">
                  <a16:creationId xmlns:a16="http://schemas.microsoft.com/office/drawing/2014/main" id="{044F0631-243A-4198-B90D-82DA0D59B229}"/>
                </a:ext>
              </a:extLst>
            </p:cNvPr>
            <p:cNvSpPr/>
            <p:nvPr/>
          </p:nvSpPr>
          <p:spPr>
            <a:xfrm>
              <a:off x="6536268" y="1312313"/>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B</a:t>
              </a:r>
            </a:p>
          </p:txBody>
        </p:sp>
        <p:sp>
          <p:nvSpPr>
            <p:cNvPr id="36" name="Oval 35">
              <a:extLst>
                <a:ext uri="{FF2B5EF4-FFF2-40B4-BE49-F238E27FC236}">
                  <a16:creationId xmlns:a16="http://schemas.microsoft.com/office/drawing/2014/main" id="{F038A36F-1C25-47A4-9654-E37D21B32638}"/>
                </a:ext>
              </a:extLst>
            </p:cNvPr>
            <p:cNvSpPr/>
            <p:nvPr/>
          </p:nvSpPr>
          <p:spPr>
            <a:xfrm>
              <a:off x="5833534" y="212936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a:t>
              </a:r>
            </a:p>
          </p:txBody>
        </p:sp>
        <p:sp>
          <p:nvSpPr>
            <p:cNvPr id="44" name="Oval 43">
              <a:extLst>
                <a:ext uri="{FF2B5EF4-FFF2-40B4-BE49-F238E27FC236}">
                  <a16:creationId xmlns:a16="http://schemas.microsoft.com/office/drawing/2014/main" id="{AC42FE08-972C-49C1-AA29-0892FB28D20E}"/>
                </a:ext>
              </a:extLst>
            </p:cNvPr>
            <p:cNvSpPr/>
            <p:nvPr/>
          </p:nvSpPr>
          <p:spPr>
            <a:xfrm>
              <a:off x="7958667" y="225001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E</a:t>
              </a:r>
            </a:p>
          </p:txBody>
        </p:sp>
        <p:sp>
          <p:nvSpPr>
            <p:cNvPr id="45" name="Oval 44">
              <a:extLst>
                <a:ext uri="{FF2B5EF4-FFF2-40B4-BE49-F238E27FC236}">
                  <a16:creationId xmlns:a16="http://schemas.microsoft.com/office/drawing/2014/main" id="{40E27F6A-12D0-4092-958E-4F82BF94EA72}"/>
                </a:ext>
              </a:extLst>
            </p:cNvPr>
            <p:cNvSpPr/>
            <p:nvPr/>
          </p:nvSpPr>
          <p:spPr>
            <a:xfrm>
              <a:off x="8538841" y="136004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F</a:t>
              </a:r>
            </a:p>
          </p:txBody>
        </p:sp>
        <p:sp>
          <p:nvSpPr>
            <p:cNvPr id="46" name="Oval 45">
              <a:extLst>
                <a:ext uri="{FF2B5EF4-FFF2-40B4-BE49-F238E27FC236}">
                  <a16:creationId xmlns:a16="http://schemas.microsoft.com/office/drawing/2014/main" id="{36B89A17-A905-49AA-A9FB-9BA39D1F5B65}"/>
                </a:ext>
              </a:extLst>
            </p:cNvPr>
            <p:cNvSpPr/>
            <p:nvPr/>
          </p:nvSpPr>
          <p:spPr>
            <a:xfrm>
              <a:off x="6807200" y="2607188"/>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a:t>
              </a:r>
            </a:p>
          </p:txBody>
        </p:sp>
        <p:sp>
          <p:nvSpPr>
            <p:cNvPr id="47" name="Oval 46">
              <a:extLst>
                <a:ext uri="{FF2B5EF4-FFF2-40B4-BE49-F238E27FC236}">
                  <a16:creationId xmlns:a16="http://schemas.microsoft.com/office/drawing/2014/main" id="{C1CC2B8C-A9D0-4EF5-B083-E2823F40108B}"/>
                </a:ext>
              </a:extLst>
            </p:cNvPr>
            <p:cNvSpPr/>
            <p:nvPr/>
          </p:nvSpPr>
          <p:spPr>
            <a:xfrm>
              <a:off x="7703887" y="912535"/>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D</a:t>
              </a:r>
            </a:p>
          </p:txBody>
        </p:sp>
        <p:cxnSp>
          <p:nvCxnSpPr>
            <p:cNvPr id="48" name="Straight Arrow Connector 47">
              <a:extLst>
                <a:ext uri="{FF2B5EF4-FFF2-40B4-BE49-F238E27FC236}">
                  <a16:creationId xmlns:a16="http://schemas.microsoft.com/office/drawing/2014/main" id="{76FC47E0-4020-4246-8C8F-A19F1F25A0C7}"/>
                </a:ext>
              </a:extLst>
            </p:cNvPr>
            <p:cNvCxnSpPr>
              <a:cxnSpLocks/>
              <a:stCxn id="36" idx="7"/>
              <a:endCxn id="35" idx="3"/>
            </p:cNvCxnSpPr>
            <p:nvPr/>
          </p:nvCxnSpPr>
          <p:spPr>
            <a:xfrm flipV="1">
              <a:off x="6223779" y="1702558"/>
              <a:ext cx="379444" cy="493763"/>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9CA99130-EAF6-4B9E-B477-1B3EF18A223F}"/>
                </a:ext>
              </a:extLst>
            </p:cNvPr>
            <p:cNvCxnSpPr>
              <a:cxnSpLocks/>
            </p:cNvCxnSpPr>
            <p:nvPr/>
          </p:nvCxnSpPr>
          <p:spPr>
            <a:xfrm flipV="1">
              <a:off x="8291203" y="1769513"/>
              <a:ext cx="379444" cy="493763"/>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F707C511-1872-4769-B140-62DF7474610E}"/>
                </a:ext>
              </a:extLst>
            </p:cNvPr>
            <p:cNvCxnSpPr>
              <a:cxnSpLocks/>
              <a:endCxn id="46" idx="0"/>
            </p:cNvCxnSpPr>
            <p:nvPr/>
          </p:nvCxnSpPr>
          <p:spPr>
            <a:xfrm flipH="1">
              <a:off x="7035800" y="1360046"/>
              <a:ext cx="803322" cy="1247142"/>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0DCADFB2-E90D-4D4B-8F3B-28115CC90A2F}"/>
                </a:ext>
              </a:extLst>
            </p:cNvPr>
            <p:cNvCxnSpPr>
              <a:cxnSpLocks/>
              <a:endCxn id="44" idx="2"/>
            </p:cNvCxnSpPr>
            <p:nvPr/>
          </p:nvCxnSpPr>
          <p:spPr>
            <a:xfrm flipV="1">
              <a:off x="7274425" y="2478616"/>
              <a:ext cx="684242" cy="365146"/>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37FB9402-B3C0-4281-92A5-D608707BA696}"/>
                </a:ext>
              </a:extLst>
            </p:cNvPr>
            <p:cNvCxnSpPr>
              <a:cxnSpLocks/>
              <a:endCxn id="47" idx="1"/>
            </p:cNvCxnSpPr>
            <p:nvPr/>
          </p:nvCxnSpPr>
          <p:spPr>
            <a:xfrm flipV="1">
              <a:off x="6977767" y="979490"/>
              <a:ext cx="793075" cy="432092"/>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D561D0C-C40D-4469-BFD5-9E72386F71EF}"/>
                </a:ext>
              </a:extLst>
            </p:cNvPr>
            <p:cNvCxnSpPr>
              <a:cxnSpLocks/>
              <a:endCxn id="45" idx="1"/>
            </p:cNvCxnSpPr>
            <p:nvPr/>
          </p:nvCxnSpPr>
          <p:spPr>
            <a:xfrm>
              <a:off x="8142303" y="1208081"/>
              <a:ext cx="463493" cy="218920"/>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71EB554-827C-4D62-BCFD-E3FF5AC42282}"/>
                </a:ext>
              </a:extLst>
            </p:cNvPr>
            <p:cNvCxnSpPr>
              <a:cxnSpLocks/>
              <a:endCxn id="46" idx="1"/>
            </p:cNvCxnSpPr>
            <p:nvPr/>
          </p:nvCxnSpPr>
          <p:spPr>
            <a:xfrm>
              <a:off x="6255996" y="2478616"/>
              <a:ext cx="618159" cy="195527"/>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C7BFE685-F9FF-415E-BB03-905C7B556783}"/>
                </a:ext>
              </a:extLst>
            </p:cNvPr>
            <p:cNvSpPr txBox="1"/>
            <p:nvPr/>
          </p:nvSpPr>
          <p:spPr>
            <a:xfrm>
              <a:off x="6082133" y="1724871"/>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10</a:t>
              </a:r>
            </a:p>
          </p:txBody>
        </p:sp>
        <p:sp>
          <p:nvSpPr>
            <p:cNvPr id="56" name="TextBox 55">
              <a:extLst>
                <a:ext uri="{FF2B5EF4-FFF2-40B4-BE49-F238E27FC236}">
                  <a16:creationId xmlns:a16="http://schemas.microsoft.com/office/drawing/2014/main" id="{93C58483-0FA6-4CA1-A87F-199C2A41ABBD}"/>
                </a:ext>
              </a:extLst>
            </p:cNvPr>
            <p:cNvSpPr txBox="1"/>
            <p:nvPr/>
          </p:nvSpPr>
          <p:spPr>
            <a:xfrm>
              <a:off x="6933393" y="1004536"/>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60</a:t>
              </a:r>
            </a:p>
          </p:txBody>
        </p:sp>
        <p:sp>
          <p:nvSpPr>
            <p:cNvPr id="57" name="TextBox 56">
              <a:extLst>
                <a:ext uri="{FF2B5EF4-FFF2-40B4-BE49-F238E27FC236}">
                  <a16:creationId xmlns:a16="http://schemas.microsoft.com/office/drawing/2014/main" id="{1A6D7584-F1D3-4C1F-8512-A2A5B60A1DA6}"/>
                </a:ext>
              </a:extLst>
            </p:cNvPr>
            <p:cNvSpPr txBox="1"/>
            <p:nvPr/>
          </p:nvSpPr>
          <p:spPr>
            <a:xfrm>
              <a:off x="8212341" y="972508"/>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80</a:t>
              </a:r>
            </a:p>
          </p:txBody>
        </p:sp>
        <p:sp>
          <p:nvSpPr>
            <p:cNvPr id="58" name="TextBox 57">
              <a:extLst>
                <a:ext uri="{FF2B5EF4-FFF2-40B4-BE49-F238E27FC236}">
                  <a16:creationId xmlns:a16="http://schemas.microsoft.com/office/drawing/2014/main" id="{CC91A967-130F-44F1-BC98-7534017D97CE}"/>
                </a:ext>
              </a:extLst>
            </p:cNvPr>
            <p:cNvSpPr txBox="1"/>
            <p:nvPr/>
          </p:nvSpPr>
          <p:spPr>
            <a:xfrm>
              <a:off x="7484208" y="2711064"/>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5</a:t>
              </a:r>
            </a:p>
          </p:txBody>
        </p:sp>
        <p:sp>
          <p:nvSpPr>
            <p:cNvPr id="59" name="TextBox 58">
              <a:extLst>
                <a:ext uri="{FF2B5EF4-FFF2-40B4-BE49-F238E27FC236}">
                  <a16:creationId xmlns:a16="http://schemas.microsoft.com/office/drawing/2014/main" id="{742C78DA-D0F4-4CF3-96FD-DBEB068EA26D}"/>
                </a:ext>
              </a:extLst>
            </p:cNvPr>
            <p:cNvSpPr txBox="1"/>
            <p:nvPr/>
          </p:nvSpPr>
          <p:spPr>
            <a:xfrm>
              <a:off x="7035259" y="1653656"/>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40</a:t>
              </a:r>
            </a:p>
          </p:txBody>
        </p:sp>
        <p:sp>
          <p:nvSpPr>
            <p:cNvPr id="60" name="TextBox 59">
              <a:extLst>
                <a:ext uri="{FF2B5EF4-FFF2-40B4-BE49-F238E27FC236}">
                  <a16:creationId xmlns:a16="http://schemas.microsoft.com/office/drawing/2014/main" id="{FA0EC9E6-8533-4DD0-A4C5-14FC889E1B52}"/>
                </a:ext>
              </a:extLst>
            </p:cNvPr>
            <p:cNvSpPr txBox="1"/>
            <p:nvPr/>
          </p:nvSpPr>
          <p:spPr>
            <a:xfrm>
              <a:off x="8523364" y="2005869"/>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50</a:t>
              </a:r>
            </a:p>
          </p:txBody>
        </p:sp>
        <p:sp>
          <p:nvSpPr>
            <p:cNvPr id="61" name="TextBox 60">
              <a:extLst>
                <a:ext uri="{FF2B5EF4-FFF2-40B4-BE49-F238E27FC236}">
                  <a16:creationId xmlns:a16="http://schemas.microsoft.com/office/drawing/2014/main" id="{5C4A49B7-5002-4FB8-9BDE-E154CA87300C}"/>
                </a:ext>
              </a:extLst>
            </p:cNvPr>
            <p:cNvSpPr txBox="1"/>
            <p:nvPr/>
          </p:nvSpPr>
          <p:spPr>
            <a:xfrm>
              <a:off x="6234270" y="2648661"/>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15</a:t>
              </a:r>
            </a:p>
          </p:txBody>
        </p:sp>
      </p:grpSp>
      <p:sp>
        <p:nvSpPr>
          <p:cNvPr id="62" name="Rectangle 61">
            <a:extLst>
              <a:ext uri="{FF2B5EF4-FFF2-40B4-BE49-F238E27FC236}">
                <a16:creationId xmlns:a16="http://schemas.microsoft.com/office/drawing/2014/main" id="{C70A9339-51BA-4204-B53A-C92D8325B481}"/>
              </a:ext>
            </a:extLst>
          </p:cNvPr>
          <p:cNvSpPr/>
          <p:nvPr/>
        </p:nvSpPr>
        <p:spPr>
          <a:xfrm>
            <a:off x="1181653" y="5052191"/>
            <a:ext cx="1035600" cy="160043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Map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 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B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D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E 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F 5</a:t>
            </a:r>
          </a:p>
        </p:txBody>
      </p:sp>
      <p:graphicFrame>
        <p:nvGraphicFramePr>
          <p:cNvPr id="63" name="Table 37">
            <a:extLst>
              <a:ext uri="{FF2B5EF4-FFF2-40B4-BE49-F238E27FC236}">
                <a16:creationId xmlns:a16="http://schemas.microsoft.com/office/drawing/2014/main" id="{538F852F-C22D-4A8F-A331-BE054FC36212}"/>
              </a:ext>
            </a:extLst>
          </p:cNvPr>
          <p:cNvGraphicFramePr>
            <a:graphicFrameLocks noGrp="1"/>
          </p:cNvGraphicFramePr>
          <p:nvPr/>
        </p:nvGraphicFramePr>
        <p:xfrm>
          <a:off x="3189942" y="5014412"/>
          <a:ext cx="2285616" cy="1554480"/>
        </p:xfrm>
        <a:graphic>
          <a:graphicData uri="http://schemas.openxmlformats.org/drawingml/2006/table">
            <a:tbl>
              <a:tblPr firstRow="1" bandRow="1"/>
              <a:tblGrid>
                <a:gridCol w="380936">
                  <a:extLst>
                    <a:ext uri="{9D8B030D-6E8A-4147-A177-3AD203B41FA5}">
                      <a16:colId xmlns:a16="http://schemas.microsoft.com/office/drawing/2014/main" val="3195872750"/>
                    </a:ext>
                  </a:extLst>
                </a:gridCol>
                <a:gridCol w="380936">
                  <a:extLst>
                    <a:ext uri="{9D8B030D-6E8A-4147-A177-3AD203B41FA5}">
                      <a16:colId xmlns:a16="http://schemas.microsoft.com/office/drawing/2014/main" val="2537297066"/>
                    </a:ext>
                  </a:extLst>
                </a:gridCol>
                <a:gridCol w="380936">
                  <a:extLst>
                    <a:ext uri="{9D8B030D-6E8A-4147-A177-3AD203B41FA5}">
                      <a16:colId xmlns:a16="http://schemas.microsoft.com/office/drawing/2014/main" val="989015309"/>
                    </a:ext>
                  </a:extLst>
                </a:gridCol>
                <a:gridCol w="380936">
                  <a:extLst>
                    <a:ext uri="{9D8B030D-6E8A-4147-A177-3AD203B41FA5}">
                      <a16:colId xmlns:a16="http://schemas.microsoft.com/office/drawing/2014/main" val="259513047"/>
                    </a:ext>
                  </a:extLst>
                </a:gridCol>
                <a:gridCol w="380936">
                  <a:extLst>
                    <a:ext uri="{9D8B030D-6E8A-4147-A177-3AD203B41FA5}">
                      <a16:colId xmlns:a16="http://schemas.microsoft.com/office/drawing/2014/main" val="1504135409"/>
                    </a:ext>
                  </a:extLst>
                </a:gridCol>
                <a:gridCol w="380936">
                  <a:extLst>
                    <a:ext uri="{9D8B030D-6E8A-4147-A177-3AD203B41FA5}">
                      <a16:colId xmlns:a16="http://schemas.microsoft.com/office/drawing/2014/main" val="4151598922"/>
                    </a:ext>
                  </a:extLst>
                </a:gridCol>
              </a:tblGrid>
              <a:tr h="220306">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10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15</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334001219"/>
                  </a:ext>
                </a:extLst>
              </a:tr>
              <a:tr h="220306">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60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3354054619"/>
                  </a:ext>
                </a:extLst>
              </a:tr>
              <a:tr h="196346">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5</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2535969509"/>
                  </a:ext>
                </a:extLst>
              </a:tr>
              <a:tr h="220306">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40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80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691306843"/>
                  </a:ext>
                </a:extLst>
              </a:tr>
              <a:tr h="220306">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50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2878904023"/>
                  </a:ext>
                </a:extLst>
              </a:tr>
              <a:tr h="196346">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a:solidFill>
                            <a:srgbClr val="0081E2"/>
                          </a:solidFill>
                          <a:latin typeface="Consolas" panose="020B0609020204030204" pitchFamily="49" charset="0"/>
                        </a:rPr>
                        <a:t>0</a:t>
                      </a:r>
                      <a:endParaRPr lang="en-US" sz="900" dirty="0">
                        <a:solidFill>
                          <a:srgbClr val="0081E2"/>
                        </a:solidFill>
                        <a:latin typeface="Consolas" panose="020B0609020204030204" pitchFamily="49" charset="0"/>
                      </a:endParaRP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900" dirty="0">
                          <a:solidFill>
                            <a:srgbClr val="0081E2"/>
                          </a:solidFill>
                          <a:latin typeface="Consolas" panose="020B0609020204030204" pitchFamily="49" charset="0"/>
                        </a:rPr>
                        <a:t>0</a:t>
                      </a:r>
                    </a:p>
                  </a:txBody>
                  <a:tcPr marL="121920" marR="121920" marT="60960" marB="60960"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3676283760"/>
                  </a:ext>
                </a:extLst>
              </a:tr>
            </a:tbl>
          </a:graphicData>
        </a:graphic>
      </p:graphicFrame>
      <p:sp>
        <p:nvSpPr>
          <p:cNvPr id="64" name="TextBox 63">
            <a:extLst>
              <a:ext uri="{FF2B5EF4-FFF2-40B4-BE49-F238E27FC236}">
                <a16:creationId xmlns:a16="http://schemas.microsoft.com/office/drawing/2014/main" id="{8D913603-86D6-452A-ADA6-3B051342FB10}"/>
              </a:ext>
            </a:extLst>
          </p:cNvPr>
          <p:cNvSpPr txBox="1"/>
          <p:nvPr/>
        </p:nvSpPr>
        <p:spPr>
          <a:xfrm>
            <a:off x="2680382" y="5035139"/>
            <a:ext cx="630829" cy="1533753"/>
          </a:xfrm>
          <a:prstGeom prst="rect">
            <a:avLst/>
          </a:prstGeom>
        </p:spPr>
        <p:txBody>
          <a:bodyPr wrap="square" rtlCol="0" anchor="ctr">
            <a:spAutoFit/>
          </a:bodyPr>
          <a:lstStyle/>
          <a:p>
            <a:pPr marL="0" marR="0" lvl="0" indent="0" algn="ctr" defTabSz="914400" rtl="0" eaLnBrk="1" fontAlgn="auto" latinLnBrk="0" hangingPunct="1">
              <a:lnSpc>
                <a:spcPct val="100000"/>
              </a:lnSpc>
              <a:spcBef>
                <a:spcPts val="400"/>
              </a:spcBef>
              <a:spcAft>
                <a:spcPts val="0"/>
              </a:spcAft>
              <a:buClrTx/>
              <a:buSzTx/>
              <a:buFontTx/>
              <a:buNone/>
              <a:tabLst/>
              <a:defRPr/>
            </a:pP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0</a:t>
            </a:r>
          </a:p>
          <a:p>
            <a:pPr marL="0" marR="0" lvl="0" indent="0" algn="ctr" defTabSz="914400" rtl="0" eaLnBrk="1" fontAlgn="auto" latinLnBrk="0" hangingPunct="1">
              <a:lnSpc>
                <a:spcPct val="100000"/>
              </a:lnSpc>
              <a:spcBef>
                <a:spcPts val="400"/>
              </a:spcBef>
              <a:spcAft>
                <a:spcPts val="0"/>
              </a:spcAft>
              <a:buClrTx/>
              <a:buSzTx/>
              <a:buFontTx/>
              <a:buNone/>
              <a:tabLst/>
              <a:defRPr/>
            </a:pP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1</a:t>
            </a:r>
          </a:p>
          <a:p>
            <a:pPr marL="0" marR="0" lvl="0" indent="0" algn="ctr" defTabSz="914400" rtl="0" eaLnBrk="1" fontAlgn="auto" latinLnBrk="0" hangingPunct="1">
              <a:lnSpc>
                <a:spcPct val="100000"/>
              </a:lnSpc>
              <a:spcBef>
                <a:spcPts val="400"/>
              </a:spcBef>
              <a:spcAft>
                <a:spcPts val="0"/>
              </a:spcAft>
              <a:buClrTx/>
              <a:buSzTx/>
              <a:buFontTx/>
              <a:buNone/>
              <a:tabLst/>
              <a:defRPr/>
            </a:pP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2</a:t>
            </a:r>
          </a:p>
          <a:p>
            <a:pPr marL="0" marR="0" lvl="0" indent="0" algn="ctr" defTabSz="914400" rtl="0" eaLnBrk="1" fontAlgn="auto" latinLnBrk="0" hangingPunct="1">
              <a:lnSpc>
                <a:spcPct val="100000"/>
              </a:lnSpc>
              <a:spcBef>
                <a:spcPts val="800"/>
              </a:spcBef>
              <a:spcAft>
                <a:spcPts val="0"/>
              </a:spcAft>
              <a:buClrTx/>
              <a:buSzTx/>
              <a:buFontTx/>
              <a:buNone/>
              <a:tabLst/>
              <a:defRPr/>
            </a:pP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3</a:t>
            </a:r>
          </a:p>
          <a:p>
            <a:pPr marL="0" marR="0" lvl="0" indent="0" algn="ctr" defTabSz="914400" rtl="0" eaLnBrk="1" fontAlgn="auto" latinLnBrk="0" hangingPunct="1">
              <a:lnSpc>
                <a:spcPct val="100000"/>
              </a:lnSpc>
              <a:spcBef>
                <a:spcPts val="533"/>
              </a:spcBef>
              <a:spcAft>
                <a:spcPts val="0"/>
              </a:spcAft>
              <a:buClrTx/>
              <a:buSzTx/>
              <a:buFontTx/>
              <a:buNone/>
              <a:tabLst/>
              <a:defRPr/>
            </a:pP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4</a:t>
            </a:r>
          </a:p>
          <a:p>
            <a:pPr marL="0" marR="0" lvl="0" indent="0" algn="ctr" defTabSz="914400" rtl="0" eaLnBrk="1" fontAlgn="auto" latinLnBrk="0" hangingPunct="1">
              <a:lnSpc>
                <a:spcPct val="100000"/>
              </a:lnSpc>
              <a:spcBef>
                <a:spcPts val="533"/>
              </a:spcBef>
              <a:spcAft>
                <a:spcPts val="0"/>
              </a:spcAft>
              <a:buClrTx/>
              <a:buSzTx/>
              <a:buFontTx/>
              <a:buNone/>
              <a:tabLst/>
              <a:defRPr/>
            </a:pP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5</a:t>
            </a:r>
          </a:p>
        </p:txBody>
      </p:sp>
      <p:sp>
        <p:nvSpPr>
          <p:cNvPr id="65" name="TextBox 64">
            <a:extLst>
              <a:ext uri="{FF2B5EF4-FFF2-40B4-BE49-F238E27FC236}">
                <a16:creationId xmlns:a16="http://schemas.microsoft.com/office/drawing/2014/main" id="{B436F2CC-AEC2-4A01-B737-605B62242665}"/>
              </a:ext>
            </a:extLst>
          </p:cNvPr>
          <p:cNvSpPr txBox="1"/>
          <p:nvPr/>
        </p:nvSpPr>
        <p:spPr>
          <a:xfrm>
            <a:off x="3189942" y="4689237"/>
            <a:ext cx="5215464" cy="261610"/>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0    1    2    3    4    5</a:t>
            </a:r>
          </a:p>
        </p:txBody>
      </p:sp>
      <p:sp>
        <p:nvSpPr>
          <p:cNvPr id="66" name="TextBox 65">
            <a:extLst>
              <a:ext uri="{FF2B5EF4-FFF2-40B4-BE49-F238E27FC236}">
                <a16:creationId xmlns:a16="http://schemas.microsoft.com/office/drawing/2014/main" id="{415DC4ED-E3C1-49DE-99EC-1169BC25689E}"/>
              </a:ext>
              <a:ext uri="{C183D7F6-B498-43B3-948B-1728B52AA6E4}">
                <adec:decorative xmlns:adec="http://schemas.microsoft.com/office/drawing/2017/decorative" val="1"/>
              </a:ext>
            </a:extLst>
          </p:cNvPr>
          <p:cNvSpPr txBox="1"/>
          <p:nvPr/>
        </p:nvSpPr>
        <p:spPr>
          <a:xfrm>
            <a:off x="2654907" y="4399888"/>
            <a:ext cx="47312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G</a:t>
            </a:r>
          </a:p>
        </p:txBody>
      </p:sp>
      <p:sp>
        <p:nvSpPr>
          <p:cNvPr id="42" name="TextBox 41">
            <a:extLst>
              <a:ext uri="{FF2B5EF4-FFF2-40B4-BE49-F238E27FC236}">
                <a16:creationId xmlns:a16="http://schemas.microsoft.com/office/drawing/2014/main" id="{78CB46C6-274C-4BCD-9612-914673F9C75B}"/>
              </a:ext>
            </a:extLst>
          </p:cNvPr>
          <p:cNvSpPr txBox="1"/>
          <p:nvPr/>
        </p:nvSpPr>
        <p:spPr>
          <a:xfrm>
            <a:off x="7634911" y="2779133"/>
            <a:ext cx="289825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BR"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G[“A”][“B”] ~ O(1)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endParaRPr>
          </a:p>
        </p:txBody>
      </p:sp>
      <p:sp>
        <p:nvSpPr>
          <p:cNvPr id="43" name="TextBox 42">
            <a:extLst>
              <a:ext uri="{FF2B5EF4-FFF2-40B4-BE49-F238E27FC236}">
                <a16:creationId xmlns:a16="http://schemas.microsoft.com/office/drawing/2014/main" id="{670C61EC-F2C1-408D-9422-0139CC39AB1E}"/>
              </a:ext>
            </a:extLst>
          </p:cNvPr>
          <p:cNvSpPr txBox="1"/>
          <p:nvPr/>
        </p:nvSpPr>
        <p:spPr>
          <a:xfrm>
            <a:off x="7174523" y="4552747"/>
            <a:ext cx="4179277"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for each element x in G[“A”]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    if x ! = 0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 O(|V|)</a:t>
            </a:r>
          </a:p>
        </p:txBody>
      </p:sp>
    </p:spTree>
    <p:extLst>
      <p:ext uri="{BB962C8B-B14F-4D97-AF65-F5344CB8AC3E}">
        <p14:creationId xmlns:p14="http://schemas.microsoft.com/office/powerpoint/2010/main" val="1060641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r>
              <a:rPr lang="en-US" dirty="0">
                <a:solidFill>
                  <a:schemeClr val="bg1"/>
                </a:solidFill>
                <a:latin typeface="Gotham Bold" pitchFamily="50" charset="0"/>
              </a:rPr>
              <a:t>Adjacency List</a:t>
            </a:r>
          </a:p>
        </p:txBody>
      </p:sp>
      <p:grpSp>
        <p:nvGrpSpPr>
          <p:cNvPr id="37" name="Group 36">
            <a:extLst>
              <a:ext uri="{FF2B5EF4-FFF2-40B4-BE49-F238E27FC236}">
                <a16:creationId xmlns:a16="http://schemas.microsoft.com/office/drawing/2014/main" id="{A919DB6E-AAFF-4E6A-8911-CA54F97B5798}"/>
              </a:ext>
            </a:extLst>
          </p:cNvPr>
          <p:cNvGrpSpPr/>
          <p:nvPr/>
        </p:nvGrpSpPr>
        <p:grpSpPr>
          <a:xfrm>
            <a:off x="6287080" y="1221769"/>
            <a:ext cx="5593921" cy="5078313"/>
            <a:chOff x="5545667" y="1320484"/>
            <a:chExt cx="4195441" cy="3808735"/>
          </a:xfrm>
        </p:grpSpPr>
        <p:sp>
          <p:nvSpPr>
            <p:cNvPr id="38" name="TextBox 37">
              <a:extLst>
                <a:ext uri="{FF2B5EF4-FFF2-40B4-BE49-F238E27FC236}">
                  <a16:creationId xmlns:a16="http://schemas.microsoft.com/office/drawing/2014/main" id="{3BDEF5CC-ED2F-458A-8B64-75BF78C8A2F9}"/>
                </a:ext>
              </a:extLst>
            </p:cNvPr>
            <p:cNvSpPr txBox="1"/>
            <p:nvPr/>
          </p:nvSpPr>
          <p:spPr>
            <a:xfrm>
              <a:off x="5545667" y="1320484"/>
              <a:ext cx="4195441" cy="380873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Common Operations: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Connectedness</a:t>
              </a: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Adjacency</a:t>
              </a: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457189"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Space: </a:t>
              </a:r>
              <a:r>
                <a:rPr kumimoji="0" lang="en-US"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O(|V| + |E|)</a:t>
              </a:r>
              <a:endPar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p:txBody>
        </p:sp>
        <p:sp>
          <p:nvSpPr>
            <p:cNvPr id="39" name="TextBox 38">
              <a:extLst>
                <a:ext uri="{FF2B5EF4-FFF2-40B4-BE49-F238E27FC236}">
                  <a16:creationId xmlns:a16="http://schemas.microsoft.com/office/drawing/2014/main" id="{F1DC5009-7532-4DE4-925F-D8CF2E02CE67}"/>
                </a:ext>
              </a:extLst>
            </p:cNvPr>
            <p:cNvSpPr txBox="1"/>
            <p:nvPr/>
          </p:nvSpPr>
          <p:spPr>
            <a:xfrm>
              <a:off x="6417280" y="2171442"/>
              <a:ext cx="2173694" cy="27699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Is A connected to B?</a:t>
              </a:r>
            </a:p>
          </p:txBody>
        </p:sp>
        <p:sp>
          <p:nvSpPr>
            <p:cNvPr id="40" name="TextBox 39">
              <a:extLst>
                <a:ext uri="{FF2B5EF4-FFF2-40B4-BE49-F238E27FC236}">
                  <a16:creationId xmlns:a16="http://schemas.microsoft.com/office/drawing/2014/main" id="{16C31E14-49DE-4AFC-BFD2-E4F3051C335A}"/>
                </a:ext>
              </a:extLst>
            </p:cNvPr>
            <p:cNvSpPr txBox="1"/>
            <p:nvPr/>
          </p:nvSpPr>
          <p:spPr>
            <a:xfrm>
              <a:off x="6335596" y="3446719"/>
              <a:ext cx="3213179" cy="276999"/>
            </a:xfrm>
            <a:prstGeom prst="rect">
              <a:avLst/>
            </a:prstGeom>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What are A’s adjacent nodes?</a:t>
              </a:r>
            </a:p>
          </p:txBody>
        </p:sp>
        <p:sp>
          <p:nvSpPr>
            <p:cNvPr id="41" name="TextBox 40">
              <a:extLst>
                <a:ext uri="{FF2B5EF4-FFF2-40B4-BE49-F238E27FC236}">
                  <a16:creationId xmlns:a16="http://schemas.microsoft.com/office/drawing/2014/main" id="{980C47BB-5DA6-4A91-AFF8-59C5968F80C9}"/>
                </a:ext>
              </a:extLst>
            </p:cNvPr>
            <p:cNvSpPr txBox="1"/>
            <p:nvPr/>
          </p:nvSpPr>
          <p:spPr>
            <a:xfrm>
              <a:off x="6556540" y="2488507"/>
              <a:ext cx="2173694" cy="34624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2060"/>
                  </a:solidFill>
                  <a:effectLst/>
                  <a:uLnTx/>
                  <a:uFillTx/>
                  <a:latin typeface="Calibri" panose="020F0502020204030204"/>
                  <a:ea typeface="+mn-ea"/>
                  <a:cs typeface="+mn-cs"/>
                </a:rPr>
                <a:t>	</a:t>
              </a:r>
            </a:p>
          </p:txBody>
        </p:sp>
      </p:grpSp>
      <p:grpSp>
        <p:nvGrpSpPr>
          <p:cNvPr id="34" name="Group 33">
            <a:extLst>
              <a:ext uri="{FF2B5EF4-FFF2-40B4-BE49-F238E27FC236}">
                <a16:creationId xmlns:a16="http://schemas.microsoft.com/office/drawing/2014/main" id="{04335961-062C-42A4-9035-DFBBDD365146}"/>
              </a:ext>
              <a:ext uri="{C183D7F6-B498-43B3-948B-1728B52AA6E4}">
                <adec:decorative xmlns:adec="http://schemas.microsoft.com/office/drawing/2017/decorative" val="1"/>
              </a:ext>
            </a:extLst>
          </p:cNvPr>
          <p:cNvGrpSpPr/>
          <p:nvPr/>
        </p:nvGrpSpPr>
        <p:grpSpPr>
          <a:xfrm>
            <a:off x="1073430" y="1926737"/>
            <a:ext cx="3162953" cy="2167861"/>
            <a:chOff x="5833534" y="912535"/>
            <a:chExt cx="3162953" cy="2167861"/>
          </a:xfrm>
        </p:grpSpPr>
        <p:sp>
          <p:nvSpPr>
            <p:cNvPr id="35" name="Oval 34">
              <a:extLst>
                <a:ext uri="{FF2B5EF4-FFF2-40B4-BE49-F238E27FC236}">
                  <a16:creationId xmlns:a16="http://schemas.microsoft.com/office/drawing/2014/main" id="{044F0631-243A-4198-B90D-82DA0D59B229}"/>
                </a:ext>
              </a:extLst>
            </p:cNvPr>
            <p:cNvSpPr/>
            <p:nvPr/>
          </p:nvSpPr>
          <p:spPr>
            <a:xfrm>
              <a:off x="6536268" y="1312313"/>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B</a:t>
              </a:r>
            </a:p>
          </p:txBody>
        </p:sp>
        <p:sp>
          <p:nvSpPr>
            <p:cNvPr id="36" name="Oval 35">
              <a:extLst>
                <a:ext uri="{FF2B5EF4-FFF2-40B4-BE49-F238E27FC236}">
                  <a16:creationId xmlns:a16="http://schemas.microsoft.com/office/drawing/2014/main" id="{F038A36F-1C25-47A4-9654-E37D21B32638}"/>
                </a:ext>
              </a:extLst>
            </p:cNvPr>
            <p:cNvSpPr/>
            <p:nvPr/>
          </p:nvSpPr>
          <p:spPr>
            <a:xfrm>
              <a:off x="5833534" y="212936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a:t>
              </a:r>
            </a:p>
          </p:txBody>
        </p:sp>
        <p:sp>
          <p:nvSpPr>
            <p:cNvPr id="44" name="Oval 43">
              <a:extLst>
                <a:ext uri="{FF2B5EF4-FFF2-40B4-BE49-F238E27FC236}">
                  <a16:creationId xmlns:a16="http://schemas.microsoft.com/office/drawing/2014/main" id="{AC42FE08-972C-49C1-AA29-0892FB28D20E}"/>
                </a:ext>
              </a:extLst>
            </p:cNvPr>
            <p:cNvSpPr/>
            <p:nvPr/>
          </p:nvSpPr>
          <p:spPr>
            <a:xfrm>
              <a:off x="7958667" y="225001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E</a:t>
              </a:r>
            </a:p>
          </p:txBody>
        </p:sp>
        <p:sp>
          <p:nvSpPr>
            <p:cNvPr id="45" name="Oval 44">
              <a:extLst>
                <a:ext uri="{FF2B5EF4-FFF2-40B4-BE49-F238E27FC236}">
                  <a16:creationId xmlns:a16="http://schemas.microsoft.com/office/drawing/2014/main" id="{40E27F6A-12D0-4092-958E-4F82BF94EA72}"/>
                </a:ext>
              </a:extLst>
            </p:cNvPr>
            <p:cNvSpPr/>
            <p:nvPr/>
          </p:nvSpPr>
          <p:spPr>
            <a:xfrm>
              <a:off x="8538841" y="136004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F</a:t>
              </a:r>
            </a:p>
          </p:txBody>
        </p:sp>
        <p:sp>
          <p:nvSpPr>
            <p:cNvPr id="46" name="Oval 45">
              <a:extLst>
                <a:ext uri="{FF2B5EF4-FFF2-40B4-BE49-F238E27FC236}">
                  <a16:creationId xmlns:a16="http://schemas.microsoft.com/office/drawing/2014/main" id="{36B89A17-A905-49AA-A9FB-9BA39D1F5B65}"/>
                </a:ext>
              </a:extLst>
            </p:cNvPr>
            <p:cNvSpPr/>
            <p:nvPr/>
          </p:nvSpPr>
          <p:spPr>
            <a:xfrm>
              <a:off x="6807200" y="2607188"/>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a:t>
              </a:r>
            </a:p>
          </p:txBody>
        </p:sp>
        <p:sp>
          <p:nvSpPr>
            <p:cNvPr id="47" name="Oval 46">
              <a:extLst>
                <a:ext uri="{FF2B5EF4-FFF2-40B4-BE49-F238E27FC236}">
                  <a16:creationId xmlns:a16="http://schemas.microsoft.com/office/drawing/2014/main" id="{C1CC2B8C-A9D0-4EF5-B083-E2823F40108B}"/>
                </a:ext>
              </a:extLst>
            </p:cNvPr>
            <p:cNvSpPr/>
            <p:nvPr/>
          </p:nvSpPr>
          <p:spPr>
            <a:xfrm>
              <a:off x="7703887" y="912535"/>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D</a:t>
              </a:r>
            </a:p>
          </p:txBody>
        </p:sp>
        <p:cxnSp>
          <p:nvCxnSpPr>
            <p:cNvPr id="48" name="Straight Arrow Connector 47">
              <a:extLst>
                <a:ext uri="{FF2B5EF4-FFF2-40B4-BE49-F238E27FC236}">
                  <a16:creationId xmlns:a16="http://schemas.microsoft.com/office/drawing/2014/main" id="{76FC47E0-4020-4246-8C8F-A19F1F25A0C7}"/>
                </a:ext>
              </a:extLst>
            </p:cNvPr>
            <p:cNvCxnSpPr>
              <a:cxnSpLocks/>
              <a:stCxn id="36" idx="7"/>
              <a:endCxn id="35" idx="3"/>
            </p:cNvCxnSpPr>
            <p:nvPr/>
          </p:nvCxnSpPr>
          <p:spPr>
            <a:xfrm flipV="1">
              <a:off x="6223779" y="1702558"/>
              <a:ext cx="379444" cy="493763"/>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9CA99130-EAF6-4B9E-B477-1B3EF18A223F}"/>
                </a:ext>
              </a:extLst>
            </p:cNvPr>
            <p:cNvCxnSpPr>
              <a:cxnSpLocks/>
            </p:cNvCxnSpPr>
            <p:nvPr/>
          </p:nvCxnSpPr>
          <p:spPr>
            <a:xfrm flipV="1">
              <a:off x="8291203" y="1769513"/>
              <a:ext cx="379444" cy="493763"/>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F707C511-1872-4769-B140-62DF7474610E}"/>
                </a:ext>
              </a:extLst>
            </p:cNvPr>
            <p:cNvCxnSpPr>
              <a:cxnSpLocks/>
              <a:endCxn id="46" idx="0"/>
            </p:cNvCxnSpPr>
            <p:nvPr/>
          </p:nvCxnSpPr>
          <p:spPr>
            <a:xfrm flipH="1">
              <a:off x="7035800" y="1360046"/>
              <a:ext cx="803322" cy="1247142"/>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0DCADFB2-E90D-4D4B-8F3B-28115CC90A2F}"/>
                </a:ext>
              </a:extLst>
            </p:cNvPr>
            <p:cNvCxnSpPr>
              <a:cxnSpLocks/>
              <a:endCxn id="44" idx="2"/>
            </p:cNvCxnSpPr>
            <p:nvPr/>
          </p:nvCxnSpPr>
          <p:spPr>
            <a:xfrm flipV="1">
              <a:off x="7274425" y="2478616"/>
              <a:ext cx="684242" cy="365146"/>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37FB9402-B3C0-4281-92A5-D608707BA696}"/>
                </a:ext>
              </a:extLst>
            </p:cNvPr>
            <p:cNvCxnSpPr>
              <a:cxnSpLocks/>
              <a:endCxn id="47" idx="1"/>
            </p:cNvCxnSpPr>
            <p:nvPr/>
          </p:nvCxnSpPr>
          <p:spPr>
            <a:xfrm flipV="1">
              <a:off x="6977767" y="979490"/>
              <a:ext cx="793075" cy="432092"/>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0D561D0C-C40D-4469-BFD5-9E72386F71EF}"/>
                </a:ext>
              </a:extLst>
            </p:cNvPr>
            <p:cNvCxnSpPr>
              <a:cxnSpLocks/>
              <a:endCxn id="45" idx="1"/>
            </p:cNvCxnSpPr>
            <p:nvPr/>
          </p:nvCxnSpPr>
          <p:spPr>
            <a:xfrm>
              <a:off x="8142303" y="1208081"/>
              <a:ext cx="463493" cy="218920"/>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71EB554-827C-4D62-BCFD-E3FF5AC42282}"/>
                </a:ext>
              </a:extLst>
            </p:cNvPr>
            <p:cNvCxnSpPr>
              <a:cxnSpLocks/>
              <a:endCxn id="46" idx="1"/>
            </p:cNvCxnSpPr>
            <p:nvPr/>
          </p:nvCxnSpPr>
          <p:spPr>
            <a:xfrm>
              <a:off x="6255996" y="2478616"/>
              <a:ext cx="618159" cy="195527"/>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C7BFE685-F9FF-415E-BB03-905C7B556783}"/>
                </a:ext>
              </a:extLst>
            </p:cNvPr>
            <p:cNvSpPr txBox="1"/>
            <p:nvPr/>
          </p:nvSpPr>
          <p:spPr>
            <a:xfrm>
              <a:off x="6082133" y="1724871"/>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10</a:t>
              </a:r>
            </a:p>
          </p:txBody>
        </p:sp>
        <p:sp>
          <p:nvSpPr>
            <p:cNvPr id="56" name="TextBox 55">
              <a:extLst>
                <a:ext uri="{FF2B5EF4-FFF2-40B4-BE49-F238E27FC236}">
                  <a16:creationId xmlns:a16="http://schemas.microsoft.com/office/drawing/2014/main" id="{93C58483-0FA6-4CA1-A87F-199C2A41ABBD}"/>
                </a:ext>
              </a:extLst>
            </p:cNvPr>
            <p:cNvSpPr txBox="1"/>
            <p:nvPr/>
          </p:nvSpPr>
          <p:spPr>
            <a:xfrm>
              <a:off x="6933393" y="1004536"/>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60</a:t>
              </a:r>
            </a:p>
          </p:txBody>
        </p:sp>
        <p:sp>
          <p:nvSpPr>
            <p:cNvPr id="57" name="TextBox 56">
              <a:extLst>
                <a:ext uri="{FF2B5EF4-FFF2-40B4-BE49-F238E27FC236}">
                  <a16:creationId xmlns:a16="http://schemas.microsoft.com/office/drawing/2014/main" id="{1A6D7584-F1D3-4C1F-8512-A2A5B60A1DA6}"/>
                </a:ext>
              </a:extLst>
            </p:cNvPr>
            <p:cNvSpPr txBox="1"/>
            <p:nvPr/>
          </p:nvSpPr>
          <p:spPr>
            <a:xfrm>
              <a:off x="8212341" y="972508"/>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80</a:t>
              </a:r>
            </a:p>
          </p:txBody>
        </p:sp>
        <p:sp>
          <p:nvSpPr>
            <p:cNvPr id="58" name="TextBox 57">
              <a:extLst>
                <a:ext uri="{FF2B5EF4-FFF2-40B4-BE49-F238E27FC236}">
                  <a16:creationId xmlns:a16="http://schemas.microsoft.com/office/drawing/2014/main" id="{CC91A967-130F-44F1-BC98-7534017D97CE}"/>
                </a:ext>
              </a:extLst>
            </p:cNvPr>
            <p:cNvSpPr txBox="1"/>
            <p:nvPr/>
          </p:nvSpPr>
          <p:spPr>
            <a:xfrm>
              <a:off x="7484208" y="2711064"/>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5</a:t>
              </a:r>
            </a:p>
          </p:txBody>
        </p:sp>
        <p:sp>
          <p:nvSpPr>
            <p:cNvPr id="59" name="TextBox 58">
              <a:extLst>
                <a:ext uri="{FF2B5EF4-FFF2-40B4-BE49-F238E27FC236}">
                  <a16:creationId xmlns:a16="http://schemas.microsoft.com/office/drawing/2014/main" id="{742C78DA-D0F4-4CF3-96FD-DBEB068EA26D}"/>
                </a:ext>
              </a:extLst>
            </p:cNvPr>
            <p:cNvSpPr txBox="1"/>
            <p:nvPr/>
          </p:nvSpPr>
          <p:spPr>
            <a:xfrm>
              <a:off x="7035259" y="1653656"/>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40</a:t>
              </a:r>
            </a:p>
          </p:txBody>
        </p:sp>
        <p:sp>
          <p:nvSpPr>
            <p:cNvPr id="60" name="TextBox 59">
              <a:extLst>
                <a:ext uri="{FF2B5EF4-FFF2-40B4-BE49-F238E27FC236}">
                  <a16:creationId xmlns:a16="http://schemas.microsoft.com/office/drawing/2014/main" id="{FA0EC9E6-8533-4DD0-A4C5-14FC889E1B52}"/>
                </a:ext>
              </a:extLst>
            </p:cNvPr>
            <p:cNvSpPr txBox="1"/>
            <p:nvPr/>
          </p:nvSpPr>
          <p:spPr>
            <a:xfrm>
              <a:off x="8523364" y="2005869"/>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50</a:t>
              </a:r>
            </a:p>
          </p:txBody>
        </p:sp>
        <p:sp>
          <p:nvSpPr>
            <p:cNvPr id="61" name="TextBox 60">
              <a:extLst>
                <a:ext uri="{FF2B5EF4-FFF2-40B4-BE49-F238E27FC236}">
                  <a16:creationId xmlns:a16="http://schemas.microsoft.com/office/drawing/2014/main" id="{5C4A49B7-5002-4FB8-9BDE-E154CA87300C}"/>
                </a:ext>
              </a:extLst>
            </p:cNvPr>
            <p:cNvSpPr txBox="1"/>
            <p:nvPr/>
          </p:nvSpPr>
          <p:spPr>
            <a:xfrm>
              <a:off x="6234270" y="2648661"/>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15</a:t>
              </a:r>
            </a:p>
          </p:txBody>
        </p:sp>
      </p:grpSp>
      <p:sp>
        <p:nvSpPr>
          <p:cNvPr id="66" name="TextBox 65">
            <a:extLst>
              <a:ext uri="{FF2B5EF4-FFF2-40B4-BE49-F238E27FC236}">
                <a16:creationId xmlns:a16="http://schemas.microsoft.com/office/drawing/2014/main" id="{415DC4ED-E3C1-49DE-99EC-1169BC25689E}"/>
              </a:ext>
              <a:ext uri="{C183D7F6-B498-43B3-948B-1728B52AA6E4}">
                <adec:decorative xmlns:adec="http://schemas.microsoft.com/office/drawing/2017/decorative" val="1"/>
              </a:ext>
            </a:extLst>
          </p:cNvPr>
          <p:cNvSpPr txBox="1"/>
          <p:nvPr/>
        </p:nvSpPr>
        <p:spPr>
          <a:xfrm>
            <a:off x="2654907" y="4399888"/>
            <a:ext cx="47312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G</a:t>
            </a:r>
          </a:p>
        </p:txBody>
      </p:sp>
      <p:sp>
        <p:nvSpPr>
          <p:cNvPr id="42" name="TextBox 41">
            <a:extLst>
              <a:ext uri="{FF2B5EF4-FFF2-40B4-BE49-F238E27FC236}">
                <a16:creationId xmlns:a16="http://schemas.microsoft.com/office/drawing/2014/main" id="{78CB46C6-274C-4BCD-9612-914673F9C75B}"/>
              </a:ext>
            </a:extLst>
          </p:cNvPr>
          <p:cNvSpPr txBox="1"/>
          <p:nvPr/>
        </p:nvSpPr>
        <p:spPr>
          <a:xfrm>
            <a:off x="7245465" y="2690336"/>
            <a:ext cx="3718355"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for each element x in G[“A”]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    if x ! = ‘B’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 O(</a:t>
            </a:r>
            <a:r>
              <a:rPr kumimoji="0" lang="en-US" sz="1800" b="1" i="0" u="none" strike="noStrike" kern="1200" cap="none" spc="0" normalizeH="0" baseline="0" noProof="0" dirty="0" err="1">
                <a:ln>
                  <a:noFill/>
                </a:ln>
                <a:solidFill>
                  <a:srgbClr val="00DA63"/>
                </a:solidFill>
                <a:effectLst/>
                <a:uLnTx/>
                <a:uFillTx/>
                <a:latin typeface="Consolas" panose="020B0609020204030204" pitchFamily="49" charset="0"/>
                <a:ea typeface="+mn-ea"/>
                <a:cs typeface="+mn-cs"/>
              </a:rPr>
              <a:t>outdegree|V</a:t>
            </a:r>
            <a:r>
              <a:rPr kumimoji="0" lang="en-US"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endParaRPr>
          </a:p>
        </p:txBody>
      </p:sp>
      <p:sp>
        <p:nvSpPr>
          <p:cNvPr id="43" name="TextBox 42">
            <a:extLst>
              <a:ext uri="{FF2B5EF4-FFF2-40B4-BE49-F238E27FC236}">
                <a16:creationId xmlns:a16="http://schemas.microsoft.com/office/drawing/2014/main" id="{670C61EC-F2C1-408D-9422-0139CC39AB1E}"/>
              </a:ext>
            </a:extLst>
          </p:cNvPr>
          <p:cNvSpPr txBox="1"/>
          <p:nvPr/>
        </p:nvSpPr>
        <p:spPr>
          <a:xfrm>
            <a:off x="7174523" y="4552747"/>
            <a:ext cx="417927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G[“A”] ~ O(</a:t>
            </a:r>
            <a:r>
              <a:rPr kumimoji="0" lang="en-US" sz="1800" b="1" i="0" u="none" strike="noStrike" kern="1200" cap="none" spc="0" normalizeH="0" baseline="0" noProof="0" dirty="0" err="1">
                <a:ln>
                  <a:noFill/>
                </a:ln>
                <a:solidFill>
                  <a:srgbClr val="00DA63"/>
                </a:solidFill>
                <a:effectLst/>
                <a:uLnTx/>
                <a:uFillTx/>
                <a:latin typeface="Consolas" panose="020B0609020204030204" pitchFamily="49" charset="0"/>
                <a:ea typeface="+mn-ea"/>
                <a:cs typeface="+mn-cs"/>
              </a:rPr>
              <a:t>outdegree|V</a:t>
            </a:r>
            <a:r>
              <a:rPr kumimoji="0" lang="en-US"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a:t>
            </a:r>
          </a:p>
        </p:txBody>
      </p:sp>
      <p:graphicFrame>
        <p:nvGraphicFramePr>
          <p:cNvPr id="67" name="Table 37">
            <a:extLst>
              <a:ext uri="{FF2B5EF4-FFF2-40B4-BE49-F238E27FC236}">
                <a16:creationId xmlns:a16="http://schemas.microsoft.com/office/drawing/2014/main" id="{A4289728-3633-46BE-A08C-76DBE1CF0B02}"/>
              </a:ext>
            </a:extLst>
          </p:cNvPr>
          <p:cNvGraphicFramePr>
            <a:graphicFrameLocks noGrp="1"/>
          </p:cNvGraphicFramePr>
          <p:nvPr/>
        </p:nvGraphicFramePr>
        <p:xfrm>
          <a:off x="3079018" y="4559398"/>
          <a:ext cx="3640395" cy="2107254"/>
        </p:xfrm>
        <a:graphic>
          <a:graphicData uri="http://schemas.openxmlformats.org/drawingml/2006/table">
            <a:tbl>
              <a:tblPr firstRow="1" bandRow="1"/>
              <a:tblGrid>
                <a:gridCol w="515215">
                  <a:extLst>
                    <a:ext uri="{9D8B030D-6E8A-4147-A177-3AD203B41FA5}">
                      <a16:colId xmlns:a16="http://schemas.microsoft.com/office/drawing/2014/main" val="3058908672"/>
                    </a:ext>
                  </a:extLst>
                </a:gridCol>
                <a:gridCol w="515215">
                  <a:extLst>
                    <a:ext uri="{9D8B030D-6E8A-4147-A177-3AD203B41FA5}">
                      <a16:colId xmlns:a16="http://schemas.microsoft.com/office/drawing/2014/main" val="3195872750"/>
                    </a:ext>
                  </a:extLst>
                </a:gridCol>
                <a:gridCol w="521993">
                  <a:extLst>
                    <a:ext uri="{9D8B030D-6E8A-4147-A177-3AD203B41FA5}">
                      <a16:colId xmlns:a16="http://schemas.microsoft.com/office/drawing/2014/main" val="2537297066"/>
                    </a:ext>
                  </a:extLst>
                </a:gridCol>
                <a:gridCol w="282203">
                  <a:extLst>
                    <a:ext uri="{9D8B030D-6E8A-4147-A177-3AD203B41FA5}">
                      <a16:colId xmlns:a16="http://schemas.microsoft.com/office/drawing/2014/main" val="989015309"/>
                    </a:ext>
                  </a:extLst>
                </a:gridCol>
                <a:gridCol w="602901">
                  <a:extLst>
                    <a:ext uri="{9D8B030D-6E8A-4147-A177-3AD203B41FA5}">
                      <a16:colId xmlns:a16="http://schemas.microsoft.com/office/drawing/2014/main" val="259513047"/>
                    </a:ext>
                  </a:extLst>
                </a:gridCol>
                <a:gridCol w="680875">
                  <a:extLst>
                    <a:ext uri="{9D8B030D-6E8A-4147-A177-3AD203B41FA5}">
                      <a16:colId xmlns:a16="http://schemas.microsoft.com/office/drawing/2014/main" val="1504135409"/>
                    </a:ext>
                  </a:extLst>
                </a:gridCol>
                <a:gridCol w="521993">
                  <a:extLst>
                    <a:ext uri="{9D8B030D-6E8A-4147-A177-3AD203B41FA5}">
                      <a16:colId xmlns:a16="http://schemas.microsoft.com/office/drawing/2014/main" val="4151598922"/>
                    </a:ext>
                  </a:extLst>
                </a:gridCol>
              </a:tblGrid>
              <a:tr h="351209">
                <a:tc>
                  <a:txBody>
                    <a:bodyPr/>
                    <a:lstStyle/>
                    <a:p>
                      <a:pPr algn="ctr"/>
                      <a:r>
                        <a:rPr lang="en-US" sz="1400" dirty="0">
                          <a:solidFill>
                            <a:srgbClr val="0081E2"/>
                          </a:solidFill>
                        </a:rPr>
                        <a:t>A</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B</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10</a:t>
                      </a:r>
                    </a:p>
                  </a:txBody>
                  <a:tcPr marL="121920" marR="121920" marT="60960" marB="60960">
                    <a:lnL w="12700" cmpd="sng">
                      <a:noFill/>
                      <a:prstDash val="soli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C</a:t>
                      </a:r>
                    </a:p>
                  </a:txBody>
                  <a:tcPr marL="121920" marR="121920" marT="60960" marB="60960">
                    <a:lnL w="1270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l"/>
                      <a:r>
                        <a:rPr lang="en-US" sz="1400" dirty="0">
                          <a:solidFill>
                            <a:srgbClr val="0081E2"/>
                          </a:solidFill>
                        </a:rPr>
                        <a:t>15</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334001219"/>
                  </a:ext>
                </a:extLst>
              </a:tr>
              <a:tr h="351209">
                <a:tc>
                  <a:txBody>
                    <a:bodyPr/>
                    <a:lstStyle/>
                    <a:p>
                      <a:pPr algn="ctr"/>
                      <a:r>
                        <a:rPr lang="en-US" sz="1400" dirty="0">
                          <a:solidFill>
                            <a:srgbClr val="0081E2"/>
                          </a:solidFill>
                        </a:rPr>
                        <a:t>B</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D</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60</a:t>
                      </a:r>
                    </a:p>
                  </a:txBody>
                  <a:tcPr marL="121920" marR="121920" marT="60960" marB="60960">
                    <a:lnL w="12700" cmpd="sng">
                      <a:noFill/>
                      <a:prstDash val="soli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354054619"/>
                  </a:ext>
                </a:extLst>
              </a:tr>
              <a:tr h="351209">
                <a:tc>
                  <a:txBody>
                    <a:bodyPr/>
                    <a:lstStyle/>
                    <a:p>
                      <a:pPr algn="ctr"/>
                      <a:r>
                        <a:rPr lang="en-US" sz="1400" dirty="0">
                          <a:solidFill>
                            <a:srgbClr val="0081E2"/>
                          </a:solidFill>
                        </a:rPr>
                        <a:t>C</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E</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5</a:t>
                      </a:r>
                    </a:p>
                  </a:txBody>
                  <a:tcPr marL="121920" marR="121920" marT="60960" marB="60960">
                    <a:lnL w="12700" cmpd="sng">
                      <a:noFill/>
                      <a:prstDash val="soli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535969509"/>
                  </a:ext>
                </a:extLst>
              </a:tr>
              <a:tr h="351209">
                <a:tc>
                  <a:txBody>
                    <a:bodyPr/>
                    <a:lstStyle/>
                    <a:p>
                      <a:pPr algn="ctr"/>
                      <a:r>
                        <a:rPr lang="en-US" sz="1400" dirty="0">
                          <a:solidFill>
                            <a:srgbClr val="0081E2"/>
                          </a:solidFill>
                        </a:rPr>
                        <a:t>D</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C</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40</a:t>
                      </a:r>
                    </a:p>
                  </a:txBody>
                  <a:tcPr marL="121920" marR="121920" marT="60960" marB="60960">
                    <a:lnL w="12700" cmpd="sng">
                      <a:noFill/>
                      <a:prstDash val="soli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F</a:t>
                      </a:r>
                    </a:p>
                  </a:txBody>
                  <a:tcPr marL="121920" marR="121920" marT="60960" marB="60960">
                    <a:lnL w="1270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l"/>
                      <a:r>
                        <a:rPr lang="en-US" sz="1400" dirty="0">
                          <a:solidFill>
                            <a:srgbClr val="0081E2"/>
                          </a:solidFill>
                        </a:rPr>
                        <a:t>80</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691306843"/>
                  </a:ext>
                </a:extLst>
              </a:tr>
              <a:tr h="351209">
                <a:tc>
                  <a:txBody>
                    <a:bodyPr/>
                    <a:lstStyle/>
                    <a:p>
                      <a:pPr algn="ctr"/>
                      <a:r>
                        <a:rPr lang="en-US" sz="1400" dirty="0">
                          <a:solidFill>
                            <a:srgbClr val="0081E2"/>
                          </a:solidFill>
                        </a:rPr>
                        <a:t>E</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F</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50</a:t>
                      </a:r>
                    </a:p>
                  </a:txBody>
                  <a:tcPr marL="121920" marR="121920" marT="60960" marB="60960">
                    <a:lnL w="12700" cmpd="sng">
                      <a:noFill/>
                      <a:prstDash val="soli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878904023"/>
                  </a:ext>
                </a:extLst>
              </a:tr>
              <a:tr h="351209">
                <a:tc>
                  <a:txBody>
                    <a:bodyPr/>
                    <a:lstStyle/>
                    <a:p>
                      <a:pPr algn="ctr"/>
                      <a:r>
                        <a:rPr lang="en-US" sz="1400" dirty="0">
                          <a:solidFill>
                            <a:srgbClr val="0081E2"/>
                          </a:solidFill>
                        </a:rPr>
                        <a:t>F</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mpd="sng">
                      <a:noFill/>
                      <a:prstDash val="soli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676283760"/>
                  </a:ext>
                </a:extLst>
              </a:tr>
            </a:tbl>
          </a:graphicData>
        </a:graphic>
      </p:graphicFrame>
      <p:grpSp>
        <p:nvGrpSpPr>
          <p:cNvPr id="68" name="Group 67">
            <a:extLst>
              <a:ext uri="{FF2B5EF4-FFF2-40B4-BE49-F238E27FC236}">
                <a16:creationId xmlns:a16="http://schemas.microsoft.com/office/drawing/2014/main" id="{AA6AFBF8-00F0-46A3-9AC8-58BBC20AF3C9}"/>
              </a:ext>
            </a:extLst>
          </p:cNvPr>
          <p:cNvGrpSpPr/>
          <p:nvPr/>
        </p:nvGrpSpPr>
        <p:grpSpPr>
          <a:xfrm>
            <a:off x="3579028" y="4601699"/>
            <a:ext cx="2310322" cy="1992622"/>
            <a:chOff x="7086114" y="1474965"/>
            <a:chExt cx="3779391" cy="2882654"/>
          </a:xfrm>
        </p:grpSpPr>
        <p:sp>
          <p:nvSpPr>
            <p:cNvPr id="69" name="Rectangle 68">
              <a:extLst>
                <a:ext uri="{FF2B5EF4-FFF2-40B4-BE49-F238E27FC236}">
                  <a16:creationId xmlns:a16="http://schemas.microsoft.com/office/drawing/2014/main" id="{F800D020-14FB-46EE-8622-3FE1A98424C6}"/>
                </a:ext>
              </a:extLst>
            </p:cNvPr>
            <p:cNvSpPr/>
            <p:nvPr/>
          </p:nvSpPr>
          <p:spPr>
            <a:xfrm>
              <a:off x="7362692" y="1474965"/>
              <a:ext cx="1286933" cy="45777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81E2"/>
                </a:solidFill>
                <a:effectLst/>
                <a:uLnTx/>
                <a:uFillTx/>
                <a:latin typeface="Calibri" panose="020F0502020204030204"/>
                <a:ea typeface="+mn-ea"/>
                <a:cs typeface="+mn-cs"/>
              </a:endParaRPr>
            </a:p>
          </p:txBody>
        </p:sp>
        <p:cxnSp>
          <p:nvCxnSpPr>
            <p:cNvPr id="70" name="Straight Connector 69">
              <a:extLst>
                <a:ext uri="{FF2B5EF4-FFF2-40B4-BE49-F238E27FC236}">
                  <a16:creationId xmlns:a16="http://schemas.microsoft.com/office/drawing/2014/main" id="{57D78515-8C42-472F-920B-FF876E32C7C8}"/>
                </a:ext>
              </a:extLst>
            </p:cNvPr>
            <p:cNvCxnSpPr>
              <a:cxnSpLocks/>
              <a:stCxn id="69" idx="0"/>
            </p:cNvCxnSpPr>
            <p:nvPr/>
          </p:nvCxnSpPr>
          <p:spPr>
            <a:xfrm>
              <a:off x="8006159" y="1474965"/>
              <a:ext cx="0" cy="44003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5CE56FC1-38FD-4B53-BD54-99CD04256224}"/>
                </a:ext>
              </a:extLst>
            </p:cNvPr>
            <p:cNvSpPr/>
            <p:nvPr/>
          </p:nvSpPr>
          <p:spPr>
            <a:xfrm>
              <a:off x="7362692" y="1977603"/>
              <a:ext cx="1286933" cy="45777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81E2"/>
                </a:solidFill>
                <a:effectLst/>
                <a:uLnTx/>
                <a:uFillTx/>
                <a:latin typeface="Calibri" panose="020F0502020204030204"/>
                <a:ea typeface="+mn-ea"/>
                <a:cs typeface="+mn-cs"/>
              </a:endParaRPr>
            </a:p>
          </p:txBody>
        </p:sp>
        <p:cxnSp>
          <p:nvCxnSpPr>
            <p:cNvPr id="72" name="Straight Connector 71">
              <a:extLst>
                <a:ext uri="{FF2B5EF4-FFF2-40B4-BE49-F238E27FC236}">
                  <a16:creationId xmlns:a16="http://schemas.microsoft.com/office/drawing/2014/main" id="{B5DC7173-5030-424F-B402-A8DFD20B1553}"/>
                </a:ext>
              </a:extLst>
            </p:cNvPr>
            <p:cNvCxnSpPr>
              <a:cxnSpLocks/>
              <a:stCxn id="71" idx="0"/>
            </p:cNvCxnSpPr>
            <p:nvPr/>
          </p:nvCxnSpPr>
          <p:spPr>
            <a:xfrm>
              <a:off x="8006159" y="1977603"/>
              <a:ext cx="0" cy="44003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78BFD817-DACD-4047-96BC-F19D18C61E93}"/>
                </a:ext>
              </a:extLst>
            </p:cNvPr>
            <p:cNvSpPr/>
            <p:nvPr/>
          </p:nvSpPr>
          <p:spPr>
            <a:xfrm>
              <a:off x="7362694" y="2480242"/>
              <a:ext cx="1286933" cy="45777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81E2"/>
                </a:solidFill>
                <a:effectLst/>
                <a:uLnTx/>
                <a:uFillTx/>
                <a:latin typeface="Calibri" panose="020F0502020204030204"/>
                <a:ea typeface="+mn-ea"/>
                <a:cs typeface="+mn-cs"/>
              </a:endParaRPr>
            </a:p>
          </p:txBody>
        </p:sp>
        <p:cxnSp>
          <p:nvCxnSpPr>
            <p:cNvPr id="74" name="Straight Connector 73">
              <a:extLst>
                <a:ext uri="{FF2B5EF4-FFF2-40B4-BE49-F238E27FC236}">
                  <a16:creationId xmlns:a16="http://schemas.microsoft.com/office/drawing/2014/main" id="{1495376E-9C37-40FF-9D9A-29AAE8D35B99}"/>
                </a:ext>
              </a:extLst>
            </p:cNvPr>
            <p:cNvCxnSpPr>
              <a:cxnSpLocks/>
              <a:stCxn id="73" idx="0"/>
            </p:cNvCxnSpPr>
            <p:nvPr/>
          </p:nvCxnSpPr>
          <p:spPr>
            <a:xfrm>
              <a:off x="8006161" y="2480242"/>
              <a:ext cx="0" cy="44003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5B5BAEE4-79DC-4F19-9CB2-82479A8C7D3C}"/>
                </a:ext>
              </a:extLst>
            </p:cNvPr>
            <p:cNvSpPr/>
            <p:nvPr/>
          </p:nvSpPr>
          <p:spPr>
            <a:xfrm>
              <a:off x="7362695" y="2992555"/>
              <a:ext cx="1286933" cy="45777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81E2"/>
                </a:solidFill>
                <a:effectLst/>
                <a:uLnTx/>
                <a:uFillTx/>
                <a:latin typeface="Calibri" panose="020F0502020204030204"/>
                <a:ea typeface="+mn-ea"/>
                <a:cs typeface="+mn-cs"/>
              </a:endParaRPr>
            </a:p>
          </p:txBody>
        </p:sp>
        <p:cxnSp>
          <p:nvCxnSpPr>
            <p:cNvPr id="76" name="Straight Connector 75">
              <a:extLst>
                <a:ext uri="{FF2B5EF4-FFF2-40B4-BE49-F238E27FC236}">
                  <a16:creationId xmlns:a16="http://schemas.microsoft.com/office/drawing/2014/main" id="{12831E2D-9995-4F22-ADE2-05DFDB9683CC}"/>
                </a:ext>
              </a:extLst>
            </p:cNvPr>
            <p:cNvCxnSpPr>
              <a:cxnSpLocks/>
              <a:stCxn id="75" idx="0"/>
            </p:cNvCxnSpPr>
            <p:nvPr/>
          </p:nvCxnSpPr>
          <p:spPr>
            <a:xfrm>
              <a:off x="8006162" y="2992555"/>
              <a:ext cx="0" cy="44003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77" name="Rectangle 76">
              <a:extLst>
                <a:ext uri="{FF2B5EF4-FFF2-40B4-BE49-F238E27FC236}">
                  <a16:creationId xmlns:a16="http://schemas.microsoft.com/office/drawing/2014/main" id="{C85451DD-1E7C-47FC-BEDF-A62BFABAD963}"/>
                </a:ext>
              </a:extLst>
            </p:cNvPr>
            <p:cNvSpPr/>
            <p:nvPr/>
          </p:nvSpPr>
          <p:spPr>
            <a:xfrm>
              <a:off x="7362694" y="3510265"/>
              <a:ext cx="1286933" cy="45777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81E2"/>
                </a:solidFill>
                <a:effectLst/>
                <a:uLnTx/>
                <a:uFillTx/>
                <a:latin typeface="Calibri" panose="020F0502020204030204"/>
                <a:ea typeface="+mn-ea"/>
                <a:cs typeface="+mn-cs"/>
              </a:endParaRPr>
            </a:p>
          </p:txBody>
        </p:sp>
        <p:cxnSp>
          <p:nvCxnSpPr>
            <p:cNvPr id="78" name="Straight Connector 77">
              <a:extLst>
                <a:ext uri="{FF2B5EF4-FFF2-40B4-BE49-F238E27FC236}">
                  <a16:creationId xmlns:a16="http://schemas.microsoft.com/office/drawing/2014/main" id="{95985B9A-83A8-4631-B6A5-F2024BFD2A04}"/>
                </a:ext>
              </a:extLst>
            </p:cNvPr>
            <p:cNvCxnSpPr>
              <a:cxnSpLocks/>
              <a:stCxn id="77" idx="0"/>
            </p:cNvCxnSpPr>
            <p:nvPr/>
          </p:nvCxnSpPr>
          <p:spPr>
            <a:xfrm>
              <a:off x="8006161" y="3510265"/>
              <a:ext cx="0" cy="44003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46A07FE0-DC6A-4388-BFB8-CF4450A254C9}"/>
                </a:ext>
              </a:extLst>
            </p:cNvPr>
            <p:cNvSpPr/>
            <p:nvPr/>
          </p:nvSpPr>
          <p:spPr>
            <a:xfrm>
              <a:off x="9578572" y="1491145"/>
              <a:ext cx="1286933" cy="45777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81E2"/>
                </a:solidFill>
                <a:effectLst/>
                <a:uLnTx/>
                <a:uFillTx/>
                <a:latin typeface="Calibri" panose="020F0502020204030204"/>
                <a:ea typeface="+mn-ea"/>
                <a:cs typeface="+mn-cs"/>
              </a:endParaRPr>
            </a:p>
          </p:txBody>
        </p:sp>
        <p:cxnSp>
          <p:nvCxnSpPr>
            <p:cNvPr id="80" name="Straight Connector 79">
              <a:extLst>
                <a:ext uri="{FF2B5EF4-FFF2-40B4-BE49-F238E27FC236}">
                  <a16:creationId xmlns:a16="http://schemas.microsoft.com/office/drawing/2014/main" id="{F08133CF-AF20-494E-AF92-18E2C3A2AB79}"/>
                </a:ext>
              </a:extLst>
            </p:cNvPr>
            <p:cNvCxnSpPr>
              <a:cxnSpLocks/>
              <a:stCxn id="79" idx="0"/>
            </p:cNvCxnSpPr>
            <p:nvPr/>
          </p:nvCxnSpPr>
          <p:spPr>
            <a:xfrm>
              <a:off x="10222039" y="1491145"/>
              <a:ext cx="0" cy="44003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81" name="Rectangle 80">
              <a:extLst>
                <a:ext uri="{FF2B5EF4-FFF2-40B4-BE49-F238E27FC236}">
                  <a16:creationId xmlns:a16="http://schemas.microsoft.com/office/drawing/2014/main" id="{A1192015-6264-41E0-A789-F769E8FDE3E9}"/>
                </a:ext>
              </a:extLst>
            </p:cNvPr>
            <p:cNvSpPr/>
            <p:nvPr/>
          </p:nvSpPr>
          <p:spPr>
            <a:xfrm>
              <a:off x="9563267" y="2964785"/>
              <a:ext cx="1286933" cy="45777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81E2"/>
                </a:solidFill>
                <a:effectLst/>
                <a:uLnTx/>
                <a:uFillTx/>
                <a:latin typeface="Calibri" panose="020F0502020204030204"/>
                <a:ea typeface="+mn-ea"/>
                <a:cs typeface="+mn-cs"/>
              </a:endParaRPr>
            </a:p>
          </p:txBody>
        </p:sp>
        <p:cxnSp>
          <p:nvCxnSpPr>
            <p:cNvPr id="82" name="Straight Connector 81">
              <a:extLst>
                <a:ext uri="{FF2B5EF4-FFF2-40B4-BE49-F238E27FC236}">
                  <a16:creationId xmlns:a16="http://schemas.microsoft.com/office/drawing/2014/main" id="{9161BE38-50C2-47FC-B83D-A313F6B62563}"/>
                </a:ext>
              </a:extLst>
            </p:cNvPr>
            <p:cNvCxnSpPr>
              <a:cxnSpLocks/>
              <a:stCxn id="81" idx="0"/>
            </p:cNvCxnSpPr>
            <p:nvPr/>
          </p:nvCxnSpPr>
          <p:spPr>
            <a:xfrm>
              <a:off x="10206734" y="2964785"/>
              <a:ext cx="0" cy="44003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F1EE934D-31F4-413C-8D03-958F6178D5AB}"/>
                </a:ext>
              </a:extLst>
            </p:cNvPr>
            <p:cNvCxnSpPr/>
            <p:nvPr/>
          </p:nvCxnSpPr>
          <p:spPr>
            <a:xfrm>
              <a:off x="7103047" y="1758569"/>
              <a:ext cx="259645"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870C5604-CE8C-4697-9ADC-E34E890C0409}"/>
                </a:ext>
              </a:extLst>
            </p:cNvPr>
            <p:cNvCxnSpPr/>
            <p:nvPr/>
          </p:nvCxnSpPr>
          <p:spPr>
            <a:xfrm>
              <a:off x="7086114" y="2246369"/>
              <a:ext cx="259645"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1DFBD9A0-2197-4D42-BEA1-7FF74CB5632F}"/>
                </a:ext>
              </a:extLst>
            </p:cNvPr>
            <p:cNvCxnSpPr/>
            <p:nvPr/>
          </p:nvCxnSpPr>
          <p:spPr>
            <a:xfrm>
              <a:off x="7114336" y="2749004"/>
              <a:ext cx="259645"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B4A237B0-9507-49F9-86A0-2AF703121C54}"/>
                </a:ext>
              </a:extLst>
            </p:cNvPr>
            <p:cNvCxnSpPr/>
            <p:nvPr/>
          </p:nvCxnSpPr>
          <p:spPr>
            <a:xfrm>
              <a:off x="7086114" y="3212573"/>
              <a:ext cx="259645"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763EA48B-95A4-4CE7-93C4-EBC24F358409}"/>
                </a:ext>
              </a:extLst>
            </p:cNvPr>
            <p:cNvCxnSpPr/>
            <p:nvPr/>
          </p:nvCxnSpPr>
          <p:spPr>
            <a:xfrm>
              <a:off x="7086114" y="3730283"/>
              <a:ext cx="259645"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D22D29A9-CF98-48C0-A196-F00FBDD84C03}"/>
                </a:ext>
              </a:extLst>
            </p:cNvPr>
            <p:cNvCxnSpPr>
              <a:cxnSpLocks/>
            </p:cNvCxnSpPr>
            <p:nvPr/>
          </p:nvCxnSpPr>
          <p:spPr>
            <a:xfrm>
              <a:off x="8649626" y="1732689"/>
              <a:ext cx="913641"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84322B1A-2A6B-49F2-940A-A3B7917B24E5}"/>
                </a:ext>
              </a:extLst>
            </p:cNvPr>
            <p:cNvCxnSpPr>
              <a:cxnSpLocks/>
            </p:cNvCxnSpPr>
            <p:nvPr/>
          </p:nvCxnSpPr>
          <p:spPr>
            <a:xfrm>
              <a:off x="8666180" y="3244349"/>
              <a:ext cx="913641"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3EE8DF00-52D1-4344-9608-DCA485E3944A}"/>
                </a:ext>
              </a:extLst>
            </p:cNvPr>
            <p:cNvCxnSpPr/>
            <p:nvPr/>
          </p:nvCxnSpPr>
          <p:spPr>
            <a:xfrm>
              <a:off x="7114336" y="4193127"/>
              <a:ext cx="259645"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C3842B8-2BF1-4445-A1E3-2BCC413361E1}"/>
                </a:ext>
              </a:extLst>
            </p:cNvPr>
            <p:cNvCxnSpPr/>
            <p:nvPr/>
          </p:nvCxnSpPr>
          <p:spPr>
            <a:xfrm>
              <a:off x="7486870" y="4193127"/>
              <a:ext cx="395111"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77A74654-CDA3-4D27-A5A1-91DB6B0FE838}"/>
                </a:ext>
              </a:extLst>
            </p:cNvPr>
            <p:cNvCxnSpPr>
              <a:cxnSpLocks/>
            </p:cNvCxnSpPr>
            <p:nvPr/>
          </p:nvCxnSpPr>
          <p:spPr>
            <a:xfrm>
              <a:off x="7571537" y="4272147"/>
              <a:ext cx="243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4482D6AD-D578-4A67-A577-7D46B20FA492}"/>
                </a:ext>
              </a:extLst>
            </p:cNvPr>
            <p:cNvCxnSpPr>
              <a:cxnSpLocks/>
            </p:cNvCxnSpPr>
            <p:nvPr/>
          </p:nvCxnSpPr>
          <p:spPr>
            <a:xfrm>
              <a:off x="7639272" y="4357619"/>
              <a:ext cx="1219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94" name="TextBox 93">
            <a:extLst>
              <a:ext uri="{FF2B5EF4-FFF2-40B4-BE49-F238E27FC236}">
                <a16:creationId xmlns:a16="http://schemas.microsoft.com/office/drawing/2014/main" id="{6EBA0F17-DA1A-407A-9B6E-293BF2B9F5B1}"/>
              </a:ext>
            </a:extLst>
          </p:cNvPr>
          <p:cNvSpPr txBox="1"/>
          <p:nvPr/>
        </p:nvSpPr>
        <p:spPr>
          <a:xfrm>
            <a:off x="436952" y="5532595"/>
            <a:ext cx="2325255"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Sparse Graph</a:t>
            </a:r>
            <a:r>
              <a:rPr kumimoji="0" lang="en-US" sz="1800" b="0"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 Edges ~ Vertices</a:t>
            </a:r>
          </a:p>
        </p:txBody>
      </p:sp>
    </p:spTree>
    <p:extLst>
      <p:ext uri="{BB962C8B-B14F-4D97-AF65-F5344CB8AC3E}">
        <p14:creationId xmlns:p14="http://schemas.microsoft.com/office/powerpoint/2010/main" val="3482824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r>
              <a:rPr lang="en-US" dirty="0">
                <a:solidFill>
                  <a:schemeClr val="bg1"/>
                </a:solidFill>
                <a:latin typeface="Gotham Bold" pitchFamily="50" charset="0"/>
              </a:rPr>
              <a:t>Adjacency List Implementation</a:t>
            </a:r>
          </a:p>
        </p:txBody>
      </p:sp>
      <p:grpSp>
        <p:nvGrpSpPr>
          <p:cNvPr id="8" name="Group 7">
            <a:extLst>
              <a:ext uri="{FF2B5EF4-FFF2-40B4-BE49-F238E27FC236}">
                <a16:creationId xmlns:a16="http://schemas.microsoft.com/office/drawing/2014/main" id="{BFBC837B-EC73-427B-95FC-D056E7706469}"/>
              </a:ext>
              <a:ext uri="{C183D7F6-B498-43B3-948B-1728B52AA6E4}">
                <adec:decorative xmlns:adec="http://schemas.microsoft.com/office/drawing/2017/decorative" val="1"/>
              </a:ext>
            </a:extLst>
          </p:cNvPr>
          <p:cNvGrpSpPr/>
          <p:nvPr/>
        </p:nvGrpSpPr>
        <p:grpSpPr>
          <a:xfrm>
            <a:off x="1073430" y="1926737"/>
            <a:ext cx="3162953" cy="2167861"/>
            <a:chOff x="5833534" y="912535"/>
            <a:chExt cx="3162953" cy="2167861"/>
          </a:xfrm>
        </p:grpSpPr>
        <p:sp>
          <p:nvSpPr>
            <p:cNvPr id="10" name="Oval 9">
              <a:extLst>
                <a:ext uri="{FF2B5EF4-FFF2-40B4-BE49-F238E27FC236}">
                  <a16:creationId xmlns:a16="http://schemas.microsoft.com/office/drawing/2014/main" id="{7F59A168-5377-451B-9712-72CCD762AB2F}"/>
                </a:ext>
              </a:extLst>
            </p:cNvPr>
            <p:cNvSpPr/>
            <p:nvPr/>
          </p:nvSpPr>
          <p:spPr>
            <a:xfrm>
              <a:off x="6536268" y="1312313"/>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B</a:t>
              </a:r>
            </a:p>
          </p:txBody>
        </p:sp>
        <p:sp>
          <p:nvSpPr>
            <p:cNvPr id="14" name="Oval 13">
              <a:extLst>
                <a:ext uri="{FF2B5EF4-FFF2-40B4-BE49-F238E27FC236}">
                  <a16:creationId xmlns:a16="http://schemas.microsoft.com/office/drawing/2014/main" id="{72FAB0BB-3C19-4206-B18A-6AAB24E78530}"/>
                </a:ext>
              </a:extLst>
            </p:cNvPr>
            <p:cNvSpPr/>
            <p:nvPr/>
          </p:nvSpPr>
          <p:spPr>
            <a:xfrm>
              <a:off x="5833534" y="212936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a:t>
              </a:r>
            </a:p>
          </p:txBody>
        </p:sp>
        <p:sp>
          <p:nvSpPr>
            <p:cNvPr id="15" name="Oval 14">
              <a:extLst>
                <a:ext uri="{FF2B5EF4-FFF2-40B4-BE49-F238E27FC236}">
                  <a16:creationId xmlns:a16="http://schemas.microsoft.com/office/drawing/2014/main" id="{A0913F43-1911-4304-AE83-F3A0F171E39F}"/>
                </a:ext>
              </a:extLst>
            </p:cNvPr>
            <p:cNvSpPr/>
            <p:nvPr/>
          </p:nvSpPr>
          <p:spPr>
            <a:xfrm>
              <a:off x="7958667" y="225001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E</a:t>
              </a:r>
            </a:p>
          </p:txBody>
        </p:sp>
        <p:sp>
          <p:nvSpPr>
            <p:cNvPr id="16" name="Oval 15">
              <a:extLst>
                <a:ext uri="{FF2B5EF4-FFF2-40B4-BE49-F238E27FC236}">
                  <a16:creationId xmlns:a16="http://schemas.microsoft.com/office/drawing/2014/main" id="{10BFE9D5-0A71-46DE-A73A-EE6F676D343E}"/>
                </a:ext>
              </a:extLst>
            </p:cNvPr>
            <p:cNvSpPr/>
            <p:nvPr/>
          </p:nvSpPr>
          <p:spPr>
            <a:xfrm>
              <a:off x="8538841" y="1360046"/>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F</a:t>
              </a:r>
            </a:p>
          </p:txBody>
        </p:sp>
        <p:sp>
          <p:nvSpPr>
            <p:cNvPr id="17" name="Oval 16">
              <a:extLst>
                <a:ext uri="{FF2B5EF4-FFF2-40B4-BE49-F238E27FC236}">
                  <a16:creationId xmlns:a16="http://schemas.microsoft.com/office/drawing/2014/main" id="{96A0919B-14A8-41C6-B25B-1F6B60C6EF39}"/>
                </a:ext>
              </a:extLst>
            </p:cNvPr>
            <p:cNvSpPr/>
            <p:nvPr/>
          </p:nvSpPr>
          <p:spPr>
            <a:xfrm>
              <a:off x="6807200" y="2607188"/>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a:t>
              </a:r>
            </a:p>
          </p:txBody>
        </p:sp>
        <p:sp>
          <p:nvSpPr>
            <p:cNvPr id="18" name="Oval 17">
              <a:extLst>
                <a:ext uri="{FF2B5EF4-FFF2-40B4-BE49-F238E27FC236}">
                  <a16:creationId xmlns:a16="http://schemas.microsoft.com/office/drawing/2014/main" id="{E192B131-1481-459D-BDE7-46F9157E56F9}"/>
                </a:ext>
              </a:extLst>
            </p:cNvPr>
            <p:cNvSpPr/>
            <p:nvPr/>
          </p:nvSpPr>
          <p:spPr>
            <a:xfrm>
              <a:off x="7703887" y="912535"/>
              <a:ext cx="457200" cy="457200"/>
            </a:xfrm>
            <a:prstGeom prst="ellipse">
              <a:avLst/>
            </a:prstGeom>
            <a:noFill/>
            <a:ln>
              <a:solidFill>
                <a:srgbClr val="EB6E1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D</a:t>
              </a:r>
            </a:p>
          </p:txBody>
        </p:sp>
        <p:cxnSp>
          <p:nvCxnSpPr>
            <p:cNvPr id="19" name="Straight Arrow Connector 18">
              <a:extLst>
                <a:ext uri="{FF2B5EF4-FFF2-40B4-BE49-F238E27FC236}">
                  <a16:creationId xmlns:a16="http://schemas.microsoft.com/office/drawing/2014/main" id="{751C21A2-990F-40F9-ADF3-15EE1F1B1105}"/>
                </a:ext>
              </a:extLst>
            </p:cNvPr>
            <p:cNvCxnSpPr>
              <a:cxnSpLocks/>
              <a:stCxn id="14" idx="7"/>
              <a:endCxn id="10" idx="3"/>
            </p:cNvCxnSpPr>
            <p:nvPr/>
          </p:nvCxnSpPr>
          <p:spPr>
            <a:xfrm flipV="1">
              <a:off x="6223779" y="1702558"/>
              <a:ext cx="379444" cy="493763"/>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63992A6-8F5E-4715-A286-34CBEC70F6D2}"/>
                </a:ext>
              </a:extLst>
            </p:cNvPr>
            <p:cNvCxnSpPr>
              <a:cxnSpLocks/>
            </p:cNvCxnSpPr>
            <p:nvPr/>
          </p:nvCxnSpPr>
          <p:spPr>
            <a:xfrm flipV="1">
              <a:off x="8291203" y="1769513"/>
              <a:ext cx="379444" cy="493763"/>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9FDD037-8C23-4254-B2AF-918541F093F4}"/>
                </a:ext>
              </a:extLst>
            </p:cNvPr>
            <p:cNvCxnSpPr>
              <a:cxnSpLocks/>
              <a:endCxn id="17" idx="0"/>
            </p:cNvCxnSpPr>
            <p:nvPr/>
          </p:nvCxnSpPr>
          <p:spPr>
            <a:xfrm flipH="1">
              <a:off x="7035800" y="1360046"/>
              <a:ext cx="803322" cy="1247142"/>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BFEF09E-6F2B-4A17-8DA3-EAD027DBF680}"/>
                </a:ext>
              </a:extLst>
            </p:cNvPr>
            <p:cNvCxnSpPr>
              <a:cxnSpLocks/>
              <a:endCxn id="15" idx="2"/>
            </p:cNvCxnSpPr>
            <p:nvPr/>
          </p:nvCxnSpPr>
          <p:spPr>
            <a:xfrm flipV="1">
              <a:off x="7274425" y="2478616"/>
              <a:ext cx="684242" cy="365146"/>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D7082262-AEA1-43C9-8866-6620760003A5}"/>
                </a:ext>
              </a:extLst>
            </p:cNvPr>
            <p:cNvCxnSpPr>
              <a:cxnSpLocks/>
              <a:endCxn id="18" idx="1"/>
            </p:cNvCxnSpPr>
            <p:nvPr/>
          </p:nvCxnSpPr>
          <p:spPr>
            <a:xfrm flipV="1">
              <a:off x="6977767" y="979490"/>
              <a:ext cx="793075" cy="432092"/>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CEFB491-B8DF-4560-A299-EA5C43A76DF9}"/>
                </a:ext>
              </a:extLst>
            </p:cNvPr>
            <p:cNvCxnSpPr>
              <a:cxnSpLocks/>
              <a:endCxn id="16" idx="1"/>
            </p:cNvCxnSpPr>
            <p:nvPr/>
          </p:nvCxnSpPr>
          <p:spPr>
            <a:xfrm>
              <a:off x="8142303" y="1208081"/>
              <a:ext cx="463493" cy="218920"/>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011DAD8-4445-4B70-A99A-989BF5ABD744}"/>
                </a:ext>
              </a:extLst>
            </p:cNvPr>
            <p:cNvCxnSpPr>
              <a:cxnSpLocks/>
              <a:endCxn id="17" idx="1"/>
            </p:cNvCxnSpPr>
            <p:nvPr/>
          </p:nvCxnSpPr>
          <p:spPr>
            <a:xfrm>
              <a:off x="6255996" y="2478616"/>
              <a:ext cx="618159" cy="195527"/>
            </a:xfrm>
            <a:prstGeom prst="straightConnector1">
              <a:avLst/>
            </a:prstGeom>
            <a:ln>
              <a:solidFill>
                <a:srgbClr val="EB6E19"/>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6B95B89-5390-49EC-9A0F-E63D3BAE6991}"/>
                </a:ext>
              </a:extLst>
            </p:cNvPr>
            <p:cNvSpPr txBox="1"/>
            <p:nvPr/>
          </p:nvSpPr>
          <p:spPr>
            <a:xfrm>
              <a:off x="6082133" y="1724871"/>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10</a:t>
              </a:r>
            </a:p>
          </p:txBody>
        </p:sp>
        <p:sp>
          <p:nvSpPr>
            <p:cNvPr id="27" name="TextBox 26">
              <a:extLst>
                <a:ext uri="{FF2B5EF4-FFF2-40B4-BE49-F238E27FC236}">
                  <a16:creationId xmlns:a16="http://schemas.microsoft.com/office/drawing/2014/main" id="{85852CD4-F459-4845-B3F4-E7CB86C9E311}"/>
                </a:ext>
              </a:extLst>
            </p:cNvPr>
            <p:cNvSpPr txBox="1"/>
            <p:nvPr/>
          </p:nvSpPr>
          <p:spPr>
            <a:xfrm>
              <a:off x="6933393" y="1004536"/>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60</a:t>
              </a:r>
            </a:p>
          </p:txBody>
        </p:sp>
        <p:sp>
          <p:nvSpPr>
            <p:cNvPr id="28" name="TextBox 27">
              <a:extLst>
                <a:ext uri="{FF2B5EF4-FFF2-40B4-BE49-F238E27FC236}">
                  <a16:creationId xmlns:a16="http://schemas.microsoft.com/office/drawing/2014/main" id="{DF819778-0A9B-4DE9-8D37-1CE51389C530}"/>
                </a:ext>
              </a:extLst>
            </p:cNvPr>
            <p:cNvSpPr txBox="1"/>
            <p:nvPr/>
          </p:nvSpPr>
          <p:spPr>
            <a:xfrm>
              <a:off x="8212341" y="972508"/>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80</a:t>
              </a:r>
            </a:p>
          </p:txBody>
        </p:sp>
        <p:sp>
          <p:nvSpPr>
            <p:cNvPr id="29" name="TextBox 28">
              <a:extLst>
                <a:ext uri="{FF2B5EF4-FFF2-40B4-BE49-F238E27FC236}">
                  <a16:creationId xmlns:a16="http://schemas.microsoft.com/office/drawing/2014/main" id="{047086FC-EF9D-4675-BC85-63091B91333F}"/>
                </a:ext>
              </a:extLst>
            </p:cNvPr>
            <p:cNvSpPr txBox="1"/>
            <p:nvPr/>
          </p:nvSpPr>
          <p:spPr>
            <a:xfrm>
              <a:off x="7484208" y="2711064"/>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5</a:t>
              </a:r>
            </a:p>
          </p:txBody>
        </p:sp>
        <p:sp>
          <p:nvSpPr>
            <p:cNvPr id="30" name="TextBox 29">
              <a:extLst>
                <a:ext uri="{FF2B5EF4-FFF2-40B4-BE49-F238E27FC236}">
                  <a16:creationId xmlns:a16="http://schemas.microsoft.com/office/drawing/2014/main" id="{BE1BFAC0-0BEC-4681-9BC0-E21854C5D197}"/>
                </a:ext>
              </a:extLst>
            </p:cNvPr>
            <p:cNvSpPr txBox="1"/>
            <p:nvPr/>
          </p:nvSpPr>
          <p:spPr>
            <a:xfrm>
              <a:off x="7035259" y="1653656"/>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40</a:t>
              </a:r>
            </a:p>
          </p:txBody>
        </p:sp>
        <p:sp>
          <p:nvSpPr>
            <p:cNvPr id="31" name="TextBox 30">
              <a:extLst>
                <a:ext uri="{FF2B5EF4-FFF2-40B4-BE49-F238E27FC236}">
                  <a16:creationId xmlns:a16="http://schemas.microsoft.com/office/drawing/2014/main" id="{852C6F6F-B017-448C-A2D7-B02A5581D670}"/>
                </a:ext>
              </a:extLst>
            </p:cNvPr>
            <p:cNvSpPr txBox="1"/>
            <p:nvPr/>
          </p:nvSpPr>
          <p:spPr>
            <a:xfrm>
              <a:off x="8523364" y="2005869"/>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50</a:t>
              </a:r>
            </a:p>
          </p:txBody>
        </p:sp>
        <p:sp>
          <p:nvSpPr>
            <p:cNvPr id="32" name="TextBox 31">
              <a:extLst>
                <a:ext uri="{FF2B5EF4-FFF2-40B4-BE49-F238E27FC236}">
                  <a16:creationId xmlns:a16="http://schemas.microsoft.com/office/drawing/2014/main" id="{AB194BE0-58BC-4076-BDF8-4B511D84E3F7}"/>
                </a:ext>
              </a:extLst>
            </p:cNvPr>
            <p:cNvSpPr txBox="1"/>
            <p:nvPr/>
          </p:nvSpPr>
          <p:spPr>
            <a:xfrm>
              <a:off x="6234270" y="2648661"/>
              <a:ext cx="473123"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15</a:t>
              </a:r>
            </a:p>
          </p:txBody>
        </p:sp>
      </p:grpSp>
      <p:sp>
        <p:nvSpPr>
          <p:cNvPr id="33" name="TextBox 32">
            <a:extLst>
              <a:ext uri="{FF2B5EF4-FFF2-40B4-BE49-F238E27FC236}">
                <a16:creationId xmlns:a16="http://schemas.microsoft.com/office/drawing/2014/main" id="{137FC86C-7C5C-47AF-8B2A-7D2A4A4464D0}"/>
              </a:ext>
              <a:ext uri="{C183D7F6-B498-43B3-948B-1728B52AA6E4}">
                <adec:decorative xmlns:adec="http://schemas.microsoft.com/office/drawing/2017/decorative" val="1"/>
              </a:ext>
            </a:extLst>
          </p:cNvPr>
          <p:cNvSpPr txBox="1"/>
          <p:nvPr/>
        </p:nvSpPr>
        <p:spPr>
          <a:xfrm>
            <a:off x="2654907" y="4399888"/>
            <a:ext cx="47312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G</a:t>
            </a:r>
          </a:p>
        </p:txBody>
      </p:sp>
      <p:sp>
        <p:nvSpPr>
          <p:cNvPr id="3" name="Rectangle 2">
            <a:extLst>
              <a:ext uri="{FF2B5EF4-FFF2-40B4-BE49-F238E27FC236}">
                <a16:creationId xmlns:a16="http://schemas.microsoft.com/office/drawing/2014/main" id="{DCE44059-F080-46BA-BCCF-478F642B83CA}"/>
              </a:ext>
            </a:extLst>
          </p:cNvPr>
          <p:cNvSpPr/>
          <p:nvPr/>
        </p:nvSpPr>
        <p:spPr>
          <a:xfrm>
            <a:off x="752311" y="4170562"/>
            <a:ext cx="1035600" cy="230832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Input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 B 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 C 15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B D 60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D C 40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 E 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D F 80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E F 50</a:t>
            </a:r>
          </a:p>
        </p:txBody>
      </p:sp>
      <p:sp>
        <p:nvSpPr>
          <p:cNvPr id="34" name="TextBox 33">
            <a:extLst>
              <a:ext uri="{FF2B5EF4-FFF2-40B4-BE49-F238E27FC236}">
                <a16:creationId xmlns:a16="http://schemas.microsoft.com/office/drawing/2014/main" id="{FADB39EE-1E5D-495A-9459-A044A3916257}"/>
              </a:ext>
            </a:extLst>
          </p:cNvPr>
          <p:cNvSpPr txBox="1"/>
          <p:nvPr/>
        </p:nvSpPr>
        <p:spPr>
          <a:xfrm>
            <a:off x="6251515" y="1121566"/>
            <a:ext cx="7946804" cy="117064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Insertion: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If to or from vertex not present add vertex</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Otherwise add edge at the end of the list</a:t>
            </a:r>
          </a:p>
        </p:txBody>
      </p:sp>
      <p:graphicFrame>
        <p:nvGraphicFramePr>
          <p:cNvPr id="35" name="Table 34">
            <a:extLst>
              <a:ext uri="{FF2B5EF4-FFF2-40B4-BE49-F238E27FC236}">
                <a16:creationId xmlns:a16="http://schemas.microsoft.com/office/drawing/2014/main" id="{5A760BC2-203A-43D8-A20C-665E2323D963}"/>
              </a:ext>
            </a:extLst>
          </p:cNvPr>
          <p:cNvGraphicFramePr>
            <a:graphicFrameLocks noGrp="1"/>
          </p:cNvGraphicFramePr>
          <p:nvPr/>
        </p:nvGraphicFramePr>
        <p:xfrm>
          <a:off x="6373552" y="2437199"/>
          <a:ext cx="331802" cy="3494024"/>
        </p:xfrm>
        <a:graphic>
          <a:graphicData uri="http://schemas.openxmlformats.org/drawingml/2006/table">
            <a:tbl>
              <a:tblPr>
                <a:tableStyleId>{5C22544A-7EE6-4342-B048-85BDC9FD1C3A}</a:tableStyleId>
              </a:tblPr>
              <a:tblGrid>
                <a:gridCol w="331802">
                  <a:extLst>
                    <a:ext uri="{9D8B030D-6E8A-4147-A177-3AD203B41FA5}">
                      <a16:colId xmlns:a16="http://schemas.microsoft.com/office/drawing/2014/main" val="2652359085"/>
                    </a:ext>
                  </a:extLst>
                </a:gridCol>
              </a:tblGrid>
              <a:tr h="1199813">
                <a:tc>
                  <a:txBody>
                    <a:bodyPr/>
                    <a:lstStyle/>
                    <a:p>
                      <a:pPr marL="0" marR="0" algn="ctr">
                        <a:lnSpc>
                          <a:spcPct val="115000"/>
                        </a:lnSpc>
                        <a:spcBef>
                          <a:spcPts val="0"/>
                        </a:spcBef>
                        <a:spcAft>
                          <a:spcPts val="0"/>
                        </a:spcAft>
                        <a:tabLst>
                          <a:tab pos="571500" algn="l"/>
                        </a:tabLst>
                      </a:pPr>
                      <a:r>
                        <a:rPr lang="en-US" sz="1000" baseline="0" dirty="0">
                          <a:solidFill>
                            <a:schemeClr val="bg1"/>
                          </a:solidFill>
                          <a:effectLst/>
                          <a:latin typeface="Consolas" panose="020B0609020204030204" pitchFamily="49" charset="0"/>
                        </a:rPr>
                        <a:t>01</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02</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03</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04</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05</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06</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07</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08</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09</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10</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11</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12</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13</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14</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15</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16</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17</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18</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19</a:t>
                      </a:r>
                    </a:p>
                    <a:p>
                      <a:pPr marL="0" marR="0" algn="ctr">
                        <a:lnSpc>
                          <a:spcPct val="115000"/>
                        </a:lnSpc>
                        <a:spcBef>
                          <a:spcPts val="0"/>
                        </a:spcBef>
                        <a:spcAft>
                          <a:spcPts val="0"/>
                        </a:spcAft>
                      </a:pPr>
                      <a:r>
                        <a:rPr lang="en-US" sz="1000" baseline="0" dirty="0">
                          <a:solidFill>
                            <a:schemeClr val="bg1"/>
                          </a:solidFill>
                          <a:effectLst/>
                          <a:latin typeface="Consolas" panose="020B0609020204030204" pitchFamily="49" charset="0"/>
                        </a:rPr>
                        <a:t>20</a:t>
                      </a:r>
                    </a:p>
                  </a:txBody>
                  <a:tcPr marL="68580" marR="68580" marT="0" marB="0">
                    <a:lnL w="12700" cap="flat" cmpd="sng" algn="ctr">
                      <a:solidFill>
                        <a:srgbClr val="1199FF"/>
                      </a:solidFill>
                      <a:prstDash val="solid"/>
                      <a:round/>
                      <a:headEnd type="none" w="med" len="med"/>
                      <a:tailEnd type="none" w="med" len="med"/>
                    </a:lnL>
                    <a:lnR w="12700" cap="flat" cmpd="sng" algn="ctr">
                      <a:solidFill>
                        <a:srgbClr val="1199FF"/>
                      </a:solidFill>
                      <a:prstDash val="solid"/>
                      <a:round/>
                      <a:headEnd type="none" w="med" len="med"/>
                      <a:tailEnd type="none" w="med" len="med"/>
                    </a:lnR>
                    <a:lnT w="12700" cap="flat" cmpd="sng" algn="ctr">
                      <a:solidFill>
                        <a:srgbClr val="1199FF"/>
                      </a:solidFill>
                      <a:prstDash val="solid"/>
                      <a:round/>
                      <a:headEnd type="none" w="med" len="med"/>
                      <a:tailEnd type="none" w="med" len="med"/>
                    </a:lnT>
                    <a:lnB w="12700" cap="flat" cmpd="sng" algn="ctr">
                      <a:solidFill>
                        <a:srgbClr val="1199FF"/>
                      </a:solidFill>
                      <a:prstDash val="solid"/>
                      <a:round/>
                      <a:headEnd type="none" w="med" len="med"/>
                      <a:tailEnd type="none" w="med" len="med"/>
                    </a:lnB>
                    <a:solidFill>
                      <a:schemeClr val="tx1"/>
                    </a:solidFill>
                  </a:tcPr>
                </a:tc>
                <a:extLst>
                  <a:ext uri="{0D108BD9-81ED-4DB2-BD59-A6C34878D82A}">
                    <a16:rowId xmlns:a16="http://schemas.microsoft.com/office/drawing/2014/main" val="1362061028"/>
                  </a:ext>
                </a:extLst>
              </a:tr>
            </a:tbl>
          </a:graphicData>
        </a:graphic>
      </p:graphicFrame>
      <p:graphicFrame>
        <p:nvGraphicFramePr>
          <p:cNvPr id="37" name="Table 36">
            <a:extLst>
              <a:ext uri="{FF2B5EF4-FFF2-40B4-BE49-F238E27FC236}">
                <a16:creationId xmlns:a16="http://schemas.microsoft.com/office/drawing/2014/main" id="{BFE61E7B-91E3-4E84-A9B4-2B9E65B11419}"/>
              </a:ext>
              <a:ext uri="{C183D7F6-B498-43B3-948B-1728B52AA6E4}">
                <adec:decorative xmlns:adec="http://schemas.microsoft.com/office/drawing/2017/decorative" val="1"/>
              </a:ext>
            </a:extLst>
          </p:cNvPr>
          <p:cNvGraphicFramePr>
            <a:graphicFrameLocks noGrp="1"/>
          </p:cNvGraphicFramePr>
          <p:nvPr/>
        </p:nvGraphicFramePr>
        <p:xfrm>
          <a:off x="6701488" y="2437199"/>
          <a:ext cx="4366321" cy="3494024"/>
        </p:xfrm>
        <a:graphic>
          <a:graphicData uri="http://schemas.openxmlformats.org/drawingml/2006/table">
            <a:tbl>
              <a:tblPr>
                <a:solidFill>
                  <a:srgbClr val="000000"/>
                </a:solidFill>
                <a:tableStyleId>{5C22544A-7EE6-4342-B048-85BDC9FD1C3A}</a:tableStyleId>
              </a:tblPr>
              <a:tblGrid>
                <a:gridCol w="4366321">
                  <a:extLst>
                    <a:ext uri="{9D8B030D-6E8A-4147-A177-3AD203B41FA5}">
                      <a16:colId xmlns:a16="http://schemas.microsoft.com/office/drawing/2014/main" val="3829240360"/>
                    </a:ext>
                  </a:extLst>
                </a:gridCol>
              </a:tblGrid>
              <a:tr h="157979">
                <a:tc>
                  <a:txBody>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#include &lt;iostream&gt;</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#include&lt;map&gt;</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#include&lt;vector&gt;</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#include&lt;iterator&gt;</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using namespace std;        </a:t>
                      </a:r>
                    </a:p>
                    <a:p>
                      <a:pPr marL="0" marR="0" lvl="0" indent="0" algn="just" defTabSz="914400" rtl="0" eaLnBrk="1" fontAlgn="auto" latinLnBrk="0" hangingPunct="1">
                        <a:lnSpc>
                          <a:spcPct val="115000"/>
                        </a:lnSpc>
                        <a:spcBef>
                          <a:spcPts val="0"/>
                        </a:spcBef>
                        <a:spcAft>
                          <a:spcPts val="0"/>
                        </a:spcAft>
                        <a:buClrTx/>
                        <a:buSzTx/>
                        <a:buFontTx/>
                        <a:buNone/>
                        <a:tabLst/>
                        <a:defRPr/>
                      </a:pPr>
                      <a:endParaRPr lang="en-US" sz="1000" kern="1200" baseline="0" dirty="0">
                        <a:solidFill>
                          <a:schemeClr val="bg1"/>
                        </a:solidFill>
                        <a:effectLst/>
                        <a:latin typeface="Consolas" panose="020B0609020204030204" pitchFamily="49" charset="0"/>
                        <a:ea typeface="+mn-ea"/>
                        <a:cs typeface="+mn-cs"/>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int main()</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int </a:t>
                      </a:r>
                      <a:r>
                        <a:rPr lang="en-US" sz="1000" kern="1200" baseline="0" dirty="0" err="1">
                          <a:solidFill>
                            <a:schemeClr val="bg1"/>
                          </a:solidFill>
                          <a:effectLst/>
                          <a:latin typeface="Consolas" panose="020B0609020204030204" pitchFamily="49" charset="0"/>
                          <a:ea typeface="+mn-ea"/>
                          <a:cs typeface="+mn-cs"/>
                        </a:rPr>
                        <a:t>no_lines</a:t>
                      </a:r>
                      <a:r>
                        <a:rPr lang="en-US" sz="1000" kern="1200" baseline="0" dirty="0">
                          <a:solidFill>
                            <a:schemeClr val="bg1"/>
                          </a:solidFill>
                          <a:effectLst/>
                          <a:latin typeface="Consolas" panose="020B0609020204030204" pitchFamily="49" charset="0"/>
                          <a:ea typeface="+mn-ea"/>
                          <a:cs typeface="+mn-cs"/>
                        </a:rPr>
                        <a:t>;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string from, to, </a:t>
                      </a:r>
                      <a:r>
                        <a:rPr lang="en-US" sz="1000" kern="1200" baseline="0" dirty="0" err="1">
                          <a:solidFill>
                            <a:schemeClr val="bg1"/>
                          </a:solidFill>
                          <a:effectLst/>
                          <a:latin typeface="Consolas" panose="020B0609020204030204" pitchFamily="49" charset="0"/>
                          <a:ea typeface="+mn-ea"/>
                          <a:cs typeface="+mn-cs"/>
                        </a:rPr>
                        <a:t>wt</a:t>
                      </a:r>
                      <a:r>
                        <a:rPr lang="en-US" sz="1000" kern="1200" baseline="0" dirty="0">
                          <a:solidFill>
                            <a:schemeClr val="bg1"/>
                          </a:solidFill>
                          <a:effectLst/>
                          <a:latin typeface="Consolas" panose="020B0609020204030204" pitchFamily="49" charset="0"/>
                          <a:ea typeface="+mn-ea"/>
                          <a:cs typeface="+mn-cs"/>
                        </a:rPr>
                        <a:t>;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rgbClr val="00DA63"/>
                          </a:solidFill>
                          <a:effectLst/>
                          <a:latin typeface="Consolas" panose="020B0609020204030204" pitchFamily="49" charset="0"/>
                          <a:ea typeface="+mn-ea"/>
                          <a:cs typeface="+mn-cs"/>
                        </a:rPr>
                        <a:t>map&lt;string, vector&lt;pair&lt;</a:t>
                      </a:r>
                      <a:r>
                        <a:rPr lang="en-US" sz="1000" kern="1200" baseline="0" dirty="0" err="1">
                          <a:solidFill>
                            <a:srgbClr val="00DA63"/>
                          </a:solidFill>
                          <a:effectLst/>
                          <a:latin typeface="Consolas" panose="020B0609020204030204" pitchFamily="49" charset="0"/>
                          <a:ea typeface="+mn-ea"/>
                          <a:cs typeface="+mn-cs"/>
                        </a:rPr>
                        <a:t>string,int</a:t>
                      </a:r>
                      <a:r>
                        <a:rPr lang="en-US" sz="1000" kern="1200" baseline="0" dirty="0">
                          <a:solidFill>
                            <a:srgbClr val="00DA63"/>
                          </a:solidFill>
                          <a:effectLst/>
                          <a:latin typeface="Consolas" panose="020B0609020204030204" pitchFamily="49" charset="0"/>
                          <a:ea typeface="+mn-ea"/>
                          <a:cs typeface="+mn-cs"/>
                        </a:rPr>
                        <a:t>&gt;&gt;&gt; graph;</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err="1">
                          <a:solidFill>
                            <a:schemeClr val="bg1"/>
                          </a:solidFill>
                          <a:effectLst/>
                          <a:latin typeface="Consolas" panose="020B0609020204030204" pitchFamily="49" charset="0"/>
                          <a:ea typeface="+mn-ea"/>
                          <a:cs typeface="+mn-cs"/>
                        </a:rPr>
                        <a:t>cin</a:t>
                      </a:r>
                      <a:r>
                        <a:rPr lang="en-US" sz="1000" kern="1200" baseline="0" dirty="0">
                          <a:solidFill>
                            <a:schemeClr val="bg1"/>
                          </a:solidFill>
                          <a:effectLst/>
                          <a:latin typeface="Consolas" panose="020B0609020204030204" pitchFamily="49" charset="0"/>
                          <a:ea typeface="+mn-ea"/>
                          <a:cs typeface="+mn-cs"/>
                        </a:rPr>
                        <a:t> &gt;&gt; </a:t>
                      </a:r>
                      <a:r>
                        <a:rPr lang="en-US" sz="1000" kern="1200" baseline="0" dirty="0" err="1">
                          <a:solidFill>
                            <a:schemeClr val="bg1"/>
                          </a:solidFill>
                          <a:effectLst/>
                          <a:latin typeface="Consolas" panose="020B0609020204030204" pitchFamily="49" charset="0"/>
                          <a:ea typeface="+mn-ea"/>
                          <a:cs typeface="+mn-cs"/>
                        </a:rPr>
                        <a:t>no_lines</a:t>
                      </a:r>
                      <a:r>
                        <a:rPr lang="en-US" sz="1000" kern="1200" baseline="0" dirty="0">
                          <a:solidFill>
                            <a:schemeClr val="bg1"/>
                          </a:solidFill>
                          <a:effectLst/>
                          <a:latin typeface="Consolas" panose="020B0609020204030204" pitchFamily="49" charset="0"/>
                          <a:ea typeface="+mn-ea"/>
                          <a:cs typeface="+mn-cs"/>
                        </a:rPr>
                        <a:t>;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for(int i = 0; i &lt; </a:t>
                      </a:r>
                      <a:r>
                        <a:rPr lang="en-US" sz="1000" kern="1200" baseline="0" dirty="0" err="1">
                          <a:solidFill>
                            <a:schemeClr val="bg1"/>
                          </a:solidFill>
                          <a:effectLst/>
                          <a:latin typeface="Consolas" panose="020B0609020204030204" pitchFamily="49" charset="0"/>
                          <a:ea typeface="+mn-ea"/>
                          <a:cs typeface="+mn-cs"/>
                        </a:rPr>
                        <a:t>no_lines</a:t>
                      </a:r>
                      <a:r>
                        <a:rPr lang="en-US" sz="1000" kern="1200" baseline="0" dirty="0">
                          <a:solidFill>
                            <a:schemeClr val="bg1"/>
                          </a:solidFill>
                          <a:effectLst/>
                          <a:latin typeface="Consolas" panose="020B0609020204030204" pitchFamily="49" charset="0"/>
                          <a:ea typeface="+mn-ea"/>
                          <a:cs typeface="+mn-cs"/>
                        </a:rPr>
                        <a:t>; i++)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        </a:t>
                      </a:r>
                    </a:p>
                    <a:p>
                      <a:pPr marL="914400" marR="0" lvl="2"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err="1">
                          <a:solidFill>
                            <a:schemeClr val="bg1"/>
                          </a:solidFill>
                          <a:effectLst/>
                          <a:latin typeface="Consolas" panose="020B0609020204030204" pitchFamily="49" charset="0"/>
                          <a:ea typeface="+mn-ea"/>
                          <a:cs typeface="+mn-cs"/>
                        </a:rPr>
                        <a:t>cin</a:t>
                      </a:r>
                      <a:r>
                        <a:rPr lang="en-US" sz="1000" kern="1200" baseline="0" dirty="0">
                          <a:solidFill>
                            <a:schemeClr val="bg1"/>
                          </a:solidFill>
                          <a:effectLst/>
                          <a:latin typeface="Consolas" panose="020B0609020204030204" pitchFamily="49" charset="0"/>
                          <a:ea typeface="+mn-ea"/>
                          <a:cs typeface="+mn-cs"/>
                        </a:rPr>
                        <a:t> &gt;&gt; from &gt;&gt; to &gt;&gt; </a:t>
                      </a:r>
                      <a:r>
                        <a:rPr lang="en-US" sz="1000" kern="1200" baseline="0" dirty="0" err="1">
                          <a:solidFill>
                            <a:schemeClr val="bg1"/>
                          </a:solidFill>
                          <a:effectLst/>
                          <a:latin typeface="Consolas" panose="020B0609020204030204" pitchFamily="49" charset="0"/>
                          <a:ea typeface="+mn-ea"/>
                          <a:cs typeface="+mn-cs"/>
                        </a:rPr>
                        <a:t>wt</a:t>
                      </a:r>
                      <a:r>
                        <a:rPr lang="en-US" sz="1000" kern="1200" baseline="0" dirty="0">
                          <a:solidFill>
                            <a:schemeClr val="bg1"/>
                          </a:solidFill>
                          <a:effectLst/>
                          <a:latin typeface="Consolas" panose="020B0609020204030204" pitchFamily="49" charset="0"/>
                          <a:ea typeface="+mn-ea"/>
                          <a:cs typeface="+mn-cs"/>
                        </a:rPr>
                        <a:t>;</a:t>
                      </a:r>
                    </a:p>
                    <a:p>
                      <a:pPr marL="914400" marR="0" lvl="2"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rgbClr val="00DA63"/>
                          </a:solidFill>
                          <a:effectLst/>
                          <a:latin typeface="Consolas" panose="020B0609020204030204" pitchFamily="49" charset="0"/>
                          <a:ea typeface="+mn-ea"/>
                          <a:cs typeface="+mn-cs"/>
                        </a:rPr>
                        <a:t>graph[from].</a:t>
                      </a:r>
                      <a:r>
                        <a:rPr lang="en-US" sz="1000" kern="1200" baseline="0" dirty="0" err="1">
                          <a:solidFill>
                            <a:srgbClr val="00DA63"/>
                          </a:solidFill>
                          <a:effectLst/>
                          <a:latin typeface="Consolas" panose="020B0609020204030204" pitchFamily="49" charset="0"/>
                          <a:ea typeface="+mn-ea"/>
                          <a:cs typeface="+mn-cs"/>
                        </a:rPr>
                        <a:t>push_back</a:t>
                      </a:r>
                      <a:r>
                        <a:rPr lang="en-US" sz="1000" kern="1200" baseline="0" dirty="0">
                          <a:solidFill>
                            <a:srgbClr val="00DA63"/>
                          </a:solidFill>
                          <a:effectLst/>
                          <a:latin typeface="Consolas" panose="020B0609020204030204" pitchFamily="49" charset="0"/>
                          <a:ea typeface="+mn-ea"/>
                          <a:cs typeface="+mn-cs"/>
                        </a:rPr>
                        <a:t>(</a:t>
                      </a:r>
                      <a:r>
                        <a:rPr lang="en-US" sz="1000" kern="1200" baseline="0" dirty="0" err="1">
                          <a:solidFill>
                            <a:srgbClr val="00DA63"/>
                          </a:solidFill>
                          <a:effectLst/>
                          <a:latin typeface="Consolas" panose="020B0609020204030204" pitchFamily="49" charset="0"/>
                          <a:ea typeface="+mn-ea"/>
                          <a:cs typeface="+mn-cs"/>
                        </a:rPr>
                        <a:t>make_pair</a:t>
                      </a:r>
                      <a:r>
                        <a:rPr lang="en-US" sz="1000" kern="1200" baseline="0" dirty="0">
                          <a:solidFill>
                            <a:srgbClr val="00DA63"/>
                          </a:solidFill>
                          <a:effectLst/>
                          <a:latin typeface="Consolas" panose="020B0609020204030204" pitchFamily="49" charset="0"/>
                          <a:ea typeface="+mn-ea"/>
                          <a:cs typeface="+mn-cs"/>
                        </a:rPr>
                        <a:t>(to, </a:t>
                      </a:r>
                      <a:r>
                        <a:rPr lang="en-US" sz="1000" kern="1200" baseline="0" dirty="0" err="1">
                          <a:solidFill>
                            <a:srgbClr val="00DA63"/>
                          </a:solidFill>
                          <a:effectLst/>
                          <a:latin typeface="Consolas" panose="020B0609020204030204" pitchFamily="49" charset="0"/>
                          <a:ea typeface="+mn-ea"/>
                          <a:cs typeface="+mn-cs"/>
                        </a:rPr>
                        <a:t>stoi</a:t>
                      </a:r>
                      <a:r>
                        <a:rPr lang="en-US" sz="1000" kern="1200" baseline="0" dirty="0">
                          <a:solidFill>
                            <a:srgbClr val="00DA63"/>
                          </a:solidFill>
                          <a:effectLst/>
                          <a:latin typeface="Consolas" panose="020B0609020204030204" pitchFamily="49" charset="0"/>
                          <a:ea typeface="+mn-ea"/>
                          <a:cs typeface="+mn-cs"/>
                        </a:rPr>
                        <a:t>(</a:t>
                      </a:r>
                      <a:r>
                        <a:rPr lang="en-US" sz="1000" kern="1200" baseline="0" dirty="0" err="1">
                          <a:solidFill>
                            <a:srgbClr val="00DA63"/>
                          </a:solidFill>
                          <a:effectLst/>
                          <a:latin typeface="Consolas" panose="020B0609020204030204" pitchFamily="49" charset="0"/>
                          <a:ea typeface="+mn-ea"/>
                          <a:cs typeface="+mn-cs"/>
                        </a:rPr>
                        <a:t>wt</a:t>
                      </a:r>
                      <a:r>
                        <a:rPr lang="en-US" sz="1000" kern="1200" baseline="0" dirty="0">
                          <a:solidFill>
                            <a:srgbClr val="00DA63"/>
                          </a:solidFill>
                          <a:effectLst/>
                          <a:latin typeface="Consolas" panose="020B0609020204030204" pitchFamily="49" charset="0"/>
                          <a:ea typeface="+mn-ea"/>
                          <a:cs typeface="+mn-cs"/>
                        </a:rPr>
                        <a:t>)));                </a:t>
                      </a:r>
                    </a:p>
                    <a:p>
                      <a:pPr marL="914400" marR="0" lvl="2"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if (</a:t>
                      </a:r>
                      <a:r>
                        <a:rPr lang="en-US" sz="1000" kern="1200" baseline="0" dirty="0" err="1">
                          <a:solidFill>
                            <a:schemeClr val="bg1"/>
                          </a:solidFill>
                          <a:effectLst/>
                          <a:latin typeface="Consolas" panose="020B0609020204030204" pitchFamily="49" charset="0"/>
                          <a:ea typeface="+mn-ea"/>
                          <a:cs typeface="+mn-cs"/>
                        </a:rPr>
                        <a:t>graph.find</a:t>
                      </a:r>
                      <a:r>
                        <a:rPr lang="en-US" sz="1000" kern="1200" baseline="0" dirty="0">
                          <a:solidFill>
                            <a:schemeClr val="bg1"/>
                          </a:solidFill>
                          <a:effectLst/>
                          <a:latin typeface="Consolas" panose="020B0609020204030204" pitchFamily="49" charset="0"/>
                          <a:ea typeface="+mn-ea"/>
                          <a:cs typeface="+mn-cs"/>
                        </a:rPr>
                        <a:t>(to)==</a:t>
                      </a:r>
                      <a:r>
                        <a:rPr lang="en-US" sz="1000" kern="1200" baseline="0" dirty="0" err="1">
                          <a:solidFill>
                            <a:schemeClr val="bg1"/>
                          </a:solidFill>
                          <a:effectLst/>
                          <a:latin typeface="Consolas" panose="020B0609020204030204" pitchFamily="49" charset="0"/>
                          <a:ea typeface="+mn-ea"/>
                          <a:cs typeface="+mn-cs"/>
                        </a:rPr>
                        <a:t>graph.end</a:t>
                      </a:r>
                      <a:r>
                        <a:rPr lang="en-US" sz="1000" kern="1200" baseline="0" dirty="0">
                          <a:solidFill>
                            <a:schemeClr val="bg1"/>
                          </a:solidFill>
                          <a:effectLst/>
                          <a:latin typeface="Consolas" panose="020B0609020204030204" pitchFamily="49" charset="0"/>
                          <a:ea typeface="+mn-ea"/>
                          <a:cs typeface="+mn-cs"/>
                        </a:rPr>
                        <a:t>())        </a:t>
                      </a:r>
                    </a:p>
                    <a:p>
                      <a:pPr marL="914400" marR="0" lvl="2"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       graph[to] = {};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    </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000" kern="1200" baseline="0" dirty="0">
                          <a:solidFill>
                            <a:schemeClr val="bg1"/>
                          </a:solidFill>
                          <a:effectLst/>
                          <a:latin typeface="Consolas" panose="020B0609020204030204" pitchFamily="49" charset="0"/>
                          <a:ea typeface="+mn-ea"/>
                          <a:cs typeface="+mn-cs"/>
                        </a:rPr>
                        <a:t>}</a:t>
                      </a:r>
                    </a:p>
                  </a:txBody>
                  <a:tcPr marL="68580" marR="68580" marT="0" marB="0">
                    <a:lnL w="12700" cap="flat" cmpd="sng" algn="ctr">
                      <a:solidFill>
                        <a:srgbClr val="1199FF"/>
                      </a:solidFill>
                      <a:prstDash val="solid"/>
                      <a:round/>
                      <a:headEnd type="none" w="med" len="med"/>
                      <a:tailEnd type="none" w="med" len="med"/>
                    </a:lnL>
                    <a:lnR w="12700" cap="flat" cmpd="sng" algn="ctr">
                      <a:solidFill>
                        <a:srgbClr val="1199FF"/>
                      </a:solidFill>
                      <a:prstDash val="solid"/>
                      <a:round/>
                      <a:headEnd type="none" w="med" len="med"/>
                      <a:tailEnd type="none" w="med" len="med"/>
                    </a:lnR>
                    <a:lnT w="12700" cap="flat" cmpd="sng" algn="ctr">
                      <a:solidFill>
                        <a:srgbClr val="1199FF"/>
                      </a:solidFill>
                      <a:prstDash val="solid"/>
                      <a:round/>
                      <a:headEnd type="none" w="med" len="med"/>
                      <a:tailEnd type="none" w="med" len="med"/>
                    </a:lnT>
                    <a:lnB w="12700" cap="flat" cmpd="sng" algn="ctr">
                      <a:solidFill>
                        <a:srgbClr val="1199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362061028"/>
                  </a:ext>
                </a:extLst>
              </a:tr>
            </a:tbl>
          </a:graphicData>
        </a:graphic>
      </p:graphicFrame>
      <p:graphicFrame>
        <p:nvGraphicFramePr>
          <p:cNvPr id="38" name="Table 37">
            <a:extLst>
              <a:ext uri="{FF2B5EF4-FFF2-40B4-BE49-F238E27FC236}">
                <a16:creationId xmlns:a16="http://schemas.microsoft.com/office/drawing/2014/main" id="{380C1762-349A-46F9-A433-09881A7E0426}"/>
              </a:ext>
            </a:extLst>
          </p:cNvPr>
          <p:cNvGraphicFramePr>
            <a:graphicFrameLocks noGrp="1"/>
          </p:cNvGraphicFramePr>
          <p:nvPr/>
        </p:nvGraphicFramePr>
        <p:xfrm>
          <a:off x="3079018" y="4559398"/>
          <a:ext cx="3640395" cy="2107254"/>
        </p:xfrm>
        <a:graphic>
          <a:graphicData uri="http://schemas.openxmlformats.org/drawingml/2006/table">
            <a:tbl>
              <a:tblPr firstRow="1" bandRow="1"/>
              <a:tblGrid>
                <a:gridCol w="515215">
                  <a:extLst>
                    <a:ext uri="{9D8B030D-6E8A-4147-A177-3AD203B41FA5}">
                      <a16:colId xmlns:a16="http://schemas.microsoft.com/office/drawing/2014/main" val="3058908672"/>
                    </a:ext>
                  </a:extLst>
                </a:gridCol>
                <a:gridCol w="515215">
                  <a:extLst>
                    <a:ext uri="{9D8B030D-6E8A-4147-A177-3AD203B41FA5}">
                      <a16:colId xmlns:a16="http://schemas.microsoft.com/office/drawing/2014/main" val="3195872750"/>
                    </a:ext>
                  </a:extLst>
                </a:gridCol>
                <a:gridCol w="521993">
                  <a:extLst>
                    <a:ext uri="{9D8B030D-6E8A-4147-A177-3AD203B41FA5}">
                      <a16:colId xmlns:a16="http://schemas.microsoft.com/office/drawing/2014/main" val="2537297066"/>
                    </a:ext>
                  </a:extLst>
                </a:gridCol>
                <a:gridCol w="282203">
                  <a:extLst>
                    <a:ext uri="{9D8B030D-6E8A-4147-A177-3AD203B41FA5}">
                      <a16:colId xmlns:a16="http://schemas.microsoft.com/office/drawing/2014/main" val="989015309"/>
                    </a:ext>
                  </a:extLst>
                </a:gridCol>
                <a:gridCol w="602901">
                  <a:extLst>
                    <a:ext uri="{9D8B030D-6E8A-4147-A177-3AD203B41FA5}">
                      <a16:colId xmlns:a16="http://schemas.microsoft.com/office/drawing/2014/main" val="259513047"/>
                    </a:ext>
                  </a:extLst>
                </a:gridCol>
                <a:gridCol w="680875">
                  <a:extLst>
                    <a:ext uri="{9D8B030D-6E8A-4147-A177-3AD203B41FA5}">
                      <a16:colId xmlns:a16="http://schemas.microsoft.com/office/drawing/2014/main" val="1504135409"/>
                    </a:ext>
                  </a:extLst>
                </a:gridCol>
                <a:gridCol w="521993">
                  <a:extLst>
                    <a:ext uri="{9D8B030D-6E8A-4147-A177-3AD203B41FA5}">
                      <a16:colId xmlns:a16="http://schemas.microsoft.com/office/drawing/2014/main" val="4151598922"/>
                    </a:ext>
                  </a:extLst>
                </a:gridCol>
              </a:tblGrid>
              <a:tr h="351209">
                <a:tc>
                  <a:txBody>
                    <a:bodyPr/>
                    <a:lstStyle/>
                    <a:p>
                      <a:pPr algn="ctr"/>
                      <a:r>
                        <a:rPr lang="en-US" sz="1400" dirty="0">
                          <a:solidFill>
                            <a:srgbClr val="0081E2"/>
                          </a:solidFill>
                        </a:rPr>
                        <a:t>A</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B</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10</a:t>
                      </a:r>
                    </a:p>
                  </a:txBody>
                  <a:tcPr marL="121920" marR="121920" marT="60960" marB="60960">
                    <a:lnL w="12700" cmpd="sng">
                      <a:noFill/>
                      <a:prstDash val="soli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C</a:t>
                      </a:r>
                    </a:p>
                  </a:txBody>
                  <a:tcPr marL="121920" marR="121920" marT="60960" marB="60960">
                    <a:lnL w="1270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l"/>
                      <a:r>
                        <a:rPr lang="en-US" sz="1400" dirty="0">
                          <a:solidFill>
                            <a:srgbClr val="0081E2"/>
                          </a:solidFill>
                        </a:rPr>
                        <a:t>15</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334001219"/>
                  </a:ext>
                </a:extLst>
              </a:tr>
              <a:tr h="351209">
                <a:tc>
                  <a:txBody>
                    <a:bodyPr/>
                    <a:lstStyle/>
                    <a:p>
                      <a:pPr algn="ctr"/>
                      <a:r>
                        <a:rPr lang="en-US" sz="1400" dirty="0">
                          <a:solidFill>
                            <a:srgbClr val="0081E2"/>
                          </a:solidFill>
                        </a:rPr>
                        <a:t>B</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D</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60</a:t>
                      </a:r>
                    </a:p>
                  </a:txBody>
                  <a:tcPr marL="121920" marR="121920" marT="60960" marB="60960">
                    <a:lnL w="12700" cmpd="sng">
                      <a:noFill/>
                      <a:prstDash val="soli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354054619"/>
                  </a:ext>
                </a:extLst>
              </a:tr>
              <a:tr h="351209">
                <a:tc>
                  <a:txBody>
                    <a:bodyPr/>
                    <a:lstStyle/>
                    <a:p>
                      <a:pPr algn="ctr"/>
                      <a:r>
                        <a:rPr lang="en-US" sz="1400" dirty="0">
                          <a:solidFill>
                            <a:srgbClr val="0081E2"/>
                          </a:solidFill>
                        </a:rPr>
                        <a:t>C</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E</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5</a:t>
                      </a:r>
                    </a:p>
                  </a:txBody>
                  <a:tcPr marL="121920" marR="121920" marT="60960" marB="60960">
                    <a:lnL w="12700" cmpd="sng">
                      <a:noFill/>
                      <a:prstDash val="soli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535969509"/>
                  </a:ext>
                </a:extLst>
              </a:tr>
              <a:tr h="351209">
                <a:tc>
                  <a:txBody>
                    <a:bodyPr/>
                    <a:lstStyle/>
                    <a:p>
                      <a:pPr algn="ctr"/>
                      <a:r>
                        <a:rPr lang="en-US" sz="1400" dirty="0">
                          <a:solidFill>
                            <a:srgbClr val="0081E2"/>
                          </a:solidFill>
                        </a:rPr>
                        <a:t>D</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C</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40</a:t>
                      </a:r>
                    </a:p>
                  </a:txBody>
                  <a:tcPr marL="121920" marR="121920" marT="60960" marB="60960">
                    <a:lnL w="12700" cmpd="sng">
                      <a:noFill/>
                      <a:prstDash val="soli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F</a:t>
                      </a:r>
                    </a:p>
                  </a:txBody>
                  <a:tcPr marL="121920" marR="121920" marT="60960" marB="60960">
                    <a:lnL w="1270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l"/>
                      <a:r>
                        <a:rPr lang="en-US" sz="1400" dirty="0">
                          <a:solidFill>
                            <a:srgbClr val="0081E2"/>
                          </a:solidFill>
                        </a:rPr>
                        <a:t>80</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691306843"/>
                  </a:ext>
                </a:extLst>
              </a:tr>
              <a:tr h="351209">
                <a:tc>
                  <a:txBody>
                    <a:bodyPr/>
                    <a:lstStyle/>
                    <a:p>
                      <a:pPr algn="ctr"/>
                      <a:r>
                        <a:rPr lang="en-US" sz="1400" dirty="0">
                          <a:solidFill>
                            <a:srgbClr val="0081E2"/>
                          </a:solidFill>
                        </a:rPr>
                        <a:t>E</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F</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r>
                        <a:rPr lang="en-US" sz="1400" dirty="0">
                          <a:solidFill>
                            <a:srgbClr val="0081E2"/>
                          </a:solidFill>
                        </a:rPr>
                        <a:t>50</a:t>
                      </a:r>
                    </a:p>
                  </a:txBody>
                  <a:tcPr marL="121920" marR="121920" marT="60960" marB="60960">
                    <a:lnL w="12700" cmpd="sng">
                      <a:noFill/>
                      <a:prstDash val="soli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solidFill>
                          <a:srgbClr val="0081E2"/>
                        </a:solidFill>
                      </a:endParaRP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878904023"/>
                  </a:ext>
                </a:extLst>
              </a:tr>
              <a:tr h="351209">
                <a:tc>
                  <a:txBody>
                    <a:bodyPr/>
                    <a:lstStyle/>
                    <a:p>
                      <a:pPr algn="ctr"/>
                      <a:r>
                        <a:rPr lang="en-US" sz="1400" dirty="0">
                          <a:solidFill>
                            <a:srgbClr val="0081E2"/>
                          </a:solidFill>
                        </a:rPr>
                        <a:t>F</a:t>
                      </a:r>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mpd="sng">
                      <a:noFill/>
                      <a:prstDash val="solid"/>
                    </a:lnL>
                    <a:lnR w="12700" cap="flat" cmpd="sng" algn="ctr">
                      <a:noFill/>
                      <a:prstDash val="solid"/>
                      <a:round/>
                      <a:headEnd type="none" w="med" len="med"/>
                      <a:tailEnd type="none" w="med" len="me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ctr"/>
                      <a:endParaRPr lang="en-US" sz="1400" dirty="0"/>
                    </a:p>
                  </a:txBody>
                  <a:tcPr marL="121920" marR="121920" marT="60960" marB="60960">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676283760"/>
                  </a:ext>
                </a:extLst>
              </a:tr>
            </a:tbl>
          </a:graphicData>
        </a:graphic>
      </p:graphicFrame>
      <p:grpSp>
        <p:nvGrpSpPr>
          <p:cNvPr id="42" name="Group 41">
            <a:extLst>
              <a:ext uri="{FF2B5EF4-FFF2-40B4-BE49-F238E27FC236}">
                <a16:creationId xmlns:a16="http://schemas.microsoft.com/office/drawing/2014/main" id="{7947CA58-06BE-414A-BB54-FFCFED89CDF4}"/>
              </a:ext>
            </a:extLst>
          </p:cNvPr>
          <p:cNvGrpSpPr/>
          <p:nvPr/>
        </p:nvGrpSpPr>
        <p:grpSpPr>
          <a:xfrm>
            <a:off x="3579028" y="4601699"/>
            <a:ext cx="2310322" cy="1992622"/>
            <a:chOff x="7086114" y="1474965"/>
            <a:chExt cx="3779391" cy="2882654"/>
          </a:xfrm>
        </p:grpSpPr>
        <p:sp>
          <p:nvSpPr>
            <p:cNvPr id="43" name="Rectangle 42">
              <a:extLst>
                <a:ext uri="{FF2B5EF4-FFF2-40B4-BE49-F238E27FC236}">
                  <a16:creationId xmlns:a16="http://schemas.microsoft.com/office/drawing/2014/main" id="{B414F09D-BB13-4788-8F32-D96ED7A23D2C}"/>
                </a:ext>
              </a:extLst>
            </p:cNvPr>
            <p:cNvSpPr/>
            <p:nvPr/>
          </p:nvSpPr>
          <p:spPr>
            <a:xfrm>
              <a:off x="7362692" y="1474965"/>
              <a:ext cx="1286933" cy="45777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81E2"/>
                </a:solidFill>
                <a:effectLst/>
                <a:uLnTx/>
                <a:uFillTx/>
                <a:latin typeface="Calibri" panose="020F0502020204030204"/>
                <a:ea typeface="+mn-ea"/>
                <a:cs typeface="+mn-cs"/>
              </a:endParaRPr>
            </a:p>
          </p:txBody>
        </p:sp>
        <p:cxnSp>
          <p:nvCxnSpPr>
            <p:cNvPr id="44" name="Straight Connector 43">
              <a:extLst>
                <a:ext uri="{FF2B5EF4-FFF2-40B4-BE49-F238E27FC236}">
                  <a16:creationId xmlns:a16="http://schemas.microsoft.com/office/drawing/2014/main" id="{C59F677D-F00A-4278-A175-DB0E6250EAEA}"/>
                </a:ext>
              </a:extLst>
            </p:cNvPr>
            <p:cNvCxnSpPr>
              <a:cxnSpLocks/>
              <a:stCxn id="43" idx="0"/>
            </p:cNvCxnSpPr>
            <p:nvPr/>
          </p:nvCxnSpPr>
          <p:spPr>
            <a:xfrm>
              <a:off x="8006159" y="1474965"/>
              <a:ext cx="0" cy="44003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AC5839F0-090C-46F2-9412-2A4AC280400D}"/>
                </a:ext>
              </a:extLst>
            </p:cNvPr>
            <p:cNvSpPr/>
            <p:nvPr/>
          </p:nvSpPr>
          <p:spPr>
            <a:xfrm>
              <a:off x="7362692" y="1977603"/>
              <a:ext cx="1286933" cy="45777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81E2"/>
                </a:solidFill>
                <a:effectLst/>
                <a:uLnTx/>
                <a:uFillTx/>
                <a:latin typeface="Calibri" panose="020F0502020204030204"/>
                <a:ea typeface="+mn-ea"/>
                <a:cs typeface="+mn-cs"/>
              </a:endParaRPr>
            </a:p>
          </p:txBody>
        </p:sp>
        <p:cxnSp>
          <p:nvCxnSpPr>
            <p:cNvPr id="46" name="Straight Connector 45">
              <a:extLst>
                <a:ext uri="{FF2B5EF4-FFF2-40B4-BE49-F238E27FC236}">
                  <a16:creationId xmlns:a16="http://schemas.microsoft.com/office/drawing/2014/main" id="{177F8B44-8793-4EE9-978C-6862EBFADD2B}"/>
                </a:ext>
              </a:extLst>
            </p:cNvPr>
            <p:cNvCxnSpPr>
              <a:cxnSpLocks/>
              <a:stCxn id="45" idx="0"/>
            </p:cNvCxnSpPr>
            <p:nvPr/>
          </p:nvCxnSpPr>
          <p:spPr>
            <a:xfrm>
              <a:off x="8006159" y="1977603"/>
              <a:ext cx="0" cy="44003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7E35A4CC-8BA3-4099-87CB-C12196EFEC24}"/>
                </a:ext>
              </a:extLst>
            </p:cNvPr>
            <p:cNvSpPr/>
            <p:nvPr/>
          </p:nvSpPr>
          <p:spPr>
            <a:xfrm>
              <a:off x="7362694" y="2480242"/>
              <a:ext cx="1286933" cy="45777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81E2"/>
                </a:solidFill>
                <a:effectLst/>
                <a:uLnTx/>
                <a:uFillTx/>
                <a:latin typeface="Calibri" panose="020F0502020204030204"/>
                <a:ea typeface="+mn-ea"/>
                <a:cs typeface="+mn-cs"/>
              </a:endParaRPr>
            </a:p>
          </p:txBody>
        </p:sp>
        <p:cxnSp>
          <p:nvCxnSpPr>
            <p:cNvPr id="48" name="Straight Connector 47">
              <a:extLst>
                <a:ext uri="{FF2B5EF4-FFF2-40B4-BE49-F238E27FC236}">
                  <a16:creationId xmlns:a16="http://schemas.microsoft.com/office/drawing/2014/main" id="{717F8F92-ABD4-42F1-A864-C9C3E94E14B0}"/>
                </a:ext>
              </a:extLst>
            </p:cNvPr>
            <p:cNvCxnSpPr>
              <a:cxnSpLocks/>
              <a:stCxn id="47" idx="0"/>
            </p:cNvCxnSpPr>
            <p:nvPr/>
          </p:nvCxnSpPr>
          <p:spPr>
            <a:xfrm>
              <a:off x="8006161" y="2480242"/>
              <a:ext cx="0" cy="44003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9" name="Rectangle 48">
              <a:extLst>
                <a:ext uri="{FF2B5EF4-FFF2-40B4-BE49-F238E27FC236}">
                  <a16:creationId xmlns:a16="http://schemas.microsoft.com/office/drawing/2014/main" id="{27C675AE-D22F-4CB7-8649-7F8F830BBCB4}"/>
                </a:ext>
              </a:extLst>
            </p:cNvPr>
            <p:cNvSpPr/>
            <p:nvPr/>
          </p:nvSpPr>
          <p:spPr>
            <a:xfrm>
              <a:off x="7362695" y="2992555"/>
              <a:ext cx="1286933" cy="45777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81E2"/>
                </a:solidFill>
                <a:effectLst/>
                <a:uLnTx/>
                <a:uFillTx/>
                <a:latin typeface="Calibri" panose="020F0502020204030204"/>
                <a:ea typeface="+mn-ea"/>
                <a:cs typeface="+mn-cs"/>
              </a:endParaRPr>
            </a:p>
          </p:txBody>
        </p:sp>
        <p:cxnSp>
          <p:nvCxnSpPr>
            <p:cNvPr id="50" name="Straight Connector 49">
              <a:extLst>
                <a:ext uri="{FF2B5EF4-FFF2-40B4-BE49-F238E27FC236}">
                  <a16:creationId xmlns:a16="http://schemas.microsoft.com/office/drawing/2014/main" id="{D86769F2-B63A-4AE6-93D8-8A531AE22E07}"/>
                </a:ext>
              </a:extLst>
            </p:cNvPr>
            <p:cNvCxnSpPr>
              <a:cxnSpLocks/>
              <a:stCxn id="49" idx="0"/>
            </p:cNvCxnSpPr>
            <p:nvPr/>
          </p:nvCxnSpPr>
          <p:spPr>
            <a:xfrm>
              <a:off x="8006162" y="2992555"/>
              <a:ext cx="0" cy="44003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25127A77-582D-4EEB-A25B-0EAF2E0CDCDC}"/>
                </a:ext>
              </a:extLst>
            </p:cNvPr>
            <p:cNvSpPr/>
            <p:nvPr/>
          </p:nvSpPr>
          <p:spPr>
            <a:xfrm>
              <a:off x="7362694" y="3510265"/>
              <a:ext cx="1286933" cy="45777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81E2"/>
                </a:solidFill>
                <a:effectLst/>
                <a:uLnTx/>
                <a:uFillTx/>
                <a:latin typeface="Calibri" panose="020F0502020204030204"/>
                <a:ea typeface="+mn-ea"/>
                <a:cs typeface="+mn-cs"/>
              </a:endParaRPr>
            </a:p>
          </p:txBody>
        </p:sp>
        <p:cxnSp>
          <p:nvCxnSpPr>
            <p:cNvPr id="52" name="Straight Connector 51">
              <a:extLst>
                <a:ext uri="{FF2B5EF4-FFF2-40B4-BE49-F238E27FC236}">
                  <a16:creationId xmlns:a16="http://schemas.microsoft.com/office/drawing/2014/main" id="{EAA3F0D2-7CA2-4610-9ED0-1E8E08BD7C29}"/>
                </a:ext>
              </a:extLst>
            </p:cNvPr>
            <p:cNvCxnSpPr>
              <a:cxnSpLocks/>
              <a:stCxn id="51" idx="0"/>
            </p:cNvCxnSpPr>
            <p:nvPr/>
          </p:nvCxnSpPr>
          <p:spPr>
            <a:xfrm>
              <a:off x="8006161" y="3510265"/>
              <a:ext cx="0" cy="44003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889DA5BF-9C57-474E-9E93-630CE9AC40DD}"/>
                </a:ext>
              </a:extLst>
            </p:cNvPr>
            <p:cNvSpPr/>
            <p:nvPr/>
          </p:nvSpPr>
          <p:spPr>
            <a:xfrm>
              <a:off x="9578572" y="1491145"/>
              <a:ext cx="1286933" cy="45777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81E2"/>
                </a:solidFill>
                <a:effectLst/>
                <a:uLnTx/>
                <a:uFillTx/>
                <a:latin typeface="Calibri" panose="020F0502020204030204"/>
                <a:ea typeface="+mn-ea"/>
                <a:cs typeface="+mn-cs"/>
              </a:endParaRPr>
            </a:p>
          </p:txBody>
        </p:sp>
        <p:cxnSp>
          <p:nvCxnSpPr>
            <p:cNvPr id="54" name="Straight Connector 53">
              <a:extLst>
                <a:ext uri="{FF2B5EF4-FFF2-40B4-BE49-F238E27FC236}">
                  <a16:creationId xmlns:a16="http://schemas.microsoft.com/office/drawing/2014/main" id="{4FA9AC11-FB9F-49A8-B90C-35928588253F}"/>
                </a:ext>
              </a:extLst>
            </p:cNvPr>
            <p:cNvCxnSpPr>
              <a:cxnSpLocks/>
              <a:stCxn id="53" idx="0"/>
            </p:cNvCxnSpPr>
            <p:nvPr/>
          </p:nvCxnSpPr>
          <p:spPr>
            <a:xfrm>
              <a:off x="10222039" y="1491145"/>
              <a:ext cx="0" cy="44003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82C65E33-1457-4006-B3EC-29D53B457F3C}"/>
                </a:ext>
              </a:extLst>
            </p:cNvPr>
            <p:cNvSpPr/>
            <p:nvPr/>
          </p:nvSpPr>
          <p:spPr>
            <a:xfrm>
              <a:off x="9563267" y="2964785"/>
              <a:ext cx="1286933" cy="457772"/>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81E2"/>
                </a:solidFill>
                <a:effectLst/>
                <a:uLnTx/>
                <a:uFillTx/>
                <a:latin typeface="Calibri" panose="020F0502020204030204"/>
                <a:ea typeface="+mn-ea"/>
                <a:cs typeface="+mn-cs"/>
              </a:endParaRPr>
            </a:p>
          </p:txBody>
        </p:sp>
        <p:cxnSp>
          <p:nvCxnSpPr>
            <p:cNvPr id="56" name="Straight Connector 55">
              <a:extLst>
                <a:ext uri="{FF2B5EF4-FFF2-40B4-BE49-F238E27FC236}">
                  <a16:creationId xmlns:a16="http://schemas.microsoft.com/office/drawing/2014/main" id="{18136C55-BF82-4B6B-BDA0-02CEE5650F6D}"/>
                </a:ext>
              </a:extLst>
            </p:cNvPr>
            <p:cNvCxnSpPr>
              <a:cxnSpLocks/>
              <a:stCxn id="55" idx="0"/>
            </p:cNvCxnSpPr>
            <p:nvPr/>
          </p:nvCxnSpPr>
          <p:spPr>
            <a:xfrm>
              <a:off x="10206734" y="2964785"/>
              <a:ext cx="0" cy="44003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EF5076A9-4D55-4482-B15E-4B6653902E76}"/>
                </a:ext>
              </a:extLst>
            </p:cNvPr>
            <p:cNvCxnSpPr/>
            <p:nvPr/>
          </p:nvCxnSpPr>
          <p:spPr>
            <a:xfrm>
              <a:off x="7103047" y="1758569"/>
              <a:ext cx="259645"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8C80F45A-E861-4809-BF55-6F4975460CBE}"/>
                </a:ext>
              </a:extLst>
            </p:cNvPr>
            <p:cNvCxnSpPr/>
            <p:nvPr/>
          </p:nvCxnSpPr>
          <p:spPr>
            <a:xfrm>
              <a:off x="7086114" y="2246369"/>
              <a:ext cx="259645"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A723F6EC-6B14-4B63-9B0F-FD03ED7ACC7A}"/>
                </a:ext>
              </a:extLst>
            </p:cNvPr>
            <p:cNvCxnSpPr/>
            <p:nvPr/>
          </p:nvCxnSpPr>
          <p:spPr>
            <a:xfrm>
              <a:off x="7114336" y="2749004"/>
              <a:ext cx="259645"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662D2B9A-72AE-4BE2-B66D-3706ACF5C9DC}"/>
                </a:ext>
              </a:extLst>
            </p:cNvPr>
            <p:cNvCxnSpPr/>
            <p:nvPr/>
          </p:nvCxnSpPr>
          <p:spPr>
            <a:xfrm>
              <a:off x="7086114" y="3212573"/>
              <a:ext cx="259645"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C4C8B578-AC23-4744-96AF-9FF8E597E522}"/>
                </a:ext>
              </a:extLst>
            </p:cNvPr>
            <p:cNvCxnSpPr/>
            <p:nvPr/>
          </p:nvCxnSpPr>
          <p:spPr>
            <a:xfrm>
              <a:off x="7086114" y="3730283"/>
              <a:ext cx="259645"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DE21C3BF-DA33-47B7-B4DF-92B67D68A5FA}"/>
                </a:ext>
              </a:extLst>
            </p:cNvPr>
            <p:cNvCxnSpPr>
              <a:cxnSpLocks/>
            </p:cNvCxnSpPr>
            <p:nvPr/>
          </p:nvCxnSpPr>
          <p:spPr>
            <a:xfrm>
              <a:off x="8649626" y="1732689"/>
              <a:ext cx="913641"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FF48F860-47E8-4B12-A429-1412BA29B276}"/>
                </a:ext>
              </a:extLst>
            </p:cNvPr>
            <p:cNvCxnSpPr>
              <a:cxnSpLocks/>
            </p:cNvCxnSpPr>
            <p:nvPr/>
          </p:nvCxnSpPr>
          <p:spPr>
            <a:xfrm>
              <a:off x="8666180" y="3244349"/>
              <a:ext cx="913641"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5DA4F298-ACBA-4901-8F73-5D0B06F0E572}"/>
                </a:ext>
              </a:extLst>
            </p:cNvPr>
            <p:cNvCxnSpPr/>
            <p:nvPr/>
          </p:nvCxnSpPr>
          <p:spPr>
            <a:xfrm>
              <a:off x="7114336" y="4193127"/>
              <a:ext cx="259645"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A09C3A5-B727-45F5-ADE7-28E275C6BB70}"/>
                </a:ext>
              </a:extLst>
            </p:cNvPr>
            <p:cNvCxnSpPr/>
            <p:nvPr/>
          </p:nvCxnSpPr>
          <p:spPr>
            <a:xfrm>
              <a:off x="7486870" y="4193127"/>
              <a:ext cx="395111"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03413723-C337-41FE-BE0E-A254BF38B474}"/>
                </a:ext>
              </a:extLst>
            </p:cNvPr>
            <p:cNvCxnSpPr>
              <a:cxnSpLocks/>
            </p:cNvCxnSpPr>
            <p:nvPr/>
          </p:nvCxnSpPr>
          <p:spPr>
            <a:xfrm>
              <a:off x="7571537" y="4272147"/>
              <a:ext cx="24384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9D2CC13-F5D9-441E-89C3-3C0E7CD4B4DA}"/>
                </a:ext>
              </a:extLst>
            </p:cNvPr>
            <p:cNvCxnSpPr>
              <a:cxnSpLocks/>
            </p:cNvCxnSpPr>
            <p:nvPr/>
          </p:nvCxnSpPr>
          <p:spPr>
            <a:xfrm>
              <a:off x="7639272" y="4357619"/>
              <a:ext cx="12192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5" name="Rectangle 4">
            <a:extLst>
              <a:ext uri="{FF2B5EF4-FFF2-40B4-BE49-F238E27FC236}">
                <a16:creationId xmlns:a16="http://schemas.microsoft.com/office/drawing/2014/main" id="{8BF2DC25-D98A-42F4-893D-00123130617F}"/>
              </a:ext>
            </a:extLst>
          </p:cNvPr>
          <p:cNvSpPr/>
          <p:nvPr/>
        </p:nvSpPr>
        <p:spPr>
          <a:xfrm>
            <a:off x="5826818" y="6450240"/>
            <a:ext cx="2903359"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hlinkClick r:id="rId3">
                  <a:extLst>
                    <a:ext uri="{A12FA001-AC4F-418D-AE19-62706E023703}">
                      <ahyp:hlinkClr xmlns:ahyp="http://schemas.microsoft.com/office/drawing/2018/hyperlinkcolor" val="tx"/>
                    </a:ext>
                  </a:extLst>
                </a:hlinkClick>
              </a:rPr>
              <a:t>https://onlinegdb.com/HkJq9iFaI</a:t>
            </a:r>
            <a:r>
              <a:rPr kumimoji="0" lang="en-US" sz="12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 </a:t>
            </a:r>
          </a:p>
        </p:txBody>
      </p:sp>
    </p:spTree>
    <p:extLst>
      <p:ext uri="{BB962C8B-B14F-4D97-AF65-F5344CB8AC3E}">
        <p14:creationId xmlns:p14="http://schemas.microsoft.com/office/powerpoint/2010/main" val="2357694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6F03142-0382-4758-B80B-1984329254C7}"/>
              </a:ext>
            </a:extLst>
          </p:cNvPr>
          <p:cNvSpPr txBox="1">
            <a:spLocks/>
          </p:cNvSpPr>
          <p:nvPr/>
        </p:nvSpPr>
        <p:spPr>
          <a:xfrm>
            <a:off x="958780" y="0"/>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prstClr val="white"/>
                </a:solidFill>
                <a:effectLst/>
                <a:uLnTx/>
                <a:uFillTx/>
                <a:latin typeface="Gotham Bold" pitchFamily="50" charset="0"/>
                <a:ea typeface="+mj-ea"/>
                <a:cs typeface="+mj-cs"/>
              </a:rPr>
              <a:t>Graph Implementation</a:t>
            </a:r>
          </a:p>
        </p:txBody>
      </p:sp>
      <p:graphicFrame>
        <p:nvGraphicFramePr>
          <p:cNvPr id="5" name="Table 2">
            <a:extLst>
              <a:ext uri="{FF2B5EF4-FFF2-40B4-BE49-F238E27FC236}">
                <a16:creationId xmlns:a16="http://schemas.microsoft.com/office/drawing/2014/main" id="{27D64A7D-09B4-4A7B-BA7D-F36E14A433F6}"/>
              </a:ext>
              <a:ext uri="{C183D7F6-B498-43B3-948B-1728B52AA6E4}">
                <adec:decorative xmlns:adec="http://schemas.microsoft.com/office/drawing/2017/decorative" val="1"/>
              </a:ext>
            </a:extLst>
          </p:cNvPr>
          <p:cNvGraphicFramePr>
            <a:graphicFrameLocks noGrp="1"/>
          </p:cNvGraphicFramePr>
          <p:nvPr/>
        </p:nvGraphicFramePr>
        <p:xfrm>
          <a:off x="1480945" y="1948896"/>
          <a:ext cx="8999484" cy="3648036"/>
        </p:xfrm>
        <a:graphic>
          <a:graphicData uri="http://schemas.openxmlformats.org/drawingml/2006/table">
            <a:tbl>
              <a:tblPr firstRow="1" firstCol="1" bandRow="1">
                <a:tableStyleId>{9D7B26C5-4107-4FEC-AEDC-1716B250A1EF}</a:tableStyleId>
              </a:tblPr>
              <a:tblGrid>
                <a:gridCol w="2249871">
                  <a:extLst>
                    <a:ext uri="{9D8B030D-6E8A-4147-A177-3AD203B41FA5}">
                      <a16:colId xmlns:a16="http://schemas.microsoft.com/office/drawing/2014/main" val="13961905"/>
                    </a:ext>
                  </a:extLst>
                </a:gridCol>
                <a:gridCol w="2249871">
                  <a:extLst>
                    <a:ext uri="{9D8B030D-6E8A-4147-A177-3AD203B41FA5}">
                      <a16:colId xmlns:a16="http://schemas.microsoft.com/office/drawing/2014/main" val="2450235849"/>
                    </a:ext>
                  </a:extLst>
                </a:gridCol>
                <a:gridCol w="2249871">
                  <a:extLst>
                    <a:ext uri="{9D8B030D-6E8A-4147-A177-3AD203B41FA5}">
                      <a16:colId xmlns:a16="http://schemas.microsoft.com/office/drawing/2014/main" val="1069028512"/>
                    </a:ext>
                  </a:extLst>
                </a:gridCol>
                <a:gridCol w="2249871">
                  <a:extLst>
                    <a:ext uri="{9D8B030D-6E8A-4147-A177-3AD203B41FA5}">
                      <a16:colId xmlns:a16="http://schemas.microsoft.com/office/drawing/2014/main" val="916848761"/>
                    </a:ext>
                  </a:extLst>
                </a:gridCol>
              </a:tblGrid>
              <a:tr h="897862">
                <a:tc>
                  <a:txBody>
                    <a:bodyPr/>
                    <a:lstStyle/>
                    <a:p>
                      <a:pPr algn="ctr"/>
                      <a:endParaRPr lang="en-US" sz="1600" b="1" dirty="0">
                        <a:solidFill>
                          <a:srgbClr val="C00000"/>
                        </a:solidFill>
                        <a:latin typeface="Consolas" panose="020B0609020204030204" pitchFamily="49" charset="0"/>
                        <a:ea typeface="Roboto" panose="02000000000000000000" pitchFamily="2" charset="0"/>
                        <a:cs typeface="Roboto" panose="02000000000000000000" pitchFamily="2" charset="0"/>
                      </a:endParaRP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b="1" dirty="0">
                          <a:solidFill>
                            <a:srgbClr val="C00000"/>
                          </a:solidFill>
                          <a:latin typeface="Consolas" panose="020B0609020204030204" pitchFamily="49" charset="0"/>
                          <a:ea typeface="Roboto" panose="02000000000000000000" pitchFamily="2" charset="0"/>
                          <a:cs typeface="Roboto" panose="02000000000000000000" pitchFamily="2" charset="0"/>
                        </a:rPr>
                        <a:t>Edge List</a:t>
                      </a: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b="1" dirty="0">
                          <a:solidFill>
                            <a:srgbClr val="C00000"/>
                          </a:solidFill>
                          <a:latin typeface="Consolas" panose="020B0609020204030204" pitchFamily="49" charset="0"/>
                          <a:ea typeface="Roboto" panose="02000000000000000000" pitchFamily="2" charset="0"/>
                          <a:cs typeface="Roboto" panose="02000000000000000000" pitchFamily="2" charset="0"/>
                        </a:rPr>
                        <a:t>Adjacency Matrix</a:t>
                      </a: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b="1" dirty="0">
                          <a:solidFill>
                            <a:srgbClr val="C00000"/>
                          </a:solidFill>
                          <a:latin typeface="Consolas" panose="020B0609020204030204" pitchFamily="49" charset="0"/>
                          <a:ea typeface="Roboto" panose="02000000000000000000" pitchFamily="2" charset="0"/>
                          <a:cs typeface="Roboto" panose="02000000000000000000" pitchFamily="2" charset="0"/>
                        </a:rPr>
                        <a:t>Adjacency List</a:t>
                      </a: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3834683180"/>
                  </a:ext>
                </a:extLst>
              </a:tr>
              <a:tr h="926156">
                <a:tc>
                  <a:txBody>
                    <a:bodyPr/>
                    <a:lstStyle/>
                    <a:p>
                      <a:pPr algn="ctr"/>
                      <a:r>
                        <a:rPr lang="en-US" sz="1800" b="1" dirty="0">
                          <a:solidFill>
                            <a:srgbClr val="C00000"/>
                          </a:solidFill>
                          <a:latin typeface="Consolas" panose="020B0609020204030204" pitchFamily="49" charset="0"/>
                          <a:ea typeface="Roboto" panose="02000000000000000000" pitchFamily="2" charset="0"/>
                          <a:cs typeface="Roboto" panose="02000000000000000000" pitchFamily="2" charset="0"/>
                        </a:rPr>
                        <a:t>Time Complexity: Connectedness</a:t>
                      </a: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b="0" dirty="0">
                          <a:solidFill>
                            <a:schemeClr val="bg1">
                              <a:lumMod val="85000"/>
                            </a:schemeClr>
                          </a:solidFill>
                          <a:latin typeface="Consolas" panose="020B0609020204030204" pitchFamily="49" charset="0"/>
                          <a:ea typeface="Roboto" panose="02000000000000000000" pitchFamily="2" charset="0"/>
                          <a:cs typeface="Roboto" panose="02000000000000000000" pitchFamily="2" charset="0"/>
                        </a:rPr>
                        <a:t>O(E)</a:t>
                      </a: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b="0" dirty="0">
                          <a:solidFill>
                            <a:schemeClr val="bg1">
                              <a:lumMod val="85000"/>
                            </a:schemeClr>
                          </a:solidFill>
                          <a:latin typeface="Consolas" panose="020B0609020204030204" pitchFamily="49" charset="0"/>
                          <a:ea typeface="Roboto" panose="02000000000000000000" pitchFamily="2" charset="0"/>
                          <a:cs typeface="Roboto" panose="02000000000000000000" pitchFamily="2" charset="0"/>
                        </a:rPr>
                        <a:t>O(1)</a:t>
                      </a: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b="0" dirty="0">
                          <a:solidFill>
                            <a:schemeClr val="bg1">
                              <a:lumMod val="85000"/>
                            </a:schemeClr>
                          </a:solidFill>
                          <a:latin typeface="Consolas" panose="020B0609020204030204" pitchFamily="49" charset="0"/>
                          <a:ea typeface="Roboto" panose="02000000000000000000" pitchFamily="2" charset="0"/>
                          <a:cs typeface="Roboto" panose="02000000000000000000" pitchFamily="2" charset="0"/>
                        </a:rPr>
                        <a:t>O(outdegree(V))</a:t>
                      </a: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429640132"/>
                  </a:ext>
                </a:extLst>
              </a:tr>
              <a:tr h="926156">
                <a:tc>
                  <a:txBody>
                    <a:bodyPr/>
                    <a:lstStyle/>
                    <a:p>
                      <a:pPr algn="ctr"/>
                      <a:r>
                        <a:rPr lang="en-US" sz="1800" b="1" dirty="0">
                          <a:solidFill>
                            <a:srgbClr val="C00000"/>
                          </a:solidFill>
                          <a:latin typeface="Consolas" panose="020B0609020204030204" pitchFamily="49" charset="0"/>
                          <a:ea typeface="Roboto" panose="02000000000000000000" pitchFamily="2" charset="0"/>
                          <a:cs typeface="Roboto" panose="02000000000000000000" pitchFamily="2" charset="0"/>
                        </a:rPr>
                        <a:t>Time Complexity:</a:t>
                      </a:r>
                    </a:p>
                    <a:p>
                      <a:pPr algn="ctr"/>
                      <a:r>
                        <a:rPr lang="en-US" sz="1800" b="1" dirty="0">
                          <a:solidFill>
                            <a:srgbClr val="C00000"/>
                          </a:solidFill>
                          <a:latin typeface="Consolas" panose="020B0609020204030204" pitchFamily="49" charset="0"/>
                          <a:ea typeface="Roboto" panose="02000000000000000000" pitchFamily="2" charset="0"/>
                          <a:cs typeface="Roboto" panose="02000000000000000000" pitchFamily="2" charset="0"/>
                        </a:rPr>
                        <a:t>Adjacency</a:t>
                      </a: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b="0" dirty="0">
                          <a:solidFill>
                            <a:schemeClr val="bg1">
                              <a:lumMod val="85000"/>
                            </a:schemeClr>
                          </a:solidFill>
                          <a:latin typeface="Consolas" panose="020B0609020204030204" pitchFamily="49" charset="0"/>
                          <a:ea typeface="Roboto" panose="02000000000000000000" pitchFamily="2" charset="0"/>
                          <a:cs typeface="Roboto" panose="02000000000000000000" pitchFamily="2" charset="0"/>
                        </a:rPr>
                        <a:t>O(E)</a:t>
                      </a: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b="0" dirty="0">
                          <a:solidFill>
                            <a:schemeClr val="bg1">
                              <a:lumMod val="85000"/>
                            </a:schemeClr>
                          </a:solidFill>
                          <a:latin typeface="Consolas" panose="020B0609020204030204" pitchFamily="49" charset="0"/>
                          <a:ea typeface="Roboto" panose="02000000000000000000" pitchFamily="2" charset="0"/>
                          <a:cs typeface="Roboto" panose="02000000000000000000" pitchFamily="2" charset="0"/>
                        </a:rPr>
                        <a:t>O(V)</a:t>
                      </a: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b="0" dirty="0">
                          <a:solidFill>
                            <a:schemeClr val="bg1">
                              <a:lumMod val="85000"/>
                            </a:schemeClr>
                          </a:solidFill>
                          <a:latin typeface="Consolas" panose="020B0609020204030204" pitchFamily="49" charset="0"/>
                          <a:ea typeface="Roboto" panose="02000000000000000000" pitchFamily="2" charset="0"/>
                          <a:cs typeface="Roboto" panose="02000000000000000000" pitchFamily="2" charset="0"/>
                        </a:rPr>
                        <a:t>O(outdegree(V))</a:t>
                      </a: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613298492"/>
                  </a:ext>
                </a:extLst>
              </a:tr>
              <a:tr h="897862">
                <a:tc>
                  <a:txBody>
                    <a:bodyPr/>
                    <a:lstStyle/>
                    <a:p>
                      <a:pPr algn="ctr"/>
                      <a:r>
                        <a:rPr lang="en-US" sz="1800" b="1" dirty="0">
                          <a:solidFill>
                            <a:srgbClr val="C00000"/>
                          </a:solidFill>
                          <a:latin typeface="Consolas" panose="020B0609020204030204" pitchFamily="49" charset="0"/>
                          <a:ea typeface="Roboto" panose="02000000000000000000" pitchFamily="2" charset="0"/>
                          <a:cs typeface="Roboto" panose="02000000000000000000" pitchFamily="2" charset="0"/>
                        </a:rPr>
                        <a:t>Space Complexity</a:t>
                      </a: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b="0" dirty="0">
                          <a:solidFill>
                            <a:schemeClr val="bg1">
                              <a:lumMod val="85000"/>
                            </a:schemeClr>
                          </a:solidFill>
                          <a:latin typeface="Consolas" panose="020B0609020204030204" pitchFamily="49" charset="0"/>
                          <a:ea typeface="Roboto" panose="02000000000000000000" pitchFamily="2" charset="0"/>
                          <a:cs typeface="Roboto" panose="02000000000000000000" pitchFamily="2" charset="0"/>
                        </a:rPr>
                        <a:t>O(E)</a:t>
                      </a: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b="0" dirty="0">
                          <a:solidFill>
                            <a:schemeClr val="bg1">
                              <a:lumMod val="85000"/>
                            </a:schemeClr>
                          </a:solidFill>
                          <a:latin typeface="Consolas" panose="020B0609020204030204" pitchFamily="49" charset="0"/>
                          <a:ea typeface="Roboto" panose="02000000000000000000" pitchFamily="2" charset="0"/>
                          <a:cs typeface="Roboto" panose="02000000000000000000" pitchFamily="2" charset="0"/>
                        </a:rPr>
                        <a:t>O(V*V)</a:t>
                      </a: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b="0" dirty="0">
                          <a:solidFill>
                            <a:schemeClr val="bg1">
                              <a:lumMod val="85000"/>
                            </a:schemeClr>
                          </a:solidFill>
                          <a:latin typeface="Consolas" panose="020B0609020204030204" pitchFamily="49" charset="0"/>
                          <a:ea typeface="Roboto" panose="02000000000000000000" pitchFamily="2" charset="0"/>
                          <a:cs typeface="Roboto" panose="02000000000000000000" pitchFamily="2" charset="0"/>
                        </a:rPr>
                        <a:t>O(V+E)</a:t>
                      </a: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2022403512"/>
                  </a:ext>
                </a:extLst>
              </a:tr>
            </a:tbl>
          </a:graphicData>
        </a:graphic>
      </p:graphicFrame>
      <p:grpSp>
        <p:nvGrpSpPr>
          <p:cNvPr id="6" name="Group 5">
            <a:extLst>
              <a:ext uri="{FF2B5EF4-FFF2-40B4-BE49-F238E27FC236}">
                <a16:creationId xmlns:a16="http://schemas.microsoft.com/office/drawing/2014/main" id="{DD9646D5-C77B-48EC-9435-A1ACA6948AB6}"/>
              </a:ext>
            </a:extLst>
          </p:cNvPr>
          <p:cNvGrpSpPr/>
          <p:nvPr/>
        </p:nvGrpSpPr>
        <p:grpSpPr>
          <a:xfrm>
            <a:off x="11317255" y="5989103"/>
            <a:ext cx="841781" cy="748032"/>
            <a:chOff x="11337354" y="6025684"/>
            <a:chExt cx="841781" cy="748032"/>
          </a:xfrm>
        </p:grpSpPr>
        <p:pic>
          <p:nvPicPr>
            <p:cNvPr id="7" name="Picture 6">
              <a:extLst>
                <a:ext uri="{FF2B5EF4-FFF2-40B4-BE49-F238E27FC236}">
                  <a16:creationId xmlns:a16="http://schemas.microsoft.com/office/drawing/2014/main" id="{D0C14CC7-0F2C-4CFD-877B-D23BA61D8E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Logo COP3530">
              <a:extLst>
                <a:ext uri="{FF2B5EF4-FFF2-40B4-BE49-F238E27FC236}">
                  <a16:creationId xmlns:a16="http://schemas.microsoft.com/office/drawing/2014/main" id="{3B2FC56C-8662-4C1D-8239-DB27C71B8873}"/>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371683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1A51D59-D2D3-4210-9D1A-4881006160A9}"/>
              </a:ext>
            </a:extLst>
          </p:cNvPr>
          <p:cNvGrpSpPr/>
          <p:nvPr/>
        </p:nvGrpSpPr>
        <p:grpSpPr>
          <a:xfrm>
            <a:off x="11317255" y="5989103"/>
            <a:ext cx="841781" cy="748032"/>
            <a:chOff x="11337354" y="6025684"/>
            <a:chExt cx="841781" cy="748032"/>
          </a:xfrm>
        </p:grpSpPr>
        <p:pic>
          <p:nvPicPr>
            <p:cNvPr id="4" name="Picture 3">
              <a:extLst>
                <a:ext uri="{FF2B5EF4-FFF2-40B4-BE49-F238E27FC236}">
                  <a16:creationId xmlns:a16="http://schemas.microsoft.com/office/drawing/2014/main" id="{AE3FCB03-6B3C-4A8C-9476-D1884DDB4F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ogo COP3530">
              <a:extLst>
                <a:ext uri="{FF2B5EF4-FFF2-40B4-BE49-F238E27FC236}">
                  <a16:creationId xmlns:a16="http://schemas.microsoft.com/office/drawing/2014/main" id="{4C3AE7BD-F7F9-4D78-A29D-87991531336A}"/>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pic>
        <p:nvPicPr>
          <p:cNvPr id="7" name="Picture 6">
            <a:extLst>
              <a:ext uri="{FF2B5EF4-FFF2-40B4-BE49-F238E27FC236}">
                <a16:creationId xmlns:a16="http://schemas.microsoft.com/office/drawing/2014/main" id="{2A3648A1-E525-A462-7FAA-2B278C6384F1}"/>
              </a:ext>
            </a:extLst>
          </p:cNvPr>
          <p:cNvPicPr>
            <a:picLocks noChangeAspect="1"/>
          </p:cNvPicPr>
          <p:nvPr/>
        </p:nvPicPr>
        <p:blipFill rotWithShape="1">
          <a:blip r:embed="rId5"/>
          <a:srcRect l="64797" t="26699" r="3978" b="9213"/>
          <a:stretch/>
        </p:blipFill>
        <p:spPr>
          <a:xfrm>
            <a:off x="4622306" y="2411403"/>
            <a:ext cx="2947387" cy="3302492"/>
          </a:xfrm>
          <a:prstGeom prst="rect">
            <a:avLst/>
          </a:prstGeom>
        </p:spPr>
      </p:pic>
      <p:sp>
        <p:nvSpPr>
          <p:cNvPr id="9" name="TextBox 8">
            <a:extLst>
              <a:ext uri="{FF2B5EF4-FFF2-40B4-BE49-F238E27FC236}">
                <a16:creationId xmlns:a16="http://schemas.microsoft.com/office/drawing/2014/main" id="{73BC5945-99A5-B153-9DAC-7CD6EEC57383}"/>
              </a:ext>
            </a:extLst>
          </p:cNvPr>
          <p:cNvSpPr txBox="1"/>
          <p:nvPr/>
        </p:nvSpPr>
        <p:spPr>
          <a:xfrm>
            <a:off x="992227" y="621437"/>
            <a:ext cx="10207546" cy="4124206"/>
          </a:xfrm>
          <a:prstGeom prst="rect">
            <a:avLst/>
          </a:prstGeom>
          <a:noFill/>
        </p:spPr>
        <p:txBody>
          <a:bodyPr wrap="square" rtlCol="0">
            <a:spAutoFit/>
          </a:bodyPr>
          <a:lstStyle/>
          <a:p>
            <a:r>
              <a:rPr lang="en-US" sz="2800" dirty="0">
                <a:solidFill>
                  <a:schemeClr val="bg1"/>
                </a:solidFill>
                <a:latin typeface="Gotham Bold" pitchFamily="50" charset="0"/>
              </a:rPr>
              <a:t>Alt Text for the Graph on Next Slide</a:t>
            </a:r>
          </a:p>
          <a:p>
            <a:endParaRPr lang="en-US" dirty="0">
              <a:solidFill>
                <a:schemeClr val="bg1"/>
              </a:solidFill>
            </a:endParaRPr>
          </a:p>
          <a:p>
            <a:endParaRPr lang="en-US" dirty="0">
              <a:solidFill>
                <a:schemeClr val="bg1"/>
              </a:solidFill>
            </a:endParaRPr>
          </a:p>
          <a:p>
            <a:r>
              <a:rPr lang="en-US" dirty="0">
                <a:solidFill>
                  <a:schemeClr val="bg1"/>
                </a:solidFill>
              </a:rPr>
              <a:t>Vertex: Neighbors of Vertex (Edges pointing from a vertex to the neighbor)</a:t>
            </a:r>
          </a:p>
          <a:p>
            <a:endParaRPr lang="en-US" dirty="0">
              <a:solidFill>
                <a:schemeClr val="bg1"/>
              </a:solidFill>
            </a:endParaRPr>
          </a:p>
          <a:p>
            <a:r>
              <a:rPr lang="en-US" dirty="0">
                <a:solidFill>
                  <a:schemeClr val="bg1"/>
                </a:solidFill>
              </a:rPr>
              <a:t>A: B, E, F</a:t>
            </a:r>
          </a:p>
          <a:p>
            <a:r>
              <a:rPr lang="en-US" dirty="0">
                <a:solidFill>
                  <a:schemeClr val="bg1"/>
                </a:solidFill>
              </a:rPr>
              <a:t>B: A, C, F, H</a:t>
            </a:r>
          </a:p>
          <a:p>
            <a:r>
              <a:rPr lang="en-US" dirty="0">
                <a:solidFill>
                  <a:schemeClr val="bg1"/>
                </a:solidFill>
              </a:rPr>
              <a:t>C: B, D, F, G, H, I</a:t>
            </a:r>
          </a:p>
          <a:p>
            <a:r>
              <a:rPr lang="en-US" dirty="0">
                <a:solidFill>
                  <a:schemeClr val="bg1"/>
                </a:solidFill>
              </a:rPr>
              <a:t>D: C, E, F, G</a:t>
            </a:r>
          </a:p>
          <a:p>
            <a:r>
              <a:rPr lang="en-US" dirty="0">
                <a:solidFill>
                  <a:schemeClr val="bg1"/>
                </a:solidFill>
              </a:rPr>
              <a:t>E: A, D, F</a:t>
            </a:r>
          </a:p>
          <a:p>
            <a:r>
              <a:rPr lang="en-US" dirty="0">
                <a:solidFill>
                  <a:schemeClr val="bg1"/>
                </a:solidFill>
              </a:rPr>
              <a:t>F: A, B, C, D, E</a:t>
            </a:r>
          </a:p>
          <a:p>
            <a:r>
              <a:rPr lang="en-US" dirty="0">
                <a:solidFill>
                  <a:schemeClr val="bg1"/>
                </a:solidFill>
              </a:rPr>
              <a:t>G: C, D, I</a:t>
            </a:r>
          </a:p>
          <a:p>
            <a:r>
              <a:rPr lang="en-US" dirty="0">
                <a:solidFill>
                  <a:schemeClr val="bg1"/>
                </a:solidFill>
              </a:rPr>
              <a:t>H: B, C, I</a:t>
            </a:r>
          </a:p>
          <a:p>
            <a:r>
              <a:rPr lang="en-US" dirty="0">
                <a:solidFill>
                  <a:schemeClr val="bg1"/>
                </a:solidFill>
              </a:rPr>
              <a:t>I: C, G, H</a:t>
            </a:r>
          </a:p>
        </p:txBody>
      </p:sp>
    </p:spTree>
    <p:extLst>
      <p:ext uri="{BB962C8B-B14F-4D97-AF65-F5344CB8AC3E}">
        <p14:creationId xmlns:p14="http://schemas.microsoft.com/office/powerpoint/2010/main" val="825079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14EC80D-1075-498B-9D7E-38344249D4DA}"/>
              </a:ext>
            </a:extLst>
          </p:cNvPr>
          <p:cNvPicPr>
            <a:picLocks noChangeAspect="1"/>
          </p:cNvPicPr>
          <p:nvPr/>
        </p:nvPicPr>
        <p:blipFill>
          <a:blip r:embed="rId3"/>
          <a:stretch>
            <a:fillRect/>
          </a:stretch>
        </p:blipFill>
        <p:spPr>
          <a:xfrm>
            <a:off x="1376362" y="852487"/>
            <a:ext cx="9439275" cy="5153025"/>
          </a:xfrm>
          <a:prstGeom prst="rect">
            <a:avLst/>
          </a:prstGeom>
        </p:spPr>
      </p:pic>
      <p:grpSp>
        <p:nvGrpSpPr>
          <p:cNvPr id="3" name="Group 2">
            <a:extLst>
              <a:ext uri="{FF2B5EF4-FFF2-40B4-BE49-F238E27FC236}">
                <a16:creationId xmlns:a16="http://schemas.microsoft.com/office/drawing/2014/main" id="{D1A51D59-D2D3-4210-9D1A-4881006160A9}"/>
              </a:ext>
            </a:extLst>
          </p:cNvPr>
          <p:cNvGrpSpPr/>
          <p:nvPr/>
        </p:nvGrpSpPr>
        <p:grpSpPr>
          <a:xfrm>
            <a:off x="11317255" y="5989103"/>
            <a:ext cx="841781" cy="748032"/>
            <a:chOff x="11337354" y="6025684"/>
            <a:chExt cx="841781" cy="748032"/>
          </a:xfrm>
        </p:grpSpPr>
        <p:pic>
          <p:nvPicPr>
            <p:cNvPr id="4" name="Picture 3">
              <a:extLst>
                <a:ext uri="{FF2B5EF4-FFF2-40B4-BE49-F238E27FC236}">
                  <a16:creationId xmlns:a16="http://schemas.microsoft.com/office/drawing/2014/main" id="{AE3FCB03-6B3C-4A8C-9476-D1884DDB4F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ogo COP3530">
              <a:extLst>
                <a:ext uri="{FF2B5EF4-FFF2-40B4-BE49-F238E27FC236}">
                  <a16:creationId xmlns:a16="http://schemas.microsoft.com/office/drawing/2014/main" id="{4C3AE7BD-F7F9-4D78-A29D-87991531336A}"/>
                </a:ext>
              </a:extLst>
            </p:cNvPr>
            <p:cNvPicPr>
              <a:picLocks noChangeAspect="1"/>
            </p:cNvPicPr>
            <p:nvPr/>
          </p:nvPicPr>
          <p:blipFill rotWithShape="1">
            <a:blip r:embed="rId5"/>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3834032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B72F37-C6D1-4E96-A6E1-BAA296639074}"/>
              </a:ext>
            </a:extLst>
          </p:cNvPr>
          <p:cNvPicPr>
            <a:picLocks noChangeAspect="1"/>
          </p:cNvPicPr>
          <p:nvPr/>
        </p:nvPicPr>
        <p:blipFill>
          <a:blip r:embed="rId3"/>
          <a:stretch>
            <a:fillRect/>
          </a:stretch>
        </p:blipFill>
        <p:spPr>
          <a:xfrm>
            <a:off x="1509712" y="685800"/>
            <a:ext cx="9172575" cy="5486400"/>
          </a:xfrm>
          <a:prstGeom prst="rect">
            <a:avLst/>
          </a:prstGeom>
        </p:spPr>
      </p:pic>
      <p:grpSp>
        <p:nvGrpSpPr>
          <p:cNvPr id="4" name="Group 3">
            <a:extLst>
              <a:ext uri="{FF2B5EF4-FFF2-40B4-BE49-F238E27FC236}">
                <a16:creationId xmlns:a16="http://schemas.microsoft.com/office/drawing/2014/main" id="{5E150EA8-43AC-4AC2-A6D7-FC2D41AB808A}"/>
              </a:ext>
            </a:extLst>
          </p:cNvPr>
          <p:cNvGrpSpPr/>
          <p:nvPr/>
        </p:nvGrpSpPr>
        <p:grpSpPr>
          <a:xfrm>
            <a:off x="11317255" y="5989103"/>
            <a:ext cx="841781" cy="748032"/>
            <a:chOff x="11337354" y="6025684"/>
            <a:chExt cx="841781" cy="748032"/>
          </a:xfrm>
        </p:grpSpPr>
        <p:pic>
          <p:nvPicPr>
            <p:cNvPr id="5" name="Picture 4">
              <a:extLst>
                <a:ext uri="{FF2B5EF4-FFF2-40B4-BE49-F238E27FC236}">
                  <a16:creationId xmlns:a16="http://schemas.microsoft.com/office/drawing/2014/main" id="{DD89E064-ED80-4ED1-B86E-26B950B14F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Logo COP3530">
              <a:extLst>
                <a:ext uri="{FF2B5EF4-FFF2-40B4-BE49-F238E27FC236}">
                  <a16:creationId xmlns:a16="http://schemas.microsoft.com/office/drawing/2014/main" id="{2575B39E-D5D6-4C7A-8B8C-363C3A5A6412}"/>
                </a:ext>
              </a:extLst>
            </p:cNvPr>
            <p:cNvPicPr>
              <a:picLocks noChangeAspect="1"/>
            </p:cNvPicPr>
            <p:nvPr/>
          </p:nvPicPr>
          <p:blipFill rotWithShape="1">
            <a:blip r:embed="rId5"/>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2558582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1A51D59-D2D3-4210-9D1A-4881006160A9}"/>
              </a:ext>
            </a:extLst>
          </p:cNvPr>
          <p:cNvGrpSpPr/>
          <p:nvPr/>
        </p:nvGrpSpPr>
        <p:grpSpPr>
          <a:xfrm>
            <a:off x="11317255" y="5989103"/>
            <a:ext cx="841781" cy="748032"/>
            <a:chOff x="11337354" y="6025684"/>
            <a:chExt cx="841781" cy="748032"/>
          </a:xfrm>
        </p:grpSpPr>
        <p:pic>
          <p:nvPicPr>
            <p:cNvPr id="4" name="Picture 3">
              <a:extLst>
                <a:ext uri="{FF2B5EF4-FFF2-40B4-BE49-F238E27FC236}">
                  <a16:creationId xmlns:a16="http://schemas.microsoft.com/office/drawing/2014/main" id="{AE3FCB03-6B3C-4A8C-9476-D1884DDB4F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ogo COP3530">
              <a:extLst>
                <a:ext uri="{FF2B5EF4-FFF2-40B4-BE49-F238E27FC236}">
                  <a16:creationId xmlns:a16="http://schemas.microsoft.com/office/drawing/2014/main" id="{4C3AE7BD-F7F9-4D78-A29D-87991531336A}"/>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
        <p:nvSpPr>
          <p:cNvPr id="6" name="TextBox 5">
            <a:extLst>
              <a:ext uri="{FF2B5EF4-FFF2-40B4-BE49-F238E27FC236}">
                <a16:creationId xmlns:a16="http://schemas.microsoft.com/office/drawing/2014/main" id="{D6694A48-2A4F-BE05-A891-2EF83EF37089}"/>
              </a:ext>
            </a:extLst>
          </p:cNvPr>
          <p:cNvSpPr txBox="1"/>
          <p:nvPr/>
        </p:nvSpPr>
        <p:spPr>
          <a:xfrm>
            <a:off x="992227" y="621437"/>
            <a:ext cx="10207546" cy="4124206"/>
          </a:xfrm>
          <a:prstGeom prst="rect">
            <a:avLst/>
          </a:prstGeom>
          <a:noFill/>
        </p:spPr>
        <p:txBody>
          <a:bodyPr wrap="square" rtlCol="0">
            <a:spAutoFit/>
          </a:bodyPr>
          <a:lstStyle/>
          <a:p>
            <a:r>
              <a:rPr lang="en-US" sz="2800" dirty="0">
                <a:solidFill>
                  <a:schemeClr val="bg1"/>
                </a:solidFill>
                <a:latin typeface="Gotham Bold" pitchFamily="50" charset="0"/>
              </a:rPr>
              <a:t>Alt Text for the Graph on Next Slide</a:t>
            </a:r>
          </a:p>
          <a:p>
            <a:endParaRPr lang="en-US" dirty="0">
              <a:solidFill>
                <a:schemeClr val="bg1"/>
              </a:solidFill>
            </a:endParaRPr>
          </a:p>
          <a:p>
            <a:endParaRPr lang="en-US" dirty="0">
              <a:solidFill>
                <a:schemeClr val="bg1"/>
              </a:solidFill>
            </a:endParaRPr>
          </a:p>
          <a:p>
            <a:r>
              <a:rPr lang="en-US" dirty="0">
                <a:solidFill>
                  <a:schemeClr val="bg1"/>
                </a:solidFill>
              </a:rPr>
              <a:t>Vertex: Neighbors of Vertex (Edges pointing from a vertex to the neighbor)</a:t>
            </a:r>
          </a:p>
          <a:p>
            <a:endParaRPr lang="en-US" dirty="0">
              <a:solidFill>
                <a:schemeClr val="bg1"/>
              </a:solidFill>
            </a:endParaRPr>
          </a:p>
          <a:p>
            <a:r>
              <a:rPr lang="pt-BR" dirty="0">
                <a:solidFill>
                  <a:schemeClr val="bg1"/>
                </a:solidFill>
              </a:rPr>
              <a:t>A: F, I</a:t>
            </a:r>
          </a:p>
          <a:p>
            <a:r>
              <a:rPr lang="pt-BR" dirty="0">
                <a:solidFill>
                  <a:schemeClr val="bg1"/>
                </a:solidFill>
              </a:rPr>
              <a:t>B: C, H</a:t>
            </a:r>
          </a:p>
          <a:p>
            <a:r>
              <a:rPr lang="pt-BR" dirty="0">
                <a:solidFill>
                  <a:schemeClr val="bg1"/>
                </a:solidFill>
              </a:rPr>
              <a:t>C: B, E, F</a:t>
            </a:r>
          </a:p>
          <a:p>
            <a:r>
              <a:rPr lang="pt-BR" dirty="0">
                <a:solidFill>
                  <a:schemeClr val="bg1"/>
                </a:solidFill>
              </a:rPr>
              <a:t>D: E, G</a:t>
            </a:r>
          </a:p>
          <a:p>
            <a:r>
              <a:rPr lang="pt-BR" dirty="0">
                <a:solidFill>
                  <a:schemeClr val="bg1"/>
                </a:solidFill>
              </a:rPr>
              <a:t>E: C, D, H</a:t>
            </a:r>
          </a:p>
          <a:p>
            <a:r>
              <a:rPr lang="pt-BR" dirty="0">
                <a:solidFill>
                  <a:schemeClr val="bg1"/>
                </a:solidFill>
              </a:rPr>
              <a:t>F: A, C</a:t>
            </a:r>
          </a:p>
          <a:p>
            <a:r>
              <a:rPr lang="pt-BR" dirty="0">
                <a:solidFill>
                  <a:schemeClr val="bg1"/>
                </a:solidFill>
              </a:rPr>
              <a:t>G: D, I</a:t>
            </a:r>
          </a:p>
          <a:p>
            <a:r>
              <a:rPr lang="pt-BR" dirty="0">
                <a:solidFill>
                  <a:schemeClr val="bg1"/>
                </a:solidFill>
              </a:rPr>
              <a:t>H: B, E</a:t>
            </a:r>
          </a:p>
          <a:p>
            <a:r>
              <a:rPr lang="pt-BR" dirty="0">
                <a:solidFill>
                  <a:schemeClr val="bg1"/>
                </a:solidFill>
              </a:rPr>
              <a:t>I: A, G</a:t>
            </a:r>
            <a:endParaRPr lang="en-US" dirty="0">
              <a:solidFill>
                <a:schemeClr val="bg1"/>
              </a:solidFill>
            </a:endParaRPr>
          </a:p>
        </p:txBody>
      </p:sp>
      <p:pic>
        <p:nvPicPr>
          <p:cNvPr id="2" name="Picture 1">
            <a:extLst>
              <a:ext uri="{FF2B5EF4-FFF2-40B4-BE49-F238E27FC236}">
                <a16:creationId xmlns:a16="http://schemas.microsoft.com/office/drawing/2014/main" id="{C2AB3670-F529-04C4-8C6F-5DDF5741D3B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935" t="9570" r="50537" b="25830"/>
          <a:stretch/>
        </p:blipFill>
        <p:spPr bwMode="auto">
          <a:xfrm>
            <a:off x="4208892" y="2451213"/>
            <a:ext cx="2954216" cy="33002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3274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lstStyle/>
          <a:p>
            <a:r>
              <a:rPr lang="en-US" dirty="0">
                <a:solidFill>
                  <a:schemeClr val="bg1"/>
                </a:solidFill>
                <a:latin typeface="Gotham Bold" pitchFamily="50" charset="0"/>
              </a:rPr>
              <a:t>Valid DFS: Which DFS are valid?</a:t>
            </a:r>
          </a:p>
        </p:txBody>
      </p:sp>
      <p:pic>
        <p:nvPicPr>
          <p:cNvPr id="3" name="Picture 2">
            <a:extLst>
              <a:ext uri="{FF2B5EF4-FFF2-40B4-BE49-F238E27FC236}">
                <a16:creationId xmlns:a16="http://schemas.microsoft.com/office/drawing/2014/main" id="{60EA5A16-038F-4904-9F61-9C04659F6A4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935" t="9570" r="50537" b="25830"/>
          <a:stretch/>
        </p:blipFill>
        <p:spPr bwMode="auto">
          <a:xfrm>
            <a:off x="1607735" y="1989574"/>
            <a:ext cx="2954216" cy="330020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2C7C32D-97FD-4C33-93EC-89DE044BF3B5}"/>
              </a:ext>
            </a:extLst>
          </p:cNvPr>
          <p:cNvSpPr txBox="1"/>
          <p:nvPr/>
        </p:nvSpPr>
        <p:spPr>
          <a:xfrm>
            <a:off x="5669783" y="2766702"/>
            <a:ext cx="2529672" cy="1200329"/>
          </a:xfrm>
          <a:prstGeom prst="rect">
            <a:avLst/>
          </a:prstGeom>
          <a:noFill/>
        </p:spPr>
        <p:txBody>
          <a:bodyPr wrap="square">
            <a:spAutoFit/>
          </a:bodyPr>
          <a:lstStyle/>
          <a:p>
            <a:pPr marL="285750" indent="-285750" algn="l">
              <a:buFont typeface="Wingdings" panose="05000000000000000000" pitchFamily="2" charset="2"/>
              <a:buChar char="§"/>
            </a:pPr>
            <a:r>
              <a:rPr lang="pt-BR" b="0" i="0" dirty="0">
                <a:solidFill>
                  <a:schemeClr val="bg1">
                    <a:lumMod val="85000"/>
                  </a:schemeClr>
                </a:solidFill>
                <a:effectLst/>
                <a:latin typeface="Lato Extended"/>
              </a:rPr>
              <a:t>H E C B D G I A F</a:t>
            </a:r>
          </a:p>
          <a:p>
            <a:pPr marL="285750" indent="-285750" algn="l">
              <a:buFont typeface="Wingdings" panose="05000000000000000000" pitchFamily="2" charset="2"/>
              <a:buChar char="§"/>
            </a:pPr>
            <a:r>
              <a:rPr lang="pt-BR" b="0" i="0" dirty="0">
                <a:solidFill>
                  <a:schemeClr val="bg1">
                    <a:lumMod val="85000"/>
                  </a:schemeClr>
                </a:solidFill>
                <a:effectLst/>
                <a:latin typeface="Lato Extended"/>
              </a:rPr>
              <a:t>C E H B D G I A F </a:t>
            </a:r>
          </a:p>
          <a:p>
            <a:pPr marL="285750" indent="-285750" algn="l">
              <a:buFont typeface="Wingdings" panose="05000000000000000000" pitchFamily="2" charset="2"/>
              <a:buChar char="§"/>
            </a:pPr>
            <a:r>
              <a:rPr lang="pt-BR" b="0" i="0" dirty="0">
                <a:solidFill>
                  <a:schemeClr val="bg1">
                    <a:lumMod val="85000"/>
                  </a:schemeClr>
                </a:solidFill>
                <a:effectLst/>
                <a:latin typeface="Lato Extended"/>
              </a:rPr>
              <a:t>A F C E H B I G D </a:t>
            </a:r>
          </a:p>
          <a:p>
            <a:pPr marL="285750" indent="-285750" algn="l">
              <a:buFont typeface="Wingdings" panose="05000000000000000000" pitchFamily="2" charset="2"/>
              <a:buChar char="§"/>
            </a:pPr>
            <a:r>
              <a:rPr lang="pt-BR" b="0" i="0" dirty="0">
                <a:solidFill>
                  <a:schemeClr val="bg1">
                    <a:lumMod val="85000"/>
                  </a:schemeClr>
                </a:solidFill>
                <a:effectLst/>
                <a:latin typeface="Lato Extended"/>
              </a:rPr>
              <a:t>D E C B H F A I G </a:t>
            </a:r>
          </a:p>
        </p:txBody>
      </p:sp>
      <p:grpSp>
        <p:nvGrpSpPr>
          <p:cNvPr id="5" name="Group 4">
            <a:extLst>
              <a:ext uri="{FF2B5EF4-FFF2-40B4-BE49-F238E27FC236}">
                <a16:creationId xmlns:a16="http://schemas.microsoft.com/office/drawing/2014/main" id="{403CC349-9789-435E-9611-873838F8B083}"/>
              </a:ext>
            </a:extLst>
          </p:cNvPr>
          <p:cNvGrpSpPr/>
          <p:nvPr/>
        </p:nvGrpSpPr>
        <p:grpSpPr>
          <a:xfrm>
            <a:off x="11317255" y="5989103"/>
            <a:ext cx="841781" cy="748032"/>
            <a:chOff x="11337354" y="6025684"/>
            <a:chExt cx="841781" cy="748032"/>
          </a:xfrm>
        </p:grpSpPr>
        <p:pic>
          <p:nvPicPr>
            <p:cNvPr id="7" name="Picture 6">
              <a:extLst>
                <a:ext uri="{FF2B5EF4-FFF2-40B4-BE49-F238E27FC236}">
                  <a16:creationId xmlns:a16="http://schemas.microsoft.com/office/drawing/2014/main" id="{65853464-9893-4207-9D65-16990E1573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Logo COP3530">
              <a:extLst>
                <a:ext uri="{FF2B5EF4-FFF2-40B4-BE49-F238E27FC236}">
                  <a16:creationId xmlns:a16="http://schemas.microsoft.com/office/drawing/2014/main" id="{D910D72C-379A-4DDA-B600-0466222A2EE2}"/>
                </a:ext>
              </a:extLst>
            </p:cNvPr>
            <p:cNvPicPr>
              <a:picLocks noChangeAspect="1"/>
            </p:cNvPicPr>
            <p:nvPr/>
          </p:nvPicPr>
          <p:blipFill rotWithShape="1">
            <a:blip r:embed="rId5"/>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1176557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lstStyle/>
          <a:p>
            <a:r>
              <a:rPr lang="en-US" dirty="0">
                <a:solidFill>
                  <a:schemeClr val="bg1"/>
                </a:solidFill>
                <a:latin typeface="Gotham Bold" pitchFamily="50" charset="0"/>
              </a:rPr>
              <a:t>Valid DFS: Which DFS are valid?</a:t>
            </a:r>
          </a:p>
        </p:txBody>
      </p:sp>
      <p:pic>
        <p:nvPicPr>
          <p:cNvPr id="3" name="Picture 2">
            <a:extLst>
              <a:ext uri="{FF2B5EF4-FFF2-40B4-BE49-F238E27FC236}">
                <a16:creationId xmlns:a16="http://schemas.microsoft.com/office/drawing/2014/main" id="{60EA5A16-038F-4904-9F61-9C04659F6A4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935" t="9570" r="50537" b="25830"/>
          <a:stretch/>
        </p:blipFill>
        <p:spPr bwMode="auto">
          <a:xfrm>
            <a:off x="1607735" y="1989574"/>
            <a:ext cx="2954216" cy="330020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2C7C32D-97FD-4C33-93EC-89DE044BF3B5}"/>
              </a:ext>
            </a:extLst>
          </p:cNvPr>
          <p:cNvSpPr txBox="1"/>
          <p:nvPr/>
        </p:nvSpPr>
        <p:spPr>
          <a:xfrm>
            <a:off x="5669783" y="2766702"/>
            <a:ext cx="2529672" cy="1200329"/>
          </a:xfrm>
          <a:prstGeom prst="rect">
            <a:avLst/>
          </a:prstGeom>
          <a:noFill/>
        </p:spPr>
        <p:txBody>
          <a:bodyPr wrap="square">
            <a:spAutoFit/>
          </a:bodyPr>
          <a:lstStyle/>
          <a:p>
            <a:pPr marL="285750" indent="-285750" algn="l">
              <a:buFont typeface="Wingdings" panose="05000000000000000000" pitchFamily="2" charset="2"/>
              <a:buChar char="§"/>
            </a:pPr>
            <a:r>
              <a:rPr lang="pt-BR" b="0" i="0" dirty="0">
                <a:solidFill>
                  <a:schemeClr val="bg1">
                    <a:lumMod val="75000"/>
                  </a:schemeClr>
                </a:solidFill>
                <a:effectLst/>
                <a:latin typeface="Lato Extended"/>
              </a:rPr>
              <a:t>H E C B D G I A F</a:t>
            </a:r>
          </a:p>
          <a:p>
            <a:pPr marL="285750" indent="-285750" algn="l">
              <a:buFont typeface="Wingdings" panose="05000000000000000000" pitchFamily="2" charset="2"/>
              <a:buChar char="§"/>
            </a:pPr>
            <a:r>
              <a:rPr lang="pt-BR" b="0" i="0" dirty="0">
                <a:solidFill>
                  <a:srgbClr val="00DA63"/>
                </a:solidFill>
                <a:effectLst/>
                <a:latin typeface="Lato Extended"/>
              </a:rPr>
              <a:t>C E H B D G I A F </a:t>
            </a:r>
          </a:p>
          <a:p>
            <a:pPr marL="285750" indent="-285750" algn="l">
              <a:buFont typeface="Wingdings" panose="05000000000000000000" pitchFamily="2" charset="2"/>
              <a:buChar char="§"/>
            </a:pPr>
            <a:r>
              <a:rPr lang="pt-BR" b="0" i="0" dirty="0">
                <a:solidFill>
                  <a:schemeClr val="bg1">
                    <a:lumMod val="75000"/>
                  </a:schemeClr>
                </a:solidFill>
                <a:effectLst/>
                <a:latin typeface="Lato Extended"/>
              </a:rPr>
              <a:t>A F C E H B I G D </a:t>
            </a:r>
          </a:p>
          <a:p>
            <a:pPr marL="285750" indent="-285750" algn="l">
              <a:buFont typeface="Wingdings" panose="05000000000000000000" pitchFamily="2" charset="2"/>
              <a:buChar char="§"/>
            </a:pPr>
            <a:r>
              <a:rPr lang="pt-BR" b="0" i="0" dirty="0">
                <a:solidFill>
                  <a:srgbClr val="00DA63"/>
                </a:solidFill>
                <a:effectLst/>
                <a:latin typeface="Lato Extended"/>
              </a:rPr>
              <a:t>D E C B H F A I G </a:t>
            </a:r>
          </a:p>
        </p:txBody>
      </p:sp>
      <p:grpSp>
        <p:nvGrpSpPr>
          <p:cNvPr id="5" name="Group 4">
            <a:extLst>
              <a:ext uri="{FF2B5EF4-FFF2-40B4-BE49-F238E27FC236}">
                <a16:creationId xmlns:a16="http://schemas.microsoft.com/office/drawing/2014/main" id="{2602CBD0-4A5A-413C-8669-C7C64087151B}"/>
              </a:ext>
            </a:extLst>
          </p:cNvPr>
          <p:cNvGrpSpPr/>
          <p:nvPr/>
        </p:nvGrpSpPr>
        <p:grpSpPr>
          <a:xfrm>
            <a:off x="11317255" y="5989103"/>
            <a:ext cx="841781" cy="748032"/>
            <a:chOff x="11337354" y="6025684"/>
            <a:chExt cx="841781" cy="748032"/>
          </a:xfrm>
        </p:grpSpPr>
        <p:pic>
          <p:nvPicPr>
            <p:cNvPr id="7" name="Picture 6">
              <a:extLst>
                <a:ext uri="{FF2B5EF4-FFF2-40B4-BE49-F238E27FC236}">
                  <a16:creationId xmlns:a16="http://schemas.microsoft.com/office/drawing/2014/main" id="{AB03353C-9449-4332-9BB1-A2618918DB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Logo COP3530">
              <a:extLst>
                <a:ext uri="{FF2B5EF4-FFF2-40B4-BE49-F238E27FC236}">
                  <a16:creationId xmlns:a16="http://schemas.microsoft.com/office/drawing/2014/main" id="{FB6F4FA6-ED2D-42D0-AE21-B41E317CA07E}"/>
                </a:ext>
              </a:extLst>
            </p:cNvPr>
            <p:cNvPicPr>
              <a:picLocks noChangeAspect="1"/>
            </p:cNvPicPr>
            <p:nvPr/>
          </p:nvPicPr>
          <p:blipFill rotWithShape="1">
            <a:blip r:embed="rId5"/>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3455272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lstStyle/>
          <a:p>
            <a:r>
              <a:rPr lang="en-US" dirty="0">
                <a:solidFill>
                  <a:schemeClr val="bg1"/>
                </a:solidFill>
                <a:latin typeface="Gotham Bold" pitchFamily="50" charset="0"/>
              </a:rPr>
              <a:t>Applied Traversal</a:t>
            </a:r>
          </a:p>
        </p:txBody>
      </p:sp>
      <p:sp>
        <p:nvSpPr>
          <p:cNvPr id="7" name="TextBox 6">
            <a:extLst>
              <a:ext uri="{FF2B5EF4-FFF2-40B4-BE49-F238E27FC236}">
                <a16:creationId xmlns:a16="http://schemas.microsoft.com/office/drawing/2014/main" id="{9AA7BC40-3096-435E-AEF8-D7BA1F0B531E}"/>
              </a:ext>
            </a:extLst>
          </p:cNvPr>
          <p:cNvSpPr txBox="1"/>
          <p:nvPr/>
        </p:nvSpPr>
        <p:spPr>
          <a:xfrm>
            <a:off x="1018566" y="1510642"/>
            <a:ext cx="9854921" cy="5109091"/>
          </a:xfrm>
          <a:prstGeom prst="rect">
            <a:avLst/>
          </a:prstGeom>
          <a:noFill/>
        </p:spPr>
        <p:txBody>
          <a:bodyPr wrap="square">
            <a:spAutoFit/>
          </a:bodyPr>
          <a:lstStyle/>
          <a:p>
            <a:pPr algn="l"/>
            <a:r>
              <a:rPr lang="en-US" sz="1200" b="0" i="0" dirty="0">
                <a:solidFill>
                  <a:srgbClr val="0081E2"/>
                </a:solidFill>
                <a:effectLst/>
                <a:latin typeface="Consolas" panose="020B0609020204030204" pitchFamily="49" charset="0"/>
              </a:rPr>
              <a:t>A connected component of a graph is a collection of vertices in which any two vertices in a component have a path between </a:t>
            </a:r>
            <a:r>
              <a:rPr lang="en-US" sz="1200" b="0" i="0" dirty="0" err="1">
                <a:solidFill>
                  <a:srgbClr val="0081E2"/>
                </a:solidFill>
                <a:effectLst/>
                <a:latin typeface="Consolas" panose="020B0609020204030204" pitchFamily="49" charset="0"/>
              </a:rPr>
              <a:t>them.Given</a:t>
            </a:r>
            <a:r>
              <a:rPr lang="en-US" sz="1200" b="0" i="0" dirty="0">
                <a:solidFill>
                  <a:srgbClr val="0081E2"/>
                </a:solidFill>
                <a:effectLst/>
                <a:latin typeface="Consolas" panose="020B0609020204030204" pitchFamily="49" charset="0"/>
              </a:rPr>
              <a:t> an unweighted and undirected graph represented as an adjacency list, write a function using pseudocode or C++ code which will </a:t>
            </a:r>
            <a:r>
              <a:rPr lang="en-US" sz="1200" b="0" i="0" dirty="0">
                <a:solidFill>
                  <a:srgbClr val="EB6E19"/>
                </a:solidFill>
                <a:effectLst/>
                <a:latin typeface="Consolas" panose="020B0609020204030204" pitchFamily="49" charset="0"/>
              </a:rPr>
              <a:t>return the number of vertices in the largest component of the graph</a:t>
            </a:r>
            <a:r>
              <a:rPr lang="en-US" sz="1200" b="0" i="0" dirty="0">
                <a:solidFill>
                  <a:srgbClr val="0081E2"/>
                </a:solidFill>
                <a:effectLst/>
                <a:latin typeface="Consolas" panose="020B0609020204030204" pitchFamily="49" charset="0"/>
              </a:rPr>
              <a:t>. You do not need to write main method for reading and creating a graph. Assume that the graph is passed into your function which has the following signature:</a:t>
            </a:r>
          </a:p>
          <a:p>
            <a:pPr marL="285750" indent="-285750" algn="l">
              <a:buFont typeface="Wingdings" panose="05000000000000000000" pitchFamily="2" charset="2"/>
              <a:buChar char="§"/>
            </a:pPr>
            <a:endParaRPr lang="en-US" sz="1400" b="0" i="0" dirty="0">
              <a:solidFill>
                <a:srgbClr val="0081E2"/>
              </a:solidFill>
              <a:effectLst/>
              <a:latin typeface="Consolas" panose="020B0609020204030204" pitchFamily="49" charset="0"/>
            </a:endParaRPr>
          </a:p>
          <a:p>
            <a:pPr algn="l"/>
            <a:r>
              <a:rPr lang="en-US" sz="1200" b="0" i="0" dirty="0">
                <a:solidFill>
                  <a:srgbClr val="0081E2"/>
                </a:solidFill>
                <a:effectLst/>
                <a:latin typeface="Consolas" panose="020B0609020204030204" pitchFamily="49" charset="0"/>
              </a:rPr>
              <a:t>unsigned int </a:t>
            </a:r>
            <a:r>
              <a:rPr lang="en-US" sz="1200" b="0" i="0" dirty="0" err="1">
                <a:solidFill>
                  <a:srgbClr val="0081E2"/>
                </a:solidFill>
                <a:effectLst/>
                <a:latin typeface="Consolas" panose="020B0609020204030204" pitchFamily="49" charset="0"/>
              </a:rPr>
              <a:t>largest_component</a:t>
            </a:r>
            <a:r>
              <a:rPr lang="en-US" sz="1200" b="0" i="0" dirty="0">
                <a:solidFill>
                  <a:srgbClr val="0081E2"/>
                </a:solidFill>
                <a:effectLst/>
                <a:latin typeface="Consolas" panose="020B0609020204030204" pitchFamily="49" charset="0"/>
              </a:rPr>
              <a:t>(</a:t>
            </a:r>
            <a:r>
              <a:rPr lang="en-US" sz="1200" b="0" i="0" dirty="0" err="1">
                <a:solidFill>
                  <a:srgbClr val="0081E2"/>
                </a:solidFill>
                <a:effectLst/>
                <a:latin typeface="Consolas" panose="020B0609020204030204" pitchFamily="49" charset="0"/>
              </a:rPr>
              <a:t>unordered_map</a:t>
            </a:r>
            <a:r>
              <a:rPr lang="en-US" sz="1200" b="0" i="0" dirty="0">
                <a:solidFill>
                  <a:srgbClr val="0081E2"/>
                </a:solidFill>
                <a:effectLst/>
                <a:latin typeface="Consolas" panose="020B0609020204030204" pitchFamily="49" charset="0"/>
              </a:rPr>
              <a:t>&lt;int, vector&lt;int&gt;&gt;&amp; </a:t>
            </a:r>
            <a:r>
              <a:rPr lang="en-US" sz="1200" b="0" i="0" dirty="0" err="1">
                <a:solidFill>
                  <a:srgbClr val="0081E2"/>
                </a:solidFill>
                <a:effectLst/>
                <a:latin typeface="Consolas" panose="020B0609020204030204" pitchFamily="49" charset="0"/>
              </a:rPr>
              <a:t>adjListGraph</a:t>
            </a:r>
            <a:r>
              <a:rPr lang="en-US" sz="1200" b="0" i="0" dirty="0">
                <a:solidFill>
                  <a:srgbClr val="0081E2"/>
                </a:solidFill>
                <a:effectLst/>
                <a:latin typeface="Consolas" panose="020B0609020204030204" pitchFamily="49" charset="0"/>
              </a:rPr>
              <a:t>){</a:t>
            </a:r>
          </a:p>
          <a:p>
            <a:pPr algn="l"/>
            <a:r>
              <a:rPr lang="en-US" sz="1200" b="0" i="0" dirty="0">
                <a:solidFill>
                  <a:srgbClr val="0081E2"/>
                </a:solidFill>
                <a:effectLst/>
                <a:latin typeface="Consolas" panose="020B0609020204030204" pitchFamily="49" charset="0"/>
              </a:rPr>
              <a:t>        // code here</a:t>
            </a:r>
          </a:p>
          <a:p>
            <a:pPr algn="l"/>
            <a:r>
              <a:rPr lang="en-US" sz="1200" b="0" i="0" dirty="0">
                <a:solidFill>
                  <a:srgbClr val="0081E2"/>
                </a:solidFill>
                <a:effectLst/>
                <a:latin typeface="Consolas" panose="020B0609020204030204" pitchFamily="49" charset="0"/>
              </a:rPr>
              <a:t>}</a:t>
            </a:r>
          </a:p>
          <a:p>
            <a:pPr algn="l"/>
            <a:endParaRPr lang="en-US" sz="1200" b="0" i="0" dirty="0">
              <a:solidFill>
                <a:srgbClr val="0081E2"/>
              </a:solidFill>
              <a:effectLst/>
              <a:latin typeface="Consolas" panose="020B0609020204030204" pitchFamily="49" charset="0"/>
            </a:endParaRPr>
          </a:p>
          <a:p>
            <a:pPr algn="l"/>
            <a:r>
              <a:rPr lang="en-US" sz="1200" b="0" i="0" dirty="0">
                <a:solidFill>
                  <a:srgbClr val="0081E2"/>
                </a:solidFill>
                <a:effectLst/>
                <a:latin typeface="Consolas" panose="020B0609020204030204" pitchFamily="49" charset="0"/>
              </a:rPr>
              <a:t>Example input:</a:t>
            </a:r>
          </a:p>
          <a:p>
            <a:pPr algn="l"/>
            <a:endParaRPr lang="en-US" sz="1200" b="0" i="0" dirty="0">
              <a:solidFill>
                <a:srgbClr val="0081E2"/>
              </a:solidFill>
              <a:effectLst/>
              <a:latin typeface="Consolas" panose="020B0609020204030204" pitchFamily="49" charset="0"/>
            </a:endParaRPr>
          </a:p>
          <a:p>
            <a:pPr algn="l"/>
            <a:r>
              <a:rPr lang="en-US" sz="1200" b="0" i="0" dirty="0">
                <a:solidFill>
                  <a:srgbClr val="0081E2"/>
                </a:solidFill>
                <a:effectLst/>
                <a:latin typeface="Consolas" panose="020B0609020204030204" pitchFamily="49" charset="0"/>
              </a:rPr>
              <a:t>0: 2, 3</a:t>
            </a:r>
          </a:p>
          <a:p>
            <a:pPr algn="l"/>
            <a:r>
              <a:rPr lang="en-US" sz="1200" b="0" i="0" dirty="0">
                <a:solidFill>
                  <a:srgbClr val="0081E2"/>
                </a:solidFill>
                <a:effectLst/>
                <a:latin typeface="Consolas" panose="020B0609020204030204" pitchFamily="49" charset="0"/>
              </a:rPr>
              <a:t>1: 4</a:t>
            </a:r>
          </a:p>
          <a:p>
            <a:pPr algn="l"/>
            <a:r>
              <a:rPr lang="en-US" sz="1200" b="0" i="0" dirty="0">
                <a:solidFill>
                  <a:srgbClr val="0081E2"/>
                </a:solidFill>
                <a:effectLst/>
                <a:latin typeface="Consolas" panose="020B0609020204030204" pitchFamily="49" charset="0"/>
              </a:rPr>
              <a:t>2: 0, 6</a:t>
            </a:r>
          </a:p>
          <a:p>
            <a:pPr algn="l"/>
            <a:r>
              <a:rPr lang="en-US" sz="1200" b="0" i="0" dirty="0">
                <a:solidFill>
                  <a:srgbClr val="0081E2"/>
                </a:solidFill>
                <a:effectLst/>
                <a:latin typeface="Consolas" panose="020B0609020204030204" pitchFamily="49" charset="0"/>
              </a:rPr>
              <a:t>3: 0</a:t>
            </a:r>
          </a:p>
          <a:p>
            <a:pPr algn="l"/>
            <a:r>
              <a:rPr lang="en-US" sz="1200" b="0" i="0" dirty="0">
                <a:solidFill>
                  <a:srgbClr val="0081E2"/>
                </a:solidFill>
                <a:effectLst/>
                <a:latin typeface="Consolas" panose="020B0609020204030204" pitchFamily="49" charset="0"/>
              </a:rPr>
              <a:t>4: 1, 5</a:t>
            </a:r>
          </a:p>
          <a:p>
            <a:pPr algn="l"/>
            <a:r>
              <a:rPr lang="en-US" sz="1200" b="0" i="0" dirty="0">
                <a:solidFill>
                  <a:srgbClr val="0081E2"/>
                </a:solidFill>
                <a:effectLst/>
                <a:latin typeface="Consolas" panose="020B0609020204030204" pitchFamily="49" charset="0"/>
              </a:rPr>
              <a:t>5: 4</a:t>
            </a:r>
          </a:p>
          <a:p>
            <a:pPr algn="l"/>
            <a:r>
              <a:rPr lang="en-US" sz="1200" b="0" i="0" dirty="0">
                <a:solidFill>
                  <a:srgbClr val="0081E2"/>
                </a:solidFill>
                <a:effectLst/>
                <a:latin typeface="Consolas" panose="020B0609020204030204" pitchFamily="49" charset="0"/>
              </a:rPr>
              <a:t>6: 2</a:t>
            </a:r>
          </a:p>
          <a:p>
            <a:pPr algn="l"/>
            <a:r>
              <a:rPr lang="en-US" sz="1200" b="0" i="0" dirty="0">
                <a:solidFill>
                  <a:srgbClr val="0081E2"/>
                </a:solidFill>
                <a:effectLst/>
                <a:latin typeface="Consolas" panose="020B0609020204030204" pitchFamily="49" charset="0"/>
              </a:rPr>
              <a:t>7:</a:t>
            </a:r>
          </a:p>
          <a:p>
            <a:pPr algn="l"/>
            <a:endParaRPr lang="en-US" sz="1200" b="0" i="0" dirty="0">
              <a:solidFill>
                <a:srgbClr val="0081E2"/>
              </a:solidFill>
              <a:effectLst/>
              <a:latin typeface="Consolas" panose="020B0609020204030204" pitchFamily="49" charset="0"/>
            </a:endParaRPr>
          </a:p>
          <a:p>
            <a:pPr algn="l"/>
            <a:r>
              <a:rPr lang="en-US" sz="1200" b="0" i="0" dirty="0">
                <a:solidFill>
                  <a:srgbClr val="0081E2"/>
                </a:solidFill>
                <a:effectLst/>
                <a:latin typeface="Consolas" panose="020B0609020204030204" pitchFamily="49" charset="0"/>
              </a:rPr>
              <a:t>Example output: 4</a:t>
            </a:r>
          </a:p>
          <a:p>
            <a:pPr marL="285750" indent="-285750" algn="l">
              <a:buFont typeface="Wingdings" panose="05000000000000000000" pitchFamily="2" charset="2"/>
              <a:buChar char="§"/>
            </a:pPr>
            <a:endParaRPr lang="en-US" sz="1200" b="0" i="0" dirty="0">
              <a:solidFill>
                <a:srgbClr val="0081E2"/>
              </a:solidFill>
              <a:effectLst/>
              <a:latin typeface="Consolas" panose="020B0609020204030204" pitchFamily="49" charset="0"/>
            </a:endParaRPr>
          </a:p>
          <a:p>
            <a:pPr algn="l"/>
            <a:r>
              <a:rPr lang="en-US" sz="1200" b="0" i="0" dirty="0">
                <a:solidFill>
                  <a:srgbClr val="0081E2"/>
                </a:solidFill>
                <a:effectLst/>
                <a:latin typeface="Consolas" panose="020B0609020204030204" pitchFamily="49" charset="0"/>
              </a:rPr>
              <a:t>Explanation: There are three connected components: (0,2,3,6); (1,4,5); and (7). Of these, the largest has 4 vertices.</a:t>
            </a:r>
          </a:p>
          <a:p>
            <a:pPr algn="l"/>
            <a:endParaRPr lang="en-US" sz="1200" b="0" i="0" dirty="0">
              <a:solidFill>
                <a:srgbClr val="0081E2"/>
              </a:solidFill>
              <a:effectLst/>
              <a:latin typeface="Consolas" panose="020B0609020204030204" pitchFamily="49" charset="0"/>
            </a:endParaRPr>
          </a:p>
          <a:p>
            <a:pPr algn="l"/>
            <a:r>
              <a:rPr lang="en-US" sz="1200" b="0" i="0" dirty="0">
                <a:solidFill>
                  <a:srgbClr val="0081E2"/>
                </a:solidFill>
                <a:effectLst/>
                <a:latin typeface="Consolas" panose="020B0609020204030204" pitchFamily="49" charset="0"/>
              </a:rPr>
              <a:t>Also, state the Big O complexity of the solution in the worst case.</a:t>
            </a:r>
          </a:p>
        </p:txBody>
      </p:sp>
      <p:grpSp>
        <p:nvGrpSpPr>
          <p:cNvPr id="4" name="Group 3">
            <a:extLst>
              <a:ext uri="{FF2B5EF4-FFF2-40B4-BE49-F238E27FC236}">
                <a16:creationId xmlns:a16="http://schemas.microsoft.com/office/drawing/2014/main" id="{294C58AE-50BD-43D2-8252-6516E11FC96F}"/>
              </a:ext>
            </a:extLst>
          </p:cNvPr>
          <p:cNvGrpSpPr/>
          <p:nvPr/>
        </p:nvGrpSpPr>
        <p:grpSpPr>
          <a:xfrm>
            <a:off x="11317255" y="5989103"/>
            <a:ext cx="841781" cy="748032"/>
            <a:chOff x="11337354" y="6025684"/>
            <a:chExt cx="841781" cy="748032"/>
          </a:xfrm>
        </p:grpSpPr>
        <p:pic>
          <p:nvPicPr>
            <p:cNvPr id="5" name="Picture 4">
              <a:extLst>
                <a:ext uri="{FF2B5EF4-FFF2-40B4-BE49-F238E27FC236}">
                  <a16:creationId xmlns:a16="http://schemas.microsoft.com/office/drawing/2014/main" id="{4A757C9C-9672-401F-A525-A2BDC7C0A1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Logo COP3530">
              <a:extLst>
                <a:ext uri="{FF2B5EF4-FFF2-40B4-BE49-F238E27FC236}">
                  <a16:creationId xmlns:a16="http://schemas.microsoft.com/office/drawing/2014/main" id="{782B9A84-9776-4A11-AFF5-B7FCB6A864ED}"/>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1958285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lstStyle/>
          <a:p>
            <a:r>
              <a:rPr lang="en-US" dirty="0">
                <a:solidFill>
                  <a:schemeClr val="bg1"/>
                </a:solidFill>
                <a:latin typeface="Gotham Bold" pitchFamily="50" charset="0"/>
              </a:rPr>
              <a:t>Applied Traversal</a:t>
            </a:r>
          </a:p>
        </p:txBody>
      </p:sp>
      <p:sp>
        <p:nvSpPr>
          <p:cNvPr id="7" name="TextBox 6">
            <a:extLst>
              <a:ext uri="{FF2B5EF4-FFF2-40B4-BE49-F238E27FC236}">
                <a16:creationId xmlns:a16="http://schemas.microsoft.com/office/drawing/2014/main" id="{9AA7BC40-3096-435E-AEF8-D7BA1F0B531E}"/>
              </a:ext>
            </a:extLst>
          </p:cNvPr>
          <p:cNvSpPr txBox="1"/>
          <p:nvPr/>
        </p:nvSpPr>
        <p:spPr>
          <a:xfrm>
            <a:off x="1018566" y="1510642"/>
            <a:ext cx="9854921" cy="5478423"/>
          </a:xfrm>
          <a:prstGeom prst="rect">
            <a:avLst/>
          </a:prstGeom>
          <a:noFill/>
        </p:spPr>
        <p:txBody>
          <a:bodyPr wrap="square">
            <a:spAutoFit/>
          </a:bodyPr>
          <a:lstStyle/>
          <a:p>
            <a:r>
              <a:rPr lang="en-US" sz="1000" b="0" dirty="0">
                <a:solidFill>
                  <a:srgbClr val="C586C0"/>
                </a:solidFill>
                <a:effectLst/>
                <a:latin typeface="Consolas" panose="020B0609020204030204" pitchFamily="49" charset="0"/>
              </a:rPr>
              <a:t>#include</a:t>
            </a:r>
            <a:r>
              <a:rPr lang="en-US" sz="1000" b="0" dirty="0">
                <a:solidFill>
                  <a:srgbClr val="569CD6"/>
                </a:solidFill>
                <a:effectLst/>
                <a:latin typeface="Consolas" panose="020B0609020204030204" pitchFamily="49" charset="0"/>
              </a:rPr>
              <a:t> </a:t>
            </a:r>
            <a:r>
              <a:rPr lang="en-US" sz="1000" b="0" dirty="0">
                <a:solidFill>
                  <a:srgbClr val="CE9178"/>
                </a:solidFill>
                <a:effectLst/>
                <a:latin typeface="Consolas" panose="020B0609020204030204" pitchFamily="49" charset="0"/>
              </a:rPr>
              <a:t>&lt;</a:t>
            </a:r>
            <a:r>
              <a:rPr lang="en-US" sz="1000" b="0" dirty="0" err="1">
                <a:solidFill>
                  <a:srgbClr val="CE9178"/>
                </a:solidFill>
                <a:effectLst/>
                <a:latin typeface="Consolas" panose="020B0609020204030204" pitchFamily="49" charset="0"/>
              </a:rPr>
              <a:t>unordered_map</a:t>
            </a:r>
            <a:r>
              <a:rPr lang="en-US" sz="1000" b="0" dirty="0">
                <a:solidFill>
                  <a:srgbClr val="CE9178"/>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586C0"/>
                </a:solidFill>
                <a:effectLst/>
                <a:latin typeface="Consolas" panose="020B0609020204030204" pitchFamily="49" charset="0"/>
              </a:rPr>
              <a:t>#include</a:t>
            </a:r>
            <a:r>
              <a:rPr lang="en-US" sz="1000" b="0" dirty="0">
                <a:solidFill>
                  <a:srgbClr val="569CD6"/>
                </a:solidFill>
                <a:effectLst/>
                <a:latin typeface="Consolas" panose="020B0609020204030204" pitchFamily="49" charset="0"/>
              </a:rPr>
              <a:t> </a:t>
            </a:r>
            <a:r>
              <a:rPr lang="en-US" sz="1000" b="0" dirty="0">
                <a:solidFill>
                  <a:srgbClr val="CE9178"/>
                </a:solidFill>
                <a:effectLst/>
                <a:latin typeface="Consolas" panose="020B0609020204030204" pitchFamily="49" charset="0"/>
              </a:rPr>
              <a:t>&lt;vector&gt;</a:t>
            </a:r>
            <a:endParaRPr lang="en-US" sz="1000" b="0" dirty="0">
              <a:solidFill>
                <a:srgbClr val="CCCCCC"/>
              </a:solidFill>
              <a:effectLst/>
              <a:latin typeface="Consolas" panose="020B0609020204030204" pitchFamily="49" charset="0"/>
            </a:endParaRPr>
          </a:p>
          <a:p>
            <a:r>
              <a:rPr lang="en-US" sz="1000" b="0" dirty="0">
                <a:solidFill>
                  <a:srgbClr val="C586C0"/>
                </a:solidFill>
                <a:effectLst/>
                <a:latin typeface="Consolas" panose="020B0609020204030204" pitchFamily="49" charset="0"/>
              </a:rPr>
              <a:t>#include</a:t>
            </a:r>
            <a:r>
              <a:rPr lang="en-US" sz="1000" b="0" dirty="0">
                <a:solidFill>
                  <a:srgbClr val="569CD6"/>
                </a:solidFill>
                <a:effectLst/>
                <a:latin typeface="Consolas" panose="020B0609020204030204" pitchFamily="49" charset="0"/>
              </a:rPr>
              <a:t> </a:t>
            </a:r>
            <a:r>
              <a:rPr lang="en-US" sz="1000" b="0" dirty="0">
                <a:solidFill>
                  <a:srgbClr val="CE9178"/>
                </a:solidFill>
                <a:effectLst/>
                <a:latin typeface="Consolas" panose="020B0609020204030204" pitchFamily="49" charset="0"/>
              </a:rPr>
              <a:t>&lt;</a:t>
            </a:r>
            <a:r>
              <a:rPr lang="en-US" sz="1000" b="0" dirty="0" err="1">
                <a:solidFill>
                  <a:srgbClr val="CE9178"/>
                </a:solidFill>
                <a:effectLst/>
                <a:latin typeface="Consolas" panose="020B0609020204030204" pitchFamily="49" charset="0"/>
              </a:rPr>
              <a:t>unordered_set</a:t>
            </a:r>
            <a:r>
              <a:rPr lang="en-US" sz="1000" b="0" dirty="0">
                <a:solidFill>
                  <a:srgbClr val="CE9178"/>
                </a:solidFill>
                <a:effectLst/>
                <a:latin typeface="Consolas" panose="020B0609020204030204" pitchFamily="49" charset="0"/>
              </a:rPr>
              <a:t>&gt;</a:t>
            </a:r>
            <a:endParaRPr lang="en-US" sz="1000" b="0" dirty="0">
              <a:solidFill>
                <a:srgbClr val="CCCCCC"/>
              </a:solidFill>
              <a:effectLst/>
              <a:latin typeface="Consolas" panose="020B0609020204030204" pitchFamily="49" charset="0"/>
            </a:endParaRPr>
          </a:p>
          <a:p>
            <a:r>
              <a:rPr lang="en-US" sz="1000" b="0" dirty="0">
                <a:solidFill>
                  <a:srgbClr val="C586C0"/>
                </a:solidFill>
                <a:effectLst/>
                <a:latin typeface="Consolas" panose="020B0609020204030204" pitchFamily="49" charset="0"/>
              </a:rPr>
              <a:t>using</a:t>
            </a:r>
            <a:r>
              <a:rPr lang="en-US" sz="1000" b="0" dirty="0">
                <a:solidFill>
                  <a:srgbClr val="CCCCCC"/>
                </a:solidFill>
                <a:effectLst/>
                <a:latin typeface="Consolas" panose="020B0609020204030204" pitchFamily="49" charset="0"/>
              </a:rPr>
              <a:t> </a:t>
            </a:r>
            <a:r>
              <a:rPr lang="en-US" sz="1000" b="0" dirty="0">
                <a:solidFill>
                  <a:srgbClr val="569CD6"/>
                </a:solidFill>
                <a:effectLst/>
                <a:latin typeface="Consolas" panose="020B0609020204030204" pitchFamily="49" charset="0"/>
              </a:rPr>
              <a:t>namespace</a:t>
            </a:r>
            <a:r>
              <a:rPr lang="en-US" sz="1000" b="0" dirty="0">
                <a:solidFill>
                  <a:srgbClr val="CCCCCC"/>
                </a:solidFill>
                <a:effectLst/>
                <a:latin typeface="Consolas" panose="020B0609020204030204" pitchFamily="49" charset="0"/>
              </a:rPr>
              <a:t> </a:t>
            </a:r>
            <a:r>
              <a:rPr lang="en-US" sz="1000" b="0" dirty="0">
                <a:solidFill>
                  <a:srgbClr val="4EC9B0"/>
                </a:solidFill>
                <a:effectLst/>
                <a:latin typeface="Consolas" panose="020B0609020204030204" pitchFamily="49" charset="0"/>
              </a:rPr>
              <a:t>std</a:t>
            </a:r>
            <a:r>
              <a:rPr lang="en-US" sz="1000" b="0" dirty="0">
                <a:solidFill>
                  <a:srgbClr val="CCCCCC"/>
                </a:solidFill>
                <a:effectLst/>
                <a:latin typeface="Consolas" panose="020B0609020204030204" pitchFamily="49" charset="0"/>
              </a:rPr>
              <a:t>;</a:t>
            </a:r>
          </a:p>
          <a:p>
            <a:br>
              <a:rPr lang="en-US" sz="1000" b="0" dirty="0">
                <a:solidFill>
                  <a:srgbClr val="CCCCCC"/>
                </a:solidFill>
                <a:effectLst/>
                <a:latin typeface="Consolas" panose="020B0609020204030204" pitchFamily="49" charset="0"/>
              </a:rPr>
            </a:br>
            <a:r>
              <a:rPr lang="en-US" sz="1000" b="0" dirty="0">
                <a:solidFill>
                  <a:srgbClr val="569CD6"/>
                </a:solidFill>
                <a:effectLst/>
                <a:latin typeface="Consolas" panose="020B0609020204030204" pitchFamily="49" charset="0"/>
              </a:rPr>
              <a:t>unsigned</a:t>
            </a:r>
            <a:r>
              <a:rPr lang="en-US" sz="1000" b="0" dirty="0">
                <a:solidFill>
                  <a:srgbClr val="CCCCCC"/>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CCCCCC"/>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dfs</a:t>
            </a:r>
            <a:r>
              <a:rPr lang="en-US" sz="1000" b="0" dirty="0">
                <a:solidFill>
                  <a:srgbClr val="CCCCCC"/>
                </a:solidFill>
                <a:effectLst/>
                <a:latin typeface="Consolas" panose="020B0609020204030204" pitchFamily="49" charset="0"/>
              </a:rPr>
              <a:t>(</a:t>
            </a:r>
            <a:r>
              <a:rPr lang="en-US" sz="1000" b="0" dirty="0">
                <a:solidFill>
                  <a:srgbClr val="569CD6"/>
                </a:solidFill>
                <a:effectLst/>
                <a:latin typeface="Consolas" panose="020B0609020204030204" pitchFamily="49" charset="0"/>
              </a:rPr>
              <a:t>int</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node</a:t>
            </a:r>
            <a:r>
              <a:rPr lang="en-US" sz="1000" b="0" dirty="0">
                <a:solidFill>
                  <a:srgbClr val="CCCCCC"/>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unordered_map</a:t>
            </a:r>
            <a:r>
              <a:rPr lang="en-US" sz="1000" b="0" dirty="0">
                <a:solidFill>
                  <a:srgbClr val="CCCCCC"/>
                </a:solidFill>
                <a:effectLst/>
                <a:latin typeface="Consolas" panose="020B0609020204030204" pitchFamily="49" charset="0"/>
              </a:rPr>
              <a:t>&lt;</a:t>
            </a:r>
            <a:r>
              <a:rPr lang="en-US" sz="1000" b="0" dirty="0">
                <a:solidFill>
                  <a:srgbClr val="569CD6"/>
                </a:solidFill>
                <a:effectLst/>
                <a:latin typeface="Consolas" panose="020B0609020204030204" pitchFamily="49" charset="0"/>
              </a:rPr>
              <a:t>int</a:t>
            </a:r>
            <a:r>
              <a:rPr lang="en-US" sz="1000" b="0" dirty="0">
                <a:solidFill>
                  <a:srgbClr val="CCCCCC"/>
                </a:solidFill>
                <a:effectLst/>
                <a:latin typeface="Consolas" panose="020B0609020204030204" pitchFamily="49" charset="0"/>
              </a:rPr>
              <a:t>, </a:t>
            </a:r>
            <a:r>
              <a:rPr lang="en-US" sz="1000" b="0" dirty="0">
                <a:solidFill>
                  <a:srgbClr val="4EC9B0"/>
                </a:solidFill>
                <a:effectLst/>
                <a:latin typeface="Consolas" panose="020B0609020204030204" pitchFamily="49" charset="0"/>
              </a:rPr>
              <a:t>vector</a:t>
            </a:r>
            <a:r>
              <a:rPr lang="en-US" sz="1000" b="0" dirty="0">
                <a:solidFill>
                  <a:srgbClr val="CCCCCC"/>
                </a:solidFill>
                <a:effectLst/>
                <a:latin typeface="Consolas" panose="020B0609020204030204" pitchFamily="49" charset="0"/>
              </a:rPr>
              <a:t>&lt;</a:t>
            </a:r>
            <a:r>
              <a:rPr lang="en-US" sz="1000" b="0" dirty="0">
                <a:solidFill>
                  <a:srgbClr val="569CD6"/>
                </a:solidFill>
                <a:effectLst/>
                <a:latin typeface="Consolas" panose="020B0609020204030204" pitchFamily="49" charset="0"/>
              </a:rPr>
              <a:t>int</a:t>
            </a:r>
            <a:r>
              <a:rPr lang="en-US" sz="1000" b="0" dirty="0">
                <a:solidFill>
                  <a:srgbClr val="CCCCCC"/>
                </a:solidFill>
                <a:effectLst/>
                <a:latin typeface="Consolas" panose="020B0609020204030204" pitchFamily="49" charset="0"/>
              </a:rPr>
              <a:t>&gt;&gt;</a:t>
            </a:r>
            <a:r>
              <a:rPr lang="en-US" sz="1000" b="0" dirty="0">
                <a:solidFill>
                  <a:srgbClr val="569CD6"/>
                </a:solidFill>
                <a:effectLst/>
                <a:latin typeface="Consolas" panose="020B0609020204030204" pitchFamily="49" charset="0"/>
              </a:rPr>
              <a:t>&amp;</a:t>
            </a:r>
            <a:r>
              <a:rPr lang="en-US" sz="1000" b="0" dirty="0">
                <a:solidFill>
                  <a:srgbClr val="CCCCCC"/>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adjListGraph</a:t>
            </a:r>
            <a:r>
              <a:rPr lang="en-US" sz="1000" b="0" dirty="0">
                <a:solidFill>
                  <a:srgbClr val="CCCCCC"/>
                </a:solidFill>
                <a:effectLst/>
                <a:latin typeface="Consolas" panose="020B0609020204030204" pitchFamily="49" charset="0"/>
              </a:rPr>
              <a:t>, </a:t>
            </a:r>
            <a:r>
              <a:rPr lang="en-US" sz="1000" b="0" dirty="0" err="1">
                <a:solidFill>
                  <a:srgbClr val="4EC9B0"/>
                </a:solidFill>
                <a:effectLst/>
                <a:latin typeface="Consolas" panose="020B0609020204030204" pitchFamily="49" charset="0"/>
              </a:rPr>
              <a:t>unordered_set</a:t>
            </a:r>
            <a:r>
              <a:rPr lang="en-US" sz="1000" b="0" dirty="0">
                <a:solidFill>
                  <a:srgbClr val="CCCCCC"/>
                </a:solidFill>
                <a:effectLst/>
                <a:latin typeface="Consolas" panose="020B0609020204030204" pitchFamily="49" charset="0"/>
              </a:rPr>
              <a:t>&lt;</a:t>
            </a:r>
            <a:r>
              <a:rPr lang="en-US" sz="1000" b="0" dirty="0">
                <a:solidFill>
                  <a:srgbClr val="569CD6"/>
                </a:solidFill>
                <a:effectLst/>
                <a:latin typeface="Consolas" panose="020B0609020204030204" pitchFamily="49" charset="0"/>
              </a:rPr>
              <a:t>int</a:t>
            </a:r>
            <a:r>
              <a:rPr lang="en-US" sz="1000" b="0" dirty="0">
                <a:solidFill>
                  <a:srgbClr val="CCCCCC"/>
                </a:solidFill>
                <a:effectLst/>
                <a:latin typeface="Consolas" panose="020B0609020204030204" pitchFamily="49" charset="0"/>
              </a:rPr>
              <a:t>&gt;</a:t>
            </a:r>
            <a:r>
              <a:rPr lang="en-US" sz="1000" b="0" dirty="0">
                <a:solidFill>
                  <a:srgbClr val="569CD6"/>
                </a:solidFill>
                <a:effectLst/>
                <a:latin typeface="Consolas" panose="020B0609020204030204" pitchFamily="49" charset="0"/>
              </a:rPr>
              <a:t>&amp;</a:t>
            </a:r>
            <a:r>
              <a:rPr lang="en-US" sz="1000" b="0" dirty="0">
                <a:solidFill>
                  <a:srgbClr val="CCCCCC"/>
                </a:solidFill>
                <a:effectLst/>
                <a:latin typeface="Consolas" panose="020B0609020204030204" pitchFamily="49" charset="0"/>
              </a:rPr>
              <a:t> </a:t>
            </a:r>
            <a:r>
              <a:rPr lang="en-US" sz="1000" b="0" dirty="0">
                <a:solidFill>
                  <a:srgbClr val="9CDCFE"/>
                </a:solidFill>
                <a:effectLst/>
                <a:latin typeface="Consolas" panose="020B0609020204030204" pitchFamily="49" charset="0"/>
              </a:rPr>
              <a:t>visited</a:t>
            </a:r>
            <a:r>
              <a:rPr lang="en-US" sz="1000" b="0" dirty="0">
                <a:solidFill>
                  <a:srgbClr val="CCCCCC"/>
                </a:solidFill>
                <a:effectLst/>
                <a:latin typeface="Consolas" panose="020B0609020204030204" pitchFamily="49" charset="0"/>
              </a:rPr>
              <a:t>) {</a:t>
            </a:r>
          </a:p>
          <a:p>
            <a:r>
              <a:rPr lang="en-US" sz="1000" b="0" dirty="0">
                <a:solidFill>
                  <a:srgbClr val="CCCCCC"/>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visited</a:t>
            </a:r>
            <a:r>
              <a:rPr lang="en-US" sz="1000" b="0" dirty="0" err="1">
                <a:solidFill>
                  <a:srgbClr val="CCCCCC"/>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insert</a:t>
            </a:r>
            <a:r>
              <a:rPr lang="en-US" sz="1000" b="0" dirty="0">
                <a:solidFill>
                  <a:srgbClr val="CCCCCC"/>
                </a:solidFill>
                <a:effectLst/>
                <a:latin typeface="Consolas" panose="020B0609020204030204" pitchFamily="49" charset="0"/>
              </a:rPr>
              <a:t>(node);</a:t>
            </a:r>
          </a:p>
          <a:p>
            <a:r>
              <a:rPr lang="en-US" sz="1000" b="0" dirty="0">
                <a:solidFill>
                  <a:srgbClr val="CCCCCC"/>
                </a:solidFill>
                <a:effectLst/>
                <a:latin typeface="Consolas" panose="020B0609020204030204" pitchFamily="49" charset="0"/>
              </a:rPr>
              <a:t>    </a:t>
            </a:r>
            <a:r>
              <a:rPr lang="en-US" sz="1000" b="0" dirty="0">
                <a:solidFill>
                  <a:srgbClr val="569CD6"/>
                </a:solidFill>
                <a:effectLst/>
                <a:latin typeface="Consolas" panose="020B0609020204030204" pitchFamily="49" charset="0"/>
              </a:rPr>
              <a:t>unsigned</a:t>
            </a:r>
            <a:r>
              <a:rPr lang="en-US" sz="1000" b="0" dirty="0">
                <a:solidFill>
                  <a:srgbClr val="CCCCCC"/>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CCCCCC"/>
                </a:solidFill>
                <a:effectLst/>
                <a:latin typeface="Consolas" panose="020B0609020204030204" pitchFamily="49" charset="0"/>
              </a:rPr>
              <a:t> size </a:t>
            </a:r>
            <a:r>
              <a:rPr lang="en-US" sz="1000" b="0" dirty="0">
                <a:solidFill>
                  <a:srgbClr val="D4D4D4"/>
                </a:solidFill>
                <a:effectLst/>
                <a:latin typeface="Consolas" panose="020B0609020204030204" pitchFamily="49" charset="0"/>
              </a:rPr>
              <a:t>=</a:t>
            </a:r>
            <a:r>
              <a:rPr lang="en-US" sz="1000" b="0" dirty="0">
                <a:solidFill>
                  <a:srgbClr val="CCCCCC"/>
                </a:solidFill>
                <a:effectLst/>
                <a:latin typeface="Consolas" panose="020B0609020204030204" pitchFamily="49" charset="0"/>
              </a:rPr>
              <a:t> </a:t>
            </a:r>
            <a:r>
              <a:rPr lang="en-US" sz="1000" b="0" dirty="0">
                <a:solidFill>
                  <a:srgbClr val="B5CEA8"/>
                </a:solidFill>
                <a:effectLst/>
                <a:latin typeface="Consolas" panose="020B0609020204030204" pitchFamily="49" charset="0"/>
              </a:rPr>
              <a:t>1</a:t>
            </a:r>
            <a:r>
              <a:rPr lang="en-US" sz="1000" b="0" dirty="0">
                <a:solidFill>
                  <a:srgbClr val="CCCCCC"/>
                </a:solidFill>
                <a:effectLst/>
                <a:latin typeface="Consolas" panose="020B0609020204030204" pitchFamily="49" charset="0"/>
              </a:rPr>
              <a:t>;</a:t>
            </a:r>
            <a:r>
              <a:rPr lang="en-US" sz="1000" b="0" dirty="0">
                <a:solidFill>
                  <a:srgbClr val="6A9955"/>
                </a:solidFill>
                <a:effectLst/>
                <a:latin typeface="Consolas" panose="020B0609020204030204" pitchFamily="49" charset="0"/>
              </a:rPr>
              <a:t>  // Start with the current node</a:t>
            </a:r>
            <a:endParaRPr lang="en-US" sz="1000" b="0" dirty="0">
              <a:solidFill>
                <a:srgbClr val="CCCCCC"/>
              </a:solidFill>
              <a:effectLst/>
              <a:latin typeface="Consolas" panose="020B0609020204030204" pitchFamily="49" charset="0"/>
            </a:endParaRPr>
          </a:p>
          <a:p>
            <a:br>
              <a:rPr lang="en-US" sz="1000" b="0" dirty="0">
                <a:solidFill>
                  <a:srgbClr val="CCCCCC"/>
                </a:solidFill>
                <a:effectLst/>
                <a:latin typeface="Consolas" panose="020B0609020204030204" pitchFamily="49" charset="0"/>
              </a:rPr>
            </a:br>
            <a:r>
              <a:rPr lang="en-US" sz="1000" b="0" dirty="0">
                <a:solidFill>
                  <a:srgbClr val="CCCCCC"/>
                </a:solidFill>
                <a:effectLst/>
                <a:latin typeface="Consolas" panose="020B0609020204030204" pitchFamily="49" charset="0"/>
              </a:rPr>
              <a:t>    </a:t>
            </a:r>
            <a:r>
              <a:rPr lang="en-US" sz="1000" b="0" dirty="0">
                <a:solidFill>
                  <a:srgbClr val="C586C0"/>
                </a:solidFill>
                <a:effectLst/>
                <a:latin typeface="Consolas" panose="020B0609020204030204" pitchFamily="49" charset="0"/>
              </a:rPr>
              <a:t>for</a:t>
            </a:r>
            <a:r>
              <a:rPr lang="en-US" sz="1000" b="0" dirty="0">
                <a:solidFill>
                  <a:srgbClr val="CCCCCC"/>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CCCCCC"/>
                </a:solidFill>
                <a:effectLst/>
                <a:latin typeface="Consolas" panose="020B0609020204030204" pitchFamily="49" charset="0"/>
              </a:rPr>
              <a:t> neighbor : </a:t>
            </a:r>
            <a:r>
              <a:rPr lang="en-US" sz="1000" b="0" dirty="0" err="1">
                <a:solidFill>
                  <a:srgbClr val="9CDCFE"/>
                </a:solidFill>
                <a:effectLst/>
                <a:latin typeface="Consolas" panose="020B0609020204030204" pitchFamily="49" charset="0"/>
              </a:rPr>
              <a:t>adjListGraph</a:t>
            </a:r>
            <a:r>
              <a:rPr lang="en-US" sz="1000" b="0" dirty="0">
                <a:solidFill>
                  <a:srgbClr val="CCCCCC"/>
                </a:solidFill>
                <a:effectLst/>
                <a:latin typeface="Consolas" panose="020B0609020204030204" pitchFamily="49" charset="0"/>
              </a:rPr>
              <a:t>[node]) {</a:t>
            </a:r>
          </a:p>
          <a:p>
            <a:r>
              <a:rPr lang="en-US" sz="1000" b="0" dirty="0">
                <a:solidFill>
                  <a:srgbClr val="CCCCCC"/>
                </a:solidFill>
                <a:effectLst/>
                <a:latin typeface="Consolas" panose="020B0609020204030204" pitchFamily="49" charset="0"/>
              </a:rPr>
              <a:t>        </a:t>
            </a:r>
            <a:r>
              <a:rPr lang="en-US" sz="1000" b="0" dirty="0">
                <a:solidFill>
                  <a:srgbClr val="C586C0"/>
                </a:solidFill>
                <a:effectLst/>
                <a:latin typeface="Consolas" panose="020B0609020204030204" pitchFamily="49" charset="0"/>
              </a:rPr>
              <a:t>if</a:t>
            </a:r>
            <a:r>
              <a:rPr lang="en-US" sz="1000" b="0" dirty="0">
                <a:solidFill>
                  <a:srgbClr val="CCCCCC"/>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visited</a:t>
            </a:r>
            <a:r>
              <a:rPr lang="en-US" sz="1000" b="0" dirty="0" err="1">
                <a:solidFill>
                  <a:srgbClr val="CCCCCC"/>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find</a:t>
            </a:r>
            <a:r>
              <a:rPr lang="en-US" sz="1000" b="0" dirty="0">
                <a:solidFill>
                  <a:srgbClr val="CCCCCC"/>
                </a:solidFill>
                <a:effectLst/>
                <a:latin typeface="Consolas" panose="020B0609020204030204" pitchFamily="49" charset="0"/>
              </a:rPr>
              <a:t>(neighbor) </a:t>
            </a:r>
            <a:r>
              <a:rPr lang="en-US" sz="1000" b="0" dirty="0">
                <a:solidFill>
                  <a:srgbClr val="D4D4D4"/>
                </a:solidFill>
                <a:effectLst/>
                <a:latin typeface="Consolas" panose="020B0609020204030204" pitchFamily="49" charset="0"/>
              </a:rPr>
              <a:t>==</a:t>
            </a:r>
            <a:r>
              <a:rPr lang="en-US" sz="1000" b="0" dirty="0">
                <a:solidFill>
                  <a:srgbClr val="CCCCCC"/>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visited</a:t>
            </a:r>
            <a:r>
              <a:rPr lang="en-US" sz="1000" b="0" dirty="0" err="1">
                <a:solidFill>
                  <a:srgbClr val="CCCCCC"/>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end</a:t>
            </a:r>
            <a:r>
              <a:rPr lang="en-US" sz="1000" b="0" dirty="0">
                <a:solidFill>
                  <a:srgbClr val="CCCCCC"/>
                </a:solidFill>
                <a:effectLst/>
                <a:latin typeface="Consolas" panose="020B0609020204030204" pitchFamily="49" charset="0"/>
              </a:rPr>
              <a:t>()) {</a:t>
            </a:r>
          </a:p>
          <a:p>
            <a:r>
              <a:rPr lang="en-US" sz="1000" b="0" dirty="0">
                <a:solidFill>
                  <a:srgbClr val="CCCCCC"/>
                </a:solidFill>
                <a:effectLst/>
                <a:latin typeface="Consolas" panose="020B0609020204030204" pitchFamily="49" charset="0"/>
              </a:rPr>
              <a:t>            size </a:t>
            </a:r>
            <a:r>
              <a:rPr lang="en-US" sz="1000" b="0" dirty="0">
                <a:solidFill>
                  <a:srgbClr val="D4D4D4"/>
                </a:solidFill>
                <a:effectLst/>
                <a:latin typeface="Consolas" panose="020B0609020204030204" pitchFamily="49" charset="0"/>
              </a:rPr>
              <a:t>+=</a:t>
            </a:r>
            <a:r>
              <a:rPr lang="en-US" sz="1000" b="0" dirty="0">
                <a:solidFill>
                  <a:srgbClr val="CCCCCC"/>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dfs</a:t>
            </a:r>
            <a:r>
              <a:rPr lang="en-US" sz="1000" b="0" dirty="0">
                <a:solidFill>
                  <a:srgbClr val="CCCCCC"/>
                </a:solidFill>
                <a:effectLst/>
                <a:latin typeface="Consolas" panose="020B0609020204030204" pitchFamily="49" charset="0"/>
              </a:rPr>
              <a:t>(neighbor, </a:t>
            </a:r>
            <a:r>
              <a:rPr lang="en-US" sz="1000" b="0" dirty="0" err="1">
                <a:solidFill>
                  <a:srgbClr val="CCCCCC"/>
                </a:solidFill>
                <a:effectLst/>
                <a:latin typeface="Consolas" panose="020B0609020204030204" pitchFamily="49" charset="0"/>
              </a:rPr>
              <a:t>adjListGraph</a:t>
            </a:r>
            <a:r>
              <a:rPr lang="en-US" sz="1000" b="0" dirty="0">
                <a:solidFill>
                  <a:srgbClr val="CCCCCC"/>
                </a:solidFill>
                <a:effectLst/>
                <a:latin typeface="Consolas" panose="020B0609020204030204" pitchFamily="49" charset="0"/>
              </a:rPr>
              <a:t>, visited);</a:t>
            </a:r>
          </a:p>
          <a:p>
            <a:r>
              <a:rPr lang="en-US" sz="1000" b="0" dirty="0">
                <a:solidFill>
                  <a:srgbClr val="CCCCCC"/>
                </a:solidFill>
                <a:effectLst/>
                <a:latin typeface="Consolas" panose="020B0609020204030204" pitchFamily="49" charset="0"/>
              </a:rPr>
              <a:t>        }</a:t>
            </a:r>
          </a:p>
          <a:p>
            <a:r>
              <a:rPr lang="en-US" sz="1000" b="0" dirty="0">
                <a:solidFill>
                  <a:srgbClr val="CCCCCC"/>
                </a:solidFill>
                <a:effectLst/>
                <a:latin typeface="Consolas" panose="020B0609020204030204" pitchFamily="49" charset="0"/>
              </a:rPr>
              <a:t>    }</a:t>
            </a:r>
          </a:p>
          <a:p>
            <a:r>
              <a:rPr lang="en-US" sz="1000" b="0" dirty="0">
                <a:solidFill>
                  <a:srgbClr val="CCCCCC"/>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CCCCCC"/>
                </a:solidFill>
                <a:effectLst/>
                <a:latin typeface="Consolas" panose="020B0609020204030204" pitchFamily="49" charset="0"/>
              </a:rPr>
              <a:t> size;</a:t>
            </a:r>
          </a:p>
          <a:p>
            <a:r>
              <a:rPr lang="en-US" sz="1000" b="0" dirty="0">
                <a:solidFill>
                  <a:srgbClr val="CCCCCC"/>
                </a:solidFill>
                <a:effectLst/>
                <a:latin typeface="Consolas" panose="020B0609020204030204" pitchFamily="49" charset="0"/>
              </a:rPr>
              <a:t>}</a:t>
            </a:r>
          </a:p>
          <a:p>
            <a:br>
              <a:rPr lang="en-US" sz="1000" b="0" dirty="0">
                <a:solidFill>
                  <a:srgbClr val="CCCCCC"/>
                </a:solidFill>
                <a:effectLst/>
                <a:latin typeface="Consolas" panose="020B0609020204030204" pitchFamily="49" charset="0"/>
              </a:rPr>
            </a:br>
            <a:r>
              <a:rPr lang="en-US" sz="1000" b="0" dirty="0">
                <a:solidFill>
                  <a:srgbClr val="569CD6"/>
                </a:solidFill>
                <a:effectLst/>
                <a:latin typeface="Consolas" panose="020B0609020204030204" pitchFamily="49" charset="0"/>
              </a:rPr>
              <a:t>unsigned</a:t>
            </a:r>
            <a:r>
              <a:rPr lang="en-US" sz="1000" b="0" dirty="0">
                <a:solidFill>
                  <a:srgbClr val="CCCCCC"/>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CCCCCC"/>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largest_component</a:t>
            </a:r>
            <a:r>
              <a:rPr lang="en-US" sz="1000" b="0" dirty="0">
                <a:solidFill>
                  <a:srgbClr val="CCCCCC"/>
                </a:solidFill>
                <a:effectLst/>
                <a:latin typeface="Consolas" panose="020B0609020204030204" pitchFamily="49" charset="0"/>
              </a:rPr>
              <a:t>(</a:t>
            </a:r>
            <a:r>
              <a:rPr lang="en-US" sz="1000" b="0" dirty="0" err="1">
                <a:solidFill>
                  <a:srgbClr val="4EC9B0"/>
                </a:solidFill>
                <a:effectLst/>
                <a:latin typeface="Consolas" panose="020B0609020204030204" pitchFamily="49" charset="0"/>
              </a:rPr>
              <a:t>unordered_map</a:t>
            </a:r>
            <a:r>
              <a:rPr lang="en-US" sz="1000" b="0" dirty="0">
                <a:solidFill>
                  <a:srgbClr val="CCCCCC"/>
                </a:solidFill>
                <a:effectLst/>
                <a:latin typeface="Consolas" panose="020B0609020204030204" pitchFamily="49" charset="0"/>
              </a:rPr>
              <a:t>&lt;</a:t>
            </a:r>
            <a:r>
              <a:rPr lang="en-US" sz="1000" b="0" dirty="0">
                <a:solidFill>
                  <a:srgbClr val="569CD6"/>
                </a:solidFill>
                <a:effectLst/>
                <a:latin typeface="Consolas" panose="020B0609020204030204" pitchFamily="49" charset="0"/>
              </a:rPr>
              <a:t>int</a:t>
            </a:r>
            <a:r>
              <a:rPr lang="en-US" sz="1000" b="0" dirty="0">
                <a:solidFill>
                  <a:srgbClr val="CCCCCC"/>
                </a:solidFill>
                <a:effectLst/>
                <a:latin typeface="Consolas" panose="020B0609020204030204" pitchFamily="49" charset="0"/>
              </a:rPr>
              <a:t>, </a:t>
            </a:r>
            <a:r>
              <a:rPr lang="en-US" sz="1000" b="0" dirty="0">
                <a:solidFill>
                  <a:srgbClr val="4EC9B0"/>
                </a:solidFill>
                <a:effectLst/>
                <a:latin typeface="Consolas" panose="020B0609020204030204" pitchFamily="49" charset="0"/>
              </a:rPr>
              <a:t>vector</a:t>
            </a:r>
            <a:r>
              <a:rPr lang="en-US" sz="1000" b="0" dirty="0">
                <a:solidFill>
                  <a:srgbClr val="CCCCCC"/>
                </a:solidFill>
                <a:effectLst/>
                <a:latin typeface="Consolas" panose="020B0609020204030204" pitchFamily="49" charset="0"/>
              </a:rPr>
              <a:t>&lt;</a:t>
            </a:r>
            <a:r>
              <a:rPr lang="en-US" sz="1000" b="0" dirty="0">
                <a:solidFill>
                  <a:srgbClr val="569CD6"/>
                </a:solidFill>
                <a:effectLst/>
                <a:latin typeface="Consolas" panose="020B0609020204030204" pitchFamily="49" charset="0"/>
              </a:rPr>
              <a:t>int</a:t>
            </a:r>
            <a:r>
              <a:rPr lang="en-US" sz="1000" b="0" dirty="0">
                <a:solidFill>
                  <a:srgbClr val="CCCCCC"/>
                </a:solidFill>
                <a:effectLst/>
                <a:latin typeface="Consolas" panose="020B0609020204030204" pitchFamily="49" charset="0"/>
              </a:rPr>
              <a:t>&gt;&gt;</a:t>
            </a:r>
            <a:r>
              <a:rPr lang="en-US" sz="1000" b="0" dirty="0">
                <a:solidFill>
                  <a:srgbClr val="569CD6"/>
                </a:solidFill>
                <a:effectLst/>
                <a:latin typeface="Consolas" panose="020B0609020204030204" pitchFamily="49" charset="0"/>
              </a:rPr>
              <a:t>&amp;</a:t>
            </a:r>
            <a:r>
              <a:rPr lang="en-US" sz="1000" b="0" dirty="0">
                <a:solidFill>
                  <a:srgbClr val="CCCCCC"/>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adjListGraph</a:t>
            </a:r>
            <a:r>
              <a:rPr lang="en-US" sz="1000" b="0" dirty="0">
                <a:solidFill>
                  <a:srgbClr val="CCCCCC"/>
                </a:solidFill>
                <a:effectLst/>
                <a:latin typeface="Consolas" panose="020B0609020204030204" pitchFamily="49" charset="0"/>
              </a:rPr>
              <a:t>) {</a:t>
            </a:r>
          </a:p>
          <a:p>
            <a:r>
              <a:rPr lang="en-US" sz="1000" b="0" dirty="0">
                <a:solidFill>
                  <a:srgbClr val="CCCCCC"/>
                </a:solidFill>
                <a:effectLst/>
                <a:latin typeface="Consolas" panose="020B0609020204030204" pitchFamily="49" charset="0"/>
              </a:rPr>
              <a:t>    </a:t>
            </a:r>
            <a:r>
              <a:rPr lang="en-US" sz="1000" b="0" dirty="0" err="1">
                <a:solidFill>
                  <a:srgbClr val="CCCCCC"/>
                </a:solidFill>
                <a:effectLst/>
                <a:latin typeface="Consolas" panose="020B0609020204030204" pitchFamily="49" charset="0"/>
              </a:rPr>
              <a:t>unordered_set</a:t>
            </a:r>
            <a:r>
              <a:rPr lang="en-US" sz="1000" b="0" dirty="0">
                <a:solidFill>
                  <a:srgbClr val="D4D4D4"/>
                </a:solidFill>
                <a:effectLst/>
                <a:latin typeface="Consolas" panose="020B0609020204030204" pitchFamily="49" charset="0"/>
              </a:rPr>
              <a:t>&lt;</a:t>
            </a:r>
            <a:r>
              <a:rPr lang="en-US" sz="1000" b="0" dirty="0">
                <a:solidFill>
                  <a:srgbClr val="569CD6"/>
                </a:solidFill>
                <a:effectLst/>
                <a:latin typeface="Consolas" panose="020B0609020204030204" pitchFamily="49" charset="0"/>
              </a:rPr>
              <a:t>int</a:t>
            </a:r>
            <a:r>
              <a:rPr lang="en-US" sz="1000" b="0" dirty="0">
                <a:solidFill>
                  <a:srgbClr val="D4D4D4"/>
                </a:solidFill>
                <a:effectLst/>
                <a:latin typeface="Consolas" panose="020B0609020204030204" pitchFamily="49" charset="0"/>
              </a:rPr>
              <a:t>&gt;</a:t>
            </a:r>
            <a:r>
              <a:rPr lang="en-US" sz="1000" b="0" dirty="0">
                <a:solidFill>
                  <a:srgbClr val="CCCCCC"/>
                </a:solidFill>
                <a:effectLst/>
                <a:latin typeface="Consolas" panose="020B0609020204030204" pitchFamily="49" charset="0"/>
              </a:rPr>
              <a:t> visited;</a:t>
            </a:r>
          </a:p>
          <a:p>
            <a:r>
              <a:rPr lang="en-US" sz="1000" b="0" dirty="0">
                <a:solidFill>
                  <a:srgbClr val="CCCCCC"/>
                </a:solidFill>
                <a:effectLst/>
                <a:latin typeface="Consolas" panose="020B0609020204030204" pitchFamily="49" charset="0"/>
              </a:rPr>
              <a:t>    </a:t>
            </a:r>
            <a:r>
              <a:rPr lang="en-US" sz="1000" b="0" dirty="0">
                <a:solidFill>
                  <a:srgbClr val="569CD6"/>
                </a:solidFill>
                <a:effectLst/>
                <a:latin typeface="Consolas" panose="020B0609020204030204" pitchFamily="49" charset="0"/>
              </a:rPr>
              <a:t>unsigned</a:t>
            </a:r>
            <a:r>
              <a:rPr lang="en-US" sz="1000" b="0" dirty="0">
                <a:solidFill>
                  <a:srgbClr val="CCCCCC"/>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CCCCCC"/>
                </a:solidFill>
                <a:effectLst/>
                <a:latin typeface="Consolas" panose="020B0609020204030204" pitchFamily="49" charset="0"/>
              </a:rPr>
              <a:t> </a:t>
            </a:r>
            <a:r>
              <a:rPr lang="en-US" sz="1000" b="0" dirty="0" err="1">
                <a:solidFill>
                  <a:srgbClr val="CCCCCC"/>
                </a:solidFill>
                <a:effectLst/>
                <a:latin typeface="Consolas" panose="020B0609020204030204" pitchFamily="49" charset="0"/>
              </a:rPr>
              <a:t>maxComponentSize</a:t>
            </a:r>
            <a:r>
              <a:rPr lang="en-US" sz="1000" b="0" dirty="0">
                <a:solidFill>
                  <a:srgbClr val="CCCCCC"/>
                </a:solidFill>
                <a:effectLst/>
                <a:latin typeface="Consolas" panose="020B0609020204030204" pitchFamily="49" charset="0"/>
              </a:rPr>
              <a:t> </a:t>
            </a:r>
            <a:r>
              <a:rPr lang="en-US" sz="1000" b="0" dirty="0">
                <a:solidFill>
                  <a:srgbClr val="D4D4D4"/>
                </a:solidFill>
                <a:effectLst/>
                <a:latin typeface="Consolas" panose="020B0609020204030204" pitchFamily="49" charset="0"/>
              </a:rPr>
              <a:t>=</a:t>
            </a:r>
            <a:r>
              <a:rPr lang="en-US" sz="1000" b="0" dirty="0">
                <a:solidFill>
                  <a:srgbClr val="CCCCCC"/>
                </a:solidFill>
                <a:effectLst/>
                <a:latin typeface="Consolas" panose="020B0609020204030204" pitchFamily="49" charset="0"/>
              </a:rPr>
              <a:t> </a:t>
            </a:r>
            <a:r>
              <a:rPr lang="en-US" sz="1000" b="0" dirty="0">
                <a:solidFill>
                  <a:srgbClr val="B5CEA8"/>
                </a:solidFill>
                <a:effectLst/>
                <a:latin typeface="Consolas" panose="020B0609020204030204" pitchFamily="49" charset="0"/>
              </a:rPr>
              <a:t>0</a:t>
            </a:r>
            <a:r>
              <a:rPr lang="en-US" sz="1000" b="0" dirty="0">
                <a:solidFill>
                  <a:srgbClr val="CCCCCC"/>
                </a:solidFill>
                <a:effectLst/>
                <a:latin typeface="Consolas" panose="020B0609020204030204" pitchFamily="49" charset="0"/>
              </a:rPr>
              <a:t>;</a:t>
            </a:r>
          </a:p>
          <a:p>
            <a:br>
              <a:rPr lang="en-US" sz="1000" b="0" dirty="0">
                <a:solidFill>
                  <a:srgbClr val="CCCCCC"/>
                </a:solidFill>
                <a:effectLst/>
                <a:latin typeface="Consolas" panose="020B0609020204030204" pitchFamily="49" charset="0"/>
              </a:rPr>
            </a:br>
            <a:r>
              <a:rPr lang="en-US" sz="1000" b="0" dirty="0">
                <a:solidFill>
                  <a:srgbClr val="CCCCCC"/>
                </a:solidFill>
                <a:effectLst/>
                <a:latin typeface="Consolas" panose="020B0609020204030204" pitchFamily="49" charset="0"/>
              </a:rPr>
              <a:t>    </a:t>
            </a:r>
            <a:r>
              <a:rPr lang="en-US" sz="1000" b="0" dirty="0">
                <a:solidFill>
                  <a:srgbClr val="C586C0"/>
                </a:solidFill>
                <a:effectLst/>
                <a:latin typeface="Consolas" panose="020B0609020204030204" pitchFamily="49" charset="0"/>
              </a:rPr>
              <a:t>for</a:t>
            </a:r>
            <a:r>
              <a:rPr lang="en-US" sz="1000" b="0" dirty="0">
                <a:solidFill>
                  <a:srgbClr val="CCCCCC"/>
                </a:solidFill>
                <a:effectLst/>
                <a:latin typeface="Consolas" panose="020B0609020204030204" pitchFamily="49" charset="0"/>
              </a:rPr>
              <a:t> (</a:t>
            </a:r>
            <a:r>
              <a:rPr lang="en-US" sz="1000" b="0" dirty="0">
                <a:solidFill>
                  <a:srgbClr val="569CD6"/>
                </a:solidFill>
                <a:effectLst/>
                <a:latin typeface="Consolas" panose="020B0609020204030204" pitchFamily="49" charset="0"/>
              </a:rPr>
              <a:t>const</a:t>
            </a:r>
            <a:r>
              <a:rPr lang="en-US" sz="1000" b="0" dirty="0">
                <a:solidFill>
                  <a:srgbClr val="CCCCCC"/>
                </a:solidFill>
                <a:effectLst/>
                <a:latin typeface="Consolas" panose="020B0609020204030204" pitchFamily="49" charset="0"/>
              </a:rPr>
              <a:t> </a:t>
            </a:r>
            <a:r>
              <a:rPr lang="en-US" sz="1000" b="0" dirty="0">
                <a:solidFill>
                  <a:srgbClr val="569CD6"/>
                </a:solidFill>
                <a:effectLst/>
                <a:latin typeface="Consolas" panose="020B0609020204030204" pitchFamily="49" charset="0"/>
              </a:rPr>
              <a:t>auto</a:t>
            </a:r>
            <a:r>
              <a:rPr lang="en-US" sz="1000" b="0" dirty="0">
                <a:solidFill>
                  <a:srgbClr val="CCCCCC"/>
                </a:solidFill>
                <a:effectLst/>
                <a:latin typeface="Consolas" panose="020B0609020204030204" pitchFamily="49" charset="0"/>
              </a:rPr>
              <a:t> entry : </a:t>
            </a:r>
            <a:r>
              <a:rPr lang="en-US" sz="1000" b="0" dirty="0" err="1">
                <a:solidFill>
                  <a:srgbClr val="CCCCCC"/>
                </a:solidFill>
                <a:effectLst/>
                <a:latin typeface="Consolas" panose="020B0609020204030204" pitchFamily="49" charset="0"/>
              </a:rPr>
              <a:t>adjListGraph</a:t>
            </a:r>
            <a:r>
              <a:rPr lang="en-US" sz="1000" b="0" dirty="0">
                <a:solidFill>
                  <a:srgbClr val="CCCCCC"/>
                </a:solidFill>
                <a:effectLst/>
                <a:latin typeface="Consolas" panose="020B0609020204030204" pitchFamily="49" charset="0"/>
              </a:rPr>
              <a:t>) {</a:t>
            </a:r>
          </a:p>
          <a:p>
            <a:r>
              <a:rPr lang="en-US" sz="1000" b="0" dirty="0">
                <a:solidFill>
                  <a:srgbClr val="CCCCCC"/>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CCCCCC"/>
                </a:solidFill>
                <a:effectLst/>
                <a:latin typeface="Consolas" panose="020B0609020204030204" pitchFamily="49" charset="0"/>
              </a:rPr>
              <a:t> node </a:t>
            </a:r>
            <a:r>
              <a:rPr lang="en-US" sz="1000" b="0" dirty="0">
                <a:solidFill>
                  <a:srgbClr val="D4D4D4"/>
                </a:solidFill>
                <a:effectLst/>
                <a:latin typeface="Consolas" panose="020B0609020204030204" pitchFamily="49" charset="0"/>
              </a:rPr>
              <a:t>=</a:t>
            </a:r>
            <a:r>
              <a:rPr lang="en-US" sz="1000" b="0" dirty="0">
                <a:solidFill>
                  <a:srgbClr val="CCCCCC"/>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entry</a:t>
            </a:r>
            <a:r>
              <a:rPr lang="en-US" sz="1000" b="0" dirty="0" err="1">
                <a:solidFill>
                  <a:srgbClr val="CCCCCC"/>
                </a:solidFill>
                <a:effectLst/>
                <a:latin typeface="Consolas" panose="020B0609020204030204" pitchFamily="49" charset="0"/>
              </a:rPr>
              <a:t>.</a:t>
            </a:r>
            <a:r>
              <a:rPr lang="en-US" sz="1000" b="0" dirty="0" err="1">
                <a:solidFill>
                  <a:srgbClr val="9CDCFE"/>
                </a:solidFill>
                <a:effectLst/>
                <a:latin typeface="Consolas" panose="020B0609020204030204" pitchFamily="49" charset="0"/>
              </a:rPr>
              <a:t>first</a:t>
            </a:r>
            <a:r>
              <a:rPr lang="en-US" sz="1000" b="0" dirty="0">
                <a:solidFill>
                  <a:srgbClr val="CCCCCC"/>
                </a:solidFill>
                <a:effectLst/>
                <a:latin typeface="Consolas" panose="020B0609020204030204" pitchFamily="49" charset="0"/>
              </a:rPr>
              <a:t>;</a:t>
            </a:r>
          </a:p>
          <a:p>
            <a:r>
              <a:rPr lang="en-US" sz="1000" b="0" dirty="0">
                <a:solidFill>
                  <a:srgbClr val="CCCCCC"/>
                </a:solidFill>
                <a:effectLst/>
                <a:latin typeface="Consolas" panose="020B0609020204030204" pitchFamily="49" charset="0"/>
              </a:rPr>
              <a:t>        </a:t>
            </a:r>
            <a:r>
              <a:rPr lang="en-US" sz="1000" b="0" dirty="0">
                <a:solidFill>
                  <a:srgbClr val="C586C0"/>
                </a:solidFill>
                <a:effectLst/>
                <a:latin typeface="Consolas" panose="020B0609020204030204" pitchFamily="49" charset="0"/>
              </a:rPr>
              <a:t>if</a:t>
            </a:r>
            <a:r>
              <a:rPr lang="en-US" sz="1000" b="0" dirty="0">
                <a:solidFill>
                  <a:srgbClr val="CCCCCC"/>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visited</a:t>
            </a:r>
            <a:r>
              <a:rPr lang="en-US" sz="1000" b="0" dirty="0" err="1">
                <a:solidFill>
                  <a:srgbClr val="CCCCCC"/>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find</a:t>
            </a:r>
            <a:r>
              <a:rPr lang="en-US" sz="1000" b="0" dirty="0">
                <a:solidFill>
                  <a:srgbClr val="CCCCCC"/>
                </a:solidFill>
                <a:effectLst/>
                <a:latin typeface="Consolas" panose="020B0609020204030204" pitchFamily="49" charset="0"/>
              </a:rPr>
              <a:t>(node) </a:t>
            </a:r>
            <a:r>
              <a:rPr lang="en-US" sz="1000" b="0" dirty="0">
                <a:solidFill>
                  <a:srgbClr val="D4D4D4"/>
                </a:solidFill>
                <a:effectLst/>
                <a:latin typeface="Consolas" panose="020B0609020204030204" pitchFamily="49" charset="0"/>
              </a:rPr>
              <a:t>==</a:t>
            </a:r>
            <a:r>
              <a:rPr lang="en-US" sz="1000" b="0" dirty="0">
                <a:solidFill>
                  <a:srgbClr val="CCCCCC"/>
                </a:solidFill>
                <a:effectLst/>
                <a:latin typeface="Consolas" panose="020B0609020204030204" pitchFamily="49" charset="0"/>
              </a:rPr>
              <a:t> </a:t>
            </a:r>
            <a:r>
              <a:rPr lang="en-US" sz="1000" b="0" dirty="0" err="1">
                <a:solidFill>
                  <a:srgbClr val="9CDCFE"/>
                </a:solidFill>
                <a:effectLst/>
                <a:latin typeface="Consolas" panose="020B0609020204030204" pitchFamily="49" charset="0"/>
              </a:rPr>
              <a:t>visited</a:t>
            </a:r>
            <a:r>
              <a:rPr lang="en-US" sz="1000" b="0" dirty="0" err="1">
                <a:solidFill>
                  <a:srgbClr val="CCCCCC"/>
                </a:solidFill>
                <a:effectLst/>
                <a:latin typeface="Consolas" panose="020B0609020204030204" pitchFamily="49" charset="0"/>
              </a:rPr>
              <a:t>.</a:t>
            </a:r>
            <a:r>
              <a:rPr lang="en-US" sz="1000" b="0" dirty="0" err="1">
                <a:solidFill>
                  <a:srgbClr val="DCDCAA"/>
                </a:solidFill>
                <a:effectLst/>
                <a:latin typeface="Consolas" panose="020B0609020204030204" pitchFamily="49" charset="0"/>
              </a:rPr>
              <a:t>end</a:t>
            </a:r>
            <a:r>
              <a:rPr lang="en-US" sz="1000" b="0" dirty="0">
                <a:solidFill>
                  <a:srgbClr val="CCCCCC"/>
                </a:solidFill>
                <a:effectLst/>
                <a:latin typeface="Consolas" panose="020B0609020204030204" pitchFamily="49" charset="0"/>
              </a:rPr>
              <a:t>()) {</a:t>
            </a:r>
          </a:p>
          <a:p>
            <a:r>
              <a:rPr lang="en-US" sz="1000" b="0" dirty="0">
                <a:solidFill>
                  <a:srgbClr val="CCCCCC"/>
                </a:solidFill>
                <a:effectLst/>
                <a:latin typeface="Consolas" panose="020B0609020204030204" pitchFamily="49" charset="0"/>
              </a:rPr>
              <a:t>            </a:t>
            </a:r>
            <a:r>
              <a:rPr lang="en-US" sz="1000" b="0" dirty="0">
                <a:solidFill>
                  <a:srgbClr val="569CD6"/>
                </a:solidFill>
                <a:effectLst/>
                <a:latin typeface="Consolas" panose="020B0609020204030204" pitchFamily="49" charset="0"/>
              </a:rPr>
              <a:t>unsigned</a:t>
            </a:r>
            <a:r>
              <a:rPr lang="en-US" sz="1000" b="0" dirty="0">
                <a:solidFill>
                  <a:srgbClr val="CCCCCC"/>
                </a:solidFill>
                <a:effectLst/>
                <a:latin typeface="Consolas" panose="020B0609020204030204" pitchFamily="49" charset="0"/>
              </a:rPr>
              <a:t> </a:t>
            </a:r>
            <a:r>
              <a:rPr lang="en-US" sz="1000" b="0" dirty="0">
                <a:solidFill>
                  <a:srgbClr val="569CD6"/>
                </a:solidFill>
                <a:effectLst/>
                <a:latin typeface="Consolas" panose="020B0609020204030204" pitchFamily="49" charset="0"/>
              </a:rPr>
              <a:t>int</a:t>
            </a:r>
            <a:r>
              <a:rPr lang="en-US" sz="1000" b="0" dirty="0">
                <a:solidFill>
                  <a:srgbClr val="CCCCCC"/>
                </a:solidFill>
                <a:effectLst/>
                <a:latin typeface="Consolas" panose="020B0609020204030204" pitchFamily="49" charset="0"/>
              </a:rPr>
              <a:t> </a:t>
            </a:r>
            <a:r>
              <a:rPr lang="en-US" sz="1000" b="0" dirty="0" err="1">
                <a:solidFill>
                  <a:srgbClr val="CCCCCC"/>
                </a:solidFill>
                <a:effectLst/>
                <a:latin typeface="Consolas" panose="020B0609020204030204" pitchFamily="49" charset="0"/>
              </a:rPr>
              <a:t>componentSize</a:t>
            </a:r>
            <a:r>
              <a:rPr lang="en-US" sz="1000" b="0" dirty="0">
                <a:solidFill>
                  <a:srgbClr val="CCCCCC"/>
                </a:solidFill>
                <a:effectLst/>
                <a:latin typeface="Consolas" panose="020B0609020204030204" pitchFamily="49" charset="0"/>
              </a:rPr>
              <a:t> </a:t>
            </a:r>
            <a:r>
              <a:rPr lang="en-US" sz="1000" b="0" dirty="0">
                <a:solidFill>
                  <a:srgbClr val="D4D4D4"/>
                </a:solidFill>
                <a:effectLst/>
                <a:latin typeface="Consolas" panose="020B0609020204030204" pitchFamily="49" charset="0"/>
              </a:rPr>
              <a:t>=</a:t>
            </a:r>
            <a:r>
              <a:rPr lang="en-US" sz="1000" b="0" dirty="0">
                <a:solidFill>
                  <a:srgbClr val="CCCCCC"/>
                </a:solidFill>
                <a:effectLst/>
                <a:latin typeface="Consolas" panose="020B0609020204030204" pitchFamily="49" charset="0"/>
              </a:rPr>
              <a:t> </a:t>
            </a:r>
            <a:r>
              <a:rPr lang="en-US" sz="1000" b="0" dirty="0" err="1">
                <a:solidFill>
                  <a:srgbClr val="DCDCAA"/>
                </a:solidFill>
                <a:effectLst/>
                <a:latin typeface="Consolas" panose="020B0609020204030204" pitchFamily="49" charset="0"/>
              </a:rPr>
              <a:t>dfs</a:t>
            </a:r>
            <a:r>
              <a:rPr lang="en-US" sz="1000" b="0" dirty="0">
                <a:solidFill>
                  <a:srgbClr val="CCCCCC"/>
                </a:solidFill>
                <a:effectLst/>
                <a:latin typeface="Consolas" panose="020B0609020204030204" pitchFamily="49" charset="0"/>
              </a:rPr>
              <a:t>(node, </a:t>
            </a:r>
            <a:r>
              <a:rPr lang="en-US" sz="1000" b="0" dirty="0" err="1">
                <a:solidFill>
                  <a:srgbClr val="CCCCCC"/>
                </a:solidFill>
                <a:effectLst/>
                <a:latin typeface="Consolas" panose="020B0609020204030204" pitchFamily="49" charset="0"/>
              </a:rPr>
              <a:t>adjListGraph</a:t>
            </a:r>
            <a:r>
              <a:rPr lang="en-US" sz="1000" b="0" dirty="0">
                <a:solidFill>
                  <a:srgbClr val="CCCCCC"/>
                </a:solidFill>
                <a:effectLst/>
                <a:latin typeface="Consolas" panose="020B0609020204030204" pitchFamily="49" charset="0"/>
              </a:rPr>
              <a:t>, visited);</a:t>
            </a:r>
          </a:p>
          <a:p>
            <a:r>
              <a:rPr lang="en-US" sz="1000" b="0" dirty="0">
                <a:solidFill>
                  <a:srgbClr val="CCCCCC"/>
                </a:solidFill>
                <a:effectLst/>
                <a:latin typeface="Consolas" panose="020B0609020204030204" pitchFamily="49" charset="0"/>
              </a:rPr>
              <a:t>            </a:t>
            </a:r>
            <a:r>
              <a:rPr lang="en-US" sz="1000" b="0" dirty="0">
                <a:solidFill>
                  <a:srgbClr val="C586C0"/>
                </a:solidFill>
                <a:effectLst/>
                <a:latin typeface="Consolas" panose="020B0609020204030204" pitchFamily="49" charset="0"/>
              </a:rPr>
              <a:t>if</a:t>
            </a:r>
            <a:r>
              <a:rPr lang="en-US" sz="1000" b="0" dirty="0">
                <a:solidFill>
                  <a:srgbClr val="CCCCCC"/>
                </a:solidFill>
                <a:effectLst/>
                <a:latin typeface="Consolas" panose="020B0609020204030204" pitchFamily="49" charset="0"/>
              </a:rPr>
              <a:t> (</a:t>
            </a:r>
            <a:r>
              <a:rPr lang="en-US" sz="1000" b="0" dirty="0" err="1">
                <a:solidFill>
                  <a:srgbClr val="CCCCCC"/>
                </a:solidFill>
                <a:effectLst/>
                <a:latin typeface="Consolas" panose="020B0609020204030204" pitchFamily="49" charset="0"/>
              </a:rPr>
              <a:t>componentSize</a:t>
            </a:r>
            <a:r>
              <a:rPr lang="en-US" sz="1000" b="0" dirty="0">
                <a:solidFill>
                  <a:srgbClr val="CCCCCC"/>
                </a:solidFill>
                <a:effectLst/>
                <a:latin typeface="Consolas" panose="020B0609020204030204" pitchFamily="49" charset="0"/>
              </a:rPr>
              <a:t> </a:t>
            </a:r>
            <a:r>
              <a:rPr lang="en-US" sz="1000" b="0" dirty="0">
                <a:solidFill>
                  <a:srgbClr val="D4D4D4"/>
                </a:solidFill>
                <a:effectLst/>
                <a:latin typeface="Consolas" panose="020B0609020204030204" pitchFamily="49" charset="0"/>
              </a:rPr>
              <a:t>&gt;</a:t>
            </a:r>
            <a:r>
              <a:rPr lang="en-US" sz="1000" b="0" dirty="0">
                <a:solidFill>
                  <a:srgbClr val="CCCCCC"/>
                </a:solidFill>
                <a:effectLst/>
                <a:latin typeface="Consolas" panose="020B0609020204030204" pitchFamily="49" charset="0"/>
              </a:rPr>
              <a:t> </a:t>
            </a:r>
            <a:r>
              <a:rPr lang="en-US" sz="1000" b="0" dirty="0" err="1">
                <a:solidFill>
                  <a:srgbClr val="CCCCCC"/>
                </a:solidFill>
                <a:effectLst/>
                <a:latin typeface="Consolas" panose="020B0609020204030204" pitchFamily="49" charset="0"/>
              </a:rPr>
              <a:t>maxComponentSize</a:t>
            </a:r>
            <a:r>
              <a:rPr lang="en-US" sz="1000" b="0" dirty="0">
                <a:solidFill>
                  <a:srgbClr val="CCCCCC"/>
                </a:solidFill>
                <a:effectLst/>
                <a:latin typeface="Consolas" panose="020B0609020204030204" pitchFamily="49" charset="0"/>
              </a:rPr>
              <a:t>) {</a:t>
            </a:r>
          </a:p>
          <a:p>
            <a:r>
              <a:rPr lang="en-US" sz="1000" b="0" dirty="0">
                <a:solidFill>
                  <a:srgbClr val="CCCCCC"/>
                </a:solidFill>
                <a:effectLst/>
                <a:latin typeface="Consolas" panose="020B0609020204030204" pitchFamily="49" charset="0"/>
              </a:rPr>
              <a:t>                </a:t>
            </a:r>
            <a:r>
              <a:rPr lang="en-US" sz="1000" b="0" dirty="0" err="1">
                <a:solidFill>
                  <a:srgbClr val="CCCCCC"/>
                </a:solidFill>
                <a:effectLst/>
                <a:latin typeface="Consolas" panose="020B0609020204030204" pitchFamily="49" charset="0"/>
              </a:rPr>
              <a:t>maxComponentSize</a:t>
            </a:r>
            <a:r>
              <a:rPr lang="en-US" sz="1000" b="0" dirty="0">
                <a:solidFill>
                  <a:srgbClr val="CCCCCC"/>
                </a:solidFill>
                <a:effectLst/>
                <a:latin typeface="Consolas" panose="020B0609020204030204" pitchFamily="49" charset="0"/>
              </a:rPr>
              <a:t> </a:t>
            </a:r>
            <a:r>
              <a:rPr lang="en-US" sz="1000" b="0" dirty="0">
                <a:solidFill>
                  <a:srgbClr val="D4D4D4"/>
                </a:solidFill>
                <a:effectLst/>
                <a:latin typeface="Consolas" panose="020B0609020204030204" pitchFamily="49" charset="0"/>
              </a:rPr>
              <a:t>=</a:t>
            </a:r>
            <a:r>
              <a:rPr lang="en-US" sz="1000" b="0" dirty="0">
                <a:solidFill>
                  <a:srgbClr val="CCCCCC"/>
                </a:solidFill>
                <a:effectLst/>
                <a:latin typeface="Consolas" panose="020B0609020204030204" pitchFamily="49" charset="0"/>
              </a:rPr>
              <a:t> </a:t>
            </a:r>
            <a:r>
              <a:rPr lang="en-US" sz="1000" b="0" dirty="0" err="1">
                <a:solidFill>
                  <a:srgbClr val="CCCCCC"/>
                </a:solidFill>
                <a:effectLst/>
                <a:latin typeface="Consolas" panose="020B0609020204030204" pitchFamily="49" charset="0"/>
              </a:rPr>
              <a:t>componentSize</a:t>
            </a:r>
            <a:r>
              <a:rPr lang="en-US" sz="1000" b="0" dirty="0">
                <a:solidFill>
                  <a:srgbClr val="CCCCCC"/>
                </a:solidFill>
                <a:effectLst/>
                <a:latin typeface="Consolas" panose="020B0609020204030204" pitchFamily="49" charset="0"/>
              </a:rPr>
              <a:t>;</a:t>
            </a:r>
          </a:p>
          <a:p>
            <a:r>
              <a:rPr lang="en-US" sz="1000" b="0" dirty="0">
                <a:solidFill>
                  <a:srgbClr val="CCCCCC"/>
                </a:solidFill>
                <a:effectLst/>
                <a:latin typeface="Consolas" panose="020B0609020204030204" pitchFamily="49" charset="0"/>
              </a:rPr>
              <a:t>            }</a:t>
            </a:r>
          </a:p>
          <a:p>
            <a:r>
              <a:rPr lang="en-US" sz="1000" b="0" dirty="0">
                <a:solidFill>
                  <a:srgbClr val="CCCCCC"/>
                </a:solidFill>
                <a:effectLst/>
                <a:latin typeface="Consolas" panose="020B0609020204030204" pitchFamily="49" charset="0"/>
              </a:rPr>
              <a:t>        }</a:t>
            </a:r>
          </a:p>
          <a:p>
            <a:r>
              <a:rPr lang="en-US" sz="1000" b="0" dirty="0">
                <a:solidFill>
                  <a:srgbClr val="CCCCCC"/>
                </a:solidFill>
                <a:effectLst/>
                <a:latin typeface="Consolas" panose="020B0609020204030204" pitchFamily="49" charset="0"/>
              </a:rPr>
              <a:t>    }</a:t>
            </a:r>
          </a:p>
          <a:p>
            <a:br>
              <a:rPr lang="en-US" sz="1000" b="0" dirty="0">
                <a:solidFill>
                  <a:srgbClr val="CCCCCC"/>
                </a:solidFill>
                <a:effectLst/>
                <a:latin typeface="Consolas" panose="020B0609020204030204" pitchFamily="49" charset="0"/>
              </a:rPr>
            </a:br>
            <a:r>
              <a:rPr lang="en-US" sz="1000" b="0" dirty="0">
                <a:solidFill>
                  <a:srgbClr val="CCCCCC"/>
                </a:solidFill>
                <a:effectLst/>
                <a:latin typeface="Consolas" panose="020B0609020204030204" pitchFamily="49" charset="0"/>
              </a:rPr>
              <a:t>    </a:t>
            </a:r>
            <a:r>
              <a:rPr lang="en-US" sz="1000" b="0" dirty="0">
                <a:solidFill>
                  <a:srgbClr val="C586C0"/>
                </a:solidFill>
                <a:effectLst/>
                <a:latin typeface="Consolas" panose="020B0609020204030204" pitchFamily="49" charset="0"/>
              </a:rPr>
              <a:t>return</a:t>
            </a:r>
            <a:r>
              <a:rPr lang="en-US" sz="1000" b="0" dirty="0">
                <a:solidFill>
                  <a:srgbClr val="CCCCCC"/>
                </a:solidFill>
                <a:effectLst/>
                <a:latin typeface="Consolas" panose="020B0609020204030204" pitchFamily="49" charset="0"/>
              </a:rPr>
              <a:t> </a:t>
            </a:r>
            <a:r>
              <a:rPr lang="en-US" sz="1000" b="0" dirty="0" err="1">
                <a:solidFill>
                  <a:srgbClr val="CCCCCC"/>
                </a:solidFill>
                <a:effectLst/>
                <a:latin typeface="Consolas" panose="020B0609020204030204" pitchFamily="49" charset="0"/>
              </a:rPr>
              <a:t>maxComponentSize</a:t>
            </a:r>
            <a:r>
              <a:rPr lang="en-US" sz="1000" b="0" dirty="0">
                <a:solidFill>
                  <a:srgbClr val="CCCCCC"/>
                </a:solidFill>
                <a:effectLst/>
                <a:latin typeface="Consolas" panose="020B0609020204030204" pitchFamily="49" charset="0"/>
              </a:rPr>
              <a:t>;</a:t>
            </a:r>
          </a:p>
          <a:p>
            <a:r>
              <a:rPr lang="en-US" sz="1000" b="0" dirty="0">
                <a:solidFill>
                  <a:srgbClr val="CCCCCC"/>
                </a:solidFill>
                <a:effectLst/>
                <a:latin typeface="Consolas" panose="020B0609020204030204" pitchFamily="49" charset="0"/>
              </a:rPr>
              <a:t>}</a:t>
            </a:r>
          </a:p>
          <a:p>
            <a:br>
              <a:rPr lang="en-US" sz="1000" b="0" dirty="0">
                <a:solidFill>
                  <a:srgbClr val="CCCCCC"/>
                </a:solidFill>
                <a:effectLst/>
                <a:latin typeface="Consolas" panose="020B0609020204030204" pitchFamily="49" charset="0"/>
              </a:rPr>
            </a:br>
            <a:endParaRPr lang="en-US" sz="1000" b="0" dirty="0">
              <a:solidFill>
                <a:srgbClr val="CCCCCC"/>
              </a:solidFill>
              <a:effectLst/>
              <a:latin typeface="Consolas" panose="020B0609020204030204" pitchFamily="49" charset="0"/>
            </a:endParaRPr>
          </a:p>
        </p:txBody>
      </p:sp>
      <p:grpSp>
        <p:nvGrpSpPr>
          <p:cNvPr id="4" name="Group 3">
            <a:extLst>
              <a:ext uri="{FF2B5EF4-FFF2-40B4-BE49-F238E27FC236}">
                <a16:creationId xmlns:a16="http://schemas.microsoft.com/office/drawing/2014/main" id="{294C58AE-50BD-43D2-8252-6516E11FC96F}"/>
              </a:ext>
            </a:extLst>
          </p:cNvPr>
          <p:cNvGrpSpPr/>
          <p:nvPr/>
        </p:nvGrpSpPr>
        <p:grpSpPr>
          <a:xfrm>
            <a:off x="11317255" y="5989103"/>
            <a:ext cx="841781" cy="748032"/>
            <a:chOff x="11337354" y="6025684"/>
            <a:chExt cx="841781" cy="748032"/>
          </a:xfrm>
        </p:grpSpPr>
        <p:pic>
          <p:nvPicPr>
            <p:cNvPr id="5" name="Picture 4">
              <a:extLst>
                <a:ext uri="{FF2B5EF4-FFF2-40B4-BE49-F238E27FC236}">
                  <a16:creationId xmlns:a16="http://schemas.microsoft.com/office/drawing/2014/main" id="{4A757C9C-9672-401F-A525-A2BDC7C0A1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Logo COP3530">
              <a:extLst>
                <a:ext uri="{FF2B5EF4-FFF2-40B4-BE49-F238E27FC236}">
                  <a16:creationId xmlns:a16="http://schemas.microsoft.com/office/drawing/2014/main" id="{782B9A84-9776-4A11-AFF5-B7FCB6A864ED}"/>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8370233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pPr lvl="0" defTabSz="457200">
              <a:lnSpc>
                <a:spcPct val="100000"/>
              </a:lnSpc>
              <a:spcBef>
                <a:spcPts val="0"/>
              </a:spcBef>
              <a:defRPr/>
            </a:pPr>
            <a:r>
              <a:rPr lang="en-US" dirty="0">
                <a:solidFill>
                  <a:prstClr val="white"/>
                </a:solidFill>
                <a:latin typeface="Gotham Bold" pitchFamily="50" charset="0"/>
              </a:rPr>
              <a:t>              BFS          vs          DFS</a:t>
            </a:r>
          </a:p>
        </p:txBody>
      </p:sp>
      <p:graphicFrame>
        <p:nvGraphicFramePr>
          <p:cNvPr id="21" name="Table 20">
            <a:extLst>
              <a:ext uri="{FF2B5EF4-FFF2-40B4-BE49-F238E27FC236}">
                <a16:creationId xmlns:a16="http://schemas.microsoft.com/office/drawing/2014/main" id="{F952157E-6DA3-4E16-BB71-67EC49361944}"/>
              </a:ext>
            </a:extLst>
          </p:cNvPr>
          <p:cNvGraphicFramePr>
            <a:graphicFrameLocks noGrp="1"/>
          </p:cNvGraphicFramePr>
          <p:nvPr/>
        </p:nvGraphicFramePr>
        <p:xfrm>
          <a:off x="6837780" y="1690688"/>
          <a:ext cx="378179" cy="4421823"/>
        </p:xfrm>
        <a:graphic>
          <a:graphicData uri="http://schemas.openxmlformats.org/drawingml/2006/table">
            <a:tbl>
              <a:tblPr>
                <a:tableStyleId>{5C22544A-7EE6-4342-B048-85BDC9FD1C3A}</a:tableStyleId>
              </a:tblPr>
              <a:tblGrid>
                <a:gridCol w="378179">
                  <a:extLst>
                    <a:ext uri="{9D8B030D-6E8A-4147-A177-3AD203B41FA5}">
                      <a16:colId xmlns:a16="http://schemas.microsoft.com/office/drawing/2014/main" val="2652359085"/>
                    </a:ext>
                  </a:extLst>
                </a:gridCol>
              </a:tblGrid>
              <a:tr h="1199813">
                <a:tc>
                  <a:txBody>
                    <a:bodyPr/>
                    <a:lstStyle/>
                    <a:p>
                      <a:pPr marL="0" marR="0" algn="ctr">
                        <a:lnSpc>
                          <a:spcPct val="115000"/>
                        </a:lnSpc>
                        <a:spcBef>
                          <a:spcPts val="0"/>
                        </a:spcBef>
                        <a:spcAft>
                          <a:spcPts val="0"/>
                        </a:spcAft>
                        <a:tabLst>
                          <a:tab pos="571500" algn="l"/>
                        </a:tabLst>
                      </a:pPr>
                      <a:r>
                        <a:rPr lang="en-US" sz="1100" baseline="0" dirty="0">
                          <a:solidFill>
                            <a:schemeClr val="bg1"/>
                          </a:solidFill>
                          <a:effectLst/>
                          <a:latin typeface="Consolas" panose="020B0609020204030204" pitchFamily="49" charset="0"/>
                        </a:rPr>
                        <a:t>01</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02</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03</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04</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05</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06</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07</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08</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09</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10</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11</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12</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13</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14</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15</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16</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17</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18</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19</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20</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21</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22</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23</a:t>
                      </a:r>
                    </a:p>
                  </a:txBody>
                  <a:tcPr marL="68580" marR="68580" marT="0" marB="0">
                    <a:lnL w="12700" cap="flat" cmpd="sng" algn="ctr">
                      <a:solidFill>
                        <a:srgbClr val="1199FF"/>
                      </a:solidFill>
                      <a:prstDash val="solid"/>
                      <a:round/>
                      <a:headEnd type="none" w="med" len="med"/>
                      <a:tailEnd type="none" w="med" len="med"/>
                    </a:lnL>
                    <a:lnR w="12700" cap="flat" cmpd="sng" algn="ctr">
                      <a:solidFill>
                        <a:srgbClr val="1199FF"/>
                      </a:solidFill>
                      <a:prstDash val="solid"/>
                      <a:round/>
                      <a:headEnd type="none" w="med" len="med"/>
                      <a:tailEnd type="none" w="med" len="med"/>
                    </a:lnR>
                    <a:lnT w="12700" cap="flat" cmpd="sng" algn="ctr">
                      <a:solidFill>
                        <a:srgbClr val="1199FF"/>
                      </a:solidFill>
                      <a:prstDash val="solid"/>
                      <a:round/>
                      <a:headEnd type="none" w="med" len="med"/>
                      <a:tailEnd type="none" w="med" len="med"/>
                    </a:lnT>
                    <a:lnB w="12700" cap="flat" cmpd="sng" algn="ctr">
                      <a:solidFill>
                        <a:srgbClr val="1199FF"/>
                      </a:solidFill>
                      <a:prstDash val="solid"/>
                      <a:round/>
                      <a:headEnd type="none" w="med" len="med"/>
                      <a:tailEnd type="none" w="med" len="med"/>
                    </a:lnB>
                    <a:solidFill>
                      <a:schemeClr val="tx1"/>
                    </a:solidFill>
                  </a:tcPr>
                </a:tc>
                <a:extLst>
                  <a:ext uri="{0D108BD9-81ED-4DB2-BD59-A6C34878D82A}">
                    <a16:rowId xmlns:a16="http://schemas.microsoft.com/office/drawing/2014/main" val="1362061028"/>
                  </a:ext>
                </a:extLst>
              </a:tr>
            </a:tbl>
          </a:graphicData>
        </a:graphic>
      </p:graphicFrame>
      <p:graphicFrame>
        <p:nvGraphicFramePr>
          <p:cNvPr id="22" name="Table 21">
            <a:extLst>
              <a:ext uri="{FF2B5EF4-FFF2-40B4-BE49-F238E27FC236}">
                <a16:creationId xmlns:a16="http://schemas.microsoft.com/office/drawing/2014/main" id="{462CB2C6-C06F-43D6-B68B-6659CE23EBC2}"/>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182292465"/>
              </p:ext>
            </p:extLst>
          </p:nvPr>
        </p:nvGraphicFramePr>
        <p:xfrm>
          <a:off x="7215957" y="1690688"/>
          <a:ext cx="3998003" cy="4421823"/>
        </p:xfrm>
        <a:graphic>
          <a:graphicData uri="http://schemas.openxmlformats.org/drawingml/2006/table">
            <a:tbl>
              <a:tblPr>
                <a:solidFill>
                  <a:srgbClr val="000000"/>
                </a:solidFill>
                <a:tableStyleId>{5C22544A-7EE6-4342-B048-85BDC9FD1C3A}</a:tableStyleId>
              </a:tblPr>
              <a:tblGrid>
                <a:gridCol w="3998003">
                  <a:extLst>
                    <a:ext uri="{9D8B030D-6E8A-4147-A177-3AD203B41FA5}">
                      <a16:colId xmlns:a16="http://schemas.microsoft.com/office/drawing/2014/main" val="3829240360"/>
                    </a:ext>
                  </a:extLst>
                </a:gridCol>
              </a:tblGrid>
              <a:tr h="157979">
                <a:tc>
                  <a:txBody>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rgbClr val="00DA63"/>
                          </a:solidFill>
                          <a:effectLst/>
                          <a:latin typeface="Consolas" panose="020B0609020204030204" pitchFamily="49" charset="0"/>
                          <a:ea typeface="+mn-ea"/>
                          <a:cs typeface="+mn-cs"/>
                        </a:rPr>
                        <a:t>string source = "A";    </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chemeClr val="bg1"/>
                          </a:solidFill>
                          <a:effectLst/>
                          <a:latin typeface="Consolas" panose="020B0609020204030204" pitchFamily="49" charset="0"/>
                          <a:ea typeface="+mn-ea"/>
                          <a:cs typeface="+mn-cs"/>
                        </a:rPr>
                        <a:t>std::set&lt;string&gt; visited;    </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chemeClr val="bg1"/>
                          </a:solidFill>
                          <a:effectLst/>
                          <a:latin typeface="Consolas" panose="020B0609020204030204" pitchFamily="49" charset="0"/>
                          <a:ea typeface="+mn-ea"/>
                          <a:cs typeface="+mn-cs"/>
                        </a:rPr>
                        <a:t>std::stack&lt;string&gt; s;</a:t>
                      </a:r>
                    </a:p>
                    <a:p>
                      <a:pPr marL="0" marR="0" lvl="0" indent="0" algn="just" defTabSz="914400" rtl="0" eaLnBrk="1" fontAlgn="auto" latinLnBrk="0" hangingPunct="1">
                        <a:lnSpc>
                          <a:spcPct val="115000"/>
                        </a:lnSpc>
                        <a:spcBef>
                          <a:spcPts val="0"/>
                        </a:spcBef>
                        <a:spcAft>
                          <a:spcPts val="0"/>
                        </a:spcAft>
                        <a:buClrTx/>
                        <a:buSzTx/>
                        <a:buFontTx/>
                        <a:buNone/>
                        <a:tabLst/>
                        <a:defRPr/>
                      </a:pPr>
                      <a:endParaRPr lang="en-US" sz="1100" kern="1200" baseline="0" dirty="0">
                        <a:solidFill>
                          <a:schemeClr val="bg1"/>
                        </a:solidFill>
                        <a:effectLst/>
                        <a:latin typeface="Consolas" panose="020B0609020204030204" pitchFamily="49" charset="0"/>
                        <a:ea typeface="+mn-ea"/>
                        <a:cs typeface="+mn-cs"/>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err="1">
                          <a:solidFill>
                            <a:srgbClr val="00DA63"/>
                          </a:solidFill>
                          <a:effectLst/>
                          <a:latin typeface="Consolas" panose="020B0609020204030204" pitchFamily="49" charset="0"/>
                          <a:ea typeface="+mn-ea"/>
                          <a:cs typeface="+mn-cs"/>
                        </a:rPr>
                        <a:t>visited.insert</a:t>
                      </a:r>
                      <a:r>
                        <a:rPr lang="en-US" sz="1100" kern="1200" baseline="0" dirty="0">
                          <a:solidFill>
                            <a:srgbClr val="00DA63"/>
                          </a:solidFill>
                          <a:effectLst/>
                          <a:latin typeface="Consolas" panose="020B0609020204030204" pitchFamily="49" charset="0"/>
                          <a:ea typeface="+mn-ea"/>
                          <a:cs typeface="+mn-cs"/>
                        </a:rPr>
                        <a:t>(source);    </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err="1">
                          <a:solidFill>
                            <a:srgbClr val="00DA63"/>
                          </a:solidFill>
                          <a:effectLst/>
                          <a:latin typeface="Consolas" panose="020B0609020204030204" pitchFamily="49" charset="0"/>
                          <a:ea typeface="+mn-ea"/>
                          <a:cs typeface="+mn-cs"/>
                        </a:rPr>
                        <a:t>s.push</a:t>
                      </a:r>
                      <a:r>
                        <a:rPr lang="en-US" sz="1100" kern="1200" baseline="0" dirty="0">
                          <a:solidFill>
                            <a:srgbClr val="00DA63"/>
                          </a:solidFill>
                          <a:effectLst/>
                          <a:latin typeface="Consolas" panose="020B0609020204030204" pitchFamily="49" charset="0"/>
                          <a:ea typeface="+mn-ea"/>
                          <a:cs typeface="+mn-cs"/>
                        </a:rPr>
                        <a:t>(source);    </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err="1">
                          <a:solidFill>
                            <a:schemeClr val="bg1"/>
                          </a:solidFill>
                          <a:effectLst/>
                          <a:latin typeface="Consolas" panose="020B0609020204030204" pitchFamily="49" charset="0"/>
                          <a:ea typeface="+mn-ea"/>
                          <a:cs typeface="+mn-cs"/>
                        </a:rPr>
                        <a:t>cout</a:t>
                      </a:r>
                      <a:r>
                        <a:rPr lang="en-US" sz="1100" kern="1200" baseline="0" dirty="0">
                          <a:solidFill>
                            <a:schemeClr val="bg1"/>
                          </a:solidFill>
                          <a:effectLst/>
                          <a:latin typeface="Consolas" panose="020B0609020204030204" pitchFamily="49" charset="0"/>
                          <a:ea typeface="+mn-ea"/>
                          <a:cs typeface="+mn-cs"/>
                        </a:rPr>
                        <a:t>&lt;&lt;“DFS: ";        </a:t>
                      </a:r>
                    </a:p>
                    <a:p>
                      <a:pPr marL="0" marR="0" lvl="0" indent="0" algn="just" defTabSz="914400" rtl="0" eaLnBrk="1" fontAlgn="auto" latinLnBrk="0" hangingPunct="1">
                        <a:lnSpc>
                          <a:spcPct val="115000"/>
                        </a:lnSpc>
                        <a:spcBef>
                          <a:spcPts val="0"/>
                        </a:spcBef>
                        <a:spcAft>
                          <a:spcPts val="0"/>
                        </a:spcAft>
                        <a:buClrTx/>
                        <a:buSzTx/>
                        <a:buFontTx/>
                        <a:buNone/>
                        <a:tabLst/>
                        <a:defRPr/>
                      </a:pPr>
                      <a:endParaRPr lang="en-US" sz="1100" kern="1200" baseline="0" dirty="0">
                        <a:solidFill>
                          <a:schemeClr val="bg1"/>
                        </a:solidFill>
                        <a:effectLst/>
                        <a:latin typeface="Consolas" panose="020B0609020204030204" pitchFamily="49" charset="0"/>
                        <a:ea typeface="+mn-ea"/>
                        <a:cs typeface="+mn-cs"/>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rgbClr val="00B0F0"/>
                          </a:solidFill>
                          <a:effectLst/>
                          <a:latin typeface="Consolas" panose="020B0609020204030204" pitchFamily="49" charset="0"/>
                          <a:ea typeface="+mn-ea"/>
                          <a:cs typeface="+mn-cs"/>
                        </a:rPr>
                        <a:t>while(!</a:t>
                      </a:r>
                      <a:r>
                        <a:rPr lang="en-US" sz="1100" kern="1200" baseline="0" dirty="0" err="1">
                          <a:solidFill>
                            <a:srgbClr val="00B0F0"/>
                          </a:solidFill>
                          <a:effectLst/>
                          <a:latin typeface="Consolas" panose="020B0609020204030204" pitchFamily="49" charset="0"/>
                          <a:ea typeface="+mn-ea"/>
                          <a:cs typeface="+mn-cs"/>
                        </a:rPr>
                        <a:t>q.empty</a:t>
                      </a:r>
                      <a:r>
                        <a:rPr lang="en-US" sz="1100" kern="1200" baseline="0" dirty="0">
                          <a:solidFill>
                            <a:srgbClr val="00B0F0"/>
                          </a:solidFill>
                          <a:effectLst/>
                          <a:latin typeface="Consolas" panose="020B0609020204030204" pitchFamily="49" charset="0"/>
                          <a:ea typeface="+mn-ea"/>
                          <a:cs typeface="+mn-cs"/>
                        </a:rPr>
                        <a:t>())    </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chemeClr val="bg1"/>
                          </a:solidFill>
                          <a:effectLst/>
                          <a:latin typeface="Consolas" panose="020B0609020204030204" pitchFamily="49" charset="0"/>
                          <a:ea typeface="+mn-ea"/>
                          <a:cs typeface="+mn-cs"/>
                        </a:rPr>
                        <a:t>{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rgbClr val="F7FA82"/>
                          </a:solidFill>
                          <a:effectLst/>
                          <a:latin typeface="Consolas" panose="020B0609020204030204" pitchFamily="49" charset="0"/>
                          <a:ea typeface="+mn-ea"/>
                          <a:cs typeface="+mn-cs"/>
                        </a:rPr>
                        <a:t>string u = </a:t>
                      </a:r>
                      <a:r>
                        <a:rPr lang="en-US" sz="1100" kern="1200" baseline="0" dirty="0" err="1">
                          <a:solidFill>
                            <a:srgbClr val="F7FA82"/>
                          </a:solidFill>
                          <a:effectLst/>
                          <a:latin typeface="Consolas" panose="020B0609020204030204" pitchFamily="49" charset="0"/>
                          <a:ea typeface="+mn-ea"/>
                          <a:cs typeface="+mn-cs"/>
                        </a:rPr>
                        <a:t>s.top</a:t>
                      </a:r>
                      <a:r>
                        <a:rPr lang="en-US" sz="1100" kern="1200" baseline="0" dirty="0">
                          <a:solidFill>
                            <a:srgbClr val="F7FA82"/>
                          </a:solidFill>
                          <a:effectLst/>
                          <a:latin typeface="Consolas" panose="020B0609020204030204" pitchFamily="49" charset="0"/>
                          <a:ea typeface="+mn-ea"/>
                          <a:cs typeface="+mn-cs"/>
                        </a:rPr>
                        <a:t>();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err="1">
                          <a:solidFill>
                            <a:srgbClr val="F7FA82"/>
                          </a:solidFill>
                          <a:effectLst/>
                          <a:latin typeface="Consolas" panose="020B0609020204030204" pitchFamily="49" charset="0"/>
                          <a:ea typeface="+mn-ea"/>
                          <a:cs typeface="+mn-cs"/>
                        </a:rPr>
                        <a:t>cout</a:t>
                      </a:r>
                      <a:r>
                        <a:rPr lang="en-US" sz="1100" kern="1200" baseline="0" dirty="0">
                          <a:solidFill>
                            <a:srgbClr val="F7FA82"/>
                          </a:solidFill>
                          <a:effectLst/>
                          <a:latin typeface="Consolas" panose="020B0609020204030204" pitchFamily="49" charset="0"/>
                          <a:ea typeface="+mn-ea"/>
                          <a:cs typeface="+mn-cs"/>
                        </a:rPr>
                        <a:t> &lt;&lt; u;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err="1">
                          <a:solidFill>
                            <a:srgbClr val="F7FA82"/>
                          </a:solidFill>
                          <a:effectLst/>
                          <a:latin typeface="Consolas" panose="020B0609020204030204" pitchFamily="49" charset="0"/>
                          <a:ea typeface="+mn-ea"/>
                          <a:cs typeface="+mn-cs"/>
                        </a:rPr>
                        <a:t>s.pop</a:t>
                      </a:r>
                      <a:r>
                        <a:rPr lang="en-US" sz="1100" kern="1200" baseline="0" dirty="0">
                          <a:solidFill>
                            <a:srgbClr val="F7FA82"/>
                          </a:solidFill>
                          <a:effectLst/>
                          <a:latin typeface="Consolas" panose="020B0609020204030204" pitchFamily="49" charset="0"/>
                          <a:ea typeface="+mn-ea"/>
                          <a:cs typeface="+mn-cs"/>
                        </a:rPr>
                        <a:t>();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chemeClr val="bg1"/>
                          </a:solidFill>
                          <a:effectLst/>
                          <a:latin typeface="Consolas" panose="020B0609020204030204" pitchFamily="49" charset="0"/>
                          <a:ea typeface="+mn-ea"/>
                          <a:cs typeface="+mn-cs"/>
                        </a:rPr>
                        <a:t>vector&lt;string&gt; neighbors = graph[u];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rgbClr val="EB6E19"/>
                          </a:solidFill>
                          <a:effectLst/>
                          <a:latin typeface="Consolas" panose="020B0609020204030204" pitchFamily="49" charset="0"/>
                          <a:ea typeface="+mn-ea"/>
                          <a:cs typeface="+mn-cs"/>
                        </a:rPr>
                        <a:t>for(string v: neighbors)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rgbClr val="EB6E19"/>
                          </a:solidFill>
                          <a:effectLst/>
                          <a:latin typeface="Consolas" panose="020B0609020204030204" pitchFamily="49" charset="0"/>
                          <a:ea typeface="+mn-ea"/>
                          <a:cs typeface="+mn-cs"/>
                        </a:rPr>
                        <a:t>{            </a:t>
                      </a:r>
                    </a:p>
                    <a:p>
                      <a:pPr marL="914400" marR="0" lvl="2"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rgbClr val="0081E2"/>
                          </a:solidFill>
                          <a:effectLst/>
                          <a:latin typeface="Consolas" panose="020B0609020204030204" pitchFamily="49" charset="0"/>
                          <a:ea typeface="+mn-ea"/>
                          <a:cs typeface="+mn-cs"/>
                        </a:rPr>
                        <a:t>if(</a:t>
                      </a:r>
                      <a:r>
                        <a:rPr lang="en-US" sz="1100" kern="1200" baseline="0" dirty="0" err="1">
                          <a:solidFill>
                            <a:srgbClr val="0081E2"/>
                          </a:solidFill>
                          <a:effectLst/>
                          <a:latin typeface="Consolas" panose="020B0609020204030204" pitchFamily="49" charset="0"/>
                          <a:ea typeface="+mn-ea"/>
                          <a:cs typeface="+mn-cs"/>
                        </a:rPr>
                        <a:t>visited.count</a:t>
                      </a:r>
                      <a:r>
                        <a:rPr lang="en-US" sz="1100" kern="1200" baseline="0" dirty="0">
                          <a:solidFill>
                            <a:srgbClr val="0081E2"/>
                          </a:solidFill>
                          <a:effectLst/>
                          <a:latin typeface="Consolas" panose="020B0609020204030204" pitchFamily="49" charset="0"/>
                          <a:ea typeface="+mn-ea"/>
                          <a:cs typeface="+mn-cs"/>
                        </a:rPr>
                        <a:t>(v)==0)            </a:t>
                      </a:r>
                    </a:p>
                    <a:p>
                      <a:pPr marL="914400" marR="0" lvl="2"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rgbClr val="0081E2"/>
                          </a:solidFill>
                          <a:effectLst/>
                          <a:latin typeface="Consolas" panose="020B0609020204030204" pitchFamily="49" charset="0"/>
                          <a:ea typeface="+mn-ea"/>
                          <a:cs typeface="+mn-cs"/>
                        </a:rPr>
                        <a:t>{</a:t>
                      </a:r>
                      <a:r>
                        <a:rPr lang="en-US" sz="1100" kern="1200" baseline="0" dirty="0">
                          <a:solidFill>
                            <a:schemeClr val="bg1"/>
                          </a:solidFill>
                          <a:effectLst/>
                          <a:latin typeface="Consolas" panose="020B0609020204030204" pitchFamily="49" charset="0"/>
                          <a:ea typeface="+mn-ea"/>
                          <a:cs typeface="+mn-cs"/>
                        </a:rPr>
                        <a:t>                </a:t>
                      </a:r>
                    </a:p>
                    <a:p>
                      <a:pPr marL="1371600" marR="0" lvl="3"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err="1">
                          <a:solidFill>
                            <a:srgbClr val="FF9393"/>
                          </a:solidFill>
                          <a:effectLst/>
                          <a:latin typeface="Consolas" panose="020B0609020204030204" pitchFamily="49" charset="0"/>
                          <a:ea typeface="+mn-ea"/>
                          <a:cs typeface="+mn-cs"/>
                        </a:rPr>
                        <a:t>visited.insert</a:t>
                      </a:r>
                      <a:r>
                        <a:rPr lang="en-US" sz="1100" kern="1200" baseline="0" dirty="0">
                          <a:solidFill>
                            <a:srgbClr val="FF9393"/>
                          </a:solidFill>
                          <a:effectLst/>
                          <a:latin typeface="Consolas" panose="020B0609020204030204" pitchFamily="49" charset="0"/>
                          <a:ea typeface="+mn-ea"/>
                          <a:cs typeface="+mn-cs"/>
                        </a:rPr>
                        <a:t>(v);                </a:t>
                      </a:r>
                    </a:p>
                    <a:p>
                      <a:pPr marL="1371600" marR="0" lvl="3"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err="1">
                          <a:solidFill>
                            <a:srgbClr val="FF9393"/>
                          </a:solidFill>
                          <a:effectLst/>
                          <a:latin typeface="Consolas" panose="020B0609020204030204" pitchFamily="49" charset="0"/>
                          <a:ea typeface="+mn-ea"/>
                          <a:cs typeface="+mn-cs"/>
                        </a:rPr>
                        <a:t>s.push</a:t>
                      </a:r>
                      <a:r>
                        <a:rPr lang="en-US" sz="1100" kern="1200" baseline="0" dirty="0">
                          <a:solidFill>
                            <a:srgbClr val="FF9393"/>
                          </a:solidFill>
                          <a:effectLst/>
                          <a:latin typeface="Consolas" panose="020B0609020204030204" pitchFamily="49" charset="0"/>
                          <a:ea typeface="+mn-ea"/>
                          <a:cs typeface="+mn-cs"/>
                        </a:rPr>
                        <a:t>(v);           </a:t>
                      </a:r>
                    </a:p>
                    <a:p>
                      <a:pPr marL="914400" marR="0" lvl="2"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rgbClr val="0081E2"/>
                          </a:solidFill>
                          <a:effectLst/>
                          <a:latin typeface="Consolas" panose="020B0609020204030204" pitchFamily="49" charset="0"/>
                          <a:ea typeface="+mn-ea"/>
                          <a:cs typeface="+mn-cs"/>
                        </a:rPr>
                        <a:t>} </a:t>
                      </a:r>
                      <a:r>
                        <a:rPr lang="en-US" sz="1100" kern="1200" baseline="0" dirty="0">
                          <a:solidFill>
                            <a:schemeClr val="bg1"/>
                          </a:solidFill>
                          <a:effectLst/>
                          <a:latin typeface="Consolas" panose="020B0609020204030204" pitchFamily="49" charset="0"/>
                          <a:ea typeface="+mn-ea"/>
                          <a:cs typeface="+mn-cs"/>
                        </a:rPr>
                        <a:t>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rgbClr val="EB6E19"/>
                          </a:solidFill>
                          <a:effectLst/>
                          <a:latin typeface="Consolas" panose="020B0609020204030204" pitchFamily="49" charset="0"/>
                          <a:ea typeface="+mn-ea"/>
                          <a:cs typeface="+mn-cs"/>
                        </a:rPr>
                        <a:t>} </a:t>
                      </a:r>
                      <a:r>
                        <a:rPr lang="en-US" sz="1100" kern="1200" baseline="0" dirty="0">
                          <a:solidFill>
                            <a:schemeClr val="bg1"/>
                          </a:solidFill>
                          <a:effectLst/>
                          <a:latin typeface="Consolas" panose="020B0609020204030204" pitchFamily="49" charset="0"/>
                          <a:ea typeface="+mn-ea"/>
                          <a:cs typeface="+mn-cs"/>
                        </a:rPr>
                        <a:t>   </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chemeClr val="bg1"/>
                          </a:solidFill>
                          <a:effectLst/>
                          <a:latin typeface="Consolas" panose="020B0609020204030204" pitchFamily="49" charset="0"/>
                          <a:ea typeface="+mn-ea"/>
                          <a:cs typeface="+mn-cs"/>
                        </a:rPr>
                        <a:t>}</a:t>
                      </a:r>
                    </a:p>
                  </a:txBody>
                  <a:tcPr marL="68580" marR="68580" marT="0" marB="0">
                    <a:lnL w="12700" cap="flat" cmpd="sng" algn="ctr">
                      <a:solidFill>
                        <a:srgbClr val="1199FF"/>
                      </a:solidFill>
                      <a:prstDash val="solid"/>
                      <a:round/>
                      <a:headEnd type="none" w="med" len="med"/>
                      <a:tailEnd type="none" w="med" len="med"/>
                    </a:lnL>
                    <a:lnR w="12700" cap="flat" cmpd="sng" algn="ctr">
                      <a:solidFill>
                        <a:srgbClr val="1199FF"/>
                      </a:solidFill>
                      <a:prstDash val="solid"/>
                      <a:round/>
                      <a:headEnd type="none" w="med" len="med"/>
                      <a:tailEnd type="none" w="med" len="med"/>
                    </a:lnR>
                    <a:lnT w="12700" cap="flat" cmpd="sng" algn="ctr">
                      <a:solidFill>
                        <a:srgbClr val="1199FF"/>
                      </a:solidFill>
                      <a:prstDash val="solid"/>
                      <a:round/>
                      <a:headEnd type="none" w="med" len="med"/>
                      <a:tailEnd type="none" w="med" len="med"/>
                    </a:lnT>
                    <a:lnB w="12700" cap="flat" cmpd="sng" algn="ctr">
                      <a:solidFill>
                        <a:srgbClr val="1199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362061028"/>
                  </a:ext>
                </a:extLst>
              </a:tr>
            </a:tbl>
          </a:graphicData>
        </a:graphic>
      </p:graphicFrame>
      <p:graphicFrame>
        <p:nvGraphicFramePr>
          <p:cNvPr id="8" name="Table 7">
            <a:extLst>
              <a:ext uri="{FF2B5EF4-FFF2-40B4-BE49-F238E27FC236}">
                <a16:creationId xmlns:a16="http://schemas.microsoft.com/office/drawing/2014/main" id="{B22B6C1F-BA29-402D-85C0-48D7AFBC5041}"/>
              </a:ext>
            </a:extLst>
          </p:cNvPr>
          <p:cNvGraphicFramePr>
            <a:graphicFrameLocks noGrp="1"/>
          </p:cNvGraphicFramePr>
          <p:nvPr/>
        </p:nvGraphicFramePr>
        <p:xfrm>
          <a:off x="1513504" y="1687592"/>
          <a:ext cx="378179" cy="4421823"/>
        </p:xfrm>
        <a:graphic>
          <a:graphicData uri="http://schemas.openxmlformats.org/drawingml/2006/table">
            <a:tbl>
              <a:tblPr>
                <a:tableStyleId>{5C22544A-7EE6-4342-B048-85BDC9FD1C3A}</a:tableStyleId>
              </a:tblPr>
              <a:tblGrid>
                <a:gridCol w="378179">
                  <a:extLst>
                    <a:ext uri="{9D8B030D-6E8A-4147-A177-3AD203B41FA5}">
                      <a16:colId xmlns:a16="http://schemas.microsoft.com/office/drawing/2014/main" val="2652359085"/>
                    </a:ext>
                  </a:extLst>
                </a:gridCol>
              </a:tblGrid>
              <a:tr h="1199813">
                <a:tc>
                  <a:txBody>
                    <a:bodyPr/>
                    <a:lstStyle/>
                    <a:p>
                      <a:pPr marL="0" marR="0" algn="ctr">
                        <a:lnSpc>
                          <a:spcPct val="115000"/>
                        </a:lnSpc>
                        <a:spcBef>
                          <a:spcPts val="0"/>
                        </a:spcBef>
                        <a:spcAft>
                          <a:spcPts val="0"/>
                        </a:spcAft>
                        <a:tabLst>
                          <a:tab pos="571500" algn="l"/>
                        </a:tabLst>
                      </a:pPr>
                      <a:r>
                        <a:rPr lang="en-US" sz="1100" baseline="0" dirty="0">
                          <a:solidFill>
                            <a:schemeClr val="bg1"/>
                          </a:solidFill>
                          <a:effectLst/>
                          <a:latin typeface="Consolas" panose="020B0609020204030204" pitchFamily="49" charset="0"/>
                        </a:rPr>
                        <a:t>01</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02</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03</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04</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05</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06</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07</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08</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09</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10</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11</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12</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13</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14</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15</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16</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17</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18</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19</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20</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21</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22</a:t>
                      </a:r>
                    </a:p>
                    <a:p>
                      <a:pPr marL="0" marR="0" algn="ctr">
                        <a:lnSpc>
                          <a:spcPct val="115000"/>
                        </a:lnSpc>
                        <a:spcBef>
                          <a:spcPts val="0"/>
                        </a:spcBef>
                        <a:spcAft>
                          <a:spcPts val="0"/>
                        </a:spcAft>
                      </a:pPr>
                      <a:r>
                        <a:rPr lang="en-US" sz="1100" baseline="0" dirty="0">
                          <a:solidFill>
                            <a:schemeClr val="bg1"/>
                          </a:solidFill>
                          <a:effectLst/>
                          <a:latin typeface="Consolas" panose="020B0609020204030204" pitchFamily="49" charset="0"/>
                        </a:rPr>
                        <a:t>23</a:t>
                      </a:r>
                    </a:p>
                  </a:txBody>
                  <a:tcPr marL="68580" marR="68580" marT="0" marB="0">
                    <a:lnL w="12700" cap="flat" cmpd="sng" algn="ctr">
                      <a:solidFill>
                        <a:srgbClr val="1199FF"/>
                      </a:solidFill>
                      <a:prstDash val="solid"/>
                      <a:round/>
                      <a:headEnd type="none" w="med" len="med"/>
                      <a:tailEnd type="none" w="med" len="med"/>
                    </a:lnL>
                    <a:lnR w="12700" cap="flat" cmpd="sng" algn="ctr">
                      <a:solidFill>
                        <a:srgbClr val="1199FF"/>
                      </a:solidFill>
                      <a:prstDash val="solid"/>
                      <a:round/>
                      <a:headEnd type="none" w="med" len="med"/>
                      <a:tailEnd type="none" w="med" len="med"/>
                    </a:lnR>
                    <a:lnT w="12700" cap="flat" cmpd="sng" algn="ctr">
                      <a:solidFill>
                        <a:srgbClr val="1199FF"/>
                      </a:solidFill>
                      <a:prstDash val="solid"/>
                      <a:round/>
                      <a:headEnd type="none" w="med" len="med"/>
                      <a:tailEnd type="none" w="med" len="med"/>
                    </a:lnT>
                    <a:lnB w="12700" cap="flat" cmpd="sng" algn="ctr">
                      <a:solidFill>
                        <a:srgbClr val="1199FF"/>
                      </a:solidFill>
                      <a:prstDash val="solid"/>
                      <a:round/>
                      <a:headEnd type="none" w="med" len="med"/>
                      <a:tailEnd type="none" w="med" len="med"/>
                    </a:lnB>
                    <a:solidFill>
                      <a:schemeClr val="tx1"/>
                    </a:solidFill>
                  </a:tcPr>
                </a:tc>
                <a:extLst>
                  <a:ext uri="{0D108BD9-81ED-4DB2-BD59-A6C34878D82A}">
                    <a16:rowId xmlns:a16="http://schemas.microsoft.com/office/drawing/2014/main" val="1362061028"/>
                  </a:ext>
                </a:extLst>
              </a:tr>
            </a:tbl>
          </a:graphicData>
        </a:graphic>
      </p:graphicFrame>
      <p:graphicFrame>
        <p:nvGraphicFramePr>
          <p:cNvPr id="9" name="Table 8">
            <a:extLst>
              <a:ext uri="{FF2B5EF4-FFF2-40B4-BE49-F238E27FC236}">
                <a16:creationId xmlns:a16="http://schemas.microsoft.com/office/drawing/2014/main" id="{16788F24-DDB6-4257-9DCF-A761FB33361E}"/>
              </a:ext>
              <a:ext uri="{C183D7F6-B498-43B3-948B-1728B52AA6E4}">
                <adec:decorative xmlns:adec="http://schemas.microsoft.com/office/drawing/2017/decorative" val="1"/>
              </a:ext>
            </a:extLst>
          </p:cNvPr>
          <p:cNvGraphicFramePr>
            <a:graphicFrameLocks noGrp="1"/>
          </p:cNvGraphicFramePr>
          <p:nvPr>
            <p:extLst>
              <p:ext uri="{D42A27DB-BD31-4B8C-83A1-F6EECF244321}">
                <p14:modId xmlns:p14="http://schemas.microsoft.com/office/powerpoint/2010/main" val="2895226714"/>
              </p:ext>
            </p:extLst>
          </p:nvPr>
        </p:nvGraphicFramePr>
        <p:xfrm>
          <a:off x="1891682" y="1687592"/>
          <a:ext cx="3969344" cy="4421823"/>
        </p:xfrm>
        <a:graphic>
          <a:graphicData uri="http://schemas.openxmlformats.org/drawingml/2006/table">
            <a:tbl>
              <a:tblPr>
                <a:solidFill>
                  <a:srgbClr val="000000"/>
                </a:solidFill>
                <a:tableStyleId>{5C22544A-7EE6-4342-B048-85BDC9FD1C3A}</a:tableStyleId>
              </a:tblPr>
              <a:tblGrid>
                <a:gridCol w="3969344">
                  <a:extLst>
                    <a:ext uri="{9D8B030D-6E8A-4147-A177-3AD203B41FA5}">
                      <a16:colId xmlns:a16="http://schemas.microsoft.com/office/drawing/2014/main" val="3829240360"/>
                    </a:ext>
                  </a:extLst>
                </a:gridCol>
              </a:tblGrid>
              <a:tr h="157979">
                <a:tc>
                  <a:txBody>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rgbClr val="00DA63"/>
                          </a:solidFill>
                          <a:effectLst/>
                          <a:latin typeface="Consolas" panose="020B0609020204030204" pitchFamily="49" charset="0"/>
                          <a:ea typeface="+mn-ea"/>
                          <a:cs typeface="+mn-cs"/>
                        </a:rPr>
                        <a:t>string source = "A";    </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chemeClr val="bg1"/>
                          </a:solidFill>
                          <a:effectLst/>
                          <a:latin typeface="Consolas" panose="020B0609020204030204" pitchFamily="49" charset="0"/>
                          <a:ea typeface="+mn-ea"/>
                          <a:cs typeface="+mn-cs"/>
                        </a:rPr>
                        <a:t>std::set&lt;string&gt; visited;    </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chemeClr val="bg1"/>
                          </a:solidFill>
                          <a:effectLst/>
                          <a:latin typeface="Consolas" panose="020B0609020204030204" pitchFamily="49" charset="0"/>
                          <a:ea typeface="+mn-ea"/>
                          <a:cs typeface="+mn-cs"/>
                        </a:rPr>
                        <a:t>std::queue&lt;string&gt; q;    </a:t>
                      </a:r>
                    </a:p>
                    <a:p>
                      <a:pPr marL="0" marR="0" lvl="0" indent="0" algn="just" defTabSz="914400" rtl="0" eaLnBrk="1" fontAlgn="auto" latinLnBrk="0" hangingPunct="1">
                        <a:lnSpc>
                          <a:spcPct val="115000"/>
                        </a:lnSpc>
                        <a:spcBef>
                          <a:spcPts val="0"/>
                        </a:spcBef>
                        <a:spcAft>
                          <a:spcPts val="0"/>
                        </a:spcAft>
                        <a:buClrTx/>
                        <a:buSzTx/>
                        <a:buFontTx/>
                        <a:buNone/>
                        <a:tabLst/>
                        <a:defRPr/>
                      </a:pPr>
                      <a:endParaRPr lang="en-US" sz="1100" kern="1200" baseline="0" dirty="0">
                        <a:solidFill>
                          <a:schemeClr val="bg1"/>
                        </a:solidFill>
                        <a:effectLst/>
                        <a:latin typeface="Consolas" panose="020B0609020204030204" pitchFamily="49" charset="0"/>
                        <a:ea typeface="+mn-ea"/>
                        <a:cs typeface="+mn-cs"/>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err="1">
                          <a:solidFill>
                            <a:srgbClr val="00DA63"/>
                          </a:solidFill>
                          <a:effectLst/>
                          <a:latin typeface="Consolas" panose="020B0609020204030204" pitchFamily="49" charset="0"/>
                          <a:ea typeface="+mn-ea"/>
                          <a:cs typeface="+mn-cs"/>
                        </a:rPr>
                        <a:t>visited.insert</a:t>
                      </a:r>
                      <a:r>
                        <a:rPr lang="en-US" sz="1100" kern="1200" baseline="0" dirty="0">
                          <a:solidFill>
                            <a:srgbClr val="00DA63"/>
                          </a:solidFill>
                          <a:effectLst/>
                          <a:latin typeface="Consolas" panose="020B0609020204030204" pitchFamily="49" charset="0"/>
                          <a:ea typeface="+mn-ea"/>
                          <a:cs typeface="+mn-cs"/>
                        </a:rPr>
                        <a:t>(source);    </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err="1">
                          <a:solidFill>
                            <a:srgbClr val="00DA63"/>
                          </a:solidFill>
                          <a:effectLst/>
                          <a:latin typeface="Consolas" panose="020B0609020204030204" pitchFamily="49" charset="0"/>
                          <a:ea typeface="+mn-ea"/>
                          <a:cs typeface="+mn-cs"/>
                        </a:rPr>
                        <a:t>q.push</a:t>
                      </a:r>
                      <a:r>
                        <a:rPr lang="en-US" sz="1100" kern="1200" baseline="0" dirty="0">
                          <a:solidFill>
                            <a:srgbClr val="00DA63"/>
                          </a:solidFill>
                          <a:effectLst/>
                          <a:latin typeface="Consolas" panose="020B0609020204030204" pitchFamily="49" charset="0"/>
                          <a:ea typeface="+mn-ea"/>
                          <a:cs typeface="+mn-cs"/>
                        </a:rPr>
                        <a:t>(source);    </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err="1">
                          <a:solidFill>
                            <a:schemeClr val="bg1"/>
                          </a:solidFill>
                          <a:effectLst/>
                          <a:latin typeface="Consolas" panose="020B0609020204030204" pitchFamily="49" charset="0"/>
                          <a:ea typeface="+mn-ea"/>
                          <a:cs typeface="+mn-cs"/>
                        </a:rPr>
                        <a:t>cout</a:t>
                      </a:r>
                      <a:r>
                        <a:rPr lang="en-US" sz="1100" kern="1200" baseline="0" dirty="0">
                          <a:solidFill>
                            <a:schemeClr val="bg1"/>
                          </a:solidFill>
                          <a:effectLst/>
                          <a:latin typeface="Consolas" panose="020B0609020204030204" pitchFamily="49" charset="0"/>
                          <a:ea typeface="+mn-ea"/>
                          <a:cs typeface="+mn-cs"/>
                        </a:rPr>
                        <a:t>&lt;&lt;"BFS: ";        </a:t>
                      </a:r>
                    </a:p>
                    <a:p>
                      <a:pPr marL="0" marR="0" lvl="0" indent="0" algn="just" defTabSz="914400" rtl="0" eaLnBrk="1" fontAlgn="auto" latinLnBrk="0" hangingPunct="1">
                        <a:lnSpc>
                          <a:spcPct val="115000"/>
                        </a:lnSpc>
                        <a:spcBef>
                          <a:spcPts val="0"/>
                        </a:spcBef>
                        <a:spcAft>
                          <a:spcPts val="0"/>
                        </a:spcAft>
                        <a:buClrTx/>
                        <a:buSzTx/>
                        <a:buFontTx/>
                        <a:buNone/>
                        <a:tabLst/>
                        <a:defRPr/>
                      </a:pPr>
                      <a:endParaRPr lang="en-US" sz="1100" kern="1200" baseline="0" dirty="0">
                        <a:solidFill>
                          <a:schemeClr val="bg1"/>
                        </a:solidFill>
                        <a:effectLst/>
                        <a:latin typeface="Consolas" panose="020B0609020204030204" pitchFamily="49" charset="0"/>
                        <a:ea typeface="+mn-ea"/>
                        <a:cs typeface="+mn-cs"/>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rgbClr val="00B0F0"/>
                          </a:solidFill>
                          <a:effectLst/>
                          <a:latin typeface="Consolas" panose="020B0609020204030204" pitchFamily="49" charset="0"/>
                          <a:ea typeface="+mn-ea"/>
                          <a:cs typeface="+mn-cs"/>
                        </a:rPr>
                        <a:t>while(!</a:t>
                      </a:r>
                      <a:r>
                        <a:rPr lang="en-US" sz="1100" kern="1200" baseline="0" dirty="0" err="1">
                          <a:solidFill>
                            <a:srgbClr val="00B0F0"/>
                          </a:solidFill>
                          <a:effectLst/>
                          <a:latin typeface="Consolas" panose="020B0609020204030204" pitchFamily="49" charset="0"/>
                          <a:ea typeface="+mn-ea"/>
                          <a:cs typeface="+mn-cs"/>
                        </a:rPr>
                        <a:t>q.empty</a:t>
                      </a:r>
                      <a:r>
                        <a:rPr lang="en-US" sz="1100" kern="1200" baseline="0" dirty="0">
                          <a:solidFill>
                            <a:srgbClr val="00B0F0"/>
                          </a:solidFill>
                          <a:effectLst/>
                          <a:latin typeface="Consolas" panose="020B0609020204030204" pitchFamily="49" charset="0"/>
                          <a:ea typeface="+mn-ea"/>
                          <a:cs typeface="+mn-cs"/>
                        </a:rPr>
                        <a:t>())    </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chemeClr val="bg1"/>
                          </a:solidFill>
                          <a:effectLst/>
                          <a:latin typeface="Consolas" panose="020B0609020204030204" pitchFamily="49" charset="0"/>
                          <a:ea typeface="+mn-ea"/>
                          <a:cs typeface="+mn-cs"/>
                        </a:rPr>
                        <a:t>{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rgbClr val="F7FA82"/>
                          </a:solidFill>
                          <a:effectLst/>
                          <a:latin typeface="Consolas" panose="020B0609020204030204" pitchFamily="49" charset="0"/>
                          <a:ea typeface="+mn-ea"/>
                          <a:cs typeface="+mn-cs"/>
                        </a:rPr>
                        <a:t>string u = </a:t>
                      </a:r>
                      <a:r>
                        <a:rPr lang="en-US" sz="1100" kern="1200" baseline="0" dirty="0" err="1">
                          <a:solidFill>
                            <a:srgbClr val="F7FA82"/>
                          </a:solidFill>
                          <a:effectLst/>
                          <a:latin typeface="Consolas" panose="020B0609020204030204" pitchFamily="49" charset="0"/>
                          <a:ea typeface="+mn-ea"/>
                          <a:cs typeface="+mn-cs"/>
                        </a:rPr>
                        <a:t>q.front</a:t>
                      </a:r>
                      <a:r>
                        <a:rPr lang="en-US" sz="1100" kern="1200" baseline="0" dirty="0">
                          <a:solidFill>
                            <a:srgbClr val="F7FA82"/>
                          </a:solidFill>
                          <a:effectLst/>
                          <a:latin typeface="Consolas" panose="020B0609020204030204" pitchFamily="49" charset="0"/>
                          <a:ea typeface="+mn-ea"/>
                          <a:cs typeface="+mn-cs"/>
                        </a:rPr>
                        <a:t>();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err="1">
                          <a:solidFill>
                            <a:srgbClr val="F7FA82"/>
                          </a:solidFill>
                          <a:effectLst/>
                          <a:latin typeface="Consolas" panose="020B0609020204030204" pitchFamily="49" charset="0"/>
                          <a:ea typeface="+mn-ea"/>
                          <a:cs typeface="+mn-cs"/>
                        </a:rPr>
                        <a:t>cout</a:t>
                      </a:r>
                      <a:r>
                        <a:rPr lang="en-US" sz="1100" kern="1200" baseline="0" dirty="0">
                          <a:solidFill>
                            <a:srgbClr val="F7FA82"/>
                          </a:solidFill>
                          <a:effectLst/>
                          <a:latin typeface="Consolas" panose="020B0609020204030204" pitchFamily="49" charset="0"/>
                          <a:ea typeface="+mn-ea"/>
                          <a:cs typeface="+mn-cs"/>
                        </a:rPr>
                        <a:t> &lt;&lt; u;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err="1">
                          <a:solidFill>
                            <a:srgbClr val="F7FA82"/>
                          </a:solidFill>
                          <a:effectLst/>
                          <a:latin typeface="Consolas" panose="020B0609020204030204" pitchFamily="49" charset="0"/>
                          <a:ea typeface="+mn-ea"/>
                          <a:cs typeface="+mn-cs"/>
                        </a:rPr>
                        <a:t>q.pop</a:t>
                      </a:r>
                      <a:r>
                        <a:rPr lang="en-US" sz="1100" kern="1200" baseline="0" dirty="0">
                          <a:solidFill>
                            <a:srgbClr val="F7FA82"/>
                          </a:solidFill>
                          <a:effectLst/>
                          <a:latin typeface="Consolas" panose="020B0609020204030204" pitchFamily="49" charset="0"/>
                          <a:ea typeface="+mn-ea"/>
                          <a:cs typeface="+mn-cs"/>
                        </a:rPr>
                        <a:t>();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chemeClr val="bg1"/>
                          </a:solidFill>
                          <a:effectLst/>
                          <a:latin typeface="Consolas" panose="020B0609020204030204" pitchFamily="49" charset="0"/>
                          <a:ea typeface="+mn-ea"/>
                          <a:cs typeface="+mn-cs"/>
                        </a:rPr>
                        <a:t>vector&lt;string&gt; neighbors = graph[u];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rgbClr val="EB6E19"/>
                          </a:solidFill>
                          <a:effectLst/>
                          <a:latin typeface="Consolas" panose="020B0609020204030204" pitchFamily="49" charset="0"/>
                          <a:ea typeface="+mn-ea"/>
                          <a:cs typeface="+mn-cs"/>
                        </a:rPr>
                        <a:t>for(string v: neighbors)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rgbClr val="EB6E19"/>
                          </a:solidFill>
                          <a:effectLst/>
                          <a:latin typeface="Consolas" panose="020B0609020204030204" pitchFamily="49" charset="0"/>
                          <a:ea typeface="+mn-ea"/>
                          <a:cs typeface="+mn-cs"/>
                        </a:rPr>
                        <a:t>{            </a:t>
                      </a:r>
                    </a:p>
                    <a:p>
                      <a:pPr marL="914400" marR="0" lvl="2"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rgbClr val="0081E2"/>
                          </a:solidFill>
                          <a:effectLst/>
                          <a:latin typeface="Consolas" panose="020B0609020204030204" pitchFamily="49" charset="0"/>
                          <a:ea typeface="+mn-ea"/>
                          <a:cs typeface="+mn-cs"/>
                        </a:rPr>
                        <a:t>if(</a:t>
                      </a:r>
                      <a:r>
                        <a:rPr lang="en-US" sz="1100" kern="1200" baseline="0" dirty="0" err="1">
                          <a:solidFill>
                            <a:srgbClr val="0081E2"/>
                          </a:solidFill>
                          <a:effectLst/>
                          <a:latin typeface="Consolas" panose="020B0609020204030204" pitchFamily="49" charset="0"/>
                          <a:ea typeface="+mn-ea"/>
                          <a:cs typeface="+mn-cs"/>
                        </a:rPr>
                        <a:t>visited.count</a:t>
                      </a:r>
                      <a:r>
                        <a:rPr lang="en-US" sz="1100" kern="1200" baseline="0" dirty="0">
                          <a:solidFill>
                            <a:srgbClr val="0081E2"/>
                          </a:solidFill>
                          <a:effectLst/>
                          <a:latin typeface="Consolas" panose="020B0609020204030204" pitchFamily="49" charset="0"/>
                          <a:ea typeface="+mn-ea"/>
                          <a:cs typeface="+mn-cs"/>
                        </a:rPr>
                        <a:t>(v)==0)            </a:t>
                      </a:r>
                    </a:p>
                    <a:p>
                      <a:pPr marL="914400" marR="0" lvl="2"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rgbClr val="0081E2"/>
                          </a:solidFill>
                          <a:effectLst/>
                          <a:latin typeface="Consolas" panose="020B0609020204030204" pitchFamily="49" charset="0"/>
                          <a:ea typeface="+mn-ea"/>
                          <a:cs typeface="+mn-cs"/>
                        </a:rPr>
                        <a:t>{</a:t>
                      </a:r>
                      <a:r>
                        <a:rPr lang="en-US" sz="1100" kern="1200" baseline="0" dirty="0">
                          <a:solidFill>
                            <a:schemeClr val="bg1"/>
                          </a:solidFill>
                          <a:effectLst/>
                          <a:latin typeface="Consolas" panose="020B0609020204030204" pitchFamily="49" charset="0"/>
                          <a:ea typeface="+mn-ea"/>
                          <a:cs typeface="+mn-cs"/>
                        </a:rPr>
                        <a:t>                </a:t>
                      </a:r>
                    </a:p>
                    <a:p>
                      <a:pPr marL="1371600" marR="0" lvl="3"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err="1">
                          <a:solidFill>
                            <a:srgbClr val="FF9393"/>
                          </a:solidFill>
                          <a:effectLst/>
                          <a:latin typeface="Consolas" panose="020B0609020204030204" pitchFamily="49" charset="0"/>
                          <a:ea typeface="+mn-ea"/>
                          <a:cs typeface="+mn-cs"/>
                        </a:rPr>
                        <a:t>visited.insert</a:t>
                      </a:r>
                      <a:r>
                        <a:rPr lang="en-US" sz="1100" kern="1200" baseline="0" dirty="0">
                          <a:solidFill>
                            <a:srgbClr val="FF9393"/>
                          </a:solidFill>
                          <a:effectLst/>
                          <a:latin typeface="Consolas" panose="020B0609020204030204" pitchFamily="49" charset="0"/>
                          <a:ea typeface="+mn-ea"/>
                          <a:cs typeface="+mn-cs"/>
                        </a:rPr>
                        <a:t>(v);                </a:t>
                      </a:r>
                    </a:p>
                    <a:p>
                      <a:pPr marL="1371600" marR="0" lvl="3"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err="1">
                          <a:solidFill>
                            <a:srgbClr val="FF9393"/>
                          </a:solidFill>
                          <a:effectLst/>
                          <a:latin typeface="Consolas" panose="020B0609020204030204" pitchFamily="49" charset="0"/>
                          <a:ea typeface="+mn-ea"/>
                          <a:cs typeface="+mn-cs"/>
                        </a:rPr>
                        <a:t>q.push</a:t>
                      </a:r>
                      <a:r>
                        <a:rPr lang="en-US" sz="1100" kern="1200" baseline="0" dirty="0">
                          <a:solidFill>
                            <a:srgbClr val="FF9393"/>
                          </a:solidFill>
                          <a:effectLst/>
                          <a:latin typeface="Consolas" panose="020B0609020204030204" pitchFamily="49" charset="0"/>
                          <a:ea typeface="+mn-ea"/>
                          <a:cs typeface="+mn-cs"/>
                        </a:rPr>
                        <a:t>(v);           </a:t>
                      </a:r>
                    </a:p>
                    <a:p>
                      <a:pPr marL="914400" marR="0" lvl="2"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rgbClr val="0081E2"/>
                          </a:solidFill>
                          <a:effectLst/>
                          <a:latin typeface="Consolas" panose="020B0609020204030204" pitchFamily="49" charset="0"/>
                          <a:ea typeface="+mn-ea"/>
                          <a:cs typeface="+mn-cs"/>
                        </a:rPr>
                        <a:t>} </a:t>
                      </a:r>
                      <a:r>
                        <a:rPr lang="en-US" sz="1100" kern="1200" baseline="0" dirty="0">
                          <a:solidFill>
                            <a:schemeClr val="bg1"/>
                          </a:solidFill>
                          <a:effectLst/>
                          <a:latin typeface="Consolas" panose="020B0609020204030204" pitchFamily="49" charset="0"/>
                          <a:ea typeface="+mn-ea"/>
                          <a:cs typeface="+mn-cs"/>
                        </a:rPr>
                        <a:t>           </a:t>
                      </a:r>
                    </a:p>
                    <a:p>
                      <a:pPr marL="457200" marR="0" lvl="1"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rgbClr val="EB6E19"/>
                          </a:solidFill>
                          <a:effectLst/>
                          <a:latin typeface="Consolas" panose="020B0609020204030204" pitchFamily="49" charset="0"/>
                          <a:ea typeface="+mn-ea"/>
                          <a:cs typeface="+mn-cs"/>
                        </a:rPr>
                        <a:t>} </a:t>
                      </a:r>
                      <a:r>
                        <a:rPr lang="en-US" sz="1100" kern="1200" baseline="0" dirty="0">
                          <a:solidFill>
                            <a:schemeClr val="bg1"/>
                          </a:solidFill>
                          <a:effectLst/>
                          <a:latin typeface="Consolas" panose="020B0609020204030204" pitchFamily="49" charset="0"/>
                          <a:ea typeface="+mn-ea"/>
                          <a:cs typeface="+mn-cs"/>
                        </a:rPr>
                        <a:t>   </a:t>
                      </a:r>
                    </a:p>
                    <a:p>
                      <a:pPr marL="0" marR="0" lvl="0" indent="0" algn="just" defTabSz="914400" rtl="0" eaLnBrk="1" fontAlgn="auto" latinLnBrk="0" hangingPunct="1">
                        <a:lnSpc>
                          <a:spcPct val="115000"/>
                        </a:lnSpc>
                        <a:spcBef>
                          <a:spcPts val="0"/>
                        </a:spcBef>
                        <a:spcAft>
                          <a:spcPts val="0"/>
                        </a:spcAft>
                        <a:buClrTx/>
                        <a:buSzTx/>
                        <a:buFontTx/>
                        <a:buNone/>
                        <a:tabLst/>
                        <a:defRPr/>
                      </a:pPr>
                      <a:r>
                        <a:rPr lang="en-US" sz="1100" kern="1200" baseline="0" dirty="0">
                          <a:solidFill>
                            <a:schemeClr val="bg1"/>
                          </a:solidFill>
                          <a:effectLst/>
                          <a:latin typeface="Consolas" panose="020B0609020204030204" pitchFamily="49" charset="0"/>
                          <a:ea typeface="+mn-ea"/>
                          <a:cs typeface="+mn-cs"/>
                        </a:rPr>
                        <a:t>}</a:t>
                      </a:r>
                    </a:p>
                  </a:txBody>
                  <a:tcPr marL="68580" marR="68580" marT="0" marB="0">
                    <a:lnL w="12700" cap="flat" cmpd="sng" algn="ctr">
                      <a:solidFill>
                        <a:srgbClr val="1199FF"/>
                      </a:solidFill>
                      <a:prstDash val="solid"/>
                      <a:round/>
                      <a:headEnd type="none" w="med" len="med"/>
                      <a:tailEnd type="none" w="med" len="med"/>
                    </a:lnL>
                    <a:lnR w="12700" cap="flat" cmpd="sng" algn="ctr">
                      <a:solidFill>
                        <a:srgbClr val="1199FF"/>
                      </a:solidFill>
                      <a:prstDash val="solid"/>
                      <a:round/>
                      <a:headEnd type="none" w="med" len="med"/>
                      <a:tailEnd type="none" w="med" len="med"/>
                    </a:lnR>
                    <a:lnT w="12700" cap="flat" cmpd="sng" algn="ctr">
                      <a:solidFill>
                        <a:srgbClr val="1199FF"/>
                      </a:solidFill>
                      <a:prstDash val="solid"/>
                      <a:round/>
                      <a:headEnd type="none" w="med" len="med"/>
                      <a:tailEnd type="none" w="med" len="med"/>
                    </a:lnT>
                    <a:lnB w="12700" cap="flat" cmpd="sng" algn="ctr">
                      <a:solidFill>
                        <a:srgbClr val="1199FF"/>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362061028"/>
                  </a:ext>
                </a:extLst>
              </a:tr>
            </a:tbl>
          </a:graphicData>
        </a:graphic>
      </p:graphicFrame>
      <p:sp>
        <p:nvSpPr>
          <p:cNvPr id="10" name="TextBox 9">
            <a:extLst>
              <a:ext uri="{FF2B5EF4-FFF2-40B4-BE49-F238E27FC236}">
                <a16:creationId xmlns:a16="http://schemas.microsoft.com/office/drawing/2014/main" id="{AEFFE343-9CA6-4D34-BAC5-0FC2B963EB11}"/>
              </a:ext>
            </a:extLst>
          </p:cNvPr>
          <p:cNvSpPr txBox="1"/>
          <p:nvPr/>
        </p:nvSpPr>
        <p:spPr>
          <a:xfrm>
            <a:off x="4119825" y="6308209"/>
            <a:ext cx="42869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DA63"/>
                </a:solidFill>
                <a:effectLst/>
                <a:uLnTx/>
                <a:uFillTx/>
                <a:latin typeface="Consolas" panose="020B0609020204030204" pitchFamily="49" charset="0"/>
                <a:ea typeface="+mn-ea"/>
                <a:cs typeface="+mn-cs"/>
              </a:rPr>
              <a:t>Theoretical Complexity: O(V+E)</a:t>
            </a:r>
          </a:p>
        </p:txBody>
      </p:sp>
      <p:grpSp>
        <p:nvGrpSpPr>
          <p:cNvPr id="11" name="Group 10">
            <a:extLst>
              <a:ext uri="{FF2B5EF4-FFF2-40B4-BE49-F238E27FC236}">
                <a16:creationId xmlns:a16="http://schemas.microsoft.com/office/drawing/2014/main" id="{00E7E177-EB11-45DD-B384-CCB80265EFBD}"/>
              </a:ext>
            </a:extLst>
          </p:cNvPr>
          <p:cNvGrpSpPr/>
          <p:nvPr/>
        </p:nvGrpSpPr>
        <p:grpSpPr>
          <a:xfrm>
            <a:off x="11317255" y="5989103"/>
            <a:ext cx="841781" cy="748032"/>
            <a:chOff x="11337354" y="6025684"/>
            <a:chExt cx="841781" cy="748032"/>
          </a:xfrm>
        </p:grpSpPr>
        <p:pic>
          <p:nvPicPr>
            <p:cNvPr id="12" name="Picture 11">
              <a:extLst>
                <a:ext uri="{FF2B5EF4-FFF2-40B4-BE49-F238E27FC236}">
                  <a16:creationId xmlns:a16="http://schemas.microsoft.com/office/drawing/2014/main" id="{CD6667DB-D03C-4CC7-8A13-0ECAA636CC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Logo COP3530">
              <a:extLst>
                <a:ext uri="{FF2B5EF4-FFF2-40B4-BE49-F238E27FC236}">
                  <a16:creationId xmlns:a16="http://schemas.microsoft.com/office/drawing/2014/main" id="{D1AA8295-800F-4DE4-9524-03871FA05AA0}"/>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1212349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lstStyle/>
          <a:p>
            <a:r>
              <a:rPr lang="en-US" dirty="0">
                <a:solidFill>
                  <a:schemeClr val="bg1"/>
                </a:solidFill>
                <a:latin typeface="Gotham Bold" pitchFamily="50" charset="0"/>
              </a:rPr>
              <a:t>BFS Pseudocode</a:t>
            </a:r>
          </a:p>
        </p:txBody>
      </p:sp>
      <p:sp>
        <p:nvSpPr>
          <p:cNvPr id="7" name="TextBox 6">
            <a:extLst>
              <a:ext uri="{FF2B5EF4-FFF2-40B4-BE49-F238E27FC236}">
                <a16:creationId xmlns:a16="http://schemas.microsoft.com/office/drawing/2014/main" id="{9AA7BC40-3096-435E-AEF8-D7BA1F0B531E}"/>
              </a:ext>
            </a:extLst>
          </p:cNvPr>
          <p:cNvSpPr txBox="1"/>
          <p:nvPr/>
        </p:nvSpPr>
        <p:spPr>
          <a:xfrm>
            <a:off x="1027443" y="1597578"/>
            <a:ext cx="9854921" cy="1200329"/>
          </a:xfrm>
          <a:prstGeom prst="rect">
            <a:avLst/>
          </a:prstGeom>
          <a:noFill/>
        </p:spPr>
        <p:txBody>
          <a:bodyPr wrap="square">
            <a:spAutoFit/>
          </a:bodyPr>
          <a:lstStyle/>
          <a:p>
            <a:pPr marL="285750" indent="-285750" algn="l">
              <a:buFont typeface="Wingdings" panose="05000000000000000000" pitchFamily="2" charset="2"/>
              <a:buChar char="§"/>
            </a:pPr>
            <a:r>
              <a:rPr lang="en-US" b="0" i="0" dirty="0">
                <a:solidFill>
                  <a:srgbClr val="0081E2"/>
                </a:solidFill>
                <a:effectLst/>
                <a:latin typeface="Consolas" panose="020B0609020204030204" pitchFamily="49" charset="0"/>
              </a:rPr>
              <a:t>Write pseudocode/code for implementing the </a:t>
            </a:r>
            <a:r>
              <a:rPr lang="en-US" b="1" i="0" dirty="0">
                <a:solidFill>
                  <a:schemeClr val="accent2"/>
                </a:solidFill>
                <a:effectLst/>
                <a:latin typeface="Consolas" panose="020B0609020204030204" pitchFamily="49" charset="0"/>
              </a:rPr>
              <a:t>Breadth First Search </a:t>
            </a:r>
            <a:r>
              <a:rPr lang="en-US" b="1" i="0" dirty="0">
                <a:solidFill>
                  <a:srgbClr val="0081E2"/>
                </a:solidFill>
                <a:effectLst/>
                <a:latin typeface="Consolas" panose="020B0609020204030204" pitchFamily="49" charset="0"/>
              </a:rPr>
              <a:t>Algorithm</a:t>
            </a:r>
            <a:r>
              <a:rPr lang="en-US" b="0" i="0" dirty="0">
                <a:solidFill>
                  <a:srgbClr val="0081E2"/>
                </a:solidFill>
                <a:effectLst/>
                <a:latin typeface="Consolas" panose="020B0609020204030204" pitchFamily="49" charset="0"/>
              </a:rPr>
              <a:t> of a graph, G that takes a source vertex S as input. (8).</a:t>
            </a:r>
          </a:p>
          <a:p>
            <a:pPr marL="285750" indent="-285750" algn="l">
              <a:buFont typeface="Wingdings" panose="05000000000000000000" pitchFamily="2" charset="2"/>
              <a:buChar char="§"/>
            </a:pPr>
            <a:endParaRPr lang="en-US" b="0" i="0" dirty="0">
              <a:solidFill>
                <a:srgbClr val="0081E2"/>
              </a:solidFill>
              <a:effectLst/>
              <a:latin typeface="Consolas" panose="020B0609020204030204" pitchFamily="49" charset="0"/>
            </a:endParaRPr>
          </a:p>
          <a:p>
            <a:pPr marL="285750" indent="-285750" algn="l">
              <a:buFont typeface="Wingdings" panose="05000000000000000000" pitchFamily="2" charset="2"/>
              <a:buChar char="§"/>
            </a:pPr>
            <a:r>
              <a:rPr lang="en-US" b="0" i="0" dirty="0">
                <a:solidFill>
                  <a:srgbClr val="0081E2"/>
                </a:solidFill>
                <a:effectLst/>
                <a:latin typeface="Consolas" panose="020B0609020204030204" pitchFamily="49" charset="0"/>
              </a:rPr>
              <a:t>Also, state the Big O complexity of the traversal in the worst case (2).</a:t>
            </a:r>
          </a:p>
        </p:txBody>
      </p:sp>
      <p:grpSp>
        <p:nvGrpSpPr>
          <p:cNvPr id="4" name="Group 3">
            <a:extLst>
              <a:ext uri="{FF2B5EF4-FFF2-40B4-BE49-F238E27FC236}">
                <a16:creationId xmlns:a16="http://schemas.microsoft.com/office/drawing/2014/main" id="{294C58AE-50BD-43D2-8252-6516E11FC96F}"/>
              </a:ext>
            </a:extLst>
          </p:cNvPr>
          <p:cNvGrpSpPr/>
          <p:nvPr/>
        </p:nvGrpSpPr>
        <p:grpSpPr>
          <a:xfrm>
            <a:off x="11317255" y="5989103"/>
            <a:ext cx="841781" cy="748032"/>
            <a:chOff x="11337354" y="6025684"/>
            <a:chExt cx="841781" cy="748032"/>
          </a:xfrm>
        </p:grpSpPr>
        <p:pic>
          <p:nvPicPr>
            <p:cNvPr id="5" name="Picture 4">
              <a:extLst>
                <a:ext uri="{FF2B5EF4-FFF2-40B4-BE49-F238E27FC236}">
                  <a16:creationId xmlns:a16="http://schemas.microsoft.com/office/drawing/2014/main" id="{4A757C9C-9672-401F-A525-A2BDC7C0A1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Logo COP3530">
              <a:extLst>
                <a:ext uri="{FF2B5EF4-FFF2-40B4-BE49-F238E27FC236}">
                  <a16:creationId xmlns:a16="http://schemas.microsoft.com/office/drawing/2014/main" id="{782B9A84-9776-4A11-AFF5-B7FCB6A864ED}"/>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313452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pPr lvl="0" defTabSz="457200">
              <a:lnSpc>
                <a:spcPct val="100000"/>
              </a:lnSpc>
              <a:spcBef>
                <a:spcPts val="0"/>
              </a:spcBef>
              <a:defRPr/>
            </a:pPr>
            <a:r>
              <a:rPr lang="en-US" dirty="0">
                <a:solidFill>
                  <a:prstClr val="white"/>
                </a:solidFill>
                <a:latin typeface="Gotham Bold" pitchFamily="50" charset="0"/>
              </a:rPr>
              <a:t>Graph Algorithm Mix n Match</a:t>
            </a:r>
          </a:p>
        </p:txBody>
      </p:sp>
      <p:sp>
        <p:nvSpPr>
          <p:cNvPr id="11" name="Content Placeholder 1">
            <a:extLst>
              <a:ext uri="{FF2B5EF4-FFF2-40B4-BE49-F238E27FC236}">
                <a16:creationId xmlns:a16="http://schemas.microsoft.com/office/drawing/2014/main" id="{0BA26DB2-93B5-4B3E-8626-4C4406A2099C}"/>
              </a:ext>
            </a:extLst>
          </p:cNvPr>
          <p:cNvSpPr txBox="1">
            <a:spLocks/>
          </p:cNvSpPr>
          <p:nvPr/>
        </p:nvSpPr>
        <p:spPr>
          <a:xfrm>
            <a:off x="579679" y="1951458"/>
            <a:ext cx="7509244" cy="2729132"/>
          </a:xfrm>
          <a:prstGeom prst="rect">
            <a:avLst/>
          </a:prstGeom>
          <a:noFill/>
          <a:ln>
            <a:noFill/>
          </a:ln>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Wingdings" panose="05000000000000000000" pitchFamily="2" charset="2"/>
              <a:buChar char="§"/>
            </a:pPr>
            <a:r>
              <a:rPr lang="en-US" sz="2000" dirty="0">
                <a:solidFill>
                  <a:srgbClr val="0081E2"/>
                </a:solidFill>
                <a:latin typeface="Consolas" panose="020B0609020204030204" pitchFamily="49" charset="0"/>
              </a:rPr>
              <a:t>Finds the shortest paths in a weighted graph</a:t>
            </a:r>
          </a:p>
          <a:p>
            <a:pPr marL="342900" indent="-342900">
              <a:buFont typeface="Wingdings" panose="05000000000000000000" pitchFamily="2" charset="2"/>
              <a:buChar char="§"/>
            </a:pPr>
            <a:r>
              <a:rPr lang="en-US" sz="2000" dirty="0">
                <a:solidFill>
                  <a:srgbClr val="0081E2"/>
                </a:solidFill>
                <a:latin typeface="Consolas" panose="020B0609020204030204" pitchFamily="49" charset="0"/>
              </a:rPr>
              <a:t>Find the minimum cost connected network</a:t>
            </a:r>
          </a:p>
          <a:p>
            <a:pPr marL="342900" indent="-342900">
              <a:buFont typeface="Wingdings" panose="05000000000000000000" pitchFamily="2" charset="2"/>
              <a:buChar char="§"/>
            </a:pPr>
            <a:r>
              <a:rPr lang="en-US" sz="2000" dirty="0">
                <a:solidFill>
                  <a:srgbClr val="0081E2"/>
                </a:solidFill>
                <a:latin typeface="Consolas" panose="020B0609020204030204" pitchFamily="49" charset="0"/>
              </a:rPr>
              <a:t>Scheduling algorithm, list steps in a process</a:t>
            </a:r>
          </a:p>
          <a:p>
            <a:pPr marL="342900" indent="-342900">
              <a:buFont typeface="Wingdings" panose="05000000000000000000" pitchFamily="2" charset="2"/>
              <a:buChar char="§"/>
            </a:pPr>
            <a:r>
              <a:rPr lang="en-US" sz="2000" dirty="0">
                <a:solidFill>
                  <a:srgbClr val="0081E2"/>
                </a:solidFill>
                <a:latin typeface="Consolas" panose="020B0609020204030204" pitchFamily="49" charset="0"/>
              </a:rPr>
              <a:t>Finds the shortest path in an unweighted graph</a:t>
            </a:r>
          </a:p>
          <a:p>
            <a:pPr marL="342900" indent="-342900">
              <a:buFont typeface="Wingdings" panose="05000000000000000000" pitchFamily="2" charset="2"/>
              <a:buChar char="§"/>
            </a:pPr>
            <a:endParaRPr lang="en-US" sz="2000" dirty="0">
              <a:solidFill>
                <a:srgbClr val="0081E2"/>
              </a:solidFill>
              <a:latin typeface="Consolas" panose="020B0609020204030204" pitchFamily="49" charset="0"/>
            </a:endParaRPr>
          </a:p>
        </p:txBody>
      </p:sp>
      <p:sp>
        <p:nvSpPr>
          <p:cNvPr id="12" name="TextBox 11">
            <a:extLst>
              <a:ext uri="{FF2B5EF4-FFF2-40B4-BE49-F238E27FC236}">
                <a16:creationId xmlns:a16="http://schemas.microsoft.com/office/drawing/2014/main" id="{EA217BAE-6957-4CC9-B5B9-16A6C4706CB9}"/>
              </a:ext>
            </a:extLst>
          </p:cNvPr>
          <p:cNvSpPr txBox="1"/>
          <p:nvPr/>
        </p:nvSpPr>
        <p:spPr>
          <a:xfrm>
            <a:off x="9019883" y="2456917"/>
            <a:ext cx="3005951" cy="1631216"/>
          </a:xfrm>
          <a:prstGeom prst="rect">
            <a:avLst/>
          </a:prstGeom>
          <a:noFill/>
          <a:ln>
            <a:noFill/>
          </a:ln>
        </p:spPr>
        <p:txBody>
          <a:bodyPr wrap="none" rtlCol="0">
            <a:spAutoFit/>
          </a:bodyPr>
          <a:lstStyle/>
          <a:p>
            <a:r>
              <a:rPr lang="en-US" sz="2000" dirty="0">
                <a:solidFill>
                  <a:srgbClr val="0081E2"/>
                </a:solidFill>
                <a:latin typeface="Consolas" panose="020B0609020204030204" pitchFamily="49" charset="0"/>
              </a:rPr>
              <a:t>Prim’s or </a:t>
            </a:r>
            <a:r>
              <a:rPr lang="en-US" sz="2000" dirty="0" err="1">
                <a:solidFill>
                  <a:srgbClr val="0081E2"/>
                </a:solidFill>
                <a:latin typeface="Consolas" panose="020B0609020204030204" pitchFamily="49" charset="0"/>
              </a:rPr>
              <a:t>Kruskals</a:t>
            </a:r>
            <a:endParaRPr lang="en-US" sz="2000" dirty="0">
              <a:solidFill>
                <a:srgbClr val="0081E2"/>
              </a:solidFill>
              <a:latin typeface="Consolas" panose="020B0609020204030204" pitchFamily="49" charset="0"/>
            </a:endParaRPr>
          </a:p>
          <a:p>
            <a:r>
              <a:rPr lang="en-US" sz="2000" dirty="0">
                <a:solidFill>
                  <a:srgbClr val="0081E2"/>
                </a:solidFill>
                <a:latin typeface="Consolas" panose="020B0609020204030204" pitchFamily="49" charset="0"/>
              </a:rPr>
              <a:t>BFS</a:t>
            </a:r>
          </a:p>
          <a:p>
            <a:r>
              <a:rPr lang="en-US" sz="2000" dirty="0">
                <a:solidFill>
                  <a:srgbClr val="0081E2"/>
                </a:solidFill>
                <a:latin typeface="Consolas" panose="020B0609020204030204" pitchFamily="49" charset="0"/>
              </a:rPr>
              <a:t>DFS</a:t>
            </a:r>
          </a:p>
          <a:p>
            <a:r>
              <a:rPr lang="en-US" sz="2000" dirty="0">
                <a:solidFill>
                  <a:srgbClr val="0081E2"/>
                </a:solidFill>
                <a:latin typeface="Consolas" panose="020B0609020204030204" pitchFamily="49" charset="0"/>
              </a:rPr>
              <a:t>Topological Sort</a:t>
            </a:r>
          </a:p>
          <a:p>
            <a:r>
              <a:rPr lang="en-US" sz="2000" dirty="0">
                <a:solidFill>
                  <a:srgbClr val="0081E2"/>
                </a:solidFill>
                <a:latin typeface="Consolas" panose="020B0609020204030204" pitchFamily="49" charset="0"/>
              </a:rPr>
              <a:t>Dijkstra’s Algorithm</a:t>
            </a:r>
          </a:p>
        </p:txBody>
      </p:sp>
      <p:grpSp>
        <p:nvGrpSpPr>
          <p:cNvPr id="5" name="Group 4">
            <a:extLst>
              <a:ext uri="{FF2B5EF4-FFF2-40B4-BE49-F238E27FC236}">
                <a16:creationId xmlns:a16="http://schemas.microsoft.com/office/drawing/2014/main" id="{FDC44B6E-23F9-441F-A5F9-4CC86C1C5BD5}"/>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5FF58683-5DDF-484A-8A09-D650EF6283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 COP3530">
              <a:extLst>
                <a:ext uri="{FF2B5EF4-FFF2-40B4-BE49-F238E27FC236}">
                  <a16:creationId xmlns:a16="http://schemas.microsoft.com/office/drawing/2014/main" id="{D5B097DC-E465-4D6C-862D-08D8983DF576}"/>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34747567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pPr lvl="0" defTabSz="457200">
              <a:lnSpc>
                <a:spcPct val="100000"/>
              </a:lnSpc>
              <a:spcBef>
                <a:spcPts val="0"/>
              </a:spcBef>
              <a:defRPr/>
            </a:pPr>
            <a:r>
              <a:rPr lang="en-US" dirty="0">
                <a:solidFill>
                  <a:prstClr val="white"/>
                </a:solidFill>
                <a:latin typeface="Gotham Bold" pitchFamily="50" charset="0"/>
              </a:rPr>
              <a:t>Graph Algorithm Mix n Match</a:t>
            </a:r>
          </a:p>
        </p:txBody>
      </p:sp>
      <p:sp>
        <p:nvSpPr>
          <p:cNvPr id="11" name="Content Placeholder 1">
            <a:extLst>
              <a:ext uri="{FF2B5EF4-FFF2-40B4-BE49-F238E27FC236}">
                <a16:creationId xmlns:a16="http://schemas.microsoft.com/office/drawing/2014/main" id="{0BA26DB2-93B5-4B3E-8626-4C4406A2099C}"/>
              </a:ext>
            </a:extLst>
          </p:cNvPr>
          <p:cNvSpPr txBox="1">
            <a:spLocks/>
          </p:cNvSpPr>
          <p:nvPr/>
        </p:nvSpPr>
        <p:spPr>
          <a:xfrm>
            <a:off x="579679" y="1951458"/>
            <a:ext cx="8375636" cy="2729132"/>
          </a:xfrm>
          <a:prstGeom prst="rect">
            <a:avLst/>
          </a:prstGeom>
          <a:noFill/>
          <a:ln>
            <a:noFill/>
          </a:ln>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Wingdings" panose="05000000000000000000" pitchFamily="2" charset="2"/>
              <a:buChar char="§"/>
            </a:pPr>
            <a:r>
              <a:rPr lang="en-US" sz="2000" dirty="0">
                <a:solidFill>
                  <a:srgbClr val="0081E2"/>
                </a:solidFill>
                <a:latin typeface="Consolas" panose="020B0609020204030204" pitchFamily="49" charset="0"/>
              </a:rPr>
              <a:t>Finds the shortest paths in a weighted graph</a:t>
            </a:r>
          </a:p>
          <a:p>
            <a:pPr marL="342900" indent="-342900">
              <a:buFont typeface="Wingdings" panose="05000000000000000000" pitchFamily="2" charset="2"/>
              <a:buChar char="§"/>
            </a:pPr>
            <a:r>
              <a:rPr lang="en-US" sz="2000" dirty="0">
                <a:solidFill>
                  <a:srgbClr val="0081E2"/>
                </a:solidFill>
                <a:latin typeface="Consolas" panose="020B0609020204030204" pitchFamily="49" charset="0"/>
              </a:rPr>
              <a:t>Find the minimum cost connected network</a:t>
            </a:r>
          </a:p>
          <a:p>
            <a:pPr marL="342900" indent="-342900">
              <a:buFont typeface="Wingdings" panose="05000000000000000000" pitchFamily="2" charset="2"/>
              <a:buChar char="§"/>
            </a:pPr>
            <a:r>
              <a:rPr lang="en-US" sz="2000" dirty="0">
                <a:solidFill>
                  <a:srgbClr val="0081E2"/>
                </a:solidFill>
                <a:latin typeface="Consolas" panose="020B0609020204030204" pitchFamily="49" charset="0"/>
              </a:rPr>
              <a:t>Scheduling algorithm, list steps in a process</a:t>
            </a:r>
          </a:p>
          <a:p>
            <a:pPr marL="342900" indent="-342900">
              <a:buFont typeface="Wingdings" panose="05000000000000000000" pitchFamily="2" charset="2"/>
              <a:buChar char="§"/>
            </a:pPr>
            <a:r>
              <a:rPr lang="en-US" sz="2000" dirty="0">
                <a:solidFill>
                  <a:srgbClr val="0081E2"/>
                </a:solidFill>
                <a:latin typeface="Consolas" panose="020B0609020204030204" pitchFamily="49" charset="0"/>
              </a:rPr>
              <a:t>Finds the shortest path in an unweighted graph</a:t>
            </a:r>
          </a:p>
          <a:p>
            <a:pPr marL="342900" indent="-342900">
              <a:buFont typeface="Wingdings" panose="05000000000000000000" pitchFamily="2" charset="2"/>
              <a:buChar char="§"/>
            </a:pPr>
            <a:endParaRPr lang="en-US" sz="2000" dirty="0">
              <a:solidFill>
                <a:srgbClr val="0081E2"/>
              </a:solidFill>
              <a:latin typeface="Consolas" panose="020B0609020204030204" pitchFamily="49" charset="0"/>
            </a:endParaRPr>
          </a:p>
        </p:txBody>
      </p:sp>
      <p:sp>
        <p:nvSpPr>
          <p:cNvPr id="12" name="TextBox 11">
            <a:extLst>
              <a:ext uri="{FF2B5EF4-FFF2-40B4-BE49-F238E27FC236}">
                <a16:creationId xmlns:a16="http://schemas.microsoft.com/office/drawing/2014/main" id="{EA217BAE-6957-4CC9-B5B9-16A6C4706CB9}"/>
              </a:ext>
            </a:extLst>
          </p:cNvPr>
          <p:cNvSpPr txBox="1"/>
          <p:nvPr/>
        </p:nvSpPr>
        <p:spPr>
          <a:xfrm>
            <a:off x="9019883" y="2456917"/>
            <a:ext cx="3005951" cy="1631216"/>
          </a:xfrm>
          <a:prstGeom prst="rect">
            <a:avLst/>
          </a:prstGeom>
          <a:noFill/>
          <a:ln>
            <a:noFill/>
          </a:ln>
        </p:spPr>
        <p:txBody>
          <a:bodyPr wrap="none" rtlCol="0">
            <a:spAutoFit/>
          </a:bodyPr>
          <a:lstStyle/>
          <a:p>
            <a:r>
              <a:rPr lang="en-US" sz="2000" dirty="0">
                <a:solidFill>
                  <a:srgbClr val="0081E2"/>
                </a:solidFill>
                <a:latin typeface="Consolas" panose="020B0609020204030204" pitchFamily="49" charset="0"/>
              </a:rPr>
              <a:t>Prim’s or </a:t>
            </a:r>
            <a:r>
              <a:rPr lang="en-US" sz="2000" dirty="0" err="1">
                <a:solidFill>
                  <a:srgbClr val="0081E2"/>
                </a:solidFill>
                <a:latin typeface="Consolas" panose="020B0609020204030204" pitchFamily="49" charset="0"/>
              </a:rPr>
              <a:t>Kruskals</a:t>
            </a:r>
            <a:endParaRPr lang="en-US" sz="2000" dirty="0">
              <a:solidFill>
                <a:srgbClr val="0081E2"/>
              </a:solidFill>
              <a:latin typeface="Consolas" panose="020B0609020204030204" pitchFamily="49" charset="0"/>
            </a:endParaRPr>
          </a:p>
          <a:p>
            <a:r>
              <a:rPr lang="en-US" sz="2000" dirty="0">
                <a:solidFill>
                  <a:srgbClr val="0081E2"/>
                </a:solidFill>
                <a:latin typeface="Consolas" panose="020B0609020204030204" pitchFamily="49" charset="0"/>
              </a:rPr>
              <a:t>BFS</a:t>
            </a:r>
          </a:p>
          <a:p>
            <a:r>
              <a:rPr lang="en-US" sz="2000" dirty="0">
                <a:solidFill>
                  <a:schemeClr val="bg2">
                    <a:lumMod val="25000"/>
                  </a:schemeClr>
                </a:solidFill>
                <a:latin typeface="Consolas" panose="020B0609020204030204" pitchFamily="49" charset="0"/>
              </a:rPr>
              <a:t>DFS</a:t>
            </a:r>
          </a:p>
          <a:p>
            <a:r>
              <a:rPr lang="en-US" sz="2000" dirty="0">
                <a:solidFill>
                  <a:srgbClr val="0081E2"/>
                </a:solidFill>
                <a:latin typeface="Consolas" panose="020B0609020204030204" pitchFamily="49" charset="0"/>
              </a:rPr>
              <a:t>Topological Sort</a:t>
            </a:r>
          </a:p>
          <a:p>
            <a:r>
              <a:rPr lang="en-US" sz="2000" dirty="0">
                <a:solidFill>
                  <a:srgbClr val="0081E2"/>
                </a:solidFill>
                <a:latin typeface="Consolas" panose="020B0609020204030204" pitchFamily="49" charset="0"/>
              </a:rPr>
              <a:t>Dijkstra’s Algorithm</a:t>
            </a:r>
          </a:p>
        </p:txBody>
      </p:sp>
      <p:cxnSp>
        <p:nvCxnSpPr>
          <p:cNvPr id="13" name="Straight Arrow Connector 12">
            <a:extLst>
              <a:ext uri="{FF2B5EF4-FFF2-40B4-BE49-F238E27FC236}">
                <a16:creationId xmlns:a16="http://schemas.microsoft.com/office/drawing/2014/main" id="{E4A145AF-DDBD-4A2B-8495-14862AFBD3C2}"/>
              </a:ext>
            </a:extLst>
          </p:cNvPr>
          <p:cNvCxnSpPr>
            <a:cxnSpLocks/>
          </p:cNvCxnSpPr>
          <p:nvPr/>
        </p:nvCxnSpPr>
        <p:spPr>
          <a:xfrm>
            <a:off x="7194620" y="2735942"/>
            <a:ext cx="1823964" cy="111065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B534DEEB-2C89-4831-A173-BE239C535EB1}"/>
              </a:ext>
            </a:extLst>
          </p:cNvPr>
          <p:cNvCxnSpPr>
            <a:cxnSpLocks/>
          </p:cNvCxnSpPr>
          <p:nvPr/>
        </p:nvCxnSpPr>
        <p:spPr>
          <a:xfrm flipV="1">
            <a:off x="6598418" y="2714173"/>
            <a:ext cx="2420166" cy="33382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1BEA34E-3A3B-4938-8F36-03708A1457D7}"/>
              </a:ext>
            </a:extLst>
          </p:cNvPr>
          <p:cNvCxnSpPr>
            <a:cxnSpLocks/>
          </p:cNvCxnSpPr>
          <p:nvPr/>
        </p:nvCxnSpPr>
        <p:spPr>
          <a:xfrm>
            <a:off x="7410289" y="3347192"/>
            <a:ext cx="1672863" cy="22681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501E036-E75E-4EBD-BFC5-7205FDBE9525}"/>
              </a:ext>
            </a:extLst>
          </p:cNvPr>
          <p:cNvCxnSpPr>
            <a:cxnSpLocks/>
          </p:cNvCxnSpPr>
          <p:nvPr/>
        </p:nvCxnSpPr>
        <p:spPr>
          <a:xfrm flipV="1">
            <a:off x="7536264" y="2881087"/>
            <a:ext cx="1546888" cy="78656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97546630-1A2F-407E-9A22-89A39D680251}"/>
              </a:ext>
            </a:extLst>
          </p:cNvPr>
          <p:cNvGrpSpPr/>
          <p:nvPr/>
        </p:nvGrpSpPr>
        <p:grpSpPr>
          <a:xfrm>
            <a:off x="11317255" y="5989103"/>
            <a:ext cx="841781" cy="748032"/>
            <a:chOff x="11337354" y="6025684"/>
            <a:chExt cx="841781" cy="748032"/>
          </a:xfrm>
        </p:grpSpPr>
        <p:pic>
          <p:nvPicPr>
            <p:cNvPr id="10" name="Picture 9">
              <a:extLst>
                <a:ext uri="{FF2B5EF4-FFF2-40B4-BE49-F238E27FC236}">
                  <a16:creationId xmlns:a16="http://schemas.microsoft.com/office/drawing/2014/main" id="{FECD7D73-8936-4879-944F-93B13DD825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Logo COP3530">
              <a:extLst>
                <a:ext uri="{FF2B5EF4-FFF2-40B4-BE49-F238E27FC236}">
                  <a16:creationId xmlns:a16="http://schemas.microsoft.com/office/drawing/2014/main" id="{8204A5EE-8957-4A1D-90E1-AEC0B01DAA05}"/>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18827351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1A51D59-D2D3-4210-9D1A-4881006160A9}"/>
              </a:ext>
            </a:extLst>
          </p:cNvPr>
          <p:cNvGrpSpPr/>
          <p:nvPr/>
        </p:nvGrpSpPr>
        <p:grpSpPr>
          <a:xfrm>
            <a:off x="11317255" y="5989103"/>
            <a:ext cx="841781" cy="748032"/>
            <a:chOff x="11337354" y="6025684"/>
            <a:chExt cx="841781" cy="748032"/>
          </a:xfrm>
        </p:grpSpPr>
        <p:pic>
          <p:nvPicPr>
            <p:cNvPr id="4" name="Picture 3">
              <a:extLst>
                <a:ext uri="{FF2B5EF4-FFF2-40B4-BE49-F238E27FC236}">
                  <a16:creationId xmlns:a16="http://schemas.microsoft.com/office/drawing/2014/main" id="{AE3FCB03-6B3C-4A8C-9476-D1884DDB4F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ogo COP3530">
              <a:extLst>
                <a:ext uri="{FF2B5EF4-FFF2-40B4-BE49-F238E27FC236}">
                  <a16:creationId xmlns:a16="http://schemas.microsoft.com/office/drawing/2014/main" id="{4C3AE7BD-F7F9-4D78-A29D-87991531336A}"/>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
        <p:nvSpPr>
          <p:cNvPr id="6" name="TextBox 5">
            <a:extLst>
              <a:ext uri="{FF2B5EF4-FFF2-40B4-BE49-F238E27FC236}">
                <a16:creationId xmlns:a16="http://schemas.microsoft.com/office/drawing/2014/main" id="{D6694A48-2A4F-BE05-A891-2EF83EF37089}"/>
              </a:ext>
            </a:extLst>
          </p:cNvPr>
          <p:cNvSpPr txBox="1"/>
          <p:nvPr/>
        </p:nvSpPr>
        <p:spPr>
          <a:xfrm>
            <a:off x="992227" y="621437"/>
            <a:ext cx="10207546" cy="3570208"/>
          </a:xfrm>
          <a:prstGeom prst="rect">
            <a:avLst/>
          </a:prstGeom>
          <a:noFill/>
        </p:spPr>
        <p:txBody>
          <a:bodyPr wrap="square" rtlCol="0">
            <a:spAutoFit/>
          </a:bodyPr>
          <a:lstStyle/>
          <a:p>
            <a:r>
              <a:rPr lang="en-US" sz="2800" dirty="0">
                <a:solidFill>
                  <a:schemeClr val="bg1"/>
                </a:solidFill>
                <a:latin typeface="Gotham Bold" pitchFamily="50" charset="0"/>
              </a:rPr>
              <a:t>Alt Text for the Graph on Next Slide</a:t>
            </a:r>
          </a:p>
          <a:p>
            <a:endParaRPr lang="en-US" dirty="0">
              <a:solidFill>
                <a:schemeClr val="bg1"/>
              </a:solidFill>
            </a:endParaRPr>
          </a:p>
          <a:p>
            <a:endParaRPr lang="en-US" dirty="0">
              <a:solidFill>
                <a:schemeClr val="bg1"/>
              </a:solidFill>
            </a:endParaRPr>
          </a:p>
          <a:p>
            <a:r>
              <a:rPr lang="en-US" dirty="0">
                <a:solidFill>
                  <a:schemeClr val="bg1"/>
                </a:solidFill>
              </a:rPr>
              <a:t>Vertex: Neighbors of Vertex (Edges pointing from a vertex to the neighbor)</a:t>
            </a:r>
          </a:p>
          <a:p>
            <a:endParaRPr lang="en-US" dirty="0">
              <a:solidFill>
                <a:schemeClr val="bg1"/>
              </a:solidFill>
            </a:endParaRPr>
          </a:p>
          <a:p>
            <a:r>
              <a:rPr lang="pt-BR" dirty="0">
                <a:solidFill>
                  <a:schemeClr val="bg1"/>
                </a:solidFill>
              </a:rPr>
              <a:t>A: -</a:t>
            </a:r>
          </a:p>
          <a:p>
            <a:r>
              <a:rPr lang="pt-BR" dirty="0">
                <a:solidFill>
                  <a:schemeClr val="bg1"/>
                </a:solidFill>
              </a:rPr>
              <a:t>B: C, E</a:t>
            </a:r>
          </a:p>
          <a:p>
            <a:r>
              <a:rPr lang="pt-BR" dirty="0">
                <a:solidFill>
                  <a:schemeClr val="bg1"/>
                </a:solidFill>
              </a:rPr>
              <a:t>C: A, D, F</a:t>
            </a:r>
          </a:p>
          <a:p>
            <a:r>
              <a:rPr lang="pt-BR" dirty="0">
                <a:solidFill>
                  <a:schemeClr val="bg1"/>
                </a:solidFill>
              </a:rPr>
              <a:t>D: -</a:t>
            </a:r>
          </a:p>
          <a:p>
            <a:r>
              <a:rPr lang="pt-BR" dirty="0">
                <a:solidFill>
                  <a:schemeClr val="bg1"/>
                </a:solidFill>
              </a:rPr>
              <a:t>E: C, D</a:t>
            </a:r>
          </a:p>
          <a:p>
            <a:r>
              <a:rPr lang="pt-BR" dirty="0">
                <a:solidFill>
                  <a:schemeClr val="bg1"/>
                </a:solidFill>
              </a:rPr>
              <a:t>F: A</a:t>
            </a:r>
          </a:p>
          <a:p>
            <a:r>
              <a:rPr lang="pt-BR" dirty="0">
                <a:solidFill>
                  <a:schemeClr val="bg1"/>
                </a:solidFill>
              </a:rPr>
              <a:t>G: F</a:t>
            </a:r>
          </a:p>
        </p:txBody>
      </p:sp>
      <p:pic>
        <p:nvPicPr>
          <p:cNvPr id="7" name="Picture 2">
            <a:extLst>
              <a:ext uri="{FF2B5EF4-FFF2-40B4-BE49-F238E27FC236}">
                <a16:creationId xmlns:a16="http://schemas.microsoft.com/office/drawing/2014/main" id="{F7D9D4C8-ED01-809C-B119-F7C83B1625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5172" y="2942884"/>
            <a:ext cx="3343275" cy="1990725"/>
          </a:xfrm>
          <a:prstGeom prst="rect">
            <a:avLst/>
          </a:prstGeom>
          <a:solidFill>
            <a:schemeClr val="bg1"/>
          </a:solidFill>
        </p:spPr>
      </p:pic>
    </p:spTree>
    <p:extLst>
      <p:ext uri="{BB962C8B-B14F-4D97-AF65-F5344CB8AC3E}">
        <p14:creationId xmlns:p14="http://schemas.microsoft.com/office/powerpoint/2010/main" val="560449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pPr lvl="0" defTabSz="457200">
              <a:lnSpc>
                <a:spcPct val="100000"/>
              </a:lnSpc>
              <a:spcBef>
                <a:spcPts val="0"/>
              </a:spcBef>
              <a:defRPr/>
            </a:pPr>
            <a:r>
              <a:rPr lang="en-US" sz="2800" dirty="0">
                <a:solidFill>
                  <a:prstClr val="white"/>
                </a:solidFill>
                <a:latin typeface="Gotham Bold" pitchFamily="50" charset="0"/>
              </a:rPr>
              <a:t>Which of the choices below represent a valid topological sort ordering of this graph?</a:t>
            </a:r>
          </a:p>
        </p:txBody>
      </p:sp>
      <p:pic>
        <p:nvPicPr>
          <p:cNvPr id="2050" name="Picture 2">
            <a:extLst>
              <a:ext uri="{FF2B5EF4-FFF2-40B4-BE49-F238E27FC236}">
                <a16:creationId xmlns:a16="http://schemas.microsoft.com/office/drawing/2014/main" id="{C5259226-BCB3-4CC6-AF82-A99D021CBF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0535" y="2232670"/>
            <a:ext cx="3343275" cy="1990725"/>
          </a:xfrm>
          <a:prstGeom prst="rect">
            <a:avLst/>
          </a:prstGeom>
          <a:solidFill>
            <a:schemeClr val="bg1"/>
          </a:solidFill>
        </p:spPr>
      </p:pic>
      <p:sp>
        <p:nvSpPr>
          <p:cNvPr id="29" name="TextBox 28">
            <a:extLst>
              <a:ext uri="{FF2B5EF4-FFF2-40B4-BE49-F238E27FC236}">
                <a16:creationId xmlns:a16="http://schemas.microsoft.com/office/drawing/2014/main" id="{0F5AC328-9A7C-43A6-8A0C-5EAAC4555AF5}"/>
              </a:ext>
            </a:extLst>
          </p:cNvPr>
          <p:cNvSpPr txBox="1"/>
          <p:nvPr/>
        </p:nvSpPr>
        <p:spPr>
          <a:xfrm>
            <a:off x="5951137" y="2350869"/>
            <a:ext cx="6094324" cy="1754326"/>
          </a:xfrm>
          <a:prstGeom prst="rect">
            <a:avLst/>
          </a:prstGeom>
          <a:noFill/>
        </p:spPr>
        <p:txBody>
          <a:bodyPr wrap="square">
            <a:spAutoFit/>
          </a:bodyPr>
          <a:lstStyle/>
          <a:p>
            <a:pPr marL="285750" indent="-285750">
              <a:buFont typeface="Arial" panose="020B0604020202020204" pitchFamily="34" charset="0"/>
              <a:buChar char="•"/>
            </a:pPr>
            <a:r>
              <a:rPr lang="pt-BR" dirty="0">
                <a:solidFill>
                  <a:schemeClr val="bg1"/>
                </a:solidFill>
              </a:rPr>
              <a:t>b, e, c, g, f, a, d </a:t>
            </a:r>
          </a:p>
          <a:p>
            <a:pPr marL="285750" indent="-285750">
              <a:buFont typeface="Arial" panose="020B0604020202020204" pitchFamily="34" charset="0"/>
              <a:buChar char="•"/>
            </a:pPr>
            <a:r>
              <a:rPr lang="pt-BR" dirty="0">
                <a:solidFill>
                  <a:schemeClr val="bg1"/>
                </a:solidFill>
              </a:rPr>
              <a:t>b, a, c, g, f, e, d </a:t>
            </a:r>
          </a:p>
          <a:p>
            <a:pPr marL="285750" indent="-285750">
              <a:buFont typeface="Arial" panose="020B0604020202020204" pitchFamily="34" charset="0"/>
              <a:buChar char="•"/>
            </a:pPr>
            <a:r>
              <a:rPr lang="pt-BR" dirty="0">
                <a:solidFill>
                  <a:schemeClr val="bg1"/>
                </a:solidFill>
              </a:rPr>
              <a:t>b, g, f, c, e, a, d </a:t>
            </a:r>
          </a:p>
          <a:p>
            <a:pPr marL="285750" indent="-285750">
              <a:buFont typeface="Arial" panose="020B0604020202020204" pitchFamily="34" charset="0"/>
              <a:buChar char="•"/>
            </a:pPr>
            <a:r>
              <a:rPr lang="pt-BR" dirty="0">
                <a:solidFill>
                  <a:schemeClr val="bg1"/>
                </a:solidFill>
              </a:rPr>
              <a:t>b, e, c, g, a, f, d </a:t>
            </a:r>
          </a:p>
          <a:p>
            <a:pPr marL="285750" indent="-285750">
              <a:buFont typeface="Arial" panose="020B0604020202020204" pitchFamily="34" charset="0"/>
              <a:buChar char="•"/>
            </a:pPr>
            <a:r>
              <a:rPr lang="pt-BR" dirty="0">
                <a:solidFill>
                  <a:schemeClr val="bg1"/>
                </a:solidFill>
              </a:rPr>
              <a:t>b, g, e, c, d, f, a </a:t>
            </a:r>
          </a:p>
          <a:p>
            <a:pPr marL="285750" indent="-285750">
              <a:buFont typeface="Arial" panose="020B0604020202020204" pitchFamily="34" charset="0"/>
              <a:buChar char="•"/>
            </a:pPr>
            <a:r>
              <a:rPr lang="pt-BR" dirty="0">
                <a:solidFill>
                  <a:schemeClr val="bg1"/>
                </a:solidFill>
              </a:rPr>
              <a:t>b, f, c, g, a, e, d </a:t>
            </a:r>
            <a:endParaRPr lang="en-US" dirty="0">
              <a:solidFill>
                <a:schemeClr val="bg1"/>
              </a:solidFill>
            </a:endParaRPr>
          </a:p>
        </p:txBody>
      </p:sp>
      <p:grpSp>
        <p:nvGrpSpPr>
          <p:cNvPr id="5" name="Group 4">
            <a:extLst>
              <a:ext uri="{FF2B5EF4-FFF2-40B4-BE49-F238E27FC236}">
                <a16:creationId xmlns:a16="http://schemas.microsoft.com/office/drawing/2014/main" id="{15D16963-15A4-43DC-97EF-36F55B91CB31}"/>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D3E36401-C41F-4C87-9871-444DFB7360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 COP3530">
              <a:extLst>
                <a:ext uri="{FF2B5EF4-FFF2-40B4-BE49-F238E27FC236}">
                  <a16:creationId xmlns:a16="http://schemas.microsoft.com/office/drawing/2014/main" id="{E729894E-76DD-46BA-9038-BFB2E09368B4}"/>
                </a:ext>
              </a:extLst>
            </p:cNvPr>
            <p:cNvPicPr>
              <a:picLocks noChangeAspect="1"/>
            </p:cNvPicPr>
            <p:nvPr/>
          </p:nvPicPr>
          <p:blipFill rotWithShape="1">
            <a:blip r:embed="rId5"/>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5423275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pPr lvl="0" defTabSz="457200">
              <a:lnSpc>
                <a:spcPct val="100000"/>
              </a:lnSpc>
              <a:spcBef>
                <a:spcPts val="0"/>
              </a:spcBef>
              <a:defRPr/>
            </a:pPr>
            <a:r>
              <a:rPr lang="en-US" sz="2800" dirty="0">
                <a:solidFill>
                  <a:prstClr val="white"/>
                </a:solidFill>
                <a:latin typeface="Gotham Bold" pitchFamily="50" charset="0"/>
              </a:rPr>
              <a:t>Which of the choices below represent a valid topological sort ordering of this graph?</a:t>
            </a:r>
          </a:p>
        </p:txBody>
      </p:sp>
      <p:pic>
        <p:nvPicPr>
          <p:cNvPr id="2050" name="Picture 2">
            <a:extLst>
              <a:ext uri="{FF2B5EF4-FFF2-40B4-BE49-F238E27FC236}">
                <a16:creationId xmlns:a16="http://schemas.microsoft.com/office/drawing/2014/main" id="{C5259226-BCB3-4CC6-AF82-A99D021CBF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0535" y="2232670"/>
            <a:ext cx="3343275" cy="1990725"/>
          </a:xfrm>
          <a:prstGeom prst="rect">
            <a:avLst/>
          </a:prstGeom>
          <a:solidFill>
            <a:schemeClr val="bg1"/>
          </a:solidFill>
        </p:spPr>
      </p:pic>
      <p:sp>
        <p:nvSpPr>
          <p:cNvPr id="29" name="TextBox 28">
            <a:extLst>
              <a:ext uri="{FF2B5EF4-FFF2-40B4-BE49-F238E27FC236}">
                <a16:creationId xmlns:a16="http://schemas.microsoft.com/office/drawing/2014/main" id="{0F5AC328-9A7C-43A6-8A0C-5EAAC4555AF5}"/>
              </a:ext>
            </a:extLst>
          </p:cNvPr>
          <p:cNvSpPr txBox="1"/>
          <p:nvPr/>
        </p:nvSpPr>
        <p:spPr>
          <a:xfrm>
            <a:off x="5951137" y="2350869"/>
            <a:ext cx="6094324" cy="1754326"/>
          </a:xfrm>
          <a:prstGeom prst="rect">
            <a:avLst/>
          </a:prstGeom>
          <a:noFill/>
        </p:spPr>
        <p:txBody>
          <a:bodyPr wrap="square">
            <a:spAutoFit/>
          </a:bodyPr>
          <a:lstStyle/>
          <a:p>
            <a:pPr marL="285750" indent="-285750">
              <a:buFont typeface="Arial" panose="020B0604020202020204" pitchFamily="34" charset="0"/>
              <a:buChar char="•"/>
            </a:pPr>
            <a:r>
              <a:rPr lang="pt-BR" dirty="0">
                <a:solidFill>
                  <a:srgbClr val="00DA63"/>
                </a:solidFill>
              </a:rPr>
              <a:t>b, e, c, g, f, a, d </a:t>
            </a:r>
          </a:p>
          <a:p>
            <a:pPr marL="285750" indent="-285750">
              <a:buFont typeface="Arial" panose="020B0604020202020204" pitchFamily="34" charset="0"/>
              <a:buChar char="•"/>
            </a:pPr>
            <a:r>
              <a:rPr lang="pt-BR" dirty="0">
                <a:solidFill>
                  <a:schemeClr val="bg1"/>
                </a:solidFill>
              </a:rPr>
              <a:t>b, a, c, g, f, e, d </a:t>
            </a:r>
          </a:p>
          <a:p>
            <a:pPr marL="285750" indent="-285750">
              <a:buFont typeface="Arial" panose="020B0604020202020204" pitchFamily="34" charset="0"/>
              <a:buChar char="•"/>
            </a:pPr>
            <a:r>
              <a:rPr lang="pt-BR" dirty="0">
                <a:solidFill>
                  <a:schemeClr val="bg1"/>
                </a:solidFill>
              </a:rPr>
              <a:t>b, g, f, c, e, a, d </a:t>
            </a:r>
          </a:p>
          <a:p>
            <a:pPr marL="285750" indent="-285750">
              <a:buFont typeface="Arial" panose="020B0604020202020204" pitchFamily="34" charset="0"/>
              <a:buChar char="•"/>
            </a:pPr>
            <a:r>
              <a:rPr lang="pt-BR" dirty="0">
                <a:solidFill>
                  <a:schemeClr val="bg1"/>
                </a:solidFill>
              </a:rPr>
              <a:t>b, e, c, g, a, f, d </a:t>
            </a:r>
          </a:p>
          <a:p>
            <a:pPr marL="285750" indent="-285750">
              <a:buFont typeface="Arial" panose="020B0604020202020204" pitchFamily="34" charset="0"/>
              <a:buChar char="•"/>
            </a:pPr>
            <a:r>
              <a:rPr lang="pt-BR" dirty="0">
                <a:solidFill>
                  <a:srgbClr val="00DA63"/>
                </a:solidFill>
              </a:rPr>
              <a:t>b, g, e, c, d, f, a </a:t>
            </a:r>
          </a:p>
          <a:p>
            <a:pPr marL="285750" indent="-285750">
              <a:buFont typeface="Arial" panose="020B0604020202020204" pitchFamily="34" charset="0"/>
              <a:buChar char="•"/>
            </a:pPr>
            <a:r>
              <a:rPr lang="pt-BR" dirty="0">
                <a:solidFill>
                  <a:schemeClr val="bg1"/>
                </a:solidFill>
              </a:rPr>
              <a:t>b, f, c, g, a, e, d </a:t>
            </a:r>
            <a:endParaRPr lang="en-US" dirty="0">
              <a:solidFill>
                <a:schemeClr val="bg1"/>
              </a:solidFill>
            </a:endParaRPr>
          </a:p>
        </p:txBody>
      </p:sp>
      <p:grpSp>
        <p:nvGrpSpPr>
          <p:cNvPr id="5" name="Group 4">
            <a:extLst>
              <a:ext uri="{FF2B5EF4-FFF2-40B4-BE49-F238E27FC236}">
                <a16:creationId xmlns:a16="http://schemas.microsoft.com/office/drawing/2014/main" id="{252514D7-F1F5-4C60-A06E-1F0B9E779F90}"/>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05544AB9-AB3E-4174-9684-DD91FC58B0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 COP3530">
              <a:extLst>
                <a:ext uri="{FF2B5EF4-FFF2-40B4-BE49-F238E27FC236}">
                  <a16:creationId xmlns:a16="http://schemas.microsoft.com/office/drawing/2014/main" id="{724C5C0C-1669-4C16-890E-1332813D25BC}"/>
                </a:ext>
              </a:extLst>
            </p:cNvPr>
            <p:cNvPicPr>
              <a:picLocks noChangeAspect="1"/>
            </p:cNvPicPr>
            <p:nvPr/>
          </p:nvPicPr>
          <p:blipFill rotWithShape="1">
            <a:blip r:embed="rId5"/>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27948486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pPr lvl="0" defTabSz="457200">
              <a:lnSpc>
                <a:spcPct val="100000"/>
              </a:lnSpc>
              <a:spcBef>
                <a:spcPts val="0"/>
              </a:spcBef>
              <a:defRPr/>
            </a:pPr>
            <a:r>
              <a:rPr lang="en-US" sz="2800" dirty="0">
                <a:solidFill>
                  <a:prstClr val="white"/>
                </a:solidFill>
                <a:latin typeface="Gotham Bold" pitchFamily="50" charset="0"/>
              </a:rPr>
              <a:t>What does this code do?</a:t>
            </a:r>
          </a:p>
        </p:txBody>
      </p:sp>
      <p:sp>
        <p:nvSpPr>
          <p:cNvPr id="7" name="TextBox 6">
            <a:extLst>
              <a:ext uri="{FF2B5EF4-FFF2-40B4-BE49-F238E27FC236}">
                <a16:creationId xmlns:a16="http://schemas.microsoft.com/office/drawing/2014/main" id="{F46AD910-21A3-4AC0-941D-DC87F81310AE}"/>
              </a:ext>
            </a:extLst>
          </p:cNvPr>
          <p:cNvSpPr txBox="1"/>
          <p:nvPr/>
        </p:nvSpPr>
        <p:spPr>
          <a:xfrm>
            <a:off x="1199103" y="1521555"/>
            <a:ext cx="6097712" cy="5262979"/>
          </a:xfrm>
          <a:prstGeom prst="rect">
            <a:avLst/>
          </a:prstGeom>
          <a:noFill/>
        </p:spPr>
        <p:txBody>
          <a:bodyPr wrap="square">
            <a:spAutoFit/>
          </a:bodyPr>
          <a:lstStyle/>
          <a:p>
            <a:r>
              <a:rPr lang="en-US" sz="1200" b="0" dirty="0">
                <a:solidFill>
                  <a:srgbClr val="C586C0"/>
                </a:solidFill>
                <a:effectLst/>
                <a:latin typeface="Consolas" panose="020B0609020204030204" pitchFamily="49" charset="0"/>
              </a:rPr>
              <a:t>#include</a:t>
            </a:r>
            <a:r>
              <a:rPr lang="en-US" sz="1200" b="0" dirty="0">
                <a:solidFill>
                  <a:srgbClr val="569CD6"/>
                </a:solidFill>
                <a:effectLst/>
                <a:latin typeface="Consolas" panose="020B0609020204030204" pitchFamily="49" charset="0"/>
              </a:rPr>
              <a:t> </a:t>
            </a:r>
            <a:r>
              <a:rPr lang="en-US" sz="1200" b="0" dirty="0">
                <a:solidFill>
                  <a:srgbClr val="CE9178"/>
                </a:solidFill>
                <a:effectLst/>
                <a:latin typeface="Consolas" panose="020B0609020204030204" pitchFamily="49" charset="0"/>
              </a:rPr>
              <a:t>&lt;set&gt;</a:t>
            </a:r>
            <a:endParaRPr lang="en-US" sz="1200" b="0" dirty="0">
              <a:solidFill>
                <a:srgbClr val="D4D4D4"/>
              </a:solidFill>
              <a:effectLst/>
              <a:latin typeface="Consolas" panose="020B0609020204030204" pitchFamily="49" charset="0"/>
            </a:endParaRPr>
          </a:p>
          <a:p>
            <a:r>
              <a:rPr lang="en-US" sz="1200" b="0" dirty="0">
                <a:solidFill>
                  <a:srgbClr val="C586C0"/>
                </a:solidFill>
                <a:effectLst/>
                <a:latin typeface="Consolas" panose="020B0609020204030204" pitchFamily="49" charset="0"/>
              </a:rPr>
              <a:t>#include</a:t>
            </a:r>
            <a:r>
              <a:rPr lang="en-US" sz="1200" b="0" dirty="0">
                <a:solidFill>
                  <a:srgbClr val="569CD6"/>
                </a:solidFill>
                <a:effectLst/>
                <a:latin typeface="Consolas" panose="020B0609020204030204" pitchFamily="49" charset="0"/>
              </a:rPr>
              <a:t> </a:t>
            </a:r>
            <a:r>
              <a:rPr lang="en-US" sz="1200" b="0" dirty="0">
                <a:solidFill>
                  <a:srgbClr val="CE9178"/>
                </a:solidFill>
                <a:effectLst/>
                <a:latin typeface="Consolas" panose="020B0609020204030204" pitchFamily="49" charset="0"/>
              </a:rPr>
              <a:t>&lt;stack&gt;</a:t>
            </a:r>
            <a:endParaRPr lang="en-US" sz="1200" b="0" dirty="0">
              <a:solidFill>
                <a:srgbClr val="D4D4D4"/>
              </a:solidFill>
              <a:effectLst/>
              <a:latin typeface="Consolas" panose="020B0609020204030204" pitchFamily="49" charset="0"/>
            </a:endParaRPr>
          </a:p>
          <a:p>
            <a:r>
              <a:rPr lang="en-US" sz="1200" b="0" dirty="0">
                <a:solidFill>
                  <a:srgbClr val="C586C0"/>
                </a:solidFill>
                <a:effectLst/>
                <a:latin typeface="Consolas" panose="020B0609020204030204" pitchFamily="49" charset="0"/>
              </a:rPr>
              <a:t>using</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namespace</a:t>
            </a:r>
            <a:r>
              <a:rPr lang="en-US" sz="1200" b="0" dirty="0">
                <a:solidFill>
                  <a:srgbClr val="D4D4D4"/>
                </a:solidFill>
                <a:effectLst/>
                <a:latin typeface="Consolas" panose="020B0609020204030204" pitchFamily="49" charset="0"/>
              </a:rPr>
              <a:t> </a:t>
            </a:r>
            <a:r>
              <a:rPr lang="en-US" sz="1200" b="0" dirty="0">
                <a:solidFill>
                  <a:srgbClr val="4EC9B0"/>
                </a:solidFill>
                <a:effectLst/>
                <a:latin typeface="Consolas" panose="020B0609020204030204" pitchFamily="49" charset="0"/>
              </a:rPr>
              <a:t>std</a:t>
            </a:r>
            <a:r>
              <a:rPr lang="en-US" sz="1200" b="0" dirty="0">
                <a:solidFill>
                  <a:srgbClr val="D4D4D4"/>
                </a:solidFill>
                <a:effectLst/>
                <a:latin typeface="Consolas" panose="020B0609020204030204" pitchFamily="49" charset="0"/>
              </a:rPr>
              <a:t>;</a:t>
            </a:r>
          </a:p>
          <a:p>
            <a:br>
              <a:rPr lang="en-US" sz="1200" b="0" dirty="0">
                <a:solidFill>
                  <a:srgbClr val="D4D4D4"/>
                </a:solidFill>
                <a:effectLst/>
                <a:latin typeface="Consolas" panose="020B0609020204030204" pitchFamily="49" charset="0"/>
              </a:rPr>
            </a:br>
            <a:r>
              <a:rPr lang="en-US" sz="1200" b="0" dirty="0">
                <a:solidFill>
                  <a:srgbClr val="569CD6"/>
                </a:solidFill>
                <a:effectLst/>
                <a:latin typeface="Consolas" panose="020B0609020204030204" pitchFamily="49" charset="0"/>
              </a:rPr>
              <a:t>bool</a:t>
            </a:r>
            <a:r>
              <a:rPr lang="en-US" sz="1200" b="0" dirty="0">
                <a:solidFill>
                  <a:srgbClr val="D4D4D4"/>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doSomething</a:t>
            </a:r>
            <a:r>
              <a:rPr lang="en-US" sz="1200" b="0" dirty="0">
                <a:solidFill>
                  <a:srgbClr val="D4D4D4"/>
                </a:solidFill>
                <a:effectLst/>
                <a:latin typeface="Consolas" panose="020B0609020204030204" pitchFamily="49" charset="0"/>
              </a:rPr>
              <a:t>(</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a:solidFill>
                  <a:srgbClr val="4EC9B0"/>
                </a:solidFill>
                <a:effectLst/>
                <a:latin typeface="Consolas" panose="020B0609020204030204" pitchFamily="49" charset="0"/>
              </a:rPr>
              <a:t>Graph</a:t>
            </a:r>
            <a:r>
              <a:rPr lang="en-US" sz="1200" b="0" dirty="0">
                <a:solidFill>
                  <a:srgbClr val="569CD6"/>
                </a:solidFill>
                <a:effectLst/>
                <a:latin typeface="Consolas" panose="020B0609020204030204" pitchFamily="49" charset="0"/>
              </a:rPr>
              <a:t>&amp;</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graph</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int</a:t>
            </a: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src</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int</a:t>
            </a: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dest</a:t>
            </a:r>
            <a:r>
              <a:rPr lang="en-US" sz="1200" b="0" dirty="0">
                <a:solidFill>
                  <a:srgbClr val="D4D4D4"/>
                </a:solidFill>
                <a:effectLst/>
                <a:latin typeface="Consolas" panose="020B0609020204030204" pitchFamily="49" charset="0"/>
              </a:rPr>
              <a:t>) </a:t>
            </a:r>
          </a:p>
          <a:p>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set&lt;</a:t>
            </a:r>
            <a:r>
              <a:rPr lang="en-US" sz="1200" b="0" dirty="0">
                <a:solidFill>
                  <a:srgbClr val="569CD6"/>
                </a:solidFill>
                <a:effectLst/>
                <a:latin typeface="Consolas" panose="020B0609020204030204" pitchFamily="49" charset="0"/>
              </a:rPr>
              <a:t>int</a:t>
            </a:r>
            <a:r>
              <a:rPr lang="en-US" sz="1200" b="0" dirty="0">
                <a:solidFill>
                  <a:srgbClr val="D4D4D4"/>
                </a:solidFill>
                <a:effectLst/>
                <a:latin typeface="Consolas" panose="020B0609020204030204" pitchFamily="49" charset="0"/>
              </a:rPr>
              <a:t>&gt; visited;</a:t>
            </a:r>
          </a:p>
          <a:p>
            <a:r>
              <a:rPr lang="en-US" sz="1200" b="0" dirty="0">
                <a:solidFill>
                  <a:srgbClr val="D4D4D4"/>
                </a:solidFill>
                <a:effectLst/>
                <a:latin typeface="Consolas" panose="020B0609020204030204" pitchFamily="49" charset="0"/>
              </a:rPr>
              <a:t>    stack&lt;</a:t>
            </a:r>
            <a:r>
              <a:rPr lang="en-US" sz="1200" b="0" dirty="0">
                <a:solidFill>
                  <a:srgbClr val="569CD6"/>
                </a:solidFill>
                <a:effectLst/>
                <a:latin typeface="Consolas" panose="020B0609020204030204" pitchFamily="49" charset="0"/>
              </a:rPr>
              <a:t>int</a:t>
            </a:r>
            <a:r>
              <a:rPr lang="en-US" sz="1200" b="0" dirty="0">
                <a:solidFill>
                  <a:srgbClr val="D4D4D4"/>
                </a:solidFill>
                <a:effectLst/>
                <a:latin typeface="Consolas" panose="020B0609020204030204" pitchFamily="49" charset="0"/>
              </a:rPr>
              <a:t>&gt; s;</a:t>
            </a:r>
          </a:p>
          <a:p>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visited</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insert</a:t>
            </a:r>
            <a:r>
              <a:rPr lang="en-US" sz="1200" b="0" dirty="0">
                <a:solidFill>
                  <a:srgbClr val="D4D4D4"/>
                </a:solidFill>
                <a:effectLst/>
                <a:latin typeface="Consolas" panose="020B0609020204030204" pitchFamily="49" charset="0"/>
              </a:rPr>
              <a:t>(</a:t>
            </a:r>
            <a:r>
              <a:rPr lang="en-US" sz="1200" b="0" dirty="0" err="1">
                <a:solidFill>
                  <a:srgbClr val="D4D4D4"/>
                </a:solidFill>
                <a:effectLst/>
                <a:latin typeface="Consolas" panose="020B0609020204030204" pitchFamily="49" charset="0"/>
              </a:rPr>
              <a:t>src</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push</a:t>
            </a:r>
            <a:r>
              <a:rPr lang="en-US" sz="1200" b="0" dirty="0">
                <a:solidFill>
                  <a:srgbClr val="D4D4D4"/>
                </a:solidFill>
                <a:effectLst/>
                <a:latin typeface="Consolas" panose="020B0609020204030204" pitchFamily="49" charset="0"/>
              </a:rPr>
              <a:t>(</a:t>
            </a:r>
            <a:r>
              <a:rPr lang="en-US" sz="1200" b="0" dirty="0" err="1">
                <a:solidFill>
                  <a:srgbClr val="D4D4D4"/>
                </a:solidFill>
                <a:effectLst/>
                <a:latin typeface="Consolas" panose="020B0609020204030204" pitchFamily="49" charset="0"/>
              </a:rPr>
              <a:t>src</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while</a:t>
            </a:r>
            <a:r>
              <a:rPr lang="en-US" sz="1200" b="0" dirty="0">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empty</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a:t>
            </a:r>
          </a:p>
          <a:p>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int</a:t>
            </a:r>
            <a:r>
              <a:rPr lang="en-US" sz="1200" b="0" dirty="0">
                <a:solidFill>
                  <a:srgbClr val="D4D4D4"/>
                </a:solidFill>
                <a:effectLst/>
                <a:latin typeface="Consolas" panose="020B0609020204030204" pitchFamily="49" charset="0"/>
              </a:rPr>
              <a:t> u = </a:t>
            </a:r>
            <a:r>
              <a:rPr lang="en-US" sz="1200" b="0" dirty="0" err="1">
                <a:solidFill>
                  <a:srgbClr val="9CDCFE"/>
                </a:solidFill>
                <a:effectLst/>
                <a:latin typeface="Consolas" panose="020B0609020204030204" pitchFamily="49" charset="0"/>
              </a:rPr>
              <a: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top</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pop</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for</a:t>
            </a:r>
            <a:r>
              <a:rPr lang="en-US" sz="1200" b="0" dirty="0">
                <a:solidFill>
                  <a:srgbClr val="D4D4D4"/>
                </a:solidFill>
                <a:effectLst/>
                <a:latin typeface="Consolas" panose="020B0609020204030204" pitchFamily="49" charset="0"/>
              </a:rPr>
              <a:t>(</a:t>
            </a:r>
            <a:r>
              <a:rPr lang="en-US" sz="1200" b="0" dirty="0">
                <a:solidFill>
                  <a:srgbClr val="569CD6"/>
                </a:solidFill>
                <a:effectLst/>
                <a:latin typeface="Consolas" panose="020B0609020204030204" pitchFamily="49" charset="0"/>
              </a:rPr>
              <a:t>auto</a:t>
            </a:r>
            <a:r>
              <a:rPr lang="en-US" sz="1200" b="0" dirty="0">
                <a:solidFill>
                  <a:srgbClr val="D4D4D4"/>
                </a:solidFill>
                <a:effectLst/>
                <a:latin typeface="Consolas" panose="020B0609020204030204" pitchFamily="49" charset="0"/>
              </a:rPr>
              <a:t> v: </a:t>
            </a:r>
            <a:r>
              <a:rPr lang="en-US" sz="1200" b="0" dirty="0" err="1">
                <a:solidFill>
                  <a:srgbClr val="9CDCFE"/>
                </a:solidFill>
                <a:effectLst/>
                <a:latin typeface="Consolas" panose="020B0609020204030204" pitchFamily="49" charset="0"/>
              </a:rPr>
              <a:t>graph</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adjList</a:t>
            </a:r>
            <a:r>
              <a:rPr lang="en-US" sz="1200" b="0" dirty="0">
                <a:solidFill>
                  <a:srgbClr val="D4D4D4"/>
                </a:solidFill>
                <a:effectLst/>
                <a:latin typeface="Consolas" panose="020B0609020204030204" pitchFamily="49" charset="0"/>
              </a:rPr>
              <a:t>[u])</a:t>
            </a:r>
          </a:p>
          <a:p>
            <a:r>
              <a:rPr lang="en-US" sz="1200" b="0" dirty="0">
                <a:solidFill>
                  <a:srgbClr val="D4D4D4"/>
                </a:solidFill>
                <a:effectLst/>
                <a:latin typeface="Consolas" panose="020B0609020204030204" pitchFamily="49" charset="0"/>
              </a:rPr>
              <a:t>        {</a:t>
            </a:r>
          </a:p>
          <a:p>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if</a:t>
            </a:r>
            <a:r>
              <a:rPr lang="en-US" sz="1200" b="0" dirty="0">
                <a:solidFill>
                  <a:srgbClr val="D4D4D4"/>
                </a:solidFill>
                <a:effectLst/>
                <a:latin typeface="Consolas" panose="020B0609020204030204" pitchFamily="49" charset="0"/>
              </a:rPr>
              <a:t>(v == </a:t>
            </a:r>
            <a:r>
              <a:rPr lang="en-US" sz="1200" b="0" dirty="0" err="1">
                <a:solidFill>
                  <a:srgbClr val="D4D4D4"/>
                </a:solidFill>
                <a:effectLst/>
                <a:latin typeface="Consolas" panose="020B0609020204030204" pitchFamily="49" charset="0"/>
              </a:rPr>
              <a:t>dest</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return</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true</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if</a:t>
            </a: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visited</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find</a:t>
            </a:r>
            <a:r>
              <a:rPr lang="en-US" sz="1200" b="0" dirty="0">
                <a:solidFill>
                  <a:srgbClr val="D4D4D4"/>
                </a:solidFill>
                <a:effectLst/>
                <a:latin typeface="Consolas" panose="020B0609020204030204" pitchFamily="49" charset="0"/>
              </a:rPr>
              <a:t>(v) == </a:t>
            </a:r>
            <a:r>
              <a:rPr lang="en-US" sz="1200" b="0" dirty="0" err="1">
                <a:solidFill>
                  <a:srgbClr val="9CDCFE"/>
                </a:solidFill>
                <a:effectLst/>
                <a:latin typeface="Consolas" panose="020B0609020204030204" pitchFamily="49" charset="0"/>
              </a:rPr>
              <a:t>visited</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end</a:t>
            </a:r>
            <a:r>
              <a:rPr lang="en-US" sz="1200" b="0" dirty="0">
                <a:solidFill>
                  <a:srgbClr val="D4D4D4"/>
                </a:solidFill>
                <a:effectLst/>
                <a:latin typeface="Consolas" panose="020B0609020204030204" pitchFamily="49" charset="0"/>
              </a:rPr>
              <a:t>())) { </a:t>
            </a:r>
          </a:p>
          <a:p>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visited</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insert</a:t>
            </a:r>
            <a:r>
              <a:rPr lang="en-US" sz="1200" b="0" dirty="0">
                <a:solidFill>
                  <a:srgbClr val="D4D4D4"/>
                </a:solidFill>
                <a:effectLst/>
                <a:latin typeface="Consolas" panose="020B0609020204030204" pitchFamily="49" charset="0"/>
              </a:rPr>
              <a:t>(v); </a:t>
            </a:r>
          </a:p>
          <a:p>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push</a:t>
            </a:r>
            <a:r>
              <a:rPr lang="en-US" sz="1200" b="0" dirty="0">
                <a:solidFill>
                  <a:srgbClr val="D4D4D4"/>
                </a:solidFill>
                <a:effectLst/>
                <a:latin typeface="Consolas" panose="020B0609020204030204" pitchFamily="49" charset="0"/>
              </a:rPr>
              <a:t>(v);</a:t>
            </a:r>
          </a:p>
          <a:p>
            <a:r>
              <a:rPr lang="en-US" sz="1200" b="0" dirty="0">
                <a:solidFill>
                  <a:srgbClr val="D4D4D4"/>
                </a:solidFill>
                <a:effectLst/>
                <a:latin typeface="Consolas" panose="020B0609020204030204" pitchFamily="49" charset="0"/>
              </a:rPr>
              <a:t>            } </a:t>
            </a:r>
          </a:p>
          <a:p>
            <a:r>
              <a:rPr lang="en-US" sz="1200" b="0" dirty="0">
                <a:solidFill>
                  <a:srgbClr val="D4D4D4"/>
                </a:solidFill>
                <a:effectLst/>
                <a:latin typeface="Consolas" panose="020B0609020204030204" pitchFamily="49" charset="0"/>
              </a:rPr>
              <a:t>        }</a:t>
            </a:r>
          </a:p>
          <a:p>
            <a:r>
              <a:rPr lang="en-US" sz="1200" b="0" dirty="0">
                <a:solidFill>
                  <a:srgbClr val="D4D4D4"/>
                </a:solidFill>
                <a:effectLst/>
                <a:latin typeface="Consolas" panose="020B0609020204030204" pitchFamily="49" charset="0"/>
              </a:rPr>
              <a:t>    }</a:t>
            </a:r>
          </a:p>
          <a:p>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return</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false</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a:t>
            </a:r>
          </a:p>
          <a:p>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p:txBody>
      </p:sp>
      <p:grpSp>
        <p:nvGrpSpPr>
          <p:cNvPr id="4" name="Group 3">
            <a:extLst>
              <a:ext uri="{FF2B5EF4-FFF2-40B4-BE49-F238E27FC236}">
                <a16:creationId xmlns:a16="http://schemas.microsoft.com/office/drawing/2014/main" id="{8829150E-D5A9-419A-B8CD-14BE7D4AE07E}"/>
              </a:ext>
            </a:extLst>
          </p:cNvPr>
          <p:cNvGrpSpPr/>
          <p:nvPr/>
        </p:nvGrpSpPr>
        <p:grpSpPr>
          <a:xfrm>
            <a:off x="11317255" y="5989103"/>
            <a:ext cx="841781" cy="748032"/>
            <a:chOff x="11337354" y="6025684"/>
            <a:chExt cx="841781" cy="748032"/>
          </a:xfrm>
        </p:grpSpPr>
        <p:pic>
          <p:nvPicPr>
            <p:cNvPr id="5" name="Picture 4">
              <a:extLst>
                <a:ext uri="{FF2B5EF4-FFF2-40B4-BE49-F238E27FC236}">
                  <a16:creationId xmlns:a16="http://schemas.microsoft.com/office/drawing/2014/main" id="{92A40AB3-0116-4EC8-88C6-CFCF39FB71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Logo COP3530">
              <a:extLst>
                <a:ext uri="{FF2B5EF4-FFF2-40B4-BE49-F238E27FC236}">
                  <a16:creationId xmlns:a16="http://schemas.microsoft.com/office/drawing/2014/main" id="{4C491ADC-DAE0-4D95-8ACD-F640CCE7F651}"/>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18269010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pPr lvl="0" defTabSz="457200">
              <a:lnSpc>
                <a:spcPct val="100000"/>
              </a:lnSpc>
              <a:spcBef>
                <a:spcPts val="0"/>
              </a:spcBef>
              <a:defRPr/>
            </a:pPr>
            <a:r>
              <a:rPr lang="en-US" sz="2800" dirty="0">
                <a:solidFill>
                  <a:prstClr val="white"/>
                </a:solidFill>
                <a:latin typeface="Gotham Bold" pitchFamily="50" charset="0"/>
              </a:rPr>
              <a:t>What does this code do?</a:t>
            </a:r>
          </a:p>
        </p:txBody>
      </p:sp>
      <p:sp>
        <p:nvSpPr>
          <p:cNvPr id="6" name="TextBox 5">
            <a:extLst>
              <a:ext uri="{FF2B5EF4-FFF2-40B4-BE49-F238E27FC236}">
                <a16:creationId xmlns:a16="http://schemas.microsoft.com/office/drawing/2014/main" id="{1A077732-6C4B-4164-92DA-5E4AC10B6D49}"/>
              </a:ext>
            </a:extLst>
          </p:cNvPr>
          <p:cNvSpPr txBox="1"/>
          <p:nvPr/>
        </p:nvSpPr>
        <p:spPr>
          <a:xfrm>
            <a:off x="7367955" y="3429000"/>
            <a:ext cx="3624942" cy="923330"/>
          </a:xfrm>
          <a:prstGeom prst="rect">
            <a:avLst/>
          </a:prstGeom>
          <a:noFill/>
          <a:ln>
            <a:solidFill>
              <a:srgbClr val="0081E2"/>
            </a:solidFill>
          </a:ln>
        </p:spPr>
        <p:txBody>
          <a:bodyPr wrap="square">
            <a:spAutoFit/>
          </a:bodyPr>
          <a:lstStyle/>
          <a:p>
            <a:pPr algn="ctr"/>
            <a:r>
              <a:rPr lang="en-US" dirty="0">
                <a:solidFill>
                  <a:prstClr val="white"/>
                </a:solidFill>
                <a:latin typeface="Consolas" panose="020B0609020204030204" pitchFamily="49" charset="0"/>
              </a:rPr>
              <a:t>Returns whether a given vertex is reachable from another vertex using DFS</a:t>
            </a:r>
            <a:endParaRPr lang="en-US" dirty="0">
              <a:latin typeface="Consolas" panose="020B0609020204030204" pitchFamily="49" charset="0"/>
            </a:endParaRPr>
          </a:p>
        </p:txBody>
      </p:sp>
      <p:sp>
        <p:nvSpPr>
          <p:cNvPr id="7" name="TextBox 6">
            <a:extLst>
              <a:ext uri="{FF2B5EF4-FFF2-40B4-BE49-F238E27FC236}">
                <a16:creationId xmlns:a16="http://schemas.microsoft.com/office/drawing/2014/main" id="{F46AD910-21A3-4AC0-941D-DC87F81310AE}"/>
              </a:ext>
            </a:extLst>
          </p:cNvPr>
          <p:cNvSpPr txBox="1"/>
          <p:nvPr/>
        </p:nvSpPr>
        <p:spPr>
          <a:xfrm>
            <a:off x="1199103" y="1521555"/>
            <a:ext cx="6097712" cy="5262979"/>
          </a:xfrm>
          <a:prstGeom prst="rect">
            <a:avLst/>
          </a:prstGeom>
          <a:noFill/>
        </p:spPr>
        <p:txBody>
          <a:bodyPr wrap="square">
            <a:spAutoFit/>
          </a:bodyPr>
          <a:lstStyle/>
          <a:p>
            <a:r>
              <a:rPr lang="en-US" sz="1200" b="0" dirty="0">
                <a:solidFill>
                  <a:srgbClr val="C586C0"/>
                </a:solidFill>
                <a:effectLst/>
                <a:latin typeface="Consolas" panose="020B0609020204030204" pitchFamily="49" charset="0"/>
              </a:rPr>
              <a:t>#include</a:t>
            </a:r>
            <a:r>
              <a:rPr lang="en-US" sz="1200" b="0" dirty="0">
                <a:solidFill>
                  <a:srgbClr val="569CD6"/>
                </a:solidFill>
                <a:effectLst/>
                <a:latin typeface="Consolas" panose="020B0609020204030204" pitchFamily="49" charset="0"/>
              </a:rPr>
              <a:t> </a:t>
            </a:r>
            <a:r>
              <a:rPr lang="en-US" sz="1200" b="0" dirty="0">
                <a:solidFill>
                  <a:srgbClr val="CE9178"/>
                </a:solidFill>
                <a:effectLst/>
                <a:latin typeface="Consolas" panose="020B0609020204030204" pitchFamily="49" charset="0"/>
              </a:rPr>
              <a:t>&lt;set&gt;</a:t>
            </a:r>
            <a:endParaRPr lang="en-US" sz="1200" b="0" dirty="0">
              <a:solidFill>
                <a:srgbClr val="D4D4D4"/>
              </a:solidFill>
              <a:effectLst/>
              <a:latin typeface="Consolas" panose="020B0609020204030204" pitchFamily="49" charset="0"/>
            </a:endParaRPr>
          </a:p>
          <a:p>
            <a:r>
              <a:rPr lang="en-US" sz="1200" b="0" dirty="0">
                <a:solidFill>
                  <a:srgbClr val="C586C0"/>
                </a:solidFill>
                <a:effectLst/>
                <a:latin typeface="Consolas" panose="020B0609020204030204" pitchFamily="49" charset="0"/>
              </a:rPr>
              <a:t>#include</a:t>
            </a:r>
            <a:r>
              <a:rPr lang="en-US" sz="1200" b="0" dirty="0">
                <a:solidFill>
                  <a:srgbClr val="569CD6"/>
                </a:solidFill>
                <a:effectLst/>
                <a:latin typeface="Consolas" panose="020B0609020204030204" pitchFamily="49" charset="0"/>
              </a:rPr>
              <a:t> </a:t>
            </a:r>
            <a:r>
              <a:rPr lang="en-US" sz="1200" b="0" dirty="0">
                <a:solidFill>
                  <a:srgbClr val="CE9178"/>
                </a:solidFill>
                <a:effectLst/>
                <a:latin typeface="Consolas" panose="020B0609020204030204" pitchFamily="49" charset="0"/>
              </a:rPr>
              <a:t>&lt;stack&gt;</a:t>
            </a:r>
            <a:endParaRPr lang="en-US" sz="1200" b="0" dirty="0">
              <a:solidFill>
                <a:srgbClr val="D4D4D4"/>
              </a:solidFill>
              <a:effectLst/>
              <a:latin typeface="Consolas" panose="020B0609020204030204" pitchFamily="49" charset="0"/>
            </a:endParaRPr>
          </a:p>
          <a:p>
            <a:r>
              <a:rPr lang="en-US" sz="1200" b="0" dirty="0">
                <a:solidFill>
                  <a:srgbClr val="C586C0"/>
                </a:solidFill>
                <a:effectLst/>
                <a:latin typeface="Consolas" panose="020B0609020204030204" pitchFamily="49" charset="0"/>
              </a:rPr>
              <a:t>using</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namespace</a:t>
            </a:r>
            <a:r>
              <a:rPr lang="en-US" sz="1200" b="0" dirty="0">
                <a:solidFill>
                  <a:srgbClr val="D4D4D4"/>
                </a:solidFill>
                <a:effectLst/>
                <a:latin typeface="Consolas" panose="020B0609020204030204" pitchFamily="49" charset="0"/>
              </a:rPr>
              <a:t> </a:t>
            </a:r>
            <a:r>
              <a:rPr lang="en-US" sz="1200" b="0" dirty="0">
                <a:solidFill>
                  <a:srgbClr val="4EC9B0"/>
                </a:solidFill>
                <a:effectLst/>
                <a:latin typeface="Consolas" panose="020B0609020204030204" pitchFamily="49" charset="0"/>
              </a:rPr>
              <a:t>std</a:t>
            </a:r>
            <a:r>
              <a:rPr lang="en-US" sz="1200" b="0" dirty="0">
                <a:solidFill>
                  <a:srgbClr val="D4D4D4"/>
                </a:solidFill>
                <a:effectLst/>
                <a:latin typeface="Consolas" panose="020B0609020204030204" pitchFamily="49" charset="0"/>
              </a:rPr>
              <a:t>;</a:t>
            </a:r>
          </a:p>
          <a:p>
            <a:br>
              <a:rPr lang="en-US" sz="1200" b="0" dirty="0">
                <a:solidFill>
                  <a:srgbClr val="D4D4D4"/>
                </a:solidFill>
                <a:effectLst/>
                <a:latin typeface="Consolas" panose="020B0609020204030204" pitchFamily="49" charset="0"/>
              </a:rPr>
            </a:br>
            <a:r>
              <a:rPr lang="en-US" sz="1200" b="0" dirty="0">
                <a:solidFill>
                  <a:srgbClr val="569CD6"/>
                </a:solidFill>
                <a:effectLst/>
                <a:latin typeface="Consolas" panose="020B0609020204030204" pitchFamily="49" charset="0"/>
              </a:rPr>
              <a:t>bool</a:t>
            </a:r>
            <a:r>
              <a:rPr lang="en-US" sz="1200" b="0" dirty="0">
                <a:solidFill>
                  <a:srgbClr val="D4D4D4"/>
                </a:solidFill>
                <a:effectLst/>
                <a:latin typeface="Consolas" panose="020B0609020204030204" pitchFamily="49" charset="0"/>
              </a:rPr>
              <a:t> </a:t>
            </a:r>
            <a:r>
              <a:rPr lang="en-US" sz="1200" b="0" dirty="0" err="1">
                <a:solidFill>
                  <a:srgbClr val="DCDCAA"/>
                </a:solidFill>
                <a:effectLst/>
                <a:latin typeface="Consolas" panose="020B0609020204030204" pitchFamily="49" charset="0"/>
              </a:rPr>
              <a:t>doSomething</a:t>
            </a:r>
            <a:r>
              <a:rPr lang="en-US" sz="1200" b="0" dirty="0">
                <a:solidFill>
                  <a:srgbClr val="D4D4D4"/>
                </a:solidFill>
                <a:effectLst/>
                <a:latin typeface="Consolas" panose="020B0609020204030204" pitchFamily="49" charset="0"/>
              </a:rPr>
              <a:t>(</a:t>
            </a:r>
            <a:r>
              <a:rPr lang="en-US" sz="1200" b="0" dirty="0">
                <a:solidFill>
                  <a:srgbClr val="569CD6"/>
                </a:solidFill>
                <a:effectLst/>
                <a:latin typeface="Consolas" panose="020B0609020204030204" pitchFamily="49" charset="0"/>
              </a:rPr>
              <a:t>const</a:t>
            </a:r>
            <a:r>
              <a:rPr lang="en-US" sz="1200" b="0" dirty="0">
                <a:solidFill>
                  <a:srgbClr val="D4D4D4"/>
                </a:solidFill>
                <a:effectLst/>
                <a:latin typeface="Consolas" panose="020B0609020204030204" pitchFamily="49" charset="0"/>
              </a:rPr>
              <a:t> </a:t>
            </a:r>
            <a:r>
              <a:rPr lang="en-US" sz="1200" b="0" dirty="0">
                <a:solidFill>
                  <a:srgbClr val="4EC9B0"/>
                </a:solidFill>
                <a:effectLst/>
                <a:latin typeface="Consolas" panose="020B0609020204030204" pitchFamily="49" charset="0"/>
              </a:rPr>
              <a:t>Graph</a:t>
            </a:r>
            <a:r>
              <a:rPr lang="en-US" sz="1200" b="0" dirty="0">
                <a:solidFill>
                  <a:srgbClr val="569CD6"/>
                </a:solidFill>
                <a:effectLst/>
                <a:latin typeface="Consolas" panose="020B0609020204030204" pitchFamily="49" charset="0"/>
              </a:rPr>
              <a:t>&amp;</a:t>
            </a:r>
            <a:r>
              <a:rPr lang="en-US" sz="1200" b="0" dirty="0">
                <a:solidFill>
                  <a:srgbClr val="D4D4D4"/>
                </a:solidFill>
                <a:effectLst/>
                <a:latin typeface="Consolas" panose="020B0609020204030204" pitchFamily="49" charset="0"/>
              </a:rPr>
              <a:t> </a:t>
            </a:r>
            <a:r>
              <a:rPr lang="en-US" sz="1200" b="0" dirty="0">
                <a:solidFill>
                  <a:srgbClr val="9CDCFE"/>
                </a:solidFill>
                <a:effectLst/>
                <a:latin typeface="Consolas" panose="020B0609020204030204" pitchFamily="49" charset="0"/>
              </a:rPr>
              <a:t>graph</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int</a:t>
            </a: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src</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int</a:t>
            </a: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dest</a:t>
            </a:r>
            <a:r>
              <a:rPr lang="en-US" sz="1200" b="0" dirty="0">
                <a:solidFill>
                  <a:srgbClr val="D4D4D4"/>
                </a:solidFill>
                <a:effectLst/>
                <a:latin typeface="Consolas" panose="020B0609020204030204" pitchFamily="49" charset="0"/>
              </a:rPr>
              <a:t>) </a:t>
            </a:r>
          </a:p>
          <a:p>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set&lt;</a:t>
            </a:r>
            <a:r>
              <a:rPr lang="en-US" sz="1200" b="0" dirty="0">
                <a:solidFill>
                  <a:srgbClr val="569CD6"/>
                </a:solidFill>
                <a:effectLst/>
                <a:latin typeface="Consolas" panose="020B0609020204030204" pitchFamily="49" charset="0"/>
              </a:rPr>
              <a:t>int</a:t>
            </a:r>
            <a:r>
              <a:rPr lang="en-US" sz="1200" b="0" dirty="0">
                <a:solidFill>
                  <a:srgbClr val="D4D4D4"/>
                </a:solidFill>
                <a:effectLst/>
                <a:latin typeface="Consolas" panose="020B0609020204030204" pitchFamily="49" charset="0"/>
              </a:rPr>
              <a:t>&gt; visited;</a:t>
            </a:r>
          </a:p>
          <a:p>
            <a:r>
              <a:rPr lang="en-US" sz="1200" b="0" dirty="0">
                <a:solidFill>
                  <a:srgbClr val="D4D4D4"/>
                </a:solidFill>
                <a:effectLst/>
                <a:latin typeface="Consolas" panose="020B0609020204030204" pitchFamily="49" charset="0"/>
              </a:rPr>
              <a:t>    stack&lt;</a:t>
            </a:r>
            <a:r>
              <a:rPr lang="en-US" sz="1200" b="0" dirty="0">
                <a:solidFill>
                  <a:srgbClr val="569CD6"/>
                </a:solidFill>
                <a:effectLst/>
                <a:latin typeface="Consolas" panose="020B0609020204030204" pitchFamily="49" charset="0"/>
              </a:rPr>
              <a:t>int</a:t>
            </a:r>
            <a:r>
              <a:rPr lang="en-US" sz="1200" b="0" dirty="0">
                <a:solidFill>
                  <a:srgbClr val="D4D4D4"/>
                </a:solidFill>
                <a:effectLst/>
                <a:latin typeface="Consolas" panose="020B0609020204030204" pitchFamily="49" charset="0"/>
              </a:rPr>
              <a:t>&gt; s;</a:t>
            </a:r>
          </a:p>
          <a:p>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visited</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insert</a:t>
            </a:r>
            <a:r>
              <a:rPr lang="en-US" sz="1200" b="0" dirty="0">
                <a:solidFill>
                  <a:srgbClr val="D4D4D4"/>
                </a:solidFill>
                <a:effectLst/>
                <a:latin typeface="Consolas" panose="020B0609020204030204" pitchFamily="49" charset="0"/>
              </a:rPr>
              <a:t>(</a:t>
            </a:r>
            <a:r>
              <a:rPr lang="en-US" sz="1200" b="0" dirty="0" err="1">
                <a:solidFill>
                  <a:srgbClr val="D4D4D4"/>
                </a:solidFill>
                <a:effectLst/>
                <a:latin typeface="Consolas" panose="020B0609020204030204" pitchFamily="49" charset="0"/>
              </a:rPr>
              <a:t>src</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push</a:t>
            </a:r>
            <a:r>
              <a:rPr lang="en-US" sz="1200" b="0" dirty="0">
                <a:solidFill>
                  <a:srgbClr val="D4D4D4"/>
                </a:solidFill>
                <a:effectLst/>
                <a:latin typeface="Consolas" panose="020B0609020204030204" pitchFamily="49" charset="0"/>
              </a:rPr>
              <a:t>(</a:t>
            </a:r>
            <a:r>
              <a:rPr lang="en-US" sz="1200" b="0" dirty="0" err="1">
                <a:solidFill>
                  <a:srgbClr val="D4D4D4"/>
                </a:solidFill>
                <a:effectLst/>
                <a:latin typeface="Consolas" panose="020B0609020204030204" pitchFamily="49" charset="0"/>
              </a:rPr>
              <a:t>src</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while</a:t>
            </a:r>
            <a:r>
              <a:rPr lang="en-US" sz="1200" b="0" dirty="0">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empty</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a:t>
            </a:r>
          </a:p>
          <a:p>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int</a:t>
            </a:r>
            <a:r>
              <a:rPr lang="en-US" sz="1200" b="0" dirty="0">
                <a:solidFill>
                  <a:srgbClr val="D4D4D4"/>
                </a:solidFill>
                <a:effectLst/>
                <a:latin typeface="Consolas" panose="020B0609020204030204" pitchFamily="49" charset="0"/>
              </a:rPr>
              <a:t> u = </a:t>
            </a:r>
            <a:r>
              <a:rPr lang="en-US" sz="1200" b="0" dirty="0" err="1">
                <a:solidFill>
                  <a:srgbClr val="9CDCFE"/>
                </a:solidFill>
                <a:effectLst/>
                <a:latin typeface="Consolas" panose="020B0609020204030204" pitchFamily="49" charset="0"/>
              </a:rPr>
              <a: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top</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pop</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for</a:t>
            </a:r>
            <a:r>
              <a:rPr lang="en-US" sz="1200" b="0" dirty="0">
                <a:solidFill>
                  <a:srgbClr val="D4D4D4"/>
                </a:solidFill>
                <a:effectLst/>
                <a:latin typeface="Consolas" panose="020B0609020204030204" pitchFamily="49" charset="0"/>
              </a:rPr>
              <a:t>(</a:t>
            </a:r>
            <a:r>
              <a:rPr lang="en-US" sz="1200" b="0" dirty="0">
                <a:solidFill>
                  <a:srgbClr val="569CD6"/>
                </a:solidFill>
                <a:effectLst/>
                <a:latin typeface="Consolas" panose="020B0609020204030204" pitchFamily="49" charset="0"/>
              </a:rPr>
              <a:t>auto</a:t>
            </a:r>
            <a:r>
              <a:rPr lang="en-US" sz="1200" b="0" dirty="0">
                <a:solidFill>
                  <a:srgbClr val="D4D4D4"/>
                </a:solidFill>
                <a:effectLst/>
                <a:latin typeface="Consolas" panose="020B0609020204030204" pitchFamily="49" charset="0"/>
              </a:rPr>
              <a:t> v: </a:t>
            </a:r>
            <a:r>
              <a:rPr lang="en-US" sz="1200" b="0" dirty="0" err="1">
                <a:solidFill>
                  <a:srgbClr val="9CDCFE"/>
                </a:solidFill>
                <a:effectLst/>
                <a:latin typeface="Consolas" panose="020B0609020204030204" pitchFamily="49" charset="0"/>
              </a:rPr>
              <a:t>graph</a:t>
            </a:r>
            <a:r>
              <a:rPr lang="en-US" sz="1200" b="0" dirty="0" err="1">
                <a:solidFill>
                  <a:srgbClr val="D4D4D4"/>
                </a:solidFill>
                <a:effectLst/>
                <a:latin typeface="Consolas" panose="020B0609020204030204" pitchFamily="49" charset="0"/>
              </a:rPr>
              <a:t>.</a:t>
            </a:r>
            <a:r>
              <a:rPr lang="en-US" sz="1200" b="0" dirty="0" err="1">
                <a:solidFill>
                  <a:srgbClr val="9CDCFE"/>
                </a:solidFill>
                <a:effectLst/>
                <a:latin typeface="Consolas" panose="020B0609020204030204" pitchFamily="49" charset="0"/>
              </a:rPr>
              <a:t>adjList</a:t>
            </a:r>
            <a:r>
              <a:rPr lang="en-US" sz="1200" b="0" dirty="0">
                <a:solidFill>
                  <a:srgbClr val="D4D4D4"/>
                </a:solidFill>
                <a:effectLst/>
                <a:latin typeface="Consolas" panose="020B0609020204030204" pitchFamily="49" charset="0"/>
              </a:rPr>
              <a:t>[u])</a:t>
            </a:r>
          </a:p>
          <a:p>
            <a:r>
              <a:rPr lang="en-US" sz="1200" b="0" dirty="0">
                <a:solidFill>
                  <a:srgbClr val="D4D4D4"/>
                </a:solidFill>
                <a:effectLst/>
                <a:latin typeface="Consolas" panose="020B0609020204030204" pitchFamily="49" charset="0"/>
              </a:rPr>
              <a:t>        {</a:t>
            </a:r>
          </a:p>
          <a:p>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if</a:t>
            </a:r>
            <a:r>
              <a:rPr lang="en-US" sz="1200" b="0" dirty="0">
                <a:solidFill>
                  <a:srgbClr val="D4D4D4"/>
                </a:solidFill>
                <a:effectLst/>
                <a:latin typeface="Consolas" panose="020B0609020204030204" pitchFamily="49" charset="0"/>
              </a:rPr>
              <a:t>(v == </a:t>
            </a:r>
            <a:r>
              <a:rPr lang="en-US" sz="1200" b="0" dirty="0" err="1">
                <a:solidFill>
                  <a:srgbClr val="D4D4D4"/>
                </a:solidFill>
                <a:effectLst/>
                <a:latin typeface="Consolas" panose="020B0609020204030204" pitchFamily="49" charset="0"/>
              </a:rPr>
              <a:t>dest</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return</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true</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if</a:t>
            </a:r>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visited</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find</a:t>
            </a:r>
            <a:r>
              <a:rPr lang="en-US" sz="1200" b="0" dirty="0">
                <a:solidFill>
                  <a:srgbClr val="D4D4D4"/>
                </a:solidFill>
                <a:effectLst/>
                <a:latin typeface="Consolas" panose="020B0609020204030204" pitchFamily="49" charset="0"/>
              </a:rPr>
              <a:t>(v) == </a:t>
            </a:r>
            <a:r>
              <a:rPr lang="en-US" sz="1200" b="0" dirty="0" err="1">
                <a:solidFill>
                  <a:srgbClr val="9CDCFE"/>
                </a:solidFill>
                <a:effectLst/>
                <a:latin typeface="Consolas" panose="020B0609020204030204" pitchFamily="49" charset="0"/>
              </a:rPr>
              <a:t>visited</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end</a:t>
            </a:r>
            <a:r>
              <a:rPr lang="en-US" sz="1200" b="0" dirty="0">
                <a:solidFill>
                  <a:srgbClr val="D4D4D4"/>
                </a:solidFill>
                <a:effectLst/>
                <a:latin typeface="Consolas" panose="020B0609020204030204" pitchFamily="49" charset="0"/>
              </a:rPr>
              <a:t>())) { </a:t>
            </a:r>
          </a:p>
          <a:p>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visited</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insert</a:t>
            </a:r>
            <a:r>
              <a:rPr lang="en-US" sz="1200" b="0" dirty="0">
                <a:solidFill>
                  <a:srgbClr val="D4D4D4"/>
                </a:solidFill>
                <a:effectLst/>
                <a:latin typeface="Consolas" panose="020B0609020204030204" pitchFamily="49" charset="0"/>
              </a:rPr>
              <a:t>(v); </a:t>
            </a:r>
          </a:p>
          <a:p>
            <a:r>
              <a:rPr lang="en-US" sz="1200" b="0" dirty="0">
                <a:solidFill>
                  <a:srgbClr val="D4D4D4"/>
                </a:solidFill>
                <a:effectLst/>
                <a:latin typeface="Consolas" panose="020B0609020204030204" pitchFamily="49" charset="0"/>
              </a:rPr>
              <a:t>                </a:t>
            </a:r>
            <a:r>
              <a:rPr lang="en-US" sz="1200" b="0" dirty="0" err="1">
                <a:solidFill>
                  <a:srgbClr val="9CDCFE"/>
                </a:solidFill>
                <a:effectLst/>
                <a:latin typeface="Consolas" panose="020B0609020204030204" pitchFamily="49" charset="0"/>
              </a:rPr>
              <a:t>s</a:t>
            </a:r>
            <a:r>
              <a:rPr lang="en-US" sz="1200" b="0" dirty="0" err="1">
                <a:solidFill>
                  <a:srgbClr val="D4D4D4"/>
                </a:solidFill>
                <a:effectLst/>
                <a:latin typeface="Consolas" panose="020B0609020204030204" pitchFamily="49" charset="0"/>
              </a:rPr>
              <a:t>.</a:t>
            </a:r>
            <a:r>
              <a:rPr lang="en-US" sz="1200" b="0" dirty="0" err="1">
                <a:solidFill>
                  <a:srgbClr val="DCDCAA"/>
                </a:solidFill>
                <a:effectLst/>
                <a:latin typeface="Consolas" panose="020B0609020204030204" pitchFamily="49" charset="0"/>
              </a:rPr>
              <a:t>push</a:t>
            </a:r>
            <a:r>
              <a:rPr lang="en-US" sz="1200" b="0" dirty="0">
                <a:solidFill>
                  <a:srgbClr val="D4D4D4"/>
                </a:solidFill>
                <a:effectLst/>
                <a:latin typeface="Consolas" panose="020B0609020204030204" pitchFamily="49" charset="0"/>
              </a:rPr>
              <a:t>(v);</a:t>
            </a:r>
          </a:p>
          <a:p>
            <a:r>
              <a:rPr lang="en-US" sz="1200" b="0" dirty="0">
                <a:solidFill>
                  <a:srgbClr val="D4D4D4"/>
                </a:solidFill>
                <a:effectLst/>
                <a:latin typeface="Consolas" panose="020B0609020204030204" pitchFamily="49" charset="0"/>
              </a:rPr>
              <a:t>            } </a:t>
            </a:r>
          </a:p>
          <a:p>
            <a:r>
              <a:rPr lang="en-US" sz="1200" b="0" dirty="0">
                <a:solidFill>
                  <a:srgbClr val="D4D4D4"/>
                </a:solidFill>
                <a:effectLst/>
                <a:latin typeface="Consolas" panose="020B0609020204030204" pitchFamily="49" charset="0"/>
              </a:rPr>
              <a:t>        }</a:t>
            </a:r>
          </a:p>
          <a:p>
            <a:r>
              <a:rPr lang="en-US" sz="1200" b="0" dirty="0">
                <a:solidFill>
                  <a:srgbClr val="D4D4D4"/>
                </a:solidFill>
                <a:effectLst/>
                <a:latin typeface="Consolas" panose="020B0609020204030204" pitchFamily="49" charset="0"/>
              </a:rPr>
              <a:t>    }</a:t>
            </a:r>
          </a:p>
          <a:p>
            <a:r>
              <a:rPr lang="en-US" sz="1200" b="0" dirty="0">
                <a:solidFill>
                  <a:srgbClr val="D4D4D4"/>
                </a:solidFill>
                <a:effectLst/>
                <a:latin typeface="Consolas" panose="020B0609020204030204" pitchFamily="49" charset="0"/>
              </a:rPr>
              <a:t>    </a:t>
            </a:r>
            <a:r>
              <a:rPr lang="en-US" sz="1200" b="0" dirty="0">
                <a:solidFill>
                  <a:srgbClr val="C586C0"/>
                </a:solidFill>
                <a:effectLst/>
                <a:latin typeface="Consolas" panose="020B0609020204030204" pitchFamily="49" charset="0"/>
              </a:rPr>
              <a:t>return</a:t>
            </a:r>
            <a:r>
              <a:rPr lang="en-US" sz="1200" b="0" dirty="0">
                <a:solidFill>
                  <a:srgbClr val="D4D4D4"/>
                </a:solidFill>
                <a:effectLst/>
                <a:latin typeface="Consolas" panose="020B0609020204030204" pitchFamily="49" charset="0"/>
              </a:rPr>
              <a:t> </a:t>
            </a:r>
            <a:r>
              <a:rPr lang="en-US" sz="1200" b="0" dirty="0">
                <a:solidFill>
                  <a:srgbClr val="569CD6"/>
                </a:solidFill>
                <a:effectLst/>
                <a:latin typeface="Consolas" panose="020B0609020204030204" pitchFamily="49" charset="0"/>
              </a:rPr>
              <a:t>false</a:t>
            </a:r>
            <a:r>
              <a:rPr lang="en-US" sz="1200" b="0" dirty="0">
                <a:solidFill>
                  <a:srgbClr val="D4D4D4"/>
                </a:solidFill>
                <a:effectLst/>
                <a:latin typeface="Consolas" panose="020B0609020204030204" pitchFamily="49" charset="0"/>
              </a:rPr>
              <a:t>;</a:t>
            </a:r>
          </a:p>
          <a:p>
            <a:r>
              <a:rPr lang="en-US" sz="1200" b="0" dirty="0">
                <a:solidFill>
                  <a:srgbClr val="D4D4D4"/>
                </a:solidFill>
                <a:effectLst/>
                <a:latin typeface="Consolas" panose="020B0609020204030204" pitchFamily="49" charset="0"/>
              </a:rPr>
              <a:t>}</a:t>
            </a:r>
          </a:p>
          <a:p>
            <a:br>
              <a:rPr lang="en-US" sz="1200" b="0" dirty="0">
                <a:solidFill>
                  <a:srgbClr val="D4D4D4"/>
                </a:solidFill>
                <a:effectLst/>
                <a:latin typeface="Consolas" panose="020B0609020204030204" pitchFamily="49" charset="0"/>
              </a:rPr>
            </a:br>
            <a:endParaRPr lang="en-US" sz="1200" b="0" dirty="0">
              <a:solidFill>
                <a:srgbClr val="D4D4D4"/>
              </a:solidFill>
              <a:effectLst/>
              <a:latin typeface="Consolas" panose="020B0609020204030204" pitchFamily="49" charset="0"/>
            </a:endParaRPr>
          </a:p>
        </p:txBody>
      </p:sp>
      <p:grpSp>
        <p:nvGrpSpPr>
          <p:cNvPr id="5" name="Group 4">
            <a:extLst>
              <a:ext uri="{FF2B5EF4-FFF2-40B4-BE49-F238E27FC236}">
                <a16:creationId xmlns:a16="http://schemas.microsoft.com/office/drawing/2014/main" id="{F57BDBAA-6642-40C1-BB0E-093D5F1158C1}"/>
              </a:ext>
            </a:extLst>
          </p:cNvPr>
          <p:cNvGrpSpPr/>
          <p:nvPr/>
        </p:nvGrpSpPr>
        <p:grpSpPr>
          <a:xfrm>
            <a:off x="11317255" y="5989103"/>
            <a:ext cx="841781" cy="748032"/>
            <a:chOff x="11337354" y="6025684"/>
            <a:chExt cx="841781" cy="748032"/>
          </a:xfrm>
        </p:grpSpPr>
        <p:pic>
          <p:nvPicPr>
            <p:cNvPr id="8" name="Picture 7">
              <a:extLst>
                <a:ext uri="{FF2B5EF4-FFF2-40B4-BE49-F238E27FC236}">
                  <a16:creationId xmlns:a16="http://schemas.microsoft.com/office/drawing/2014/main" id="{996BC016-32BE-4CE0-A2C8-F5F0E2A3E9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Logo COP3530">
              <a:extLst>
                <a:ext uri="{FF2B5EF4-FFF2-40B4-BE49-F238E27FC236}">
                  <a16:creationId xmlns:a16="http://schemas.microsoft.com/office/drawing/2014/main" id="{83ADFE60-8E4D-46C2-B6CB-4B3647EA3219}"/>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1062072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lstStyle/>
          <a:p>
            <a:r>
              <a:rPr lang="en-US" dirty="0">
                <a:solidFill>
                  <a:schemeClr val="bg1"/>
                </a:solidFill>
                <a:latin typeface="Gotham Bold" pitchFamily="50" charset="0"/>
              </a:rPr>
              <a:t>Scenario</a:t>
            </a:r>
          </a:p>
        </p:txBody>
      </p:sp>
      <p:sp>
        <p:nvSpPr>
          <p:cNvPr id="5" name="TextBox 4">
            <a:extLst>
              <a:ext uri="{FF2B5EF4-FFF2-40B4-BE49-F238E27FC236}">
                <a16:creationId xmlns:a16="http://schemas.microsoft.com/office/drawing/2014/main" id="{6947EF2F-84DC-40DF-83DC-6CC465B6EDA2}"/>
              </a:ext>
            </a:extLst>
          </p:cNvPr>
          <p:cNvSpPr txBox="1"/>
          <p:nvPr/>
        </p:nvSpPr>
        <p:spPr>
          <a:xfrm>
            <a:off x="1238458" y="1690688"/>
            <a:ext cx="10407582" cy="1754326"/>
          </a:xfrm>
          <a:prstGeom prst="rect">
            <a:avLst/>
          </a:prstGeom>
          <a:noFill/>
        </p:spPr>
        <p:txBody>
          <a:bodyPr wrap="square">
            <a:spAutoFit/>
          </a:bodyPr>
          <a:lstStyle/>
          <a:p>
            <a:r>
              <a:rPr lang="en-US" b="0" i="0" dirty="0">
                <a:solidFill>
                  <a:srgbClr val="0081E2"/>
                </a:solidFill>
                <a:effectLst/>
                <a:latin typeface="Consolas" panose="020B0609020204030204" pitchFamily="49" charset="0"/>
              </a:rPr>
              <a:t>A county government maintains a network of roads. The county government has tabulated the cost of maintaining each road. They need to minimize the cost of road maintenance but ensure that all places in the county are accessible.  </a:t>
            </a:r>
          </a:p>
          <a:p>
            <a:endParaRPr lang="en-US" dirty="0">
              <a:solidFill>
                <a:srgbClr val="0081E2"/>
              </a:solidFill>
              <a:latin typeface="Consolas" panose="020B0609020204030204" pitchFamily="49" charset="0"/>
            </a:endParaRPr>
          </a:p>
          <a:p>
            <a:r>
              <a:rPr lang="en-US" b="0" i="0" dirty="0">
                <a:solidFill>
                  <a:srgbClr val="0081E2"/>
                </a:solidFill>
                <a:effectLst/>
                <a:latin typeface="Consolas" panose="020B0609020204030204" pitchFamily="49" charset="0"/>
              </a:rPr>
              <a:t>Which graph algorithm that we discussed in class could they use to solve this problem? What are the vertices, what are the edges, what are the edge values?  </a:t>
            </a:r>
            <a:endParaRPr lang="en-US" dirty="0">
              <a:solidFill>
                <a:srgbClr val="0081E2"/>
              </a:solidFill>
              <a:latin typeface="Consolas" panose="020B0609020204030204" pitchFamily="49" charset="0"/>
            </a:endParaRPr>
          </a:p>
        </p:txBody>
      </p:sp>
      <p:grpSp>
        <p:nvGrpSpPr>
          <p:cNvPr id="4" name="Group 3">
            <a:extLst>
              <a:ext uri="{FF2B5EF4-FFF2-40B4-BE49-F238E27FC236}">
                <a16:creationId xmlns:a16="http://schemas.microsoft.com/office/drawing/2014/main" id="{D89CF38F-1D95-4699-B5F5-285AAE4BABA5}"/>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814BF8A1-433A-4D73-8CA7-6F15517DDD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 COP3530">
              <a:extLst>
                <a:ext uri="{FF2B5EF4-FFF2-40B4-BE49-F238E27FC236}">
                  <a16:creationId xmlns:a16="http://schemas.microsoft.com/office/drawing/2014/main" id="{1AE31357-2D55-492F-8693-EAB04CFD2BF8}"/>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14988929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lstStyle/>
          <a:p>
            <a:r>
              <a:rPr lang="en-US" dirty="0">
                <a:solidFill>
                  <a:schemeClr val="bg1"/>
                </a:solidFill>
                <a:latin typeface="Gotham Bold" pitchFamily="50" charset="0"/>
              </a:rPr>
              <a:t>Scenario</a:t>
            </a:r>
          </a:p>
        </p:txBody>
      </p:sp>
      <p:sp>
        <p:nvSpPr>
          <p:cNvPr id="5" name="TextBox 4">
            <a:extLst>
              <a:ext uri="{FF2B5EF4-FFF2-40B4-BE49-F238E27FC236}">
                <a16:creationId xmlns:a16="http://schemas.microsoft.com/office/drawing/2014/main" id="{6947EF2F-84DC-40DF-83DC-6CC465B6EDA2}"/>
              </a:ext>
            </a:extLst>
          </p:cNvPr>
          <p:cNvSpPr txBox="1"/>
          <p:nvPr/>
        </p:nvSpPr>
        <p:spPr>
          <a:xfrm>
            <a:off x="1238458" y="1690688"/>
            <a:ext cx="10407582" cy="1754326"/>
          </a:xfrm>
          <a:prstGeom prst="rect">
            <a:avLst/>
          </a:prstGeom>
          <a:noFill/>
        </p:spPr>
        <p:txBody>
          <a:bodyPr wrap="square">
            <a:spAutoFit/>
          </a:bodyPr>
          <a:lstStyle/>
          <a:p>
            <a:r>
              <a:rPr lang="en-US" b="0" i="0" dirty="0">
                <a:solidFill>
                  <a:srgbClr val="0081E2"/>
                </a:solidFill>
                <a:effectLst/>
                <a:latin typeface="Consolas" panose="020B0609020204030204" pitchFamily="49" charset="0"/>
              </a:rPr>
              <a:t>A county government maintains a network of roads. The county government has tabulated the cost of maintaining each road. They need to minimize the cost of road maintenance but ensure that all places in the county are accessible.  </a:t>
            </a:r>
          </a:p>
          <a:p>
            <a:endParaRPr lang="en-US" dirty="0">
              <a:solidFill>
                <a:srgbClr val="0081E2"/>
              </a:solidFill>
              <a:latin typeface="Consolas" panose="020B0609020204030204" pitchFamily="49" charset="0"/>
            </a:endParaRPr>
          </a:p>
          <a:p>
            <a:r>
              <a:rPr lang="en-US" b="0" i="0" dirty="0">
                <a:solidFill>
                  <a:srgbClr val="0081E2"/>
                </a:solidFill>
                <a:effectLst/>
                <a:latin typeface="Consolas" panose="020B0609020204030204" pitchFamily="49" charset="0"/>
              </a:rPr>
              <a:t>Which graph algorithm that we discussed in class could they use to solve this problem? What are the vertices, what are the edges, what are the edge values?  </a:t>
            </a:r>
            <a:endParaRPr lang="en-US" dirty="0">
              <a:solidFill>
                <a:srgbClr val="0081E2"/>
              </a:solidFill>
              <a:latin typeface="Consolas" panose="020B0609020204030204" pitchFamily="49" charset="0"/>
            </a:endParaRPr>
          </a:p>
        </p:txBody>
      </p:sp>
      <p:sp>
        <p:nvSpPr>
          <p:cNvPr id="6" name="TextBox 5">
            <a:extLst>
              <a:ext uri="{FF2B5EF4-FFF2-40B4-BE49-F238E27FC236}">
                <a16:creationId xmlns:a16="http://schemas.microsoft.com/office/drawing/2014/main" id="{EA44F6B0-F39F-4097-92CA-B1AC6FE48CE5}"/>
              </a:ext>
            </a:extLst>
          </p:cNvPr>
          <p:cNvSpPr txBox="1"/>
          <p:nvPr/>
        </p:nvSpPr>
        <p:spPr>
          <a:xfrm>
            <a:off x="2363875" y="4266085"/>
            <a:ext cx="7583994" cy="1200329"/>
          </a:xfrm>
          <a:prstGeom prst="rect">
            <a:avLst/>
          </a:prstGeom>
          <a:noFill/>
          <a:ln>
            <a:solidFill>
              <a:srgbClr val="0081E2"/>
            </a:solidFill>
          </a:ln>
        </p:spPr>
        <p:txBody>
          <a:bodyPr wrap="square">
            <a:spAutoFit/>
          </a:bodyPr>
          <a:lstStyle>
            <a:defPPr>
              <a:defRPr lang="en-US"/>
            </a:defPPr>
            <a:lvl1pPr>
              <a:defRPr b="0" i="0">
                <a:solidFill>
                  <a:srgbClr val="0081E2"/>
                </a:solidFill>
                <a:effectLst/>
                <a:latin typeface="Consolas" panose="020B0609020204030204" pitchFamily="49" charset="0"/>
              </a:defRPr>
            </a:lvl1pPr>
          </a:lstStyle>
          <a:p>
            <a:pPr marL="285750" indent="-285750">
              <a:buFont typeface="Wingdings" panose="05000000000000000000" pitchFamily="2" charset="2"/>
              <a:buChar char="§"/>
            </a:pPr>
            <a:r>
              <a:rPr lang="en-US" dirty="0">
                <a:solidFill>
                  <a:srgbClr val="EB6E19"/>
                </a:solidFill>
              </a:rPr>
              <a:t>Prim's or </a:t>
            </a:r>
            <a:r>
              <a:rPr lang="en-US" dirty="0" err="1">
                <a:solidFill>
                  <a:srgbClr val="EB6E19"/>
                </a:solidFill>
              </a:rPr>
              <a:t>Kruskals</a:t>
            </a:r>
            <a:r>
              <a:rPr lang="en-US" dirty="0">
                <a:solidFill>
                  <a:srgbClr val="EB6E19"/>
                </a:solidFill>
              </a:rPr>
              <a:t> algorithm for minimum spanning tree.  </a:t>
            </a:r>
          </a:p>
          <a:p>
            <a:pPr marL="285750" indent="-285750">
              <a:buFont typeface="Wingdings" panose="05000000000000000000" pitchFamily="2" charset="2"/>
              <a:buChar char="§"/>
            </a:pPr>
            <a:r>
              <a:rPr lang="en-US" dirty="0">
                <a:solidFill>
                  <a:srgbClr val="EB6E19"/>
                </a:solidFill>
              </a:rPr>
              <a:t>Roads are edges.  </a:t>
            </a:r>
          </a:p>
          <a:p>
            <a:pPr marL="285750" indent="-285750">
              <a:buFont typeface="Wingdings" panose="05000000000000000000" pitchFamily="2" charset="2"/>
              <a:buChar char="§"/>
            </a:pPr>
            <a:r>
              <a:rPr lang="en-US" dirty="0">
                <a:solidFill>
                  <a:srgbClr val="EB6E19"/>
                </a:solidFill>
              </a:rPr>
              <a:t>Ends of roads are vertices.  </a:t>
            </a:r>
          </a:p>
          <a:p>
            <a:pPr marL="285750" indent="-285750">
              <a:buFont typeface="Wingdings" panose="05000000000000000000" pitchFamily="2" charset="2"/>
              <a:buChar char="§"/>
            </a:pPr>
            <a:r>
              <a:rPr lang="en-US" dirty="0">
                <a:solidFill>
                  <a:srgbClr val="EB6E19"/>
                </a:solidFill>
              </a:rPr>
              <a:t>Edge weights are cost for maintaining roads.</a:t>
            </a:r>
          </a:p>
        </p:txBody>
      </p:sp>
      <p:grpSp>
        <p:nvGrpSpPr>
          <p:cNvPr id="7" name="Group 6">
            <a:extLst>
              <a:ext uri="{FF2B5EF4-FFF2-40B4-BE49-F238E27FC236}">
                <a16:creationId xmlns:a16="http://schemas.microsoft.com/office/drawing/2014/main" id="{7709BFE7-575F-4A13-804F-E511D6DD3A6D}"/>
              </a:ext>
            </a:extLst>
          </p:cNvPr>
          <p:cNvGrpSpPr/>
          <p:nvPr/>
        </p:nvGrpSpPr>
        <p:grpSpPr>
          <a:xfrm>
            <a:off x="11317255" y="5989103"/>
            <a:ext cx="841781" cy="748032"/>
            <a:chOff x="11337354" y="6025684"/>
            <a:chExt cx="841781" cy="748032"/>
          </a:xfrm>
        </p:grpSpPr>
        <p:pic>
          <p:nvPicPr>
            <p:cNvPr id="8" name="Picture 7">
              <a:extLst>
                <a:ext uri="{FF2B5EF4-FFF2-40B4-BE49-F238E27FC236}">
                  <a16:creationId xmlns:a16="http://schemas.microsoft.com/office/drawing/2014/main" id="{0C514741-49EB-4AAF-AB07-9B9F0911A0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Logo COP3530">
              <a:extLst>
                <a:ext uri="{FF2B5EF4-FFF2-40B4-BE49-F238E27FC236}">
                  <a16:creationId xmlns:a16="http://schemas.microsoft.com/office/drawing/2014/main" id="{D574219E-A4C0-4E5B-9A9E-ACF760E3D9A3}"/>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30873850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EE62E57-E9A1-EE30-9A71-6A3BC381B8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2433CD-1960-185F-722B-842B7BEFEB0D}"/>
              </a:ext>
            </a:extLst>
          </p:cNvPr>
          <p:cNvSpPr>
            <a:spLocks noGrp="1"/>
          </p:cNvSpPr>
          <p:nvPr>
            <p:ph type="title"/>
          </p:nvPr>
        </p:nvSpPr>
        <p:spPr/>
        <p:txBody>
          <a:bodyPr/>
          <a:lstStyle/>
          <a:p>
            <a:r>
              <a:rPr lang="en-US" dirty="0">
                <a:solidFill>
                  <a:schemeClr val="bg1"/>
                </a:solidFill>
                <a:latin typeface="Gotham Bold" pitchFamily="50" charset="0"/>
              </a:rPr>
              <a:t>Scenario</a:t>
            </a:r>
          </a:p>
        </p:txBody>
      </p:sp>
      <p:sp>
        <p:nvSpPr>
          <p:cNvPr id="5" name="TextBox 4">
            <a:extLst>
              <a:ext uri="{FF2B5EF4-FFF2-40B4-BE49-F238E27FC236}">
                <a16:creationId xmlns:a16="http://schemas.microsoft.com/office/drawing/2014/main" id="{921E5074-B6CD-CE94-7E18-71C7D40C1B4D}"/>
              </a:ext>
            </a:extLst>
          </p:cNvPr>
          <p:cNvSpPr txBox="1"/>
          <p:nvPr/>
        </p:nvSpPr>
        <p:spPr>
          <a:xfrm>
            <a:off x="1238458" y="1690688"/>
            <a:ext cx="10407582" cy="1477328"/>
          </a:xfrm>
          <a:prstGeom prst="rect">
            <a:avLst/>
          </a:prstGeom>
          <a:noFill/>
        </p:spPr>
        <p:txBody>
          <a:bodyPr wrap="square">
            <a:spAutoFit/>
          </a:bodyPr>
          <a:lstStyle/>
          <a:p>
            <a:r>
              <a:rPr lang="en-US" b="0" i="0" dirty="0">
                <a:solidFill>
                  <a:srgbClr val="0081E2"/>
                </a:solidFill>
                <a:effectLst/>
                <a:latin typeface="Consolas" panose="020B0609020204030204" pitchFamily="49" charset="0"/>
              </a:rPr>
              <a:t>A </a:t>
            </a:r>
            <a:r>
              <a:rPr lang="en-US" b="0" i="0" dirty="0">
                <a:solidFill>
                  <a:srgbClr val="EB6E19"/>
                </a:solidFill>
                <a:effectLst/>
                <a:latin typeface="Consolas" panose="020B0609020204030204" pitchFamily="49" charset="0"/>
              </a:rPr>
              <a:t>bipartite graph </a:t>
            </a:r>
            <a:r>
              <a:rPr lang="en-US" b="0" i="0" dirty="0">
                <a:solidFill>
                  <a:srgbClr val="0081E2"/>
                </a:solidFill>
                <a:effectLst/>
                <a:latin typeface="Consolas" panose="020B0609020204030204" pitchFamily="49" charset="0"/>
              </a:rPr>
              <a:t>is known formally as an undirected graph whose nodes can be grouped into </a:t>
            </a:r>
            <a:r>
              <a:rPr lang="en-US" dirty="0">
                <a:solidFill>
                  <a:srgbClr val="0081E2"/>
                </a:solidFill>
                <a:latin typeface="Consolas" panose="020B0609020204030204" pitchFamily="49" charset="0"/>
              </a:rPr>
              <a:t>two</a:t>
            </a:r>
            <a:r>
              <a:rPr lang="en-US" b="0" i="0" dirty="0">
                <a:solidFill>
                  <a:srgbClr val="0081E2"/>
                </a:solidFill>
                <a:effectLst/>
                <a:latin typeface="Consolas" panose="020B0609020204030204" pitchFamily="49" charset="0"/>
              </a:rPr>
              <a:t> sets such that no edge connects a node to another node in its own set (that is, every edge connects a node from </a:t>
            </a:r>
            <a:r>
              <a:rPr lang="en-US" dirty="0">
                <a:solidFill>
                  <a:srgbClr val="0081E2"/>
                </a:solidFill>
                <a:latin typeface="Consolas" panose="020B0609020204030204" pitchFamily="49" charset="0"/>
              </a:rPr>
              <a:t>one set to another</a:t>
            </a:r>
            <a:r>
              <a:rPr lang="en-US" b="0" i="0" dirty="0">
                <a:solidFill>
                  <a:srgbClr val="0081E2"/>
                </a:solidFill>
                <a:effectLst/>
                <a:latin typeface="Consolas" panose="020B0609020204030204" pitchFamily="49" charset="0"/>
              </a:rPr>
              <a:t>). </a:t>
            </a:r>
            <a:r>
              <a:rPr lang="en-US" b="0" i="0" dirty="0">
                <a:solidFill>
                  <a:srgbClr val="EB6E19"/>
                </a:solidFill>
                <a:effectLst/>
                <a:latin typeface="Consolas" panose="020B0609020204030204" pitchFamily="49" charset="0"/>
              </a:rPr>
              <a:t>If the following graphs are colored using two colors denoting different sets, are these graphs bipartite? </a:t>
            </a:r>
            <a:endParaRPr lang="en-US" dirty="0">
              <a:solidFill>
                <a:srgbClr val="EB6E19"/>
              </a:solidFill>
              <a:latin typeface="Consolas" panose="020B0609020204030204" pitchFamily="49" charset="0"/>
            </a:endParaRPr>
          </a:p>
        </p:txBody>
      </p:sp>
      <p:grpSp>
        <p:nvGrpSpPr>
          <p:cNvPr id="7" name="Group 6">
            <a:extLst>
              <a:ext uri="{FF2B5EF4-FFF2-40B4-BE49-F238E27FC236}">
                <a16:creationId xmlns:a16="http://schemas.microsoft.com/office/drawing/2014/main" id="{5854B788-1B3C-EC5B-64E5-102DB4D0F1C5}"/>
              </a:ext>
            </a:extLst>
          </p:cNvPr>
          <p:cNvGrpSpPr/>
          <p:nvPr/>
        </p:nvGrpSpPr>
        <p:grpSpPr>
          <a:xfrm>
            <a:off x="11317255" y="5989103"/>
            <a:ext cx="841781" cy="748032"/>
            <a:chOff x="11337354" y="6025684"/>
            <a:chExt cx="841781" cy="748032"/>
          </a:xfrm>
        </p:grpSpPr>
        <p:pic>
          <p:nvPicPr>
            <p:cNvPr id="8" name="Picture 7">
              <a:extLst>
                <a:ext uri="{FF2B5EF4-FFF2-40B4-BE49-F238E27FC236}">
                  <a16:creationId xmlns:a16="http://schemas.microsoft.com/office/drawing/2014/main" id="{FF9286B0-1FCA-FFE3-86FB-AAC1C3F86C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Logo COP3530">
              <a:extLst>
                <a:ext uri="{FF2B5EF4-FFF2-40B4-BE49-F238E27FC236}">
                  <a16:creationId xmlns:a16="http://schemas.microsoft.com/office/drawing/2014/main" id="{E1B3D658-3EF3-AF70-2F37-34D6942ED592}"/>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pic>
        <p:nvPicPr>
          <p:cNvPr id="1026" name="Picture 2">
            <a:extLst>
              <a:ext uri="{FF2B5EF4-FFF2-40B4-BE49-F238E27FC236}">
                <a16:creationId xmlns:a16="http://schemas.microsoft.com/office/drawing/2014/main" id="{34E50C1D-F560-8EF2-D2A0-727D491AA1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4295" y="3322631"/>
            <a:ext cx="2428875" cy="22479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0269275-7EBF-F454-B664-FC62F0BE572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62361" y="3322631"/>
            <a:ext cx="2381250" cy="22383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1041057-8D75-FDDB-9F3E-D79A93283BA6}"/>
              </a:ext>
            </a:extLst>
          </p:cNvPr>
          <p:cNvSpPr txBox="1"/>
          <p:nvPr/>
        </p:nvSpPr>
        <p:spPr>
          <a:xfrm>
            <a:off x="3030999" y="5672458"/>
            <a:ext cx="1437800" cy="369332"/>
          </a:xfrm>
          <a:prstGeom prst="rect">
            <a:avLst/>
          </a:prstGeom>
          <a:noFill/>
        </p:spPr>
        <p:txBody>
          <a:bodyPr wrap="square">
            <a:spAutoFit/>
          </a:bodyPr>
          <a:lstStyle/>
          <a:p>
            <a:r>
              <a:rPr lang="en-US" b="0" i="0" dirty="0">
                <a:solidFill>
                  <a:schemeClr val="bg1"/>
                </a:solidFill>
                <a:effectLst/>
                <a:latin typeface="Consolas" panose="020B0609020204030204" pitchFamily="49" charset="0"/>
              </a:rPr>
              <a:t>Graph 1</a:t>
            </a:r>
            <a:endParaRPr lang="en-US" dirty="0">
              <a:solidFill>
                <a:schemeClr val="bg1"/>
              </a:solidFill>
              <a:latin typeface="Consolas" panose="020B0609020204030204" pitchFamily="49" charset="0"/>
            </a:endParaRPr>
          </a:p>
        </p:txBody>
      </p:sp>
      <p:sp>
        <p:nvSpPr>
          <p:cNvPr id="4" name="TextBox 3">
            <a:extLst>
              <a:ext uri="{FF2B5EF4-FFF2-40B4-BE49-F238E27FC236}">
                <a16:creationId xmlns:a16="http://schemas.microsoft.com/office/drawing/2014/main" id="{ACF89ADC-54BE-CFDD-0C4B-7264C41E383C}"/>
              </a:ext>
            </a:extLst>
          </p:cNvPr>
          <p:cNvSpPr txBox="1"/>
          <p:nvPr/>
        </p:nvSpPr>
        <p:spPr>
          <a:xfrm>
            <a:off x="7593681" y="5657209"/>
            <a:ext cx="1437800" cy="369332"/>
          </a:xfrm>
          <a:prstGeom prst="rect">
            <a:avLst/>
          </a:prstGeom>
          <a:noFill/>
        </p:spPr>
        <p:txBody>
          <a:bodyPr wrap="square">
            <a:spAutoFit/>
          </a:bodyPr>
          <a:lstStyle/>
          <a:p>
            <a:r>
              <a:rPr lang="en-US" b="0" i="0" dirty="0">
                <a:solidFill>
                  <a:schemeClr val="bg1"/>
                </a:solidFill>
                <a:effectLst/>
                <a:latin typeface="Consolas" panose="020B0609020204030204" pitchFamily="49" charset="0"/>
              </a:rPr>
              <a:t>Graph 2</a:t>
            </a:r>
            <a:endParaRPr lang="en-US" dirty="0">
              <a:solidFill>
                <a:schemeClr val="bg1"/>
              </a:solidFill>
              <a:latin typeface="Consolas" panose="020B0609020204030204" pitchFamily="49" charset="0"/>
            </a:endParaRPr>
          </a:p>
        </p:txBody>
      </p:sp>
    </p:spTree>
    <p:extLst>
      <p:ext uri="{BB962C8B-B14F-4D97-AF65-F5344CB8AC3E}">
        <p14:creationId xmlns:p14="http://schemas.microsoft.com/office/powerpoint/2010/main" val="17313242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2858DDA-A9E5-7068-7CBD-9C4AF79F35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093DEA-B871-D553-5E61-A1D19DB7F3AD}"/>
              </a:ext>
            </a:extLst>
          </p:cNvPr>
          <p:cNvSpPr>
            <a:spLocks noGrp="1"/>
          </p:cNvSpPr>
          <p:nvPr>
            <p:ph type="title"/>
          </p:nvPr>
        </p:nvSpPr>
        <p:spPr/>
        <p:txBody>
          <a:bodyPr/>
          <a:lstStyle/>
          <a:p>
            <a:r>
              <a:rPr lang="en-US" dirty="0">
                <a:solidFill>
                  <a:schemeClr val="bg1"/>
                </a:solidFill>
                <a:latin typeface="Gotham Bold" pitchFamily="50" charset="0"/>
              </a:rPr>
              <a:t>Scenario</a:t>
            </a:r>
          </a:p>
        </p:txBody>
      </p:sp>
      <p:sp>
        <p:nvSpPr>
          <p:cNvPr id="5" name="TextBox 4">
            <a:extLst>
              <a:ext uri="{FF2B5EF4-FFF2-40B4-BE49-F238E27FC236}">
                <a16:creationId xmlns:a16="http://schemas.microsoft.com/office/drawing/2014/main" id="{B4ABCD33-9D55-34A7-5A77-36AC6AA2948A}"/>
              </a:ext>
            </a:extLst>
          </p:cNvPr>
          <p:cNvSpPr txBox="1"/>
          <p:nvPr/>
        </p:nvSpPr>
        <p:spPr>
          <a:xfrm>
            <a:off x="1238458" y="1690688"/>
            <a:ext cx="10407582" cy="1477328"/>
          </a:xfrm>
          <a:prstGeom prst="rect">
            <a:avLst/>
          </a:prstGeom>
          <a:noFill/>
        </p:spPr>
        <p:txBody>
          <a:bodyPr wrap="square">
            <a:spAutoFit/>
          </a:bodyPr>
          <a:lstStyle/>
          <a:p>
            <a:r>
              <a:rPr lang="en-US" b="0" i="0" dirty="0">
                <a:solidFill>
                  <a:srgbClr val="0081E2"/>
                </a:solidFill>
                <a:effectLst/>
                <a:latin typeface="Consolas" panose="020B0609020204030204" pitchFamily="49" charset="0"/>
              </a:rPr>
              <a:t>A </a:t>
            </a:r>
            <a:r>
              <a:rPr lang="en-US" b="0" i="0" dirty="0">
                <a:solidFill>
                  <a:srgbClr val="EB6E19"/>
                </a:solidFill>
                <a:effectLst/>
                <a:latin typeface="Consolas" panose="020B0609020204030204" pitchFamily="49" charset="0"/>
              </a:rPr>
              <a:t>bipartite graph </a:t>
            </a:r>
            <a:r>
              <a:rPr lang="en-US" b="0" i="0" dirty="0">
                <a:solidFill>
                  <a:srgbClr val="0081E2"/>
                </a:solidFill>
                <a:effectLst/>
                <a:latin typeface="Consolas" panose="020B0609020204030204" pitchFamily="49" charset="0"/>
              </a:rPr>
              <a:t>is known formally as an undirected graph whose nodes can be grouped into </a:t>
            </a:r>
            <a:r>
              <a:rPr lang="en-US" dirty="0">
                <a:solidFill>
                  <a:srgbClr val="0081E2"/>
                </a:solidFill>
                <a:latin typeface="Consolas" panose="020B0609020204030204" pitchFamily="49" charset="0"/>
              </a:rPr>
              <a:t>two</a:t>
            </a:r>
            <a:r>
              <a:rPr lang="en-US" b="0" i="0" dirty="0">
                <a:solidFill>
                  <a:srgbClr val="0081E2"/>
                </a:solidFill>
                <a:effectLst/>
                <a:latin typeface="Consolas" panose="020B0609020204030204" pitchFamily="49" charset="0"/>
              </a:rPr>
              <a:t> sets such that no edge connects a node to another node in its own set (that is, every edge connects a node from </a:t>
            </a:r>
            <a:r>
              <a:rPr lang="en-US" dirty="0">
                <a:solidFill>
                  <a:srgbClr val="0081E2"/>
                </a:solidFill>
                <a:latin typeface="Consolas" panose="020B0609020204030204" pitchFamily="49" charset="0"/>
              </a:rPr>
              <a:t>one set to another</a:t>
            </a:r>
            <a:r>
              <a:rPr lang="en-US" b="0" i="0" dirty="0">
                <a:solidFill>
                  <a:srgbClr val="0081E2"/>
                </a:solidFill>
                <a:effectLst/>
                <a:latin typeface="Consolas" panose="020B0609020204030204" pitchFamily="49" charset="0"/>
              </a:rPr>
              <a:t>). </a:t>
            </a:r>
            <a:r>
              <a:rPr lang="en-US" b="0" i="0" dirty="0">
                <a:solidFill>
                  <a:srgbClr val="EB6E19"/>
                </a:solidFill>
                <a:effectLst/>
                <a:latin typeface="Consolas" panose="020B0609020204030204" pitchFamily="49" charset="0"/>
              </a:rPr>
              <a:t>If the following graphs are colored using two colors denoting different sets, are these graphs bipartite? </a:t>
            </a:r>
            <a:endParaRPr lang="en-US" dirty="0">
              <a:solidFill>
                <a:srgbClr val="EB6E19"/>
              </a:solidFill>
              <a:latin typeface="Consolas" panose="020B0609020204030204" pitchFamily="49" charset="0"/>
            </a:endParaRPr>
          </a:p>
        </p:txBody>
      </p:sp>
      <p:grpSp>
        <p:nvGrpSpPr>
          <p:cNvPr id="7" name="Group 6">
            <a:extLst>
              <a:ext uri="{FF2B5EF4-FFF2-40B4-BE49-F238E27FC236}">
                <a16:creationId xmlns:a16="http://schemas.microsoft.com/office/drawing/2014/main" id="{0A9D497F-3DC2-5B23-0AC1-6B87C6616C36}"/>
              </a:ext>
            </a:extLst>
          </p:cNvPr>
          <p:cNvGrpSpPr/>
          <p:nvPr/>
        </p:nvGrpSpPr>
        <p:grpSpPr>
          <a:xfrm>
            <a:off x="11317255" y="5989103"/>
            <a:ext cx="841781" cy="748032"/>
            <a:chOff x="11337354" y="6025684"/>
            <a:chExt cx="841781" cy="748032"/>
          </a:xfrm>
        </p:grpSpPr>
        <p:pic>
          <p:nvPicPr>
            <p:cNvPr id="8" name="Picture 7">
              <a:extLst>
                <a:ext uri="{FF2B5EF4-FFF2-40B4-BE49-F238E27FC236}">
                  <a16:creationId xmlns:a16="http://schemas.microsoft.com/office/drawing/2014/main" id="{49587DBA-AA4E-698E-5468-FEC0284190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Logo COP3530">
              <a:extLst>
                <a:ext uri="{FF2B5EF4-FFF2-40B4-BE49-F238E27FC236}">
                  <a16:creationId xmlns:a16="http://schemas.microsoft.com/office/drawing/2014/main" id="{803EE1F8-1582-4F26-5234-C3C8D94277B9}"/>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pic>
        <p:nvPicPr>
          <p:cNvPr id="1026" name="Picture 2">
            <a:extLst>
              <a:ext uri="{FF2B5EF4-FFF2-40B4-BE49-F238E27FC236}">
                <a16:creationId xmlns:a16="http://schemas.microsoft.com/office/drawing/2014/main" id="{2298D1DD-823F-1F4B-6AF5-0CF6C9F2E09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94295" y="3322631"/>
            <a:ext cx="2428875" cy="22479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2ABE307-0E2A-A723-22CE-FF123155A3D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62361" y="3322631"/>
            <a:ext cx="2381250" cy="22383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A59B892-52C9-D1F1-5A78-FB2F9D3F14C5}"/>
              </a:ext>
            </a:extLst>
          </p:cNvPr>
          <p:cNvSpPr txBox="1"/>
          <p:nvPr/>
        </p:nvSpPr>
        <p:spPr>
          <a:xfrm>
            <a:off x="3030999" y="5672458"/>
            <a:ext cx="1437800" cy="369332"/>
          </a:xfrm>
          <a:prstGeom prst="rect">
            <a:avLst/>
          </a:prstGeom>
          <a:noFill/>
        </p:spPr>
        <p:txBody>
          <a:bodyPr wrap="square">
            <a:spAutoFit/>
          </a:bodyPr>
          <a:lstStyle/>
          <a:p>
            <a:r>
              <a:rPr lang="en-US" b="0" i="0" dirty="0">
                <a:solidFill>
                  <a:schemeClr val="bg1"/>
                </a:solidFill>
                <a:effectLst/>
                <a:latin typeface="Consolas" panose="020B0609020204030204" pitchFamily="49" charset="0"/>
              </a:rPr>
              <a:t>Graph 1</a:t>
            </a:r>
            <a:endParaRPr lang="en-US" dirty="0">
              <a:solidFill>
                <a:schemeClr val="bg1"/>
              </a:solidFill>
              <a:latin typeface="Consolas" panose="020B0609020204030204" pitchFamily="49" charset="0"/>
            </a:endParaRPr>
          </a:p>
        </p:txBody>
      </p:sp>
      <p:sp>
        <p:nvSpPr>
          <p:cNvPr id="4" name="TextBox 3">
            <a:extLst>
              <a:ext uri="{FF2B5EF4-FFF2-40B4-BE49-F238E27FC236}">
                <a16:creationId xmlns:a16="http://schemas.microsoft.com/office/drawing/2014/main" id="{B3544E34-9AB6-58B8-6C7B-7A564D7A4961}"/>
              </a:ext>
            </a:extLst>
          </p:cNvPr>
          <p:cNvSpPr txBox="1"/>
          <p:nvPr/>
        </p:nvSpPr>
        <p:spPr>
          <a:xfrm>
            <a:off x="7593681" y="5657209"/>
            <a:ext cx="1437800" cy="369332"/>
          </a:xfrm>
          <a:prstGeom prst="rect">
            <a:avLst/>
          </a:prstGeom>
          <a:noFill/>
        </p:spPr>
        <p:txBody>
          <a:bodyPr wrap="square">
            <a:spAutoFit/>
          </a:bodyPr>
          <a:lstStyle/>
          <a:p>
            <a:r>
              <a:rPr lang="en-US" b="0" i="0" dirty="0">
                <a:solidFill>
                  <a:schemeClr val="bg1"/>
                </a:solidFill>
                <a:effectLst/>
                <a:latin typeface="Consolas" panose="020B0609020204030204" pitchFamily="49" charset="0"/>
              </a:rPr>
              <a:t>Graph 2</a:t>
            </a:r>
            <a:endParaRPr lang="en-US" dirty="0">
              <a:solidFill>
                <a:schemeClr val="bg1"/>
              </a:solidFill>
              <a:latin typeface="Consolas" panose="020B0609020204030204" pitchFamily="49" charset="0"/>
            </a:endParaRPr>
          </a:p>
        </p:txBody>
      </p:sp>
      <p:sp>
        <p:nvSpPr>
          <p:cNvPr id="6" name="TextBox 5">
            <a:extLst>
              <a:ext uri="{FF2B5EF4-FFF2-40B4-BE49-F238E27FC236}">
                <a16:creationId xmlns:a16="http://schemas.microsoft.com/office/drawing/2014/main" id="{2185A30B-233A-EE54-3584-DD98CBA5383E}"/>
              </a:ext>
            </a:extLst>
          </p:cNvPr>
          <p:cNvSpPr txBox="1"/>
          <p:nvPr/>
        </p:nvSpPr>
        <p:spPr>
          <a:xfrm>
            <a:off x="2948389" y="6118423"/>
            <a:ext cx="1437800" cy="369332"/>
          </a:xfrm>
          <a:prstGeom prst="rect">
            <a:avLst/>
          </a:prstGeom>
          <a:noFill/>
        </p:spPr>
        <p:txBody>
          <a:bodyPr wrap="square">
            <a:spAutoFit/>
          </a:bodyPr>
          <a:lstStyle/>
          <a:p>
            <a:r>
              <a:rPr lang="en-US" b="0" i="0" dirty="0">
                <a:solidFill>
                  <a:srgbClr val="00DA63"/>
                </a:solidFill>
                <a:effectLst/>
                <a:latin typeface="Consolas" panose="020B0609020204030204" pitchFamily="49" charset="0"/>
              </a:rPr>
              <a:t>Bipartite</a:t>
            </a:r>
            <a:endParaRPr lang="en-US" dirty="0">
              <a:solidFill>
                <a:srgbClr val="00DA63"/>
              </a:solidFill>
              <a:latin typeface="Consolas" panose="020B0609020204030204" pitchFamily="49" charset="0"/>
            </a:endParaRPr>
          </a:p>
        </p:txBody>
      </p:sp>
      <p:sp>
        <p:nvSpPr>
          <p:cNvPr id="10" name="TextBox 9">
            <a:extLst>
              <a:ext uri="{FF2B5EF4-FFF2-40B4-BE49-F238E27FC236}">
                <a16:creationId xmlns:a16="http://schemas.microsoft.com/office/drawing/2014/main" id="{9FC79928-69FD-50EC-1C18-D54DD47F54BF}"/>
              </a:ext>
            </a:extLst>
          </p:cNvPr>
          <p:cNvSpPr txBox="1"/>
          <p:nvPr/>
        </p:nvSpPr>
        <p:spPr>
          <a:xfrm>
            <a:off x="5688426" y="6059538"/>
            <a:ext cx="5628829" cy="369332"/>
          </a:xfrm>
          <a:prstGeom prst="rect">
            <a:avLst/>
          </a:prstGeom>
          <a:noFill/>
        </p:spPr>
        <p:txBody>
          <a:bodyPr wrap="square">
            <a:spAutoFit/>
          </a:bodyPr>
          <a:lstStyle/>
          <a:p>
            <a:r>
              <a:rPr lang="en-US" b="0" i="0" dirty="0">
                <a:solidFill>
                  <a:srgbClr val="00DA63"/>
                </a:solidFill>
                <a:effectLst/>
                <a:latin typeface="Consolas" panose="020B0609020204030204" pitchFamily="49" charset="0"/>
              </a:rPr>
              <a:t>Non-Bipartite (Edge 2-4) in the same set</a:t>
            </a:r>
            <a:endParaRPr lang="en-US" dirty="0">
              <a:solidFill>
                <a:srgbClr val="00DA63"/>
              </a:solidFill>
              <a:latin typeface="Consolas" panose="020B0609020204030204" pitchFamily="49" charset="0"/>
            </a:endParaRPr>
          </a:p>
        </p:txBody>
      </p:sp>
    </p:spTree>
    <p:extLst>
      <p:ext uri="{BB962C8B-B14F-4D97-AF65-F5344CB8AC3E}">
        <p14:creationId xmlns:p14="http://schemas.microsoft.com/office/powerpoint/2010/main" val="30270278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1A51D59-D2D3-4210-9D1A-4881006160A9}"/>
              </a:ext>
            </a:extLst>
          </p:cNvPr>
          <p:cNvGrpSpPr/>
          <p:nvPr/>
        </p:nvGrpSpPr>
        <p:grpSpPr>
          <a:xfrm>
            <a:off x="11317255" y="5989103"/>
            <a:ext cx="841781" cy="748032"/>
            <a:chOff x="11337354" y="6025684"/>
            <a:chExt cx="841781" cy="748032"/>
          </a:xfrm>
        </p:grpSpPr>
        <p:pic>
          <p:nvPicPr>
            <p:cNvPr id="4" name="Picture 3">
              <a:extLst>
                <a:ext uri="{FF2B5EF4-FFF2-40B4-BE49-F238E27FC236}">
                  <a16:creationId xmlns:a16="http://schemas.microsoft.com/office/drawing/2014/main" id="{AE3FCB03-6B3C-4A8C-9476-D1884DDB4F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ogo COP3530">
              <a:extLst>
                <a:ext uri="{FF2B5EF4-FFF2-40B4-BE49-F238E27FC236}">
                  <a16:creationId xmlns:a16="http://schemas.microsoft.com/office/drawing/2014/main" id="{4C3AE7BD-F7F9-4D78-A29D-87991531336A}"/>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
        <p:nvSpPr>
          <p:cNvPr id="6" name="TextBox 5">
            <a:extLst>
              <a:ext uri="{FF2B5EF4-FFF2-40B4-BE49-F238E27FC236}">
                <a16:creationId xmlns:a16="http://schemas.microsoft.com/office/drawing/2014/main" id="{D6694A48-2A4F-BE05-A891-2EF83EF37089}"/>
              </a:ext>
            </a:extLst>
          </p:cNvPr>
          <p:cNvSpPr txBox="1"/>
          <p:nvPr/>
        </p:nvSpPr>
        <p:spPr>
          <a:xfrm>
            <a:off x="992227" y="621437"/>
            <a:ext cx="10207546" cy="3847207"/>
          </a:xfrm>
          <a:prstGeom prst="rect">
            <a:avLst/>
          </a:prstGeom>
          <a:noFill/>
        </p:spPr>
        <p:txBody>
          <a:bodyPr wrap="square" rtlCol="0">
            <a:spAutoFit/>
          </a:bodyPr>
          <a:lstStyle/>
          <a:p>
            <a:r>
              <a:rPr lang="en-US" sz="2800" dirty="0">
                <a:solidFill>
                  <a:schemeClr val="bg1"/>
                </a:solidFill>
                <a:latin typeface="Gotham Bold" pitchFamily="50" charset="0"/>
              </a:rPr>
              <a:t>Alt Text for the Graph on Next Slide</a:t>
            </a:r>
          </a:p>
          <a:p>
            <a:endParaRPr lang="en-US" dirty="0">
              <a:solidFill>
                <a:schemeClr val="bg1"/>
              </a:solidFill>
            </a:endParaRPr>
          </a:p>
          <a:p>
            <a:r>
              <a:rPr lang="en-US" dirty="0">
                <a:solidFill>
                  <a:schemeClr val="bg1"/>
                </a:solidFill>
              </a:rPr>
              <a:t>Vertex: &lt;Neighbors of Vertex (Edges pointing from a vertex to the neighbor), edge weight&gt;</a:t>
            </a:r>
          </a:p>
          <a:p>
            <a:endParaRPr lang="en-US" dirty="0">
              <a:solidFill>
                <a:schemeClr val="bg1"/>
              </a:solidFill>
            </a:endParaRPr>
          </a:p>
          <a:p>
            <a:r>
              <a:rPr lang="en-US" dirty="0">
                <a:solidFill>
                  <a:schemeClr val="bg1"/>
                </a:solidFill>
              </a:rPr>
              <a:t>A: &lt;B, 4&gt;, &lt;E, 2&gt;, &lt;F, 9&gt;</a:t>
            </a:r>
          </a:p>
          <a:p>
            <a:r>
              <a:rPr lang="en-US" dirty="0">
                <a:solidFill>
                  <a:schemeClr val="bg1"/>
                </a:solidFill>
              </a:rPr>
              <a:t>B: &lt;A, 4&gt;, &lt;C, 11&gt;, &lt;F, 1&gt;, &lt;H, 12&gt; </a:t>
            </a:r>
          </a:p>
          <a:p>
            <a:r>
              <a:rPr lang="en-US" dirty="0">
                <a:solidFill>
                  <a:schemeClr val="bg1"/>
                </a:solidFill>
              </a:rPr>
              <a:t>C: &lt;B, 11&gt;, &lt;D, 7&gt;, &lt;F, 10&gt;, &lt;G, 15&gt;, &lt;H, 14&gt;, &lt;I, 17&gt; </a:t>
            </a:r>
          </a:p>
          <a:p>
            <a:r>
              <a:rPr lang="en-US" dirty="0">
                <a:solidFill>
                  <a:schemeClr val="bg1"/>
                </a:solidFill>
              </a:rPr>
              <a:t>D: &lt;C, 5&gt;, &lt;E, 7&gt;, &lt;F, 16&gt;, &lt;G, 3&gt; </a:t>
            </a:r>
          </a:p>
          <a:p>
            <a:r>
              <a:rPr lang="en-US" dirty="0">
                <a:solidFill>
                  <a:schemeClr val="bg1"/>
                </a:solidFill>
              </a:rPr>
              <a:t>E: &lt;A, 2&gt;, &lt;D, 7&gt;, &lt;F, 6&gt;</a:t>
            </a:r>
          </a:p>
          <a:p>
            <a:r>
              <a:rPr lang="en-US" dirty="0">
                <a:solidFill>
                  <a:schemeClr val="bg1"/>
                </a:solidFill>
              </a:rPr>
              <a:t>F: &lt;A, 9&gt;, &lt;B, 1&gt;, &lt;C, 10&gt;, &lt;D, 16&gt;, &lt;E, 6&gt;</a:t>
            </a:r>
          </a:p>
          <a:p>
            <a:r>
              <a:rPr lang="en-US" dirty="0">
                <a:solidFill>
                  <a:schemeClr val="bg1"/>
                </a:solidFill>
              </a:rPr>
              <a:t>G: &lt;C, 15&gt;, &lt;D, 3&gt;, &lt;I, 13&gt; </a:t>
            </a:r>
          </a:p>
          <a:p>
            <a:r>
              <a:rPr lang="en-US" dirty="0">
                <a:solidFill>
                  <a:schemeClr val="bg1"/>
                </a:solidFill>
              </a:rPr>
              <a:t>H: &lt;B, 12&gt;, &lt;C, 14&gt;, &lt;I, 8&gt;</a:t>
            </a:r>
          </a:p>
          <a:p>
            <a:r>
              <a:rPr lang="en-US" dirty="0">
                <a:solidFill>
                  <a:schemeClr val="bg1"/>
                </a:solidFill>
              </a:rPr>
              <a:t>I: &lt;C, 17&gt;, &lt;G, 13&gt;, &lt;H, 8&gt;</a:t>
            </a:r>
            <a:endParaRPr lang="pt-BR" dirty="0">
              <a:solidFill>
                <a:schemeClr val="bg1"/>
              </a:solidFill>
            </a:endParaRPr>
          </a:p>
        </p:txBody>
      </p:sp>
      <p:pic>
        <p:nvPicPr>
          <p:cNvPr id="2" name="Picture 2">
            <a:extLst>
              <a:ext uri="{FF2B5EF4-FFF2-40B4-BE49-F238E27FC236}">
                <a16:creationId xmlns:a16="http://schemas.microsoft.com/office/drawing/2014/main" id="{67706C5C-2DA1-9130-E082-CC4BA4D55F1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268" t="9634" r="49634" b="24553"/>
          <a:stretch/>
        </p:blipFill>
        <p:spPr bwMode="auto">
          <a:xfrm>
            <a:off x="6271917" y="2479782"/>
            <a:ext cx="2872291" cy="32126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92456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lstStyle/>
          <a:p>
            <a:r>
              <a:rPr lang="en-US" dirty="0">
                <a:solidFill>
                  <a:schemeClr val="bg1"/>
                </a:solidFill>
                <a:latin typeface="Gotham Bold" pitchFamily="50" charset="0"/>
              </a:rPr>
              <a:t>MST using Prims starting from “I”</a:t>
            </a:r>
          </a:p>
        </p:txBody>
      </p:sp>
      <p:pic>
        <p:nvPicPr>
          <p:cNvPr id="1026" name="Picture 2">
            <a:extLst>
              <a:ext uri="{FF2B5EF4-FFF2-40B4-BE49-F238E27FC236}">
                <a16:creationId xmlns:a16="http://schemas.microsoft.com/office/drawing/2014/main" id="{682014B4-262A-4404-A6AC-474DB6E34F2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268" t="9634" r="49634" b="24553"/>
          <a:stretch/>
        </p:blipFill>
        <p:spPr bwMode="auto">
          <a:xfrm>
            <a:off x="1904103" y="2162287"/>
            <a:ext cx="2872291" cy="32126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49611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lstStyle/>
          <a:p>
            <a:r>
              <a:rPr lang="en-US" dirty="0">
                <a:solidFill>
                  <a:schemeClr val="bg1"/>
                </a:solidFill>
                <a:latin typeface="Gotham Bold" pitchFamily="50" charset="0"/>
              </a:rPr>
              <a:t>MST using Prims starting from “I”</a:t>
            </a:r>
          </a:p>
        </p:txBody>
      </p:sp>
      <p:pic>
        <p:nvPicPr>
          <p:cNvPr id="1026" name="Picture 2">
            <a:extLst>
              <a:ext uri="{FF2B5EF4-FFF2-40B4-BE49-F238E27FC236}">
                <a16:creationId xmlns:a16="http://schemas.microsoft.com/office/drawing/2014/main" id="{682014B4-262A-4404-A6AC-474DB6E34F2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268" t="9634" r="49634" b="24553"/>
          <a:stretch/>
        </p:blipFill>
        <p:spPr bwMode="auto">
          <a:xfrm>
            <a:off x="1904103" y="2162287"/>
            <a:ext cx="2872291" cy="321261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FD6EC91-9A6D-4889-A16B-A81CE0728C85}"/>
              </a:ext>
            </a:extLst>
          </p:cNvPr>
          <p:cNvSpPr txBox="1"/>
          <p:nvPr/>
        </p:nvSpPr>
        <p:spPr>
          <a:xfrm>
            <a:off x="5564394" y="5005565"/>
            <a:ext cx="6094206" cy="369332"/>
          </a:xfrm>
          <a:prstGeom prst="rect">
            <a:avLst/>
          </a:prstGeom>
          <a:noFill/>
        </p:spPr>
        <p:txBody>
          <a:bodyPr wrap="square">
            <a:spAutoFit/>
          </a:bodyPr>
          <a:lstStyle/>
          <a:p>
            <a:r>
              <a:rPr lang="pt-BR" b="1" i="0" dirty="0">
                <a:solidFill>
                  <a:srgbClr val="00DA63"/>
                </a:solidFill>
                <a:effectLst/>
                <a:latin typeface="Lato Extended"/>
              </a:rPr>
              <a:t>I H B F A E D G C</a:t>
            </a:r>
            <a:endParaRPr lang="en-US" dirty="0">
              <a:solidFill>
                <a:srgbClr val="00DA63"/>
              </a:solidFill>
            </a:endParaRPr>
          </a:p>
        </p:txBody>
      </p:sp>
      <p:grpSp>
        <p:nvGrpSpPr>
          <p:cNvPr id="6" name="Group 5">
            <a:extLst>
              <a:ext uri="{FF2B5EF4-FFF2-40B4-BE49-F238E27FC236}">
                <a16:creationId xmlns:a16="http://schemas.microsoft.com/office/drawing/2014/main" id="{5B9DD605-47DC-4166-9083-E3F1BAB56969}"/>
              </a:ext>
            </a:extLst>
          </p:cNvPr>
          <p:cNvGrpSpPr/>
          <p:nvPr/>
        </p:nvGrpSpPr>
        <p:grpSpPr>
          <a:xfrm>
            <a:off x="11317255" y="5989103"/>
            <a:ext cx="841781" cy="748032"/>
            <a:chOff x="11337354" y="6025684"/>
            <a:chExt cx="841781" cy="748032"/>
          </a:xfrm>
        </p:grpSpPr>
        <p:pic>
          <p:nvPicPr>
            <p:cNvPr id="7" name="Picture 6">
              <a:extLst>
                <a:ext uri="{FF2B5EF4-FFF2-40B4-BE49-F238E27FC236}">
                  <a16:creationId xmlns:a16="http://schemas.microsoft.com/office/drawing/2014/main" id="{811D85B1-8467-4F71-8C99-80F4F1D814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Logo COP3530">
              <a:extLst>
                <a:ext uri="{FF2B5EF4-FFF2-40B4-BE49-F238E27FC236}">
                  <a16:creationId xmlns:a16="http://schemas.microsoft.com/office/drawing/2014/main" id="{F00E199D-E902-43FD-A2E6-08A7D350B899}"/>
                </a:ext>
              </a:extLst>
            </p:cNvPr>
            <p:cNvPicPr>
              <a:picLocks noChangeAspect="1"/>
            </p:cNvPicPr>
            <p:nvPr/>
          </p:nvPicPr>
          <p:blipFill rotWithShape="1">
            <a:blip r:embed="rId5"/>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6445391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1A51D59-D2D3-4210-9D1A-4881006160A9}"/>
              </a:ext>
            </a:extLst>
          </p:cNvPr>
          <p:cNvGrpSpPr/>
          <p:nvPr/>
        </p:nvGrpSpPr>
        <p:grpSpPr>
          <a:xfrm>
            <a:off x="11317255" y="5989103"/>
            <a:ext cx="841781" cy="748032"/>
            <a:chOff x="11337354" y="6025684"/>
            <a:chExt cx="841781" cy="748032"/>
          </a:xfrm>
        </p:grpSpPr>
        <p:pic>
          <p:nvPicPr>
            <p:cNvPr id="4" name="Picture 3">
              <a:extLst>
                <a:ext uri="{FF2B5EF4-FFF2-40B4-BE49-F238E27FC236}">
                  <a16:creationId xmlns:a16="http://schemas.microsoft.com/office/drawing/2014/main" id="{AE3FCB03-6B3C-4A8C-9476-D1884DDB4F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ogo COP3530">
              <a:extLst>
                <a:ext uri="{FF2B5EF4-FFF2-40B4-BE49-F238E27FC236}">
                  <a16:creationId xmlns:a16="http://schemas.microsoft.com/office/drawing/2014/main" id="{4C3AE7BD-F7F9-4D78-A29D-87991531336A}"/>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
        <p:nvSpPr>
          <p:cNvPr id="6" name="TextBox 5">
            <a:extLst>
              <a:ext uri="{FF2B5EF4-FFF2-40B4-BE49-F238E27FC236}">
                <a16:creationId xmlns:a16="http://schemas.microsoft.com/office/drawing/2014/main" id="{D6694A48-2A4F-BE05-A891-2EF83EF37089}"/>
              </a:ext>
            </a:extLst>
          </p:cNvPr>
          <p:cNvSpPr txBox="1"/>
          <p:nvPr/>
        </p:nvSpPr>
        <p:spPr>
          <a:xfrm>
            <a:off x="992227" y="621437"/>
            <a:ext cx="10207546" cy="3293209"/>
          </a:xfrm>
          <a:prstGeom prst="rect">
            <a:avLst/>
          </a:prstGeom>
          <a:noFill/>
        </p:spPr>
        <p:txBody>
          <a:bodyPr wrap="square" rtlCol="0">
            <a:spAutoFit/>
          </a:bodyPr>
          <a:lstStyle/>
          <a:p>
            <a:r>
              <a:rPr lang="en-US" sz="2800" dirty="0">
                <a:solidFill>
                  <a:schemeClr val="bg1"/>
                </a:solidFill>
                <a:latin typeface="Gotham Bold" pitchFamily="50" charset="0"/>
              </a:rPr>
              <a:t>Alt Text for the Graph on Next Slide</a:t>
            </a:r>
          </a:p>
          <a:p>
            <a:endParaRPr lang="en-US" dirty="0">
              <a:solidFill>
                <a:schemeClr val="bg1"/>
              </a:solidFill>
            </a:endParaRPr>
          </a:p>
          <a:p>
            <a:r>
              <a:rPr lang="en-US" dirty="0">
                <a:solidFill>
                  <a:schemeClr val="bg1"/>
                </a:solidFill>
              </a:rPr>
              <a:t>Vertex: &lt;Neighbors of Vertex (Edges pointing from a vertex to the neighbor), edge weight&gt;</a:t>
            </a:r>
          </a:p>
          <a:p>
            <a:endParaRPr lang="en-US" dirty="0">
              <a:solidFill>
                <a:schemeClr val="bg1"/>
              </a:solidFill>
            </a:endParaRPr>
          </a:p>
          <a:p>
            <a:r>
              <a:rPr lang="en-US" dirty="0">
                <a:solidFill>
                  <a:schemeClr val="bg1"/>
                </a:solidFill>
              </a:rPr>
              <a:t>A: &lt;B, 1&gt;, &lt;D, 3&gt;, &lt;F, 2&gt;</a:t>
            </a:r>
          </a:p>
          <a:p>
            <a:r>
              <a:rPr lang="en-US" dirty="0">
                <a:solidFill>
                  <a:schemeClr val="bg1"/>
                </a:solidFill>
              </a:rPr>
              <a:t>B: &lt;A, 1&gt;, &lt;C, 2&gt;, &lt;D, 1&gt;, &lt;E, 7&gt; </a:t>
            </a:r>
          </a:p>
          <a:p>
            <a:r>
              <a:rPr lang="en-US" dirty="0">
                <a:solidFill>
                  <a:schemeClr val="bg1"/>
                </a:solidFill>
              </a:rPr>
              <a:t>C: &lt;B, 2&gt;, &lt;D, 6&gt;, &lt;E, 10&gt; </a:t>
            </a:r>
          </a:p>
          <a:p>
            <a:r>
              <a:rPr lang="en-US" dirty="0">
                <a:solidFill>
                  <a:schemeClr val="bg1"/>
                </a:solidFill>
              </a:rPr>
              <a:t>D: &lt;A, 3&gt;, &lt;B, 1&gt;, &lt;C, 6&gt;, &lt;F, 4&gt;, &lt;G, 4&gt;  </a:t>
            </a:r>
          </a:p>
          <a:p>
            <a:r>
              <a:rPr lang="en-US" dirty="0">
                <a:solidFill>
                  <a:schemeClr val="bg1"/>
                </a:solidFill>
              </a:rPr>
              <a:t>E: &lt;B, 7&gt;, &lt;C, 10&gt;</a:t>
            </a:r>
          </a:p>
          <a:p>
            <a:r>
              <a:rPr lang="en-US" dirty="0">
                <a:solidFill>
                  <a:schemeClr val="bg1"/>
                </a:solidFill>
              </a:rPr>
              <a:t>F: &lt;A, 2&gt;, &lt;D, 4&gt;, &lt;G, 10&gt;</a:t>
            </a:r>
          </a:p>
          <a:p>
            <a:r>
              <a:rPr lang="en-US" dirty="0">
                <a:solidFill>
                  <a:schemeClr val="bg1"/>
                </a:solidFill>
              </a:rPr>
              <a:t>G: &lt;D, 4&gt;, &lt;F, 10&gt; </a:t>
            </a:r>
          </a:p>
        </p:txBody>
      </p:sp>
      <p:sp>
        <p:nvSpPr>
          <p:cNvPr id="7" name="Oval 6">
            <a:extLst>
              <a:ext uri="{FF2B5EF4-FFF2-40B4-BE49-F238E27FC236}">
                <a16:creationId xmlns:a16="http://schemas.microsoft.com/office/drawing/2014/main" id="{A424022F-D2C4-AB2F-C6CB-F7036D81E067}"/>
              </a:ext>
            </a:extLst>
          </p:cNvPr>
          <p:cNvSpPr/>
          <p:nvPr/>
        </p:nvSpPr>
        <p:spPr>
          <a:xfrm>
            <a:off x="7168221" y="2887299"/>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a:t>
            </a:r>
          </a:p>
        </p:txBody>
      </p:sp>
      <p:sp>
        <p:nvSpPr>
          <p:cNvPr id="8" name="Oval 7">
            <a:extLst>
              <a:ext uri="{FF2B5EF4-FFF2-40B4-BE49-F238E27FC236}">
                <a16:creationId xmlns:a16="http://schemas.microsoft.com/office/drawing/2014/main" id="{54D10AEB-C54C-69B0-96D4-7F60B001D195}"/>
              </a:ext>
            </a:extLst>
          </p:cNvPr>
          <p:cNvSpPr/>
          <p:nvPr/>
        </p:nvSpPr>
        <p:spPr>
          <a:xfrm>
            <a:off x="7209108" y="4429882"/>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a:t>
            </a:r>
          </a:p>
        </p:txBody>
      </p:sp>
      <p:sp>
        <p:nvSpPr>
          <p:cNvPr id="9" name="Oval 8">
            <a:extLst>
              <a:ext uri="{FF2B5EF4-FFF2-40B4-BE49-F238E27FC236}">
                <a16:creationId xmlns:a16="http://schemas.microsoft.com/office/drawing/2014/main" id="{548E6DA0-23D8-6F1F-BAC0-89E7FAF5A1E7}"/>
              </a:ext>
            </a:extLst>
          </p:cNvPr>
          <p:cNvSpPr/>
          <p:nvPr/>
        </p:nvSpPr>
        <p:spPr>
          <a:xfrm>
            <a:off x="10665988" y="4454595"/>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a:t>
            </a:r>
          </a:p>
        </p:txBody>
      </p:sp>
      <p:sp>
        <p:nvSpPr>
          <p:cNvPr id="10" name="Oval 9">
            <a:extLst>
              <a:ext uri="{FF2B5EF4-FFF2-40B4-BE49-F238E27FC236}">
                <a16:creationId xmlns:a16="http://schemas.microsoft.com/office/drawing/2014/main" id="{90F7AB34-BB43-6943-6CA2-EBD0072F6D45}"/>
              </a:ext>
            </a:extLst>
          </p:cNvPr>
          <p:cNvSpPr/>
          <p:nvPr/>
        </p:nvSpPr>
        <p:spPr>
          <a:xfrm>
            <a:off x="8937548" y="3731074"/>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a:t>
            </a:r>
          </a:p>
        </p:txBody>
      </p:sp>
      <p:sp>
        <p:nvSpPr>
          <p:cNvPr id="11" name="Oval 10">
            <a:extLst>
              <a:ext uri="{FF2B5EF4-FFF2-40B4-BE49-F238E27FC236}">
                <a16:creationId xmlns:a16="http://schemas.microsoft.com/office/drawing/2014/main" id="{1790854B-F7CC-4294-A4AB-8592EC07F5FE}"/>
              </a:ext>
            </a:extLst>
          </p:cNvPr>
          <p:cNvSpPr/>
          <p:nvPr/>
        </p:nvSpPr>
        <p:spPr>
          <a:xfrm>
            <a:off x="8937547" y="5299679"/>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t>
            </a:r>
          </a:p>
        </p:txBody>
      </p:sp>
      <p:sp>
        <p:nvSpPr>
          <p:cNvPr id="12" name="Oval 11">
            <a:extLst>
              <a:ext uri="{FF2B5EF4-FFF2-40B4-BE49-F238E27FC236}">
                <a16:creationId xmlns:a16="http://schemas.microsoft.com/office/drawing/2014/main" id="{B703ECD6-8CD8-7C38-A218-AAE8281D15BB}"/>
              </a:ext>
            </a:extLst>
          </p:cNvPr>
          <p:cNvSpPr/>
          <p:nvPr/>
        </p:nvSpPr>
        <p:spPr>
          <a:xfrm>
            <a:off x="5599616" y="3731074"/>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a:t>
            </a:r>
          </a:p>
        </p:txBody>
      </p:sp>
      <p:sp>
        <p:nvSpPr>
          <p:cNvPr id="13" name="Oval 12">
            <a:extLst>
              <a:ext uri="{FF2B5EF4-FFF2-40B4-BE49-F238E27FC236}">
                <a16:creationId xmlns:a16="http://schemas.microsoft.com/office/drawing/2014/main" id="{35D7EA63-F37A-C9F5-9675-E32B6FD9444A}"/>
              </a:ext>
            </a:extLst>
          </p:cNvPr>
          <p:cNvSpPr/>
          <p:nvPr/>
        </p:nvSpPr>
        <p:spPr>
          <a:xfrm>
            <a:off x="5599615" y="5299679"/>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G</a:t>
            </a:r>
          </a:p>
        </p:txBody>
      </p:sp>
      <p:cxnSp>
        <p:nvCxnSpPr>
          <p:cNvPr id="14" name="Straight Connector 13">
            <a:extLst>
              <a:ext uri="{FF2B5EF4-FFF2-40B4-BE49-F238E27FC236}">
                <a16:creationId xmlns:a16="http://schemas.microsoft.com/office/drawing/2014/main" id="{108CAAFC-AFD5-CF36-7F53-1F2C2EBBE692}"/>
              </a:ext>
            </a:extLst>
          </p:cNvPr>
          <p:cNvCxnSpPr>
            <a:stCxn id="7" idx="2"/>
            <a:endCxn id="12" idx="7"/>
          </p:cNvCxnSpPr>
          <p:nvPr/>
        </p:nvCxnSpPr>
        <p:spPr>
          <a:xfrm flipH="1">
            <a:off x="5999379" y="3127051"/>
            <a:ext cx="1168842" cy="6742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9C6F7DB-E8E6-6FBA-686C-F51B41E17600}"/>
              </a:ext>
            </a:extLst>
          </p:cNvPr>
          <p:cNvCxnSpPr/>
          <p:nvPr/>
        </p:nvCxnSpPr>
        <p:spPr>
          <a:xfrm flipH="1">
            <a:off x="6067966" y="4749432"/>
            <a:ext cx="1168842" cy="6742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B75797B-D5E2-DFB1-29BC-0D697B469F90}"/>
              </a:ext>
            </a:extLst>
          </p:cNvPr>
          <p:cNvCxnSpPr>
            <a:cxnSpLocks/>
            <a:stCxn id="10" idx="2"/>
          </p:cNvCxnSpPr>
          <p:nvPr/>
        </p:nvCxnSpPr>
        <p:spPr>
          <a:xfrm flipH="1">
            <a:off x="7636572" y="3970826"/>
            <a:ext cx="1300976" cy="54827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165E88D-1568-7DD7-254C-031D3F92277A}"/>
              </a:ext>
            </a:extLst>
          </p:cNvPr>
          <p:cNvCxnSpPr>
            <a:cxnSpLocks/>
            <a:endCxn id="8" idx="5"/>
          </p:cNvCxnSpPr>
          <p:nvPr/>
        </p:nvCxnSpPr>
        <p:spPr>
          <a:xfrm flipH="1" flipV="1">
            <a:off x="7608871" y="4839163"/>
            <a:ext cx="1405054" cy="6228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BB9638B-CDD7-5A46-0AF1-572E8BC4A526}"/>
              </a:ext>
            </a:extLst>
          </p:cNvPr>
          <p:cNvCxnSpPr>
            <a:cxnSpLocks/>
            <a:endCxn id="7" idx="6"/>
          </p:cNvCxnSpPr>
          <p:nvPr/>
        </p:nvCxnSpPr>
        <p:spPr>
          <a:xfrm flipH="1" flipV="1">
            <a:off x="7636572" y="3127051"/>
            <a:ext cx="1405054" cy="7629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CEF46D2-DCAC-9999-60CB-7B1B8541225A}"/>
              </a:ext>
            </a:extLst>
          </p:cNvPr>
          <p:cNvCxnSpPr>
            <a:cxnSpLocks/>
            <a:stCxn id="11" idx="0"/>
            <a:endCxn id="10" idx="4"/>
          </p:cNvCxnSpPr>
          <p:nvPr/>
        </p:nvCxnSpPr>
        <p:spPr>
          <a:xfrm flipV="1">
            <a:off x="9171723" y="4210577"/>
            <a:ext cx="1" cy="10891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962B648-B368-1BA6-5539-795C64B0DFFC}"/>
              </a:ext>
            </a:extLst>
          </p:cNvPr>
          <p:cNvCxnSpPr>
            <a:cxnSpLocks/>
          </p:cNvCxnSpPr>
          <p:nvPr/>
        </p:nvCxnSpPr>
        <p:spPr>
          <a:xfrm flipV="1">
            <a:off x="5829056" y="4222659"/>
            <a:ext cx="1" cy="10891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8636EB3-6B8F-7DDE-1946-3049385C354B}"/>
              </a:ext>
            </a:extLst>
          </p:cNvPr>
          <p:cNvCxnSpPr>
            <a:cxnSpLocks/>
            <a:stCxn id="8" idx="1"/>
            <a:endCxn id="12" idx="6"/>
          </p:cNvCxnSpPr>
          <p:nvPr/>
        </p:nvCxnSpPr>
        <p:spPr>
          <a:xfrm flipH="1" flipV="1">
            <a:off x="6067967" y="3970826"/>
            <a:ext cx="1209729" cy="52927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7EAC345-0A14-8F2C-2EB7-38E99C63C05A}"/>
              </a:ext>
            </a:extLst>
          </p:cNvPr>
          <p:cNvCxnSpPr>
            <a:cxnSpLocks/>
            <a:stCxn id="8" idx="0"/>
          </p:cNvCxnSpPr>
          <p:nvPr/>
        </p:nvCxnSpPr>
        <p:spPr>
          <a:xfrm flipH="1" flipV="1">
            <a:off x="7417596" y="3356054"/>
            <a:ext cx="25688" cy="1073828"/>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C68F220-B06D-519E-2511-FB1C0FE6ACD8}"/>
              </a:ext>
            </a:extLst>
          </p:cNvPr>
          <p:cNvSpPr txBox="1"/>
          <p:nvPr/>
        </p:nvSpPr>
        <p:spPr>
          <a:xfrm>
            <a:off x="8287059" y="3212188"/>
            <a:ext cx="301686" cy="369332"/>
          </a:xfrm>
          <a:prstGeom prst="rect">
            <a:avLst/>
          </a:prstGeom>
          <a:noFill/>
        </p:spPr>
        <p:txBody>
          <a:bodyPr wrap="none" rtlCol="0">
            <a:spAutoFit/>
          </a:bodyPr>
          <a:lstStyle/>
          <a:p>
            <a:r>
              <a:rPr lang="en-US" dirty="0">
                <a:solidFill>
                  <a:schemeClr val="bg1"/>
                </a:solidFill>
              </a:rPr>
              <a:t>1</a:t>
            </a:r>
          </a:p>
        </p:txBody>
      </p:sp>
      <p:sp>
        <p:nvSpPr>
          <p:cNvPr id="24" name="TextBox 23">
            <a:extLst>
              <a:ext uri="{FF2B5EF4-FFF2-40B4-BE49-F238E27FC236}">
                <a16:creationId xmlns:a16="http://schemas.microsoft.com/office/drawing/2014/main" id="{4C49F328-E74C-3525-3F4B-922309507EF6}"/>
              </a:ext>
            </a:extLst>
          </p:cNvPr>
          <p:cNvSpPr txBox="1"/>
          <p:nvPr/>
        </p:nvSpPr>
        <p:spPr>
          <a:xfrm>
            <a:off x="6390449" y="3147401"/>
            <a:ext cx="301686" cy="369332"/>
          </a:xfrm>
          <a:prstGeom prst="rect">
            <a:avLst/>
          </a:prstGeom>
          <a:noFill/>
        </p:spPr>
        <p:txBody>
          <a:bodyPr wrap="none" rtlCol="0">
            <a:spAutoFit/>
          </a:bodyPr>
          <a:lstStyle/>
          <a:p>
            <a:r>
              <a:rPr lang="en-US" dirty="0">
                <a:solidFill>
                  <a:schemeClr val="bg1"/>
                </a:solidFill>
              </a:rPr>
              <a:t>2</a:t>
            </a:r>
          </a:p>
        </p:txBody>
      </p:sp>
      <p:sp>
        <p:nvSpPr>
          <p:cNvPr id="25" name="TextBox 24">
            <a:extLst>
              <a:ext uri="{FF2B5EF4-FFF2-40B4-BE49-F238E27FC236}">
                <a16:creationId xmlns:a16="http://schemas.microsoft.com/office/drawing/2014/main" id="{D77BAEE1-A01A-2891-4719-3901EE0D6A41}"/>
              </a:ext>
            </a:extLst>
          </p:cNvPr>
          <p:cNvSpPr txBox="1"/>
          <p:nvPr/>
        </p:nvSpPr>
        <p:spPr>
          <a:xfrm>
            <a:off x="9703441" y="5277393"/>
            <a:ext cx="418704" cy="369332"/>
          </a:xfrm>
          <a:prstGeom prst="rect">
            <a:avLst/>
          </a:prstGeom>
          <a:noFill/>
        </p:spPr>
        <p:txBody>
          <a:bodyPr wrap="none" rtlCol="0">
            <a:spAutoFit/>
          </a:bodyPr>
          <a:lstStyle/>
          <a:p>
            <a:r>
              <a:rPr lang="en-US" dirty="0">
                <a:solidFill>
                  <a:schemeClr val="bg1"/>
                </a:solidFill>
              </a:rPr>
              <a:t>10</a:t>
            </a:r>
          </a:p>
        </p:txBody>
      </p:sp>
      <p:sp>
        <p:nvSpPr>
          <p:cNvPr id="26" name="TextBox 25">
            <a:extLst>
              <a:ext uri="{FF2B5EF4-FFF2-40B4-BE49-F238E27FC236}">
                <a16:creationId xmlns:a16="http://schemas.microsoft.com/office/drawing/2014/main" id="{0411B8DB-CDEF-1028-4058-533F360EF7DC}"/>
              </a:ext>
            </a:extLst>
          </p:cNvPr>
          <p:cNvSpPr txBox="1"/>
          <p:nvPr/>
        </p:nvSpPr>
        <p:spPr>
          <a:xfrm>
            <a:off x="6692135" y="3990794"/>
            <a:ext cx="301686" cy="369332"/>
          </a:xfrm>
          <a:prstGeom prst="rect">
            <a:avLst/>
          </a:prstGeom>
          <a:noFill/>
        </p:spPr>
        <p:txBody>
          <a:bodyPr wrap="none" rtlCol="0">
            <a:spAutoFit/>
          </a:bodyPr>
          <a:lstStyle/>
          <a:p>
            <a:r>
              <a:rPr lang="en-US" dirty="0">
                <a:solidFill>
                  <a:schemeClr val="bg1"/>
                </a:solidFill>
              </a:rPr>
              <a:t>4</a:t>
            </a:r>
          </a:p>
        </p:txBody>
      </p:sp>
      <p:sp>
        <p:nvSpPr>
          <p:cNvPr id="27" name="TextBox 26">
            <a:extLst>
              <a:ext uri="{FF2B5EF4-FFF2-40B4-BE49-F238E27FC236}">
                <a16:creationId xmlns:a16="http://schemas.microsoft.com/office/drawing/2014/main" id="{C83FA7A9-C485-5B1F-FCE6-43F805EA4E31}"/>
              </a:ext>
            </a:extLst>
          </p:cNvPr>
          <p:cNvSpPr txBox="1"/>
          <p:nvPr/>
        </p:nvSpPr>
        <p:spPr>
          <a:xfrm>
            <a:off x="8325005" y="4901888"/>
            <a:ext cx="301686" cy="369332"/>
          </a:xfrm>
          <a:prstGeom prst="rect">
            <a:avLst/>
          </a:prstGeom>
          <a:noFill/>
        </p:spPr>
        <p:txBody>
          <a:bodyPr wrap="none" rtlCol="0">
            <a:spAutoFit/>
          </a:bodyPr>
          <a:lstStyle/>
          <a:p>
            <a:r>
              <a:rPr lang="en-US" dirty="0">
                <a:solidFill>
                  <a:schemeClr val="bg1"/>
                </a:solidFill>
              </a:rPr>
              <a:t>6</a:t>
            </a:r>
          </a:p>
        </p:txBody>
      </p:sp>
      <p:sp>
        <p:nvSpPr>
          <p:cNvPr id="28" name="TextBox 27">
            <a:extLst>
              <a:ext uri="{FF2B5EF4-FFF2-40B4-BE49-F238E27FC236}">
                <a16:creationId xmlns:a16="http://schemas.microsoft.com/office/drawing/2014/main" id="{33003BC8-68CF-EB0D-17D8-A43F381E4331}"/>
              </a:ext>
            </a:extLst>
          </p:cNvPr>
          <p:cNvSpPr txBox="1"/>
          <p:nvPr/>
        </p:nvSpPr>
        <p:spPr>
          <a:xfrm>
            <a:off x="9892592" y="3932762"/>
            <a:ext cx="301686" cy="369332"/>
          </a:xfrm>
          <a:prstGeom prst="rect">
            <a:avLst/>
          </a:prstGeom>
          <a:noFill/>
        </p:spPr>
        <p:txBody>
          <a:bodyPr wrap="none" rtlCol="0">
            <a:spAutoFit/>
          </a:bodyPr>
          <a:lstStyle/>
          <a:p>
            <a:r>
              <a:rPr lang="en-US" dirty="0">
                <a:solidFill>
                  <a:schemeClr val="bg1"/>
                </a:solidFill>
              </a:rPr>
              <a:t>7</a:t>
            </a:r>
          </a:p>
        </p:txBody>
      </p:sp>
      <p:sp>
        <p:nvSpPr>
          <p:cNvPr id="29" name="TextBox 28">
            <a:extLst>
              <a:ext uri="{FF2B5EF4-FFF2-40B4-BE49-F238E27FC236}">
                <a16:creationId xmlns:a16="http://schemas.microsoft.com/office/drawing/2014/main" id="{A4110A95-7BC5-862D-5435-278EDD5ACF4E}"/>
              </a:ext>
            </a:extLst>
          </p:cNvPr>
          <p:cNvSpPr txBox="1"/>
          <p:nvPr/>
        </p:nvSpPr>
        <p:spPr>
          <a:xfrm>
            <a:off x="9191982" y="4560040"/>
            <a:ext cx="301686" cy="369332"/>
          </a:xfrm>
          <a:prstGeom prst="rect">
            <a:avLst/>
          </a:prstGeom>
          <a:noFill/>
        </p:spPr>
        <p:txBody>
          <a:bodyPr wrap="none" rtlCol="0">
            <a:spAutoFit/>
          </a:bodyPr>
          <a:lstStyle/>
          <a:p>
            <a:r>
              <a:rPr lang="en-US" dirty="0">
                <a:solidFill>
                  <a:schemeClr val="bg1"/>
                </a:solidFill>
              </a:rPr>
              <a:t>2</a:t>
            </a:r>
          </a:p>
        </p:txBody>
      </p:sp>
      <p:sp>
        <p:nvSpPr>
          <p:cNvPr id="30" name="TextBox 29">
            <a:extLst>
              <a:ext uri="{FF2B5EF4-FFF2-40B4-BE49-F238E27FC236}">
                <a16:creationId xmlns:a16="http://schemas.microsoft.com/office/drawing/2014/main" id="{C3A8E1D7-48E1-57B9-2B91-150B68D5E7C3}"/>
              </a:ext>
            </a:extLst>
          </p:cNvPr>
          <p:cNvSpPr txBox="1"/>
          <p:nvPr/>
        </p:nvSpPr>
        <p:spPr>
          <a:xfrm>
            <a:off x="7441825" y="3650760"/>
            <a:ext cx="301686" cy="369332"/>
          </a:xfrm>
          <a:prstGeom prst="rect">
            <a:avLst/>
          </a:prstGeom>
          <a:noFill/>
        </p:spPr>
        <p:txBody>
          <a:bodyPr wrap="none" rtlCol="0">
            <a:spAutoFit/>
          </a:bodyPr>
          <a:lstStyle/>
          <a:p>
            <a:r>
              <a:rPr lang="en-US" dirty="0">
                <a:solidFill>
                  <a:schemeClr val="bg1"/>
                </a:solidFill>
              </a:rPr>
              <a:t>3</a:t>
            </a:r>
          </a:p>
        </p:txBody>
      </p:sp>
      <p:sp>
        <p:nvSpPr>
          <p:cNvPr id="31" name="TextBox 30">
            <a:extLst>
              <a:ext uri="{FF2B5EF4-FFF2-40B4-BE49-F238E27FC236}">
                <a16:creationId xmlns:a16="http://schemas.microsoft.com/office/drawing/2014/main" id="{D4455324-E735-D8F4-DDB2-D2462B94D47E}"/>
              </a:ext>
            </a:extLst>
          </p:cNvPr>
          <p:cNvSpPr txBox="1"/>
          <p:nvPr/>
        </p:nvSpPr>
        <p:spPr>
          <a:xfrm>
            <a:off x="6353578" y="4785914"/>
            <a:ext cx="301686" cy="369332"/>
          </a:xfrm>
          <a:prstGeom prst="rect">
            <a:avLst/>
          </a:prstGeom>
          <a:noFill/>
        </p:spPr>
        <p:txBody>
          <a:bodyPr wrap="none" rtlCol="0">
            <a:spAutoFit/>
          </a:bodyPr>
          <a:lstStyle/>
          <a:p>
            <a:r>
              <a:rPr lang="en-US" dirty="0">
                <a:solidFill>
                  <a:schemeClr val="bg1"/>
                </a:solidFill>
              </a:rPr>
              <a:t>4</a:t>
            </a:r>
          </a:p>
        </p:txBody>
      </p:sp>
      <p:sp>
        <p:nvSpPr>
          <p:cNvPr id="32" name="TextBox 31">
            <a:extLst>
              <a:ext uri="{FF2B5EF4-FFF2-40B4-BE49-F238E27FC236}">
                <a16:creationId xmlns:a16="http://schemas.microsoft.com/office/drawing/2014/main" id="{C8279214-E54C-8477-6F3A-B8A608B8C619}"/>
              </a:ext>
            </a:extLst>
          </p:cNvPr>
          <p:cNvSpPr txBox="1"/>
          <p:nvPr/>
        </p:nvSpPr>
        <p:spPr>
          <a:xfrm>
            <a:off x="5463231" y="4564766"/>
            <a:ext cx="418704" cy="369332"/>
          </a:xfrm>
          <a:prstGeom prst="rect">
            <a:avLst/>
          </a:prstGeom>
          <a:noFill/>
        </p:spPr>
        <p:txBody>
          <a:bodyPr wrap="none" rtlCol="0">
            <a:spAutoFit/>
          </a:bodyPr>
          <a:lstStyle/>
          <a:p>
            <a:r>
              <a:rPr lang="en-US" dirty="0">
                <a:solidFill>
                  <a:schemeClr val="bg1"/>
                </a:solidFill>
              </a:rPr>
              <a:t>10</a:t>
            </a:r>
          </a:p>
        </p:txBody>
      </p:sp>
      <p:sp>
        <p:nvSpPr>
          <p:cNvPr id="33" name="TextBox 32">
            <a:extLst>
              <a:ext uri="{FF2B5EF4-FFF2-40B4-BE49-F238E27FC236}">
                <a16:creationId xmlns:a16="http://schemas.microsoft.com/office/drawing/2014/main" id="{2DA8B0E0-D7FE-E7C6-2627-D4D1A6F0A441}"/>
              </a:ext>
            </a:extLst>
          </p:cNvPr>
          <p:cNvSpPr txBox="1"/>
          <p:nvPr/>
        </p:nvSpPr>
        <p:spPr>
          <a:xfrm>
            <a:off x="8081658" y="4230552"/>
            <a:ext cx="301686" cy="369332"/>
          </a:xfrm>
          <a:prstGeom prst="rect">
            <a:avLst/>
          </a:prstGeom>
          <a:noFill/>
        </p:spPr>
        <p:txBody>
          <a:bodyPr wrap="none" rtlCol="0">
            <a:spAutoFit/>
          </a:bodyPr>
          <a:lstStyle/>
          <a:p>
            <a:r>
              <a:rPr lang="en-US" dirty="0">
                <a:solidFill>
                  <a:schemeClr val="bg1"/>
                </a:solidFill>
              </a:rPr>
              <a:t>1</a:t>
            </a:r>
          </a:p>
        </p:txBody>
      </p:sp>
      <p:cxnSp>
        <p:nvCxnSpPr>
          <p:cNvPr id="34" name="Straight Connector 33">
            <a:extLst>
              <a:ext uri="{FF2B5EF4-FFF2-40B4-BE49-F238E27FC236}">
                <a16:creationId xmlns:a16="http://schemas.microsoft.com/office/drawing/2014/main" id="{AAD6C6F8-12E9-1249-9C33-B78A1567AF7E}"/>
              </a:ext>
            </a:extLst>
          </p:cNvPr>
          <p:cNvCxnSpPr>
            <a:cxnSpLocks/>
            <a:stCxn id="9" idx="3"/>
          </p:cNvCxnSpPr>
          <p:nvPr/>
        </p:nvCxnSpPr>
        <p:spPr>
          <a:xfrm flipH="1">
            <a:off x="9370200" y="4863876"/>
            <a:ext cx="1364376" cy="598183"/>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AC0E13B-2A34-1B70-E6CB-B2A4C25ED854}"/>
              </a:ext>
            </a:extLst>
          </p:cNvPr>
          <p:cNvCxnSpPr>
            <a:cxnSpLocks/>
            <a:stCxn id="9" idx="1"/>
          </p:cNvCxnSpPr>
          <p:nvPr/>
        </p:nvCxnSpPr>
        <p:spPr>
          <a:xfrm flipH="1" flipV="1">
            <a:off x="9322566" y="4024467"/>
            <a:ext cx="1412010" cy="50035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71788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lstStyle/>
          <a:p>
            <a:r>
              <a:rPr lang="en-US" dirty="0">
                <a:solidFill>
                  <a:schemeClr val="bg1"/>
                </a:solidFill>
                <a:latin typeface="Gotham Bold" pitchFamily="50" charset="0"/>
              </a:rPr>
              <a:t>Dijkstra with A as source</a:t>
            </a:r>
          </a:p>
        </p:txBody>
      </p:sp>
      <p:graphicFrame>
        <p:nvGraphicFramePr>
          <p:cNvPr id="6" name="Table 5">
            <a:extLst>
              <a:ext uri="{FF2B5EF4-FFF2-40B4-BE49-F238E27FC236}">
                <a16:creationId xmlns:a16="http://schemas.microsoft.com/office/drawing/2014/main" id="{8BC0359A-C786-469A-B9D7-30A6276C2E68}"/>
              </a:ext>
            </a:extLst>
          </p:cNvPr>
          <p:cNvGraphicFramePr>
            <a:graphicFrameLocks noGrp="1"/>
          </p:cNvGraphicFramePr>
          <p:nvPr>
            <p:extLst>
              <p:ext uri="{D42A27DB-BD31-4B8C-83A1-F6EECF244321}">
                <p14:modId xmlns:p14="http://schemas.microsoft.com/office/powerpoint/2010/main" val="4210230557"/>
              </p:ext>
            </p:extLst>
          </p:nvPr>
        </p:nvGraphicFramePr>
        <p:xfrm>
          <a:off x="838200" y="3203869"/>
          <a:ext cx="3627738" cy="2966720"/>
        </p:xfrm>
        <a:graphic>
          <a:graphicData uri="http://schemas.openxmlformats.org/drawingml/2006/table">
            <a:tbl>
              <a:tblPr firstRow="1" bandRow="1">
                <a:tableStyleId>{5940675A-B579-460E-94D1-54222C63F5DA}</a:tableStyleId>
              </a:tblPr>
              <a:tblGrid>
                <a:gridCol w="1209246">
                  <a:extLst>
                    <a:ext uri="{9D8B030D-6E8A-4147-A177-3AD203B41FA5}">
                      <a16:colId xmlns:a16="http://schemas.microsoft.com/office/drawing/2014/main" val="3344976829"/>
                    </a:ext>
                  </a:extLst>
                </a:gridCol>
                <a:gridCol w="1209246">
                  <a:extLst>
                    <a:ext uri="{9D8B030D-6E8A-4147-A177-3AD203B41FA5}">
                      <a16:colId xmlns:a16="http://schemas.microsoft.com/office/drawing/2014/main" val="3302428985"/>
                    </a:ext>
                  </a:extLst>
                </a:gridCol>
                <a:gridCol w="1209246">
                  <a:extLst>
                    <a:ext uri="{9D8B030D-6E8A-4147-A177-3AD203B41FA5}">
                      <a16:colId xmlns:a16="http://schemas.microsoft.com/office/drawing/2014/main" val="833531345"/>
                    </a:ext>
                  </a:extLst>
                </a:gridCol>
              </a:tblGrid>
              <a:tr h="370840">
                <a:tc>
                  <a:txBody>
                    <a:bodyPr/>
                    <a:lstStyle/>
                    <a:p>
                      <a:pPr algn="ctr"/>
                      <a:r>
                        <a:rPr lang="en-US" b="1" dirty="0">
                          <a:solidFill>
                            <a:srgbClr val="EB6E19"/>
                          </a:solidFill>
                          <a:latin typeface="Consolas" panose="020B0609020204030204" pitchFamily="49" charset="0"/>
                        </a:rPr>
                        <a:t>v</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b="1" dirty="0">
                          <a:solidFill>
                            <a:srgbClr val="EB6E19"/>
                          </a:solidFill>
                          <a:latin typeface="Consolas" panose="020B0609020204030204" pitchFamily="49" charset="0"/>
                        </a:rPr>
                        <a:t>D(v)</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b="1" dirty="0">
                          <a:solidFill>
                            <a:srgbClr val="EB6E19"/>
                          </a:solidFill>
                          <a:latin typeface="Consolas" panose="020B0609020204030204" pitchFamily="49" charset="0"/>
                        </a:rPr>
                        <a:t>P(v)</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2564836929"/>
                  </a:ext>
                </a:extLst>
              </a:tr>
              <a:tr h="370840">
                <a:tc>
                  <a:txBody>
                    <a:bodyPr/>
                    <a:lstStyle/>
                    <a:p>
                      <a:pPr algn="ctr"/>
                      <a:r>
                        <a:rPr lang="en-US" dirty="0">
                          <a:solidFill>
                            <a:srgbClr val="0081E2"/>
                          </a:solidFill>
                          <a:latin typeface="Consolas" panose="020B0609020204030204" pitchFamily="49" charset="0"/>
                        </a:rPr>
                        <a:t>A</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endParaRPr lang="en-US" dirty="0">
                        <a:solidFill>
                          <a:srgbClr val="0081E2"/>
                        </a:solidFill>
                        <a:latin typeface="Consolas" panose="020B0609020204030204" pitchFamily="49" charset="0"/>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endParaRPr lang="en-US" dirty="0">
                        <a:solidFill>
                          <a:srgbClr val="0081E2"/>
                        </a:solidFill>
                        <a:latin typeface="Consolas" panose="020B0609020204030204" pitchFamily="49" charset="0"/>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317083502"/>
                  </a:ext>
                </a:extLst>
              </a:tr>
              <a:tr h="370840">
                <a:tc>
                  <a:txBody>
                    <a:bodyPr/>
                    <a:lstStyle/>
                    <a:p>
                      <a:pPr algn="ctr"/>
                      <a:r>
                        <a:rPr lang="en-US" dirty="0">
                          <a:solidFill>
                            <a:srgbClr val="0081E2"/>
                          </a:solidFill>
                          <a:latin typeface="Consolas" panose="020B0609020204030204" pitchFamily="49" charset="0"/>
                        </a:rPr>
                        <a:t>B</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endParaRPr lang="en-US" dirty="0">
                        <a:solidFill>
                          <a:srgbClr val="0081E2"/>
                        </a:solidFill>
                        <a:latin typeface="Consolas" panose="020B0609020204030204" pitchFamily="49" charset="0"/>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endParaRPr lang="en-US" dirty="0">
                        <a:solidFill>
                          <a:srgbClr val="0081E2"/>
                        </a:solidFill>
                        <a:latin typeface="Consolas" panose="020B0609020204030204" pitchFamily="49" charset="0"/>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802427531"/>
                  </a:ext>
                </a:extLst>
              </a:tr>
              <a:tr h="370840">
                <a:tc>
                  <a:txBody>
                    <a:bodyPr/>
                    <a:lstStyle/>
                    <a:p>
                      <a:pPr algn="ctr"/>
                      <a:r>
                        <a:rPr lang="en-US" dirty="0">
                          <a:solidFill>
                            <a:srgbClr val="0081E2"/>
                          </a:solidFill>
                          <a:latin typeface="Consolas" panose="020B0609020204030204" pitchFamily="49" charset="0"/>
                        </a:rPr>
                        <a:t>C</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endParaRPr lang="en-US" dirty="0">
                        <a:solidFill>
                          <a:srgbClr val="0081E2"/>
                        </a:solidFill>
                        <a:latin typeface="Consolas" panose="020B0609020204030204" pitchFamily="49" charset="0"/>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endParaRPr lang="en-US" dirty="0">
                        <a:solidFill>
                          <a:srgbClr val="0081E2"/>
                        </a:solidFill>
                        <a:latin typeface="Consolas" panose="020B0609020204030204" pitchFamily="49" charset="0"/>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220305716"/>
                  </a:ext>
                </a:extLst>
              </a:tr>
              <a:tr h="370840">
                <a:tc>
                  <a:txBody>
                    <a:bodyPr/>
                    <a:lstStyle/>
                    <a:p>
                      <a:pPr algn="ctr"/>
                      <a:r>
                        <a:rPr lang="en-US" dirty="0">
                          <a:solidFill>
                            <a:srgbClr val="0081E2"/>
                          </a:solidFill>
                          <a:latin typeface="Consolas" panose="020B0609020204030204" pitchFamily="49" charset="0"/>
                        </a:rPr>
                        <a:t>D</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endParaRPr lang="en-US" dirty="0">
                        <a:solidFill>
                          <a:srgbClr val="0081E2"/>
                        </a:solidFill>
                        <a:latin typeface="Consolas" panose="020B0609020204030204" pitchFamily="49" charset="0"/>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endParaRPr lang="en-US" dirty="0">
                        <a:solidFill>
                          <a:srgbClr val="0081E2"/>
                        </a:solidFill>
                        <a:latin typeface="Consolas" panose="020B0609020204030204" pitchFamily="49" charset="0"/>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189056575"/>
                  </a:ext>
                </a:extLst>
              </a:tr>
              <a:tr h="370840">
                <a:tc>
                  <a:txBody>
                    <a:bodyPr/>
                    <a:lstStyle/>
                    <a:p>
                      <a:pPr algn="ctr"/>
                      <a:r>
                        <a:rPr lang="en-US" dirty="0">
                          <a:solidFill>
                            <a:srgbClr val="0081E2"/>
                          </a:solidFill>
                          <a:latin typeface="Consolas" panose="020B0609020204030204" pitchFamily="49" charset="0"/>
                        </a:rPr>
                        <a:t>E</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endParaRPr lang="en-US" dirty="0">
                        <a:solidFill>
                          <a:srgbClr val="0081E2"/>
                        </a:solidFill>
                        <a:latin typeface="Consolas" panose="020B0609020204030204" pitchFamily="49" charset="0"/>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endParaRPr lang="en-US" dirty="0">
                        <a:solidFill>
                          <a:srgbClr val="0081E2"/>
                        </a:solidFill>
                        <a:latin typeface="Consolas" panose="020B0609020204030204" pitchFamily="49" charset="0"/>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491990500"/>
                  </a:ext>
                </a:extLst>
              </a:tr>
              <a:tr h="370840">
                <a:tc>
                  <a:txBody>
                    <a:bodyPr/>
                    <a:lstStyle/>
                    <a:p>
                      <a:pPr algn="ctr"/>
                      <a:r>
                        <a:rPr lang="en-US" dirty="0">
                          <a:solidFill>
                            <a:srgbClr val="0081E2"/>
                          </a:solidFill>
                          <a:latin typeface="Consolas" panose="020B0609020204030204" pitchFamily="49" charset="0"/>
                        </a:rPr>
                        <a:t>F</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endParaRPr lang="en-US" dirty="0">
                        <a:solidFill>
                          <a:srgbClr val="0081E2"/>
                        </a:solidFill>
                        <a:latin typeface="Consolas" panose="020B0609020204030204" pitchFamily="49" charset="0"/>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endParaRPr lang="en-US" dirty="0">
                        <a:solidFill>
                          <a:srgbClr val="0081E2"/>
                        </a:solidFill>
                        <a:latin typeface="Consolas" panose="020B0609020204030204" pitchFamily="49" charset="0"/>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092105727"/>
                  </a:ext>
                </a:extLst>
              </a:tr>
              <a:tr h="370840">
                <a:tc>
                  <a:txBody>
                    <a:bodyPr/>
                    <a:lstStyle/>
                    <a:p>
                      <a:pPr algn="ctr"/>
                      <a:r>
                        <a:rPr lang="en-US" dirty="0">
                          <a:solidFill>
                            <a:srgbClr val="0081E2"/>
                          </a:solidFill>
                          <a:latin typeface="Consolas" panose="020B0609020204030204" pitchFamily="49" charset="0"/>
                        </a:rPr>
                        <a:t>G</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endParaRPr lang="en-US">
                        <a:solidFill>
                          <a:srgbClr val="0081E2"/>
                        </a:solidFill>
                        <a:latin typeface="Consolas" panose="020B0609020204030204" pitchFamily="49" charset="0"/>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endParaRPr lang="en-US" dirty="0">
                        <a:solidFill>
                          <a:srgbClr val="0081E2"/>
                        </a:solidFill>
                        <a:latin typeface="Consolas" panose="020B0609020204030204" pitchFamily="49" charset="0"/>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730560352"/>
                  </a:ext>
                </a:extLst>
              </a:tr>
            </a:tbl>
          </a:graphicData>
        </a:graphic>
      </p:graphicFrame>
      <p:grpSp>
        <p:nvGrpSpPr>
          <p:cNvPr id="41" name="Group 40">
            <a:extLst>
              <a:ext uri="{FF2B5EF4-FFF2-40B4-BE49-F238E27FC236}">
                <a16:creationId xmlns:a16="http://schemas.microsoft.com/office/drawing/2014/main" id="{E425F355-ABA5-4FE9-A42D-EDDD843967B3}"/>
              </a:ext>
            </a:extLst>
          </p:cNvPr>
          <p:cNvGrpSpPr/>
          <p:nvPr/>
        </p:nvGrpSpPr>
        <p:grpSpPr>
          <a:xfrm>
            <a:off x="11317255" y="5989103"/>
            <a:ext cx="841781" cy="748032"/>
            <a:chOff x="11337354" y="6025684"/>
            <a:chExt cx="841781" cy="748032"/>
          </a:xfrm>
        </p:grpSpPr>
        <p:pic>
          <p:nvPicPr>
            <p:cNvPr id="42" name="Picture 41">
              <a:extLst>
                <a:ext uri="{FF2B5EF4-FFF2-40B4-BE49-F238E27FC236}">
                  <a16:creationId xmlns:a16="http://schemas.microsoft.com/office/drawing/2014/main" id="{F4E64FD4-69A1-4F40-A8A2-34686C2F20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descr="Logo COP3530">
              <a:extLst>
                <a:ext uri="{FF2B5EF4-FFF2-40B4-BE49-F238E27FC236}">
                  <a16:creationId xmlns:a16="http://schemas.microsoft.com/office/drawing/2014/main" id="{8B2A9DA0-E282-469B-B155-9038ED40A676}"/>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
        <p:nvSpPr>
          <p:cNvPr id="3" name="Oval 2">
            <a:extLst>
              <a:ext uri="{FF2B5EF4-FFF2-40B4-BE49-F238E27FC236}">
                <a16:creationId xmlns:a16="http://schemas.microsoft.com/office/drawing/2014/main" id="{FB47F8DA-F1B0-4FC2-8036-30E67C9C55BE}"/>
              </a:ext>
            </a:extLst>
          </p:cNvPr>
          <p:cNvSpPr/>
          <p:nvPr/>
        </p:nvSpPr>
        <p:spPr>
          <a:xfrm>
            <a:off x="6679949" y="1795346"/>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a:t>
            </a:r>
          </a:p>
        </p:txBody>
      </p:sp>
      <p:sp>
        <p:nvSpPr>
          <p:cNvPr id="4" name="Oval 3">
            <a:extLst>
              <a:ext uri="{FF2B5EF4-FFF2-40B4-BE49-F238E27FC236}">
                <a16:creationId xmlns:a16="http://schemas.microsoft.com/office/drawing/2014/main" id="{DB0888CE-339B-4174-87B6-4583AB244F50}"/>
              </a:ext>
            </a:extLst>
          </p:cNvPr>
          <p:cNvSpPr/>
          <p:nvPr/>
        </p:nvSpPr>
        <p:spPr>
          <a:xfrm>
            <a:off x="6720836" y="3337929"/>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a:t>
            </a:r>
          </a:p>
        </p:txBody>
      </p:sp>
      <p:sp>
        <p:nvSpPr>
          <p:cNvPr id="5" name="Oval 4">
            <a:extLst>
              <a:ext uri="{FF2B5EF4-FFF2-40B4-BE49-F238E27FC236}">
                <a16:creationId xmlns:a16="http://schemas.microsoft.com/office/drawing/2014/main" id="{63082F71-6234-4DCE-81C8-A2AB2AAC3468}"/>
              </a:ext>
            </a:extLst>
          </p:cNvPr>
          <p:cNvSpPr/>
          <p:nvPr/>
        </p:nvSpPr>
        <p:spPr>
          <a:xfrm>
            <a:off x="10177716" y="3362642"/>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a:t>
            </a:r>
          </a:p>
        </p:txBody>
      </p:sp>
      <p:sp>
        <p:nvSpPr>
          <p:cNvPr id="7" name="Oval 6">
            <a:extLst>
              <a:ext uri="{FF2B5EF4-FFF2-40B4-BE49-F238E27FC236}">
                <a16:creationId xmlns:a16="http://schemas.microsoft.com/office/drawing/2014/main" id="{E0B25C16-1FFE-4F3F-A159-6B368CB46E3C}"/>
              </a:ext>
            </a:extLst>
          </p:cNvPr>
          <p:cNvSpPr/>
          <p:nvPr/>
        </p:nvSpPr>
        <p:spPr>
          <a:xfrm>
            <a:off x="8449276" y="2639121"/>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a:t>
            </a:r>
          </a:p>
        </p:txBody>
      </p:sp>
      <p:sp>
        <p:nvSpPr>
          <p:cNvPr id="8" name="Oval 7">
            <a:extLst>
              <a:ext uri="{FF2B5EF4-FFF2-40B4-BE49-F238E27FC236}">
                <a16:creationId xmlns:a16="http://schemas.microsoft.com/office/drawing/2014/main" id="{F5A381B9-51C5-41BF-903A-2C6F18A5A117}"/>
              </a:ext>
            </a:extLst>
          </p:cNvPr>
          <p:cNvSpPr/>
          <p:nvPr/>
        </p:nvSpPr>
        <p:spPr>
          <a:xfrm>
            <a:off x="8449275" y="4207726"/>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t>
            </a:r>
          </a:p>
        </p:txBody>
      </p:sp>
      <p:sp>
        <p:nvSpPr>
          <p:cNvPr id="9" name="Oval 8">
            <a:extLst>
              <a:ext uri="{FF2B5EF4-FFF2-40B4-BE49-F238E27FC236}">
                <a16:creationId xmlns:a16="http://schemas.microsoft.com/office/drawing/2014/main" id="{DBA5A56E-B240-4976-86DD-2637DB90D357}"/>
              </a:ext>
            </a:extLst>
          </p:cNvPr>
          <p:cNvSpPr/>
          <p:nvPr/>
        </p:nvSpPr>
        <p:spPr>
          <a:xfrm>
            <a:off x="5111344" y="2639121"/>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a:t>
            </a:r>
          </a:p>
        </p:txBody>
      </p:sp>
      <p:sp>
        <p:nvSpPr>
          <p:cNvPr id="10" name="Oval 9">
            <a:extLst>
              <a:ext uri="{FF2B5EF4-FFF2-40B4-BE49-F238E27FC236}">
                <a16:creationId xmlns:a16="http://schemas.microsoft.com/office/drawing/2014/main" id="{9761E266-1821-436F-B597-585FFC415DB2}"/>
              </a:ext>
            </a:extLst>
          </p:cNvPr>
          <p:cNvSpPr/>
          <p:nvPr/>
        </p:nvSpPr>
        <p:spPr>
          <a:xfrm>
            <a:off x="5111343" y="4207726"/>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G</a:t>
            </a:r>
          </a:p>
        </p:txBody>
      </p:sp>
      <p:cxnSp>
        <p:nvCxnSpPr>
          <p:cNvPr id="11" name="Straight Connector 10">
            <a:extLst>
              <a:ext uri="{FF2B5EF4-FFF2-40B4-BE49-F238E27FC236}">
                <a16:creationId xmlns:a16="http://schemas.microsoft.com/office/drawing/2014/main" id="{BF7ABDC4-BA6D-45FC-9E98-9970DBD12EBC}"/>
              </a:ext>
            </a:extLst>
          </p:cNvPr>
          <p:cNvCxnSpPr>
            <a:stCxn id="3" idx="2"/>
            <a:endCxn id="9" idx="7"/>
          </p:cNvCxnSpPr>
          <p:nvPr/>
        </p:nvCxnSpPr>
        <p:spPr>
          <a:xfrm flipH="1">
            <a:off x="5511107" y="2035098"/>
            <a:ext cx="1168842" cy="674245"/>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7068E7B-AA3E-4BEA-A211-04FB01589C44}"/>
              </a:ext>
            </a:extLst>
          </p:cNvPr>
          <p:cNvCxnSpPr/>
          <p:nvPr/>
        </p:nvCxnSpPr>
        <p:spPr>
          <a:xfrm flipH="1">
            <a:off x="5579694" y="3657479"/>
            <a:ext cx="1168842" cy="674245"/>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5C8A47B7-7FE7-44DA-81BE-4C5D46F37B8A}"/>
              </a:ext>
            </a:extLst>
          </p:cNvPr>
          <p:cNvCxnSpPr>
            <a:cxnSpLocks/>
            <a:stCxn id="7" idx="2"/>
          </p:cNvCxnSpPr>
          <p:nvPr/>
        </p:nvCxnSpPr>
        <p:spPr>
          <a:xfrm flipH="1">
            <a:off x="7148300" y="2878873"/>
            <a:ext cx="1300976" cy="548271"/>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2CB5AF2-3C8C-44A2-AD2F-2D84E1081F56}"/>
              </a:ext>
            </a:extLst>
          </p:cNvPr>
          <p:cNvCxnSpPr>
            <a:cxnSpLocks/>
            <a:endCxn id="4" idx="5"/>
          </p:cNvCxnSpPr>
          <p:nvPr/>
        </p:nvCxnSpPr>
        <p:spPr>
          <a:xfrm flipH="1" flipV="1">
            <a:off x="7120599" y="3747210"/>
            <a:ext cx="1405054" cy="622896"/>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25E4EAA-BB14-4A6F-91E8-6322174D9496}"/>
              </a:ext>
            </a:extLst>
          </p:cNvPr>
          <p:cNvCxnSpPr>
            <a:cxnSpLocks/>
            <a:endCxn id="3" idx="6"/>
          </p:cNvCxnSpPr>
          <p:nvPr/>
        </p:nvCxnSpPr>
        <p:spPr>
          <a:xfrm flipH="1" flipV="1">
            <a:off x="7148300" y="2035098"/>
            <a:ext cx="1405054" cy="7629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05FA67B-CD8E-4739-8CA4-725DD7976DEE}"/>
              </a:ext>
            </a:extLst>
          </p:cNvPr>
          <p:cNvCxnSpPr>
            <a:cxnSpLocks/>
            <a:stCxn id="8" idx="0"/>
            <a:endCxn id="7" idx="4"/>
          </p:cNvCxnSpPr>
          <p:nvPr/>
        </p:nvCxnSpPr>
        <p:spPr>
          <a:xfrm flipV="1">
            <a:off x="8683451" y="3118624"/>
            <a:ext cx="1" cy="1089102"/>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6037458-A09B-4C3B-84E5-4DCF8B576FC2}"/>
              </a:ext>
            </a:extLst>
          </p:cNvPr>
          <p:cNvCxnSpPr>
            <a:cxnSpLocks/>
          </p:cNvCxnSpPr>
          <p:nvPr/>
        </p:nvCxnSpPr>
        <p:spPr>
          <a:xfrm flipV="1">
            <a:off x="5340784" y="3130706"/>
            <a:ext cx="1" cy="1089102"/>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05CA403-1331-48F5-9F95-B7F14FD1D729}"/>
              </a:ext>
            </a:extLst>
          </p:cNvPr>
          <p:cNvCxnSpPr>
            <a:cxnSpLocks/>
            <a:stCxn id="4" idx="1"/>
            <a:endCxn id="9" idx="6"/>
          </p:cNvCxnSpPr>
          <p:nvPr/>
        </p:nvCxnSpPr>
        <p:spPr>
          <a:xfrm flipH="1" flipV="1">
            <a:off x="5579695" y="2878873"/>
            <a:ext cx="1209729" cy="529278"/>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867290C-D81A-4F85-A616-17645B09FC3D}"/>
              </a:ext>
            </a:extLst>
          </p:cNvPr>
          <p:cNvCxnSpPr>
            <a:cxnSpLocks/>
            <a:stCxn id="4" idx="0"/>
          </p:cNvCxnSpPr>
          <p:nvPr/>
        </p:nvCxnSpPr>
        <p:spPr>
          <a:xfrm flipH="1" flipV="1">
            <a:off x="6929324" y="2264101"/>
            <a:ext cx="25688" cy="1073828"/>
          </a:xfrm>
          <a:prstGeom prst="line">
            <a:avLst/>
          </a:prstGeom>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8A52E5A2-83A4-4DF4-B308-AE13F0DCF0D2}"/>
              </a:ext>
            </a:extLst>
          </p:cNvPr>
          <p:cNvSpPr txBox="1"/>
          <p:nvPr/>
        </p:nvSpPr>
        <p:spPr>
          <a:xfrm>
            <a:off x="7798787" y="2120235"/>
            <a:ext cx="301686" cy="369332"/>
          </a:xfrm>
          <a:prstGeom prst="rect">
            <a:avLst/>
          </a:prstGeom>
          <a:noFill/>
        </p:spPr>
        <p:txBody>
          <a:bodyPr wrap="none" rtlCol="0">
            <a:spAutoFit/>
          </a:bodyPr>
          <a:lstStyle/>
          <a:p>
            <a:r>
              <a:rPr lang="en-US" dirty="0">
                <a:solidFill>
                  <a:schemeClr val="bg1"/>
                </a:solidFill>
              </a:rPr>
              <a:t>1</a:t>
            </a:r>
          </a:p>
        </p:txBody>
      </p:sp>
      <p:sp>
        <p:nvSpPr>
          <p:cNvPr id="53" name="TextBox 52">
            <a:extLst>
              <a:ext uri="{FF2B5EF4-FFF2-40B4-BE49-F238E27FC236}">
                <a16:creationId xmlns:a16="http://schemas.microsoft.com/office/drawing/2014/main" id="{E9E392D3-458E-4377-BF4C-55A59FCDEB84}"/>
              </a:ext>
            </a:extLst>
          </p:cNvPr>
          <p:cNvSpPr txBox="1"/>
          <p:nvPr/>
        </p:nvSpPr>
        <p:spPr>
          <a:xfrm>
            <a:off x="5902177" y="2055448"/>
            <a:ext cx="301686" cy="369332"/>
          </a:xfrm>
          <a:prstGeom prst="rect">
            <a:avLst/>
          </a:prstGeom>
          <a:noFill/>
        </p:spPr>
        <p:txBody>
          <a:bodyPr wrap="none" rtlCol="0">
            <a:spAutoFit/>
          </a:bodyPr>
          <a:lstStyle/>
          <a:p>
            <a:r>
              <a:rPr lang="en-US" dirty="0">
                <a:solidFill>
                  <a:schemeClr val="bg1"/>
                </a:solidFill>
              </a:rPr>
              <a:t>2</a:t>
            </a:r>
          </a:p>
        </p:txBody>
      </p:sp>
      <p:sp>
        <p:nvSpPr>
          <p:cNvPr id="54" name="TextBox 53">
            <a:extLst>
              <a:ext uri="{FF2B5EF4-FFF2-40B4-BE49-F238E27FC236}">
                <a16:creationId xmlns:a16="http://schemas.microsoft.com/office/drawing/2014/main" id="{6901A623-9A72-4D11-942F-007C73F72BA2}"/>
              </a:ext>
            </a:extLst>
          </p:cNvPr>
          <p:cNvSpPr txBox="1"/>
          <p:nvPr/>
        </p:nvSpPr>
        <p:spPr>
          <a:xfrm>
            <a:off x="9215169" y="4185440"/>
            <a:ext cx="418704" cy="369332"/>
          </a:xfrm>
          <a:prstGeom prst="rect">
            <a:avLst/>
          </a:prstGeom>
          <a:noFill/>
        </p:spPr>
        <p:txBody>
          <a:bodyPr wrap="none" rtlCol="0">
            <a:spAutoFit/>
          </a:bodyPr>
          <a:lstStyle/>
          <a:p>
            <a:r>
              <a:rPr lang="en-US" dirty="0">
                <a:solidFill>
                  <a:schemeClr val="bg1"/>
                </a:solidFill>
              </a:rPr>
              <a:t>10</a:t>
            </a:r>
          </a:p>
        </p:txBody>
      </p:sp>
      <p:sp>
        <p:nvSpPr>
          <p:cNvPr id="55" name="TextBox 54">
            <a:extLst>
              <a:ext uri="{FF2B5EF4-FFF2-40B4-BE49-F238E27FC236}">
                <a16:creationId xmlns:a16="http://schemas.microsoft.com/office/drawing/2014/main" id="{4FD143DD-CC8E-4657-B120-36C05834D066}"/>
              </a:ext>
            </a:extLst>
          </p:cNvPr>
          <p:cNvSpPr txBox="1"/>
          <p:nvPr/>
        </p:nvSpPr>
        <p:spPr>
          <a:xfrm>
            <a:off x="6203863" y="2898841"/>
            <a:ext cx="301686" cy="369332"/>
          </a:xfrm>
          <a:prstGeom prst="rect">
            <a:avLst/>
          </a:prstGeom>
          <a:noFill/>
        </p:spPr>
        <p:txBody>
          <a:bodyPr wrap="none" rtlCol="0">
            <a:spAutoFit/>
          </a:bodyPr>
          <a:lstStyle/>
          <a:p>
            <a:r>
              <a:rPr lang="en-US" dirty="0">
                <a:solidFill>
                  <a:schemeClr val="bg1"/>
                </a:solidFill>
              </a:rPr>
              <a:t>4</a:t>
            </a:r>
          </a:p>
        </p:txBody>
      </p:sp>
      <p:sp>
        <p:nvSpPr>
          <p:cNvPr id="56" name="TextBox 55">
            <a:extLst>
              <a:ext uri="{FF2B5EF4-FFF2-40B4-BE49-F238E27FC236}">
                <a16:creationId xmlns:a16="http://schemas.microsoft.com/office/drawing/2014/main" id="{D94D8542-F9E3-42E6-AF07-75522E08548E}"/>
              </a:ext>
            </a:extLst>
          </p:cNvPr>
          <p:cNvSpPr txBox="1"/>
          <p:nvPr/>
        </p:nvSpPr>
        <p:spPr>
          <a:xfrm>
            <a:off x="7836733" y="3809935"/>
            <a:ext cx="301686" cy="369332"/>
          </a:xfrm>
          <a:prstGeom prst="rect">
            <a:avLst/>
          </a:prstGeom>
          <a:noFill/>
        </p:spPr>
        <p:txBody>
          <a:bodyPr wrap="none" rtlCol="0">
            <a:spAutoFit/>
          </a:bodyPr>
          <a:lstStyle/>
          <a:p>
            <a:r>
              <a:rPr lang="en-US" dirty="0">
                <a:solidFill>
                  <a:schemeClr val="bg1"/>
                </a:solidFill>
              </a:rPr>
              <a:t>6</a:t>
            </a:r>
          </a:p>
        </p:txBody>
      </p:sp>
      <p:sp>
        <p:nvSpPr>
          <p:cNvPr id="57" name="TextBox 56">
            <a:extLst>
              <a:ext uri="{FF2B5EF4-FFF2-40B4-BE49-F238E27FC236}">
                <a16:creationId xmlns:a16="http://schemas.microsoft.com/office/drawing/2014/main" id="{1C95E75D-3E65-43B6-82F4-0BA1C325C415}"/>
              </a:ext>
            </a:extLst>
          </p:cNvPr>
          <p:cNvSpPr txBox="1"/>
          <p:nvPr/>
        </p:nvSpPr>
        <p:spPr>
          <a:xfrm>
            <a:off x="9404320" y="2840809"/>
            <a:ext cx="301686" cy="369332"/>
          </a:xfrm>
          <a:prstGeom prst="rect">
            <a:avLst/>
          </a:prstGeom>
          <a:noFill/>
        </p:spPr>
        <p:txBody>
          <a:bodyPr wrap="none" rtlCol="0">
            <a:spAutoFit/>
          </a:bodyPr>
          <a:lstStyle/>
          <a:p>
            <a:r>
              <a:rPr lang="en-US" dirty="0">
                <a:solidFill>
                  <a:schemeClr val="bg1"/>
                </a:solidFill>
              </a:rPr>
              <a:t>7</a:t>
            </a:r>
          </a:p>
        </p:txBody>
      </p:sp>
      <p:sp>
        <p:nvSpPr>
          <p:cNvPr id="58" name="TextBox 57">
            <a:extLst>
              <a:ext uri="{FF2B5EF4-FFF2-40B4-BE49-F238E27FC236}">
                <a16:creationId xmlns:a16="http://schemas.microsoft.com/office/drawing/2014/main" id="{4149CAAB-8615-4F14-ABE4-F885C84BE523}"/>
              </a:ext>
            </a:extLst>
          </p:cNvPr>
          <p:cNvSpPr txBox="1"/>
          <p:nvPr/>
        </p:nvSpPr>
        <p:spPr>
          <a:xfrm>
            <a:off x="8703710" y="3468087"/>
            <a:ext cx="301686" cy="369332"/>
          </a:xfrm>
          <a:prstGeom prst="rect">
            <a:avLst/>
          </a:prstGeom>
          <a:noFill/>
        </p:spPr>
        <p:txBody>
          <a:bodyPr wrap="none" rtlCol="0">
            <a:spAutoFit/>
          </a:bodyPr>
          <a:lstStyle/>
          <a:p>
            <a:r>
              <a:rPr lang="en-US" dirty="0">
                <a:solidFill>
                  <a:schemeClr val="bg1"/>
                </a:solidFill>
              </a:rPr>
              <a:t>2</a:t>
            </a:r>
          </a:p>
        </p:txBody>
      </p:sp>
      <p:sp>
        <p:nvSpPr>
          <p:cNvPr id="59" name="TextBox 58">
            <a:extLst>
              <a:ext uri="{FF2B5EF4-FFF2-40B4-BE49-F238E27FC236}">
                <a16:creationId xmlns:a16="http://schemas.microsoft.com/office/drawing/2014/main" id="{D5D472ED-CDAC-4F94-ACDA-0D55C09410E6}"/>
              </a:ext>
            </a:extLst>
          </p:cNvPr>
          <p:cNvSpPr txBox="1"/>
          <p:nvPr/>
        </p:nvSpPr>
        <p:spPr>
          <a:xfrm>
            <a:off x="6953553" y="2558807"/>
            <a:ext cx="301686" cy="369332"/>
          </a:xfrm>
          <a:prstGeom prst="rect">
            <a:avLst/>
          </a:prstGeom>
          <a:noFill/>
        </p:spPr>
        <p:txBody>
          <a:bodyPr wrap="none" rtlCol="0">
            <a:spAutoFit/>
          </a:bodyPr>
          <a:lstStyle/>
          <a:p>
            <a:r>
              <a:rPr lang="en-US" dirty="0">
                <a:solidFill>
                  <a:schemeClr val="bg1"/>
                </a:solidFill>
              </a:rPr>
              <a:t>3</a:t>
            </a:r>
          </a:p>
        </p:txBody>
      </p:sp>
      <p:sp>
        <p:nvSpPr>
          <p:cNvPr id="60" name="TextBox 59">
            <a:extLst>
              <a:ext uri="{FF2B5EF4-FFF2-40B4-BE49-F238E27FC236}">
                <a16:creationId xmlns:a16="http://schemas.microsoft.com/office/drawing/2014/main" id="{EC5F59E6-7016-454B-A9B4-2A811A60B869}"/>
              </a:ext>
            </a:extLst>
          </p:cNvPr>
          <p:cNvSpPr txBox="1"/>
          <p:nvPr/>
        </p:nvSpPr>
        <p:spPr>
          <a:xfrm>
            <a:off x="5865306" y="3693961"/>
            <a:ext cx="301686" cy="369332"/>
          </a:xfrm>
          <a:prstGeom prst="rect">
            <a:avLst/>
          </a:prstGeom>
          <a:noFill/>
        </p:spPr>
        <p:txBody>
          <a:bodyPr wrap="none" rtlCol="0">
            <a:spAutoFit/>
          </a:bodyPr>
          <a:lstStyle/>
          <a:p>
            <a:r>
              <a:rPr lang="en-US" dirty="0">
                <a:solidFill>
                  <a:schemeClr val="bg1"/>
                </a:solidFill>
              </a:rPr>
              <a:t>4</a:t>
            </a:r>
          </a:p>
        </p:txBody>
      </p:sp>
      <p:sp>
        <p:nvSpPr>
          <p:cNvPr id="61" name="TextBox 60">
            <a:extLst>
              <a:ext uri="{FF2B5EF4-FFF2-40B4-BE49-F238E27FC236}">
                <a16:creationId xmlns:a16="http://schemas.microsoft.com/office/drawing/2014/main" id="{9FBF1E2D-ED75-49D2-B32D-C564B28065D9}"/>
              </a:ext>
            </a:extLst>
          </p:cNvPr>
          <p:cNvSpPr txBox="1"/>
          <p:nvPr/>
        </p:nvSpPr>
        <p:spPr>
          <a:xfrm>
            <a:off x="4974959" y="3472813"/>
            <a:ext cx="418704" cy="369332"/>
          </a:xfrm>
          <a:prstGeom prst="rect">
            <a:avLst/>
          </a:prstGeom>
          <a:noFill/>
        </p:spPr>
        <p:txBody>
          <a:bodyPr wrap="none" rtlCol="0">
            <a:spAutoFit/>
          </a:bodyPr>
          <a:lstStyle/>
          <a:p>
            <a:r>
              <a:rPr lang="en-US" dirty="0">
                <a:solidFill>
                  <a:schemeClr val="bg1"/>
                </a:solidFill>
              </a:rPr>
              <a:t>10</a:t>
            </a:r>
          </a:p>
        </p:txBody>
      </p:sp>
      <p:sp>
        <p:nvSpPr>
          <p:cNvPr id="62" name="TextBox 61">
            <a:extLst>
              <a:ext uri="{FF2B5EF4-FFF2-40B4-BE49-F238E27FC236}">
                <a16:creationId xmlns:a16="http://schemas.microsoft.com/office/drawing/2014/main" id="{FFE4C518-B90B-4C0D-AB11-3D4AF41ACE4E}"/>
              </a:ext>
            </a:extLst>
          </p:cNvPr>
          <p:cNvSpPr txBox="1"/>
          <p:nvPr/>
        </p:nvSpPr>
        <p:spPr>
          <a:xfrm>
            <a:off x="7593386" y="3138599"/>
            <a:ext cx="301686" cy="369332"/>
          </a:xfrm>
          <a:prstGeom prst="rect">
            <a:avLst/>
          </a:prstGeom>
          <a:noFill/>
        </p:spPr>
        <p:txBody>
          <a:bodyPr wrap="none" rtlCol="0">
            <a:spAutoFit/>
          </a:bodyPr>
          <a:lstStyle/>
          <a:p>
            <a:r>
              <a:rPr lang="en-US" dirty="0">
                <a:solidFill>
                  <a:schemeClr val="bg1"/>
                </a:solidFill>
              </a:rPr>
              <a:t>1</a:t>
            </a:r>
          </a:p>
        </p:txBody>
      </p:sp>
      <p:cxnSp>
        <p:nvCxnSpPr>
          <p:cNvPr id="63" name="Straight Connector 62">
            <a:extLst>
              <a:ext uri="{FF2B5EF4-FFF2-40B4-BE49-F238E27FC236}">
                <a16:creationId xmlns:a16="http://schemas.microsoft.com/office/drawing/2014/main" id="{D644D78F-A2F6-4283-A17A-F6FC58C44077}"/>
              </a:ext>
            </a:extLst>
          </p:cNvPr>
          <p:cNvCxnSpPr>
            <a:cxnSpLocks/>
            <a:stCxn id="5" idx="3"/>
          </p:cNvCxnSpPr>
          <p:nvPr/>
        </p:nvCxnSpPr>
        <p:spPr>
          <a:xfrm flipH="1">
            <a:off x="8881928" y="3771923"/>
            <a:ext cx="1364376" cy="5981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FACF76B-E210-4AF2-A22A-A52809510571}"/>
              </a:ext>
            </a:extLst>
          </p:cNvPr>
          <p:cNvCxnSpPr>
            <a:cxnSpLocks/>
            <a:stCxn id="5" idx="1"/>
          </p:cNvCxnSpPr>
          <p:nvPr/>
        </p:nvCxnSpPr>
        <p:spPr>
          <a:xfrm flipH="1" flipV="1">
            <a:off x="8834294" y="2932514"/>
            <a:ext cx="1412010" cy="50035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64577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lstStyle/>
          <a:p>
            <a:r>
              <a:rPr lang="en-US" dirty="0">
                <a:solidFill>
                  <a:schemeClr val="bg1"/>
                </a:solidFill>
                <a:latin typeface="Gotham Bold" pitchFamily="50" charset="0"/>
              </a:rPr>
              <a:t>Dijkstra with A as source</a:t>
            </a:r>
          </a:p>
        </p:txBody>
      </p:sp>
      <p:graphicFrame>
        <p:nvGraphicFramePr>
          <p:cNvPr id="6" name="Table 5">
            <a:extLst>
              <a:ext uri="{FF2B5EF4-FFF2-40B4-BE49-F238E27FC236}">
                <a16:creationId xmlns:a16="http://schemas.microsoft.com/office/drawing/2014/main" id="{8BC0359A-C786-469A-B9D7-30A6276C2E68}"/>
              </a:ext>
            </a:extLst>
          </p:cNvPr>
          <p:cNvGraphicFramePr>
            <a:graphicFrameLocks noGrp="1"/>
          </p:cNvGraphicFramePr>
          <p:nvPr>
            <p:extLst>
              <p:ext uri="{D42A27DB-BD31-4B8C-83A1-F6EECF244321}">
                <p14:modId xmlns:p14="http://schemas.microsoft.com/office/powerpoint/2010/main" val="1876106006"/>
              </p:ext>
            </p:extLst>
          </p:nvPr>
        </p:nvGraphicFramePr>
        <p:xfrm>
          <a:off x="838200" y="3203869"/>
          <a:ext cx="3627738" cy="2966720"/>
        </p:xfrm>
        <a:graphic>
          <a:graphicData uri="http://schemas.openxmlformats.org/drawingml/2006/table">
            <a:tbl>
              <a:tblPr firstRow="1" bandRow="1">
                <a:tableStyleId>{5940675A-B579-460E-94D1-54222C63F5DA}</a:tableStyleId>
              </a:tblPr>
              <a:tblGrid>
                <a:gridCol w="1209246">
                  <a:extLst>
                    <a:ext uri="{9D8B030D-6E8A-4147-A177-3AD203B41FA5}">
                      <a16:colId xmlns:a16="http://schemas.microsoft.com/office/drawing/2014/main" val="3344976829"/>
                    </a:ext>
                  </a:extLst>
                </a:gridCol>
                <a:gridCol w="1209246">
                  <a:extLst>
                    <a:ext uri="{9D8B030D-6E8A-4147-A177-3AD203B41FA5}">
                      <a16:colId xmlns:a16="http://schemas.microsoft.com/office/drawing/2014/main" val="3302428985"/>
                    </a:ext>
                  </a:extLst>
                </a:gridCol>
                <a:gridCol w="1209246">
                  <a:extLst>
                    <a:ext uri="{9D8B030D-6E8A-4147-A177-3AD203B41FA5}">
                      <a16:colId xmlns:a16="http://schemas.microsoft.com/office/drawing/2014/main" val="833531345"/>
                    </a:ext>
                  </a:extLst>
                </a:gridCol>
              </a:tblGrid>
              <a:tr h="370840">
                <a:tc>
                  <a:txBody>
                    <a:bodyPr/>
                    <a:lstStyle/>
                    <a:p>
                      <a:pPr algn="ctr"/>
                      <a:r>
                        <a:rPr lang="en-US" b="1" dirty="0">
                          <a:solidFill>
                            <a:srgbClr val="EB6E19"/>
                          </a:solidFill>
                          <a:latin typeface="Consolas" panose="020B0609020204030204" pitchFamily="49" charset="0"/>
                        </a:rPr>
                        <a:t>v</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b="1" dirty="0">
                          <a:solidFill>
                            <a:srgbClr val="EB6E19"/>
                          </a:solidFill>
                          <a:latin typeface="Consolas" panose="020B0609020204030204" pitchFamily="49" charset="0"/>
                        </a:rPr>
                        <a:t>D(v)</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b="1" dirty="0">
                          <a:solidFill>
                            <a:srgbClr val="EB6E19"/>
                          </a:solidFill>
                          <a:latin typeface="Consolas" panose="020B0609020204030204" pitchFamily="49" charset="0"/>
                        </a:rPr>
                        <a:t>P(v)</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2564836929"/>
                  </a:ext>
                </a:extLst>
              </a:tr>
              <a:tr h="370840">
                <a:tc>
                  <a:txBody>
                    <a:bodyPr/>
                    <a:lstStyle/>
                    <a:p>
                      <a:pPr algn="ctr"/>
                      <a:r>
                        <a:rPr lang="en-US" sz="1800" dirty="0">
                          <a:solidFill>
                            <a:srgbClr val="0081E2"/>
                          </a:solidFill>
                          <a:latin typeface="Consolas" panose="020B0609020204030204" pitchFamily="49" charset="0"/>
                        </a:rPr>
                        <a:t>A</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dirty="0">
                          <a:solidFill>
                            <a:srgbClr val="0081E2"/>
                          </a:solidFill>
                          <a:latin typeface="Consolas" panose="020B0609020204030204" pitchFamily="49" charset="0"/>
                        </a:rPr>
                        <a:t>0</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dirty="0">
                          <a:solidFill>
                            <a:srgbClr val="0081E2"/>
                          </a:solidFill>
                          <a:latin typeface="Consolas" panose="020B0609020204030204" pitchFamily="49" charset="0"/>
                        </a:rPr>
                        <a:t>NA</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317083502"/>
                  </a:ext>
                </a:extLst>
              </a:tr>
              <a:tr h="370840">
                <a:tc>
                  <a:txBody>
                    <a:bodyPr/>
                    <a:lstStyle/>
                    <a:p>
                      <a:pPr algn="ctr"/>
                      <a:r>
                        <a:rPr lang="en-US" sz="1800" dirty="0">
                          <a:solidFill>
                            <a:srgbClr val="0081E2"/>
                          </a:solidFill>
                          <a:latin typeface="Consolas" panose="020B0609020204030204" pitchFamily="49" charset="0"/>
                        </a:rPr>
                        <a:t>B</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endParaRPr lang="en-US" sz="1800" dirty="0">
                        <a:solidFill>
                          <a:srgbClr val="0081E2"/>
                        </a:solidFill>
                        <a:latin typeface="Consolas" panose="020B0609020204030204" pitchFamily="49" charset="0"/>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dirty="0">
                          <a:solidFill>
                            <a:srgbClr val="0081E2"/>
                          </a:solidFill>
                          <a:latin typeface="Consolas" panose="020B0609020204030204" pitchFamily="49" charset="0"/>
                        </a:rPr>
                        <a:t>A</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802427531"/>
                  </a:ext>
                </a:extLst>
              </a:tr>
              <a:tr h="370840">
                <a:tc>
                  <a:txBody>
                    <a:bodyPr/>
                    <a:lstStyle/>
                    <a:p>
                      <a:pPr algn="ctr"/>
                      <a:r>
                        <a:rPr lang="en-US" sz="1800" dirty="0">
                          <a:solidFill>
                            <a:srgbClr val="0081E2"/>
                          </a:solidFill>
                          <a:latin typeface="Consolas" panose="020B0609020204030204" pitchFamily="49" charset="0"/>
                        </a:rPr>
                        <a:t>C</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endParaRPr lang="en-US" sz="1800" dirty="0">
                        <a:solidFill>
                          <a:srgbClr val="0081E2"/>
                        </a:solidFill>
                        <a:latin typeface="Consolas" panose="020B0609020204030204" pitchFamily="49" charset="0"/>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dirty="0">
                          <a:solidFill>
                            <a:srgbClr val="0081E2"/>
                          </a:solidFill>
                          <a:latin typeface="Consolas" panose="020B0609020204030204" pitchFamily="49" charset="0"/>
                        </a:rPr>
                        <a:t>B</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220305716"/>
                  </a:ext>
                </a:extLst>
              </a:tr>
              <a:tr h="370840">
                <a:tc>
                  <a:txBody>
                    <a:bodyPr/>
                    <a:lstStyle/>
                    <a:p>
                      <a:pPr algn="ctr"/>
                      <a:r>
                        <a:rPr lang="en-US" sz="1800" dirty="0">
                          <a:solidFill>
                            <a:srgbClr val="0081E2"/>
                          </a:solidFill>
                          <a:latin typeface="Consolas" panose="020B0609020204030204" pitchFamily="49" charset="0"/>
                        </a:rPr>
                        <a:t>D</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dirty="0">
                          <a:solidFill>
                            <a:srgbClr val="0081E2"/>
                          </a:solidFill>
                          <a:latin typeface="Consolas" panose="020B0609020204030204" pitchFamily="49" charset="0"/>
                        </a:rPr>
                        <a:t>2</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dirty="0">
                          <a:solidFill>
                            <a:srgbClr val="0081E2"/>
                          </a:solidFill>
                          <a:latin typeface="Consolas" panose="020B0609020204030204" pitchFamily="49" charset="0"/>
                        </a:rPr>
                        <a:t>B</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189056575"/>
                  </a:ext>
                </a:extLst>
              </a:tr>
              <a:tr h="370840">
                <a:tc>
                  <a:txBody>
                    <a:bodyPr/>
                    <a:lstStyle/>
                    <a:p>
                      <a:pPr algn="ctr"/>
                      <a:r>
                        <a:rPr lang="en-US" sz="1800" dirty="0">
                          <a:solidFill>
                            <a:srgbClr val="0081E2"/>
                          </a:solidFill>
                          <a:latin typeface="Consolas" panose="020B0609020204030204" pitchFamily="49" charset="0"/>
                        </a:rPr>
                        <a:t>E</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endParaRPr lang="en-US" sz="1800" dirty="0">
                        <a:solidFill>
                          <a:srgbClr val="0081E2"/>
                        </a:solidFill>
                        <a:latin typeface="Consolas" panose="020B0609020204030204" pitchFamily="49" charset="0"/>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dirty="0">
                          <a:solidFill>
                            <a:srgbClr val="0081E2"/>
                          </a:solidFill>
                          <a:latin typeface="Consolas" panose="020B0609020204030204" pitchFamily="49" charset="0"/>
                        </a:rPr>
                        <a:t>B</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491990500"/>
                  </a:ext>
                </a:extLst>
              </a:tr>
              <a:tr h="370840">
                <a:tc>
                  <a:txBody>
                    <a:bodyPr/>
                    <a:lstStyle/>
                    <a:p>
                      <a:pPr algn="ctr"/>
                      <a:r>
                        <a:rPr lang="en-US" sz="1800" dirty="0">
                          <a:solidFill>
                            <a:srgbClr val="0081E2"/>
                          </a:solidFill>
                          <a:latin typeface="Consolas" panose="020B0609020204030204" pitchFamily="49" charset="0"/>
                        </a:rPr>
                        <a:t>F</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dirty="0">
                          <a:solidFill>
                            <a:srgbClr val="0081E2"/>
                          </a:solidFill>
                          <a:latin typeface="Consolas" panose="020B0609020204030204" pitchFamily="49" charset="0"/>
                        </a:rPr>
                        <a:t>2</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dirty="0">
                          <a:solidFill>
                            <a:srgbClr val="0081E2"/>
                          </a:solidFill>
                          <a:latin typeface="Consolas" panose="020B0609020204030204" pitchFamily="49" charset="0"/>
                        </a:rPr>
                        <a:t>A</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1092105727"/>
                  </a:ext>
                </a:extLst>
              </a:tr>
              <a:tr h="370840">
                <a:tc>
                  <a:txBody>
                    <a:bodyPr/>
                    <a:lstStyle/>
                    <a:p>
                      <a:pPr algn="ctr"/>
                      <a:r>
                        <a:rPr lang="en-US" sz="1800" dirty="0">
                          <a:solidFill>
                            <a:srgbClr val="0081E2"/>
                          </a:solidFill>
                          <a:latin typeface="Consolas" panose="020B0609020204030204" pitchFamily="49" charset="0"/>
                        </a:rPr>
                        <a:t>G</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endParaRPr lang="en-US" sz="1800" dirty="0">
                        <a:solidFill>
                          <a:srgbClr val="0081E2"/>
                        </a:solidFill>
                        <a:latin typeface="Consolas" panose="020B0609020204030204" pitchFamily="49" charset="0"/>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tc>
                  <a:txBody>
                    <a:bodyPr/>
                    <a:lstStyle/>
                    <a:p>
                      <a:pPr algn="ctr"/>
                      <a:r>
                        <a:rPr lang="en-US" sz="1800" dirty="0">
                          <a:solidFill>
                            <a:srgbClr val="0081E2"/>
                          </a:solidFill>
                          <a:latin typeface="Consolas" panose="020B0609020204030204" pitchFamily="49" charset="0"/>
                        </a:rPr>
                        <a:t>D</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tcPr>
                </a:tc>
                <a:extLst>
                  <a:ext uri="{0D108BD9-81ED-4DB2-BD59-A6C34878D82A}">
                    <a16:rowId xmlns:a16="http://schemas.microsoft.com/office/drawing/2014/main" val="730560352"/>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819B205-2D54-455C-8990-BD977BB37301}"/>
                  </a:ext>
                </a:extLst>
              </p:cNvPr>
              <p:cNvSpPr txBox="1"/>
              <p:nvPr/>
            </p:nvSpPr>
            <p:spPr>
              <a:xfrm>
                <a:off x="2481514" y="4001728"/>
                <a:ext cx="2548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81E2"/>
                          </a:solidFill>
                          <a:latin typeface="Cambria Math" panose="02040503050406030204" pitchFamily="18" charset="0"/>
                          <a:ea typeface="Cambria Math" panose="02040503050406030204" pitchFamily="18" charset="0"/>
                        </a:rPr>
                        <m:t>1</m:t>
                      </m:r>
                    </m:oMath>
                  </m:oMathPara>
                </a14:m>
                <a:endParaRPr lang="en-US" dirty="0">
                  <a:solidFill>
                    <a:srgbClr val="0081E2"/>
                  </a:solidFill>
                  <a:latin typeface="Consolas" panose="020B0609020204030204" pitchFamily="49" charset="0"/>
                </a:endParaRPr>
              </a:p>
            </p:txBody>
          </p:sp>
        </mc:Choice>
        <mc:Fallback xmlns="">
          <p:sp>
            <p:nvSpPr>
              <p:cNvPr id="8" name="TextBox 7">
                <a:extLst>
                  <a:ext uri="{FF2B5EF4-FFF2-40B4-BE49-F238E27FC236}">
                    <a16:creationId xmlns:a16="http://schemas.microsoft.com/office/drawing/2014/main" id="{9819B205-2D54-455C-8990-BD977BB37301}"/>
                  </a:ext>
                </a:extLst>
              </p:cNvPr>
              <p:cNvSpPr txBox="1">
                <a:spLocks noRot="1" noChangeAspect="1" noMove="1" noResize="1" noEditPoints="1" noAdjustHandles="1" noChangeArrowheads="1" noChangeShapeType="1" noTextEdit="1"/>
              </p:cNvSpPr>
              <p:nvPr/>
            </p:nvSpPr>
            <p:spPr>
              <a:xfrm>
                <a:off x="2481514" y="4001728"/>
                <a:ext cx="254877" cy="276999"/>
              </a:xfrm>
              <a:prstGeom prst="rect">
                <a:avLst/>
              </a:prstGeom>
              <a:blipFill>
                <a:blip r:embed="rId3"/>
                <a:stretch>
                  <a:fillRect l="-7143" r="-7143"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B5F5696-316B-4402-82E6-D6BBB5951665}"/>
                  </a:ext>
                </a:extLst>
              </p:cNvPr>
              <p:cNvSpPr txBox="1"/>
              <p:nvPr/>
            </p:nvSpPr>
            <p:spPr>
              <a:xfrm>
                <a:off x="2481514" y="4324893"/>
                <a:ext cx="2548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81E2"/>
                          </a:solidFill>
                          <a:latin typeface="Cambria Math" panose="02040503050406030204" pitchFamily="18" charset="0"/>
                        </a:rPr>
                        <m:t>3</m:t>
                      </m:r>
                    </m:oMath>
                  </m:oMathPara>
                </a14:m>
                <a:endParaRPr lang="en-US" dirty="0">
                  <a:solidFill>
                    <a:srgbClr val="0081E2"/>
                  </a:solidFill>
                  <a:latin typeface="Consolas" panose="020B0609020204030204" pitchFamily="49" charset="0"/>
                </a:endParaRPr>
              </a:p>
            </p:txBody>
          </p:sp>
        </mc:Choice>
        <mc:Fallback xmlns="">
          <p:sp>
            <p:nvSpPr>
              <p:cNvPr id="9" name="TextBox 8">
                <a:extLst>
                  <a:ext uri="{FF2B5EF4-FFF2-40B4-BE49-F238E27FC236}">
                    <a16:creationId xmlns:a16="http://schemas.microsoft.com/office/drawing/2014/main" id="{CB5F5696-316B-4402-82E6-D6BBB5951665}"/>
                  </a:ext>
                </a:extLst>
              </p:cNvPr>
              <p:cNvSpPr txBox="1">
                <a:spLocks noRot="1" noChangeAspect="1" noMove="1" noResize="1" noEditPoints="1" noAdjustHandles="1" noChangeArrowheads="1" noChangeShapeType="1" noTextEdit="1"/>
              </p:cNvSpPr>
              <p:nvPr/>
            </p:nvSpPr>
            <p:spPr>
              <a:xfrm>
                <a:off x="2481514" y="4324893"/>
                <a:ext cx="254877" cy="276999"/>
              </a:xfrm>
              <a:prstGeom prst="rect">
                <a:avLst/>
              </a:prstGeom>
              <a:blipFill>
                <a:blip r:embed="rId4"/>
                <a:stretch>
                  <a:fillRect l="-7143" r="-7143"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FD02661-219C-4A56-9318-3FC5DB2F5B9A}"/>
                  </a:ext>
                </a:extLst>
              </p:cNvPr>
              <p:cNvSpPr txBox="1"/>
              <p:nvPr/>
            </p:nvSpPr>
            <p:spPr>
              <a:xfrm>
                <a:off x="2481512" y="5142010"/>
                <a:ext cx="2548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81E2"/>
                          </a:solidFill>
                          <a:latin typeface="Cambria Math" panose="02040503050406030204" pitchFamily="18" charset="0"/>
                        </a:rPr>
                        <m:t>8</m:t>
                      </m:r>
                    </m:oMath>
                  </m:oMathPara>
                </a14:m>
                <a:endParaRPr lang="en-US" dirty="0">
                  <a:solidFill>
                    <a:srgbClr val="0081E2"/>
                  </a:solidFill>
                  <a:latin typeface="Consolas" panose="020B0609020204030204" pitchFamily="49" charset="0"/>
                </a:endParaRPr>
              </a:p>
            </p:txBody>
          </p:sp>
        </mc:Choice>
        <mc:Fallback xmlns="">
          <p:sp>
            <p:nvSpPr>
              <p:cNvPr id="10" name="TextBox 9">
                <a:extLst>
                  <a:ext uri="{FF2B5EF4-FFF2-40B4-BE49-F238E27FC236}">
                    <a16:creationId xmlns:a16="http://schemas.microsoft.com/office/drawing/2014/main" id="{BFD02661-219C-4A56-9318-3FC5DB2F5B9A}"/>
                  </a:ext>
                </a:extLst>
              </p:cNvPr>
              <p:cNvSpPr txBox="1">
                <a:spLocks noRot="1" noChangeAspect="1" noMove="1" noResize="1" noEditPoints="1" noAdjustHandles="1" noChangeArrowheads="1" noChangeShapeType="1" noTextEdit="1"/>
              </p:cNvSpPr>
              <p:nvPr/>
            </p:nvSpPr>
            <p:spPr>
              <a:xfrm>
                <a:off x="2481512" y="5142010"/>
                <a:ext cx="254877" cy="276999"/>
              </a:xfrm>
              <a:prstGeom prst="rect">
                <a:avLst/>
              </a:prstGeom>
              <a:blipFill>
                <a:blip r:embed="rId5"/>
                <a:stretch>
                  <a:fillRect l="-7143" r="-7143"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73400F4-7D19-4368-9D82-20599CFCB15C}"/>
                  </a:ext>
                </a:extLst>
              </p:cNvPr>
              <p:cNvSpPr txBox="1"/>
              <p:nvPr/>
            </p:nvSpPr>
            <p:spPr>
              <a:xfrm>
                <a:off x="2481510" y="5893590"/>
                <a:ext cx="2548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81E2"/>
                          </a:solidFill>
                          <a:latin typeface="Cambria Math" panose="02040503050406030204" pitchFamily="18" charset="0"/>
                        </a:rPr>
                        <m:t>6</m:t>
                      </m:r>
                    </m:oMath>
                  </m:oMathPara>
                </a14:m>
                <a:endParaRPr lang="en-US" dirty="0">
                  <a:solidFill>
                    <a:srgbClr val="0081E2"/>
                  </a:solidFill>
                  <a:latin typeface="Consolas" panose="020B0609020204030204" pitchFamily="49" charset="0"/>
                </a:endParaRPr>
              </a:p>
            </p:txBody>
          </p:sp>
        </mc:Choice>
        <mc:Fallback xmlns="">
          <p:sp>
            <p:nvSpPr>
              <p:cNvPr id="11" name="TextBox 10">
                <a:extLst>
                  <a:ext uri="{FF2B5EF4-FFF2-40B4-BE49-F238E27FC236}">
                    <a16:creationId xmlns:a16="http://schemas.microsoft.com/office/drawing/2014/main" id="{D73400F4-7D19-4368-9D82-20599CFCB15C}"/>
                  </a:ext>
                </a:extLst>
              </p:cNvPr>
              <p:cNvSpPr txBox="1">
                <a:spLocks noRot="1" noChangeAspect="1" noMove="1" noResize="1" noEditPoints="1" noAdjustHandles="1" noChangeArrowheads="1" noChangeShapeType="1" noTextEdit="1"/>
              </p:cNvSpPr>
              <p:nvPr/>
            </p:nvSpPr>
            <p:spPr>
              <a:xfrm>
                <a:off x="2481510" y="5893590"/>
                <a:ext cx="254877" cy="276999"/>
              </a:xfrm>
              <a:prstGeom prst="rect">
                <a:avLst/>
              </a:prstGeom>
              <a:blipFill>
                <a:blip r:embed="rId6"/>
                <a:stretch>
                  <a:fillRect l="-7143" r="-7143" b="-6667"/>
                </a:stretch>
              </a:blipFill>
            </p:spPr>
            <p:txBody>
              <a:bodyPr/>
              <a:lstStyle/>
              <a:p>
                <a:r>
                  <a:rPr lang="en-US">
                    <a:noFill/>
                  </a:rPr>
                  <a:t> </a:t>
                </a:r>
              </a:p>
            </p:txBody>
          </p:sp>
        </mc:Fallback>
      </mc:AlternateContent>
      <p:sp>
        <p:nvSpPr>
          <p:cNvPr id="12" name="Oval 11">
            <a:extLst>
              <a:ext uri="{FF2B5EF4-FFF2-40B4-BE49-F238E27FC236}">
                <a16:creationId xmlns:a16="http://schemas.microsoft.com/office/drawing/2014/main" id="{FB47F8DA-F1B0-4FC2-8036-30E67C9C55BE}"/>
              </a:ext>
            </a:extLst>
          </p:cNvPr>
          <p:cNvSpPr/>
          <p:nvPr/>
        </p:nvSpPr>
        <p:spPr>
          <a:xfrm>
            <a:off x="6679949" y="1795346"/>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A</a:t>
            </a:r>
          </a:p>
        </p:txBody>
      </p:sp>
      <p:sp>
        <p:nvSpPr>
          <p:cNvPr id="13" name="Oval 12">
            <a:extLst>
              <a:ext uri="{FF2B5EF4-FFF2-40B4-BE49-F238E27FC236}">
                <a16:creationId xmlns:a16="http://schemas.microsoft.com/office/drawing/2014/main" id="{DB0888CE-339B-4174-87B6-4583AB244F50}"/>
              </a:ext>
            </a:extLst>
          </p:cNvPr>
          <p:cNvSpPr/>
          <p:nvPr/>
        </p:nvSpPr>
        <p:spPr>
          <a:xfrm>
            <a:off x="6720836" y="3337929"/>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D</a:t>
            </a:r>
          </a:p>
        </p:txBody>
      </p:sp>
      <p:sp>
        <p:nvSpPr>
          <p:cNvPr id="14" name="Oval 13">
            <a:extLst>
              <a:ext uri="{FF2B5EF4-FFF2-40B4-BE49-F238E27FC236}">
                <a16:creationId xmlns:a16="http://schemas.microsoft.com/office/drawing/2014/main" id="{63082F71-6234-4DCE-81C8-A2AB2AAC3468}"/>
              </a:ext>
            </a:extLst>
          </p:cNvPr>
          <p:cNvSpPr/>
          <p:nvPr/>
        </p:nvSpPr>
        <p:spPr>
          <a:xfrm>
            <a:off x="10177716" y="3362642"/>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a:t>
            </a:r>
          </a:p>
        </p:txBody>
      </p:sp>
      <p:sp>
        <p:nvSpPr>
          <p:cNvPr id="15" name="Oval 14">
            <a:extLst>
              <a:ext uri="{FF2B5EF4-FFF2-40B4-BE49-F238E27FC236}">
                <a16:creationId xmlns:a16="http://schemas.microsoft.com/office/drawing/2014/main" id="{E0B25C16-1FFE-4F3F-A159-6B368CB46E3C}"/>
              </a:ext>
            </a:extLst>
          </p:cNvPr>
          <p:cNvSpPr/>
          <p:nvPr/>
        </p:nvSpPr>
        <p:spPr>
          <a:xfrm>
            <a:off x="8449276" y="2639121"/>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a:t>
            </a:r>
          </a:p>
        </p:txBody>
      </p:sp>
      <p:sp>
        <p:nvSpPr>
          <p:cNvPr id="16" name="Oval 15">
            <a:extLst>
              <a:ext uri="{FF2B5EF4-FFF2-40B4-BE49-F238E27FC236}">
                <a16:creationId xmlns:a16="http://schemas.microsoft.com/office/drawing/2014/main" id="{F5A381B9-51C5-41BF-903A-2C6F18A5A117}"/>
              </a:ext>
            </a:extLst>
          </p:cNvPr>
          <p:cNvSpPr/>
          <p:nvPr/>
        </p:nvSpPr>
        <p:spPr>
          <a:xfrm>
            <a:off x="8449275" y="4207726"/>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a:t>
            </a:r>
          </a:p>
        </p:txBody>
      </p:sp>
      <p:sp>
        <p:nvSpPr>
          <p:cNvPr id="17" name="Oval 16">
            <a:extLst>
              <a:ext uri="{FF2B5EF4-FFF2-40B4-BE49-F238E27FC236}">
                <a16:creationId xmlns:a16="http://schemas.microsoft.com/office/drawing/2014/main" id="{DBA5A56E-B240-4976-86DD-2637DB90D357}"/>
              </a:ext>
            </a:extLst>
          </p:cNvPr>
          <p:cNvSpPr/>
          <p:nvPr/>
        </p:nvSpPr>
        <p:spPr>
          <a:xfrm>
            <a:off x="5111344" y="2639121"/>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a:t>
            </a:r>
          </a:p>
        </p:txBody>
      </p:sp>
      <p:sp>
        <p:nvSpPr>
          <p:cNvPr id="18" name="Oval 17">
            <a:extLst>
              <a:ext uri="{FF2B5EF4-FFF2-40B4-BE49-F238E27FC236}">
                <a16:creationId xmlns:a16="http://schemas.microsoft.com/office/drawing/2014/main" id="{9761E266-1821-436F-B597-585FFC415DB2}"/>
              </a:ext>
            </a:extLst>
          </p:cNvPr>
          <p:cNvSpPr/>
          <p:nvPr/>
        </p:nvSpPr>
        <p:spPr>
          <a:xfrm>
            <a:off x="5111343" y="4207726"/>
            <a:ext cx="468351" cy="479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G</a:t>
            </a:r>
          </a:p>
        </p:txBody>
      </p:sp>
      <p:cxnSp>
        <p:nvCxnSpPr>
          <p:cNvPr id="19" name="Straight Connector 18">
            <a:extLst>
              <a:ext uri="{FF2B5EF4-FFF2-40B4-BE49-F238E27FC236}">
                <a16:creationId xmlns:a16="http://schemas.microsoft.com/office/drawing/2014/main" id="{BF7ABDC4-BA6D-45FC-9E98-9970DBD12EBC}"/>
              </a:ext>
            </a:extLst>
          </p:cNvPr>
          <p:cNvCxnSpPr>
            <a:stCxn id="12" idx="2"/>
            <a:endCxn id="17" idx="7"/>
          </p:cNvCxnSpPr>
          <p:nvPr/>
        </p:nvCxnSpPr>
        <p:spPr>
          <a:xfrm flipH="1">
            <a:off x="5511107" y="2035098"/>
            <a:ext cx="1168842" cy="6742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7068E7B-AA3E-4BEA-A211-04FB01589C44}"/>
              </a:ext>
            </a:extLst>
          </p:cNvPr>
          <p:cNvCxnSpPr/>
          <p:nvPr/>
        </p:nvCxnSpPr>
        <p:spPr>
          <a:xfrm flipH="1">
            <a:off x="5579694" y="3657479"/>
            <a:ext cx="1168842" cy="6742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C8A47B7-7FE7-44DA-81BE-4C5D46F37B8A}"/>
              </a:ext>
            </a:extLst>
          </p:cNvPr>
          <p:cNvCxnSpPr>
            <a:cxnSpLocks/>
            <a:stCxn id="15" idx="2"/>
          </p:cNvCxnSpPr>
          <p:nvPr/>
        </p:nvCxnSpPr>
        <p:spPr>
          <a:xfrm flipH="1">
            <a:off x="7148300" y="2878873"/>
            <a:ext cx="1300976" cy="548271"/>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2CB5AF2-3C8C-44A2-AD2F-2D84E1081F56}"/>
              </a:ext>
            </a:extLst>
          </p:cNvPr>
          <p:cNvCxnSpPr>
            <a:cxnSpLocks/>
            <a:endCxn id="13" idx="5"/>
          </p:cNvCxnSpPr>
          <p:nvPr/>
        </p:nvCxnSpPr>
        <p:spPr>
          <a:xfrm flipH="1" flipV="1">
            <a:off x="7120599" y="3747210"/>
            <a:ext cx="1405054" cy="6228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25E4EAA-BB14-4A6F-91E8-6322174D9496}"/>
              </a:ext>
            </a:extLst>
          </p:cNvPr>
          <p:cNvCxnSpPr>
            <a:cxnSpLocks/>
            <a:endCxn id="12" idx="6"/>
          </p:cNvCxnSpPr>
          <p:nvPr/>
        </p:nvCxnSpPr>
        <p:spPr>
          <a:xfrm flipH="1" flipV="1">
            <a:off x="7148300" y="2035098"/>
            <a:ext cx="1405054" cy="7629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05FA67B-CD8E-4739-8CA4-725DD7976DEE}"/>
              </a:ext>
            </a:extLst>
          </p:cNvPr>
          <p:cNvCxnSpPr>
            <a:cxnSpLocks/>
            <a:stCxn id="16" idx="0"/>
            <a:endCxn id="15" idx="4"/>
          </p:cNvCxnSpPr>
          <p:nvPr/>
        </p:nvCxnSpPr>
        <p:spPr>
          <a:xfrm flipV="1">
            <a:off x="8683451" y="3118624"/>
            <a:ext cx="1" cy="10891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6037458-A09B-4C3B-84E5-4DCF8B576FC2}"/>
              </a:ext>
            </a:extLst>
          </p:cNvPr>
          <p:cNvCxnSpPr>
            <a:cxnSpLocks/>
          </p:cNvCxnSpPr>
          <p:nvPr/>
        </p:nvCxnSpPr>
        <p:spPr>
          <a:xfrm flipV="1">
            <a:off x="5340784" y="3130706"/>
            <a:ext cx="1" cy="1089102"/>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05CA403-1331-48F5-9F95-B7F14FD1D729}"/>
              </a:ext>
            </a:extLst>
          </p:cNvPr>
          <p:cNvCxnSpPr>
            <a:cxnSpLocks/>
            <a:stCxn id="13" idx="1"/>
            <a:endCxn id="17" idx="6"/>
          </p:cNvCxnSpPr>
          <p:nvPr/>
        </p:nvCxnSpPr>
        <p:spPr>
          <a:xfrm flipH="1" flipV="1">
            <a:off x="5579695" y="2878873"/>
            <a:ext cx="1209729" cy="52927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67290C-D81A-4F85-A616-17645B09FC3D}"/>
              </a:ext>
            </a:extLst>
          </p:cNvPr>
          <p:cNvCxnSpPr>
            <a:cxnSpLocks/>
            <a:stCxn id="13" idx="0"/>
          </p:cNvCxnSpPr>
          <p:nvPr/>
        </p:nvCxnSpPr>
        <p:spPr>
          <a:xfrm flipH="1" flipV="1">
            <a:off x="6929324" y="2264101"/>
            <a:ext cx="25688" cy="1073828"/>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A52E5A2-83A4-4DF4-B308-AE13F0DCF0D2}"/>
              </a:ext>
            </a:extLst>
          </p:cNvPr>
          <p:cNvSpPr txBox="1"/>
          <p:nvPr/>
        </p:nvSpPr>
        <p:spPr>
          <a:xfrm>
            <a:off x="7798787" y="2120235"/>
            <a:ext cx="301686" cy="369332"/>
          </a:xfrm>
          <a:prstGeom prst="rect">
            <a:avLst/>
          </a:prstGeom>
          <a:noFill/>
        </p:spPr>
        <p:txBody>
          <a:bodyPr wrap="none" rtlCol="0">
            <a:spAutoFit/>
          </a:bodyPr>
          <a:lstStyle/>
          <a:p>
            <a:r>
              <a:rPr lang="en-US" dirty="0">
                <a:solidFill>
                  <a:schemeClr val="bg1"/>
                </a:solidFill>
              </a:rPr>
              <a:t>1</a:t>
            </a:r>
          </a:p>
        </p:txBody>
      </p:sp>
      <p:sp>
        <p:nvSpPr>
          <p:cNvPr id="29" name="TextBox 28">
            <a:extLst>
              <a:ext uri="{FF2B5EF4-FFF2-40B4-BE49-F238E27FC236}">
                <a16:creationId xmlns:a16="http://schemas.microsoft.com/office/drawing/2014/main" id="{E9E392D3-458E-4377-BF4C-55A59FCDEB84}"/>
              </a:ext>
            </a:extLst>
          </p:cNvPr>
          <p:cNvSpPr txBox="1"/>
          <p:nvPr/>
        </p:nvSpPr>
        <p:spPr>
          <a:xfrm>
            <a:off x="5902177" y="2055448"/>
            <a:ext cx="301686" cy="369332"/>
          </a:xfrm>
          <a:prstGeom prst="rect">
            <a:avLst/>
          </a:prstGeom>
          <a:noFill/>
        </p:spPr>
        <p:txBody>
          <a:bodyPr wrap="none" rtlCol="0">
            <a:spAutoFit/>
          </a:bodyPr>
          <a:lstStyle/>
          <a:p>
            <a:r>
              <a:rPr lang="en-US" dirty="0">
                <a:solidFill>
                  <a:schemeClr val="bg1"/>
                </a:solidFill>
              </a:rPr>
              <a:t>2</a:t>
            </a:r>
          </a:p>
        </p:txBody>
      </p:sp>
      <p:sp>
        <p:nvSpPr>
          <p:cNvPr id="30" name="TextBox 29">
            <a:extLst>
              <a:ext uri="{FF2B5EF4-FFF2-40B4-BE49-F238E27FC236}">
                <a16:creationId xmlns:a16="http://schemas.microsoft.com/office/drawing/2014/main" id="{6901A623-9A72-4D11-942F-007C73F72BA2}"/>
              </a:ext>
            </a:extLst>
          </p:cNvPr>
          <p:cNvSpPr txBox="1"/>
          <p:nvPr/>
        </p:nvSpPr>
        <p:spPr>
          <a:xfrm>
            <a:off x="9215169" y="4185440"/>
            <a:ext cx="418704" cy="369332"/>
          </a:xfrm>
          <a:prstGeom prst="rect">
            <a:avLst/>
          </a:prstGeom>
          <a:noFill/>
        </p:spPr>
        <p:txBody>
          <a:bodyPr wrap="none" rtlCol="0">
            <a:spAutoFit/>
          </a:bodyPr>
          <a:lstStyle/>
          <a:p>
            <a:r>
              <a:rPr lang="en-US" dirty="0">
                <a:solidFill>
                  <a:schemeClr val="bg1"/>
                </a:solidFill>
              </a:rPr>
              <a:t>10</a:t>
            </a:r>
          </a:p>
        </p:txBody>
      </p:sp>
      <p:sp>
        <p:nvSpPr>
          <p:cNvPr id="31" name="TextBox 30">
            <a:extLst>
              <a:ext uri="{FF2B5EF4-FFF2-40B4-BE49-F238E27FC236}">
                <a16:creationId xmlns:a16="http://schemas.microsoft.com/office/drawing/2014/main" id="{4FD143DD-CC8E-4657-B120-36C05834D066}"/>
              </a:ext>
            </a:extLst>
          </p:cNvPr>
          <p:cNvSpPr txBox="1"/>
          <p:nvPr/>
        </p:nvSpPr>
        <p:spPr>
          <a:xfrm>
            <a:off x="6203863" y="2898841"/>
            <a:ext cx="301686" cy="369332"/>
          </a:xfrm>
          <a:prstGeom prst="rect">
            <a:avLst/>
          </a:prstGeom>
          <a:noFill/>
        </p:spPr>
        <p:txBody>
          <a:bodyPr wrap="none" rtlCol="0">
            <a:spAutoFit/>
          </a:bodyPr>
          <a:lstStyle/>
          <a:p>
            <a:r>
              <a:rPr lang="en-US" dirty="0">
                <a:solidFill>
                  <a:schemeClr val="bg1"/>
                </a:solidFill>
              </a:rPr>
              <a:t>4</a:t>
            </a:r>
          </a:p>
        </p:txBody>
      </p:sp>
      <p:sp>
        <p:nvSpPr>
          <p:cNvPr id="32" name="TextBox 31">
            <a:extLst>
              <a:ext uri="{FF2B5EF4-FFF2-40B4-BE49-F238E27FC236}">
                <a16:creationId xmlns:a16="http://schemas.microsoft.com/office/drawing/2014/main" id="{D94D8542-F9E3-42E6-AF07-75522E08548E}"/>
              </a:ext>
            </a:extLst>
          </p:cNvPr>
          <p:cNvSpPr txBox="1"/>
          <p:nvPr/>
        </p:nvSpPr>
        <p:spPr>
          <a:xfrm>
            <a:off x="7836733" y="3809935"/>
            <a:ext cx="301686" cy="369332"/>
          </a:xfrm>
          <a:prstGeom prst="rect">
            <a:avLst/>
          </a:prstGeom>
          <a:noFill/>
        </p:spPr>
        <p:txBody>
          <a:bodyPr wrap="none" rtlCol="0">
            <a:spAutoFit/>
          </a:bodyPr>
          <a:lstStyle/>
          <a:p>
            <a:r>
              <a:rPr lang="en-US" dirty="0">
                <a:solidFill>
                  <a:schemeClr val="bg1"/>
                </a:solidFill>
              </a:rPr>
              <a:t>6</a:t>
            </a:r>
          </a:p>
        </p:txBody>
      </p:sp>
      <p:sp>
        <p:nvSpPr>
          <p:cNvPr id="33" name="TextBox 32">
            <a:extLst>
              <a:ext uri="{FF2B5EF4-FFF2-40B4-BE49-F238E27FC236}">
                <a16:creationId xmlns:a16="http://schemas.microsoft.com/office/drawing/2014/main" id="{1C95E75D-3E65-43B6-82F4-0BA1C325C415}"/>
              </a:ext>
            </a:extLst>
          </p:cNvPr>
          <p:cNvSpPr txBox="1"/>
          <p:nvPr/>
        </p:nvSpPr>
        <p:spPr>
          <a:xfrm>
            <a:off x="9404320" y="2840809"/>
            <a:ext cx="301686" cy="369332"/>
          </a:xfrm>
          <a:prstGeom prst="rect">
            <a:avLst/>
          </a:prstGeom>
          <a:noFill/>
        </p:spPr>
        <p:txBody>
          <a:bodyPr wrap="none" rtlCol="0">
            <a:spAutoFit/>
          </a:bodyPr>
          <a:lstStyle/>
          <a:p>
            <a:r>
              <a:rPr lang="en-US" dirty="0">
                <a:solidFill>
                  <a:schemeClr val="bg1"/>
                </a:solidFill>
              </a:rPr>
              <a:t>7</a:t>
            </a:r>
          </a:p>
        </p:txBody>
      </p:sp>
      <p:sp>
        <p:nvSpPr>
          <p:cNvPr id="34" name="TextBox 33">
            <a:extLst>
              <a:ext uri="{FF2B5EF4-FFF2-40B4-BE49-F238E27FC236}">
                <a16:creationId xmlns:a16="http://schemas.microsoft.com/office/drawing/2014/main" id="{4149CAAB-8615-4F14-ABE4-F885C84BE523}"/>
              </a:ext>
            </a:extLst>
          </p:cNvPr>
          <p:cNvSpPr txBox="1"/>
          <p:nvPr/>
        </p:nvSpPr>
        <p:spPr>
          <a:xfrm>
            <a:off x="8703710" y="3468087"/>
            <a:ext cx="301686" cy="369332"/>
          </a:xfrm>
          <a:prstGeom prst="rect">
            <a:avLst/>
          </a:prstGeom>
          <a:noFill/>
        </p:spPr>
        <p:txBody>
          <a:bodyPr wrap="none" rtlCol="0">
            <a:spAutoFit/>
          </a:bodyPr>
          <a:lstStyle/>
          <a:p>
            <a:r>
              <a:rPr lang="en-US" dirty="0">
                <a:solidFill>
                  <a:schemeClr val="bg1"/>
                </a:solidFill>
              </a:rPr>
              <a:t>2</a:t>
            </a:r>
          </a:p>
        </p:txBody>
      </p:sp>
      <p:sp>
        <p:nvSpPr>
          <p:cNvPr id="35" name="TextBox 34">
            <a:extLst>
              <a:ext uri="{FF2B5EF4-FFF2-40B4-BE49-F238E27FC236}">
                <a16:creationId xmlns:a16="http://schemas.microsoft.com/office/drawing/2014/main" id="{D5D472ED-CDAC-4F94-ACDA-0D55C09410E6}"/>
              </a:ext>
            </a:extLst>
          </p:cNvPr>
          <p:cNvSpPr txBox="1"/>
          <p:nvPr/>
        </p:nvSpPr>
        <p:spPr>
          <a:xfrm>
            <a:off x="6953553" y="2558807"/>
            <a:ext cx="301686" cy="369332"/>
          </a:xfrm>
          <a:prstGeom prst="rect">
            <a:avLst/>
          </a:prstGeom>
          <a:noFill/>
        </p:spPr>
        <p:txBody>
          <a:bodyPr wrap="none" rtlCol="0">
            <a:spAutoFit/>
          </a:bodyPr>
          <a:lstStyle/>
          <a:p>
            <a:r>
              <a:rPr lang="en-US" dirty="0">
                <a:solidFill>
                  <a:schemeClr val="bg1"/>
                </a:solidFill>
              </a:rPr>
              <a:t>3</a:t>
            </a:r>
          </a:p>
        </p:txBody>
      </p:sp>
      <p:sp>
        <p:nvSpPr>
          <p:cNvPr id="36" name="TextBox 35">
            <a:extLst>
              <a:ext uri="{FF2B5EF4-FFF2-40B4-BE49-F238E27FC236}">
                <a16:creationId xmlns:a16="http://schemas.microsoft.com/office/drawing/2014/main" id="{EC5F59E6-7016-454B-A9B4-2A811A60B869}"/>
              </a:ext>
            </a:extLst>
          </p:cNvPr>
          <p:cNvSpPr txBox="1"/>
          <p:nvPr/>
        </p:nvSpPr>
        <p:spPr>
          <a:xfrm>
            <a:off x="5865306" y="3693961"/>
            <a:ext cx="301686" cy="369332"/>
          </a:xfrm>
          <a:prstGeom prst="rect">
            <a:avLst/>
          </a:prstGeom>
          <a:noFill/>
        </p:spPr>
        <p:txBody>
          <a:bodyPr wrap="none" rtlCol="0">
            <a:spAutoFit/>
          </a:bodyPr>
          <a:lstStyle/>
          <a:p>
            <a:r>
              <a:rPr lang="en-US" dirty="0">
                <a:solidFill>
                  <a:schemeClr val="bg1"/>
                </a:solidFill>
              </a:rPr>
              <a:t>4</a:t>
            </a:r>
          </a:p>
        </p:txBody>
      </p:sp>
      <p:sp>
        <p:nvSpPr>
          <p:cNvPr id="37" name="TextBox 36">
            <a:extLst>
              <a:ext uri="{FF2B5EF4-FFF2-40B4-BE49-F238E27FC236}">
                <a16:creationId xmlns:a16="http://schemas.microsoft.com/office/drawing/2014/main" id="{9FBF1E2D-ED75-49D2-B32D-C564B28065D9}"/>
              </a:ext>
            </a:extLst>
          </p:cNvPr>
          <p:cNvSpPr txBox="1"/>
          <p:nvPr/>
        </p:nvSpPr>
        <p:spPr>
          <a:xfrm>
            <a:off x="4974959" y="3472813"/>
            <a:ext cx="418704" cy="369332"/>
          </a:xfrm>
          <a:prstGeom prst="rect">
            <a:avLst/>
          </a:prstGeom>
          <a:noFill/>
        </p:spPr>
        <p:txBody>
          <a:bodyPr wrap="none" rtlCol="0">
            <a:spAutoFit/>
          </a:bodyPr>
          <a:lstStyle/>
          <a:p>
            <a:r>
              <a:rPr lang="en-US" dirty="0">
                <a:solidFill>
                  <a:schemeClr val="bg1"/>
                </a:solidFill>
              </a:rPr>
              <a:t>10</a:t>
            </a:r>
          </a:p>
        </p:txBody>
      </p:sp>
      <p:sp>
        <p:nvSpPr>
          <p:cNvPr id="38" name="TextBox 37">
            <a:extLst>
              <a:ext uri="{FF2B5EF4-FFF2-40B4-BE49-F238E27FC236}">
                <a16:creationId xmlns:a16="http://schemas.microsoft.com/office/drawing/2014/main" id="{FFE4C518-B90B-4C0D-AB11-3D4AF41ACE4E}"/>
              </a:ext>
            </a:extLst>
          </p:cNvPr>
          <p:cNvSpPr txBox="1"/>
          <p:nvPr/>
        </p:nvSpPr>
        <p:spPr>
          <a:xfrm>
            <a:off x="7593386" y="3138599"/>
            <a:ext cx="301686" cy="369332"/>
          </a:xfrm>
          <a:prstGeom prst="rect">
            <a:avLst/>
          </a:prstGeom>
          <a:noFill/>
        </p:spPr>
        <p:txBody>
          <a:bodyPr wrap="none" rtlCol="0">
            <a:spAutoFit/>
          </a:bodyPr>
          <a:lstStyle/>
          <a:p>
            <a:r>
              <a:rPr lang="en-US" dirty="0">
                <a:solidFill>
                  <a:schemeClr val="bg1"/>
                </a:solidFill>
              </a:rPr>
              <a:t>1</a:t>
            </a:r>
          </a:p>
        </p:txBody>
      </p:sp>
      <p:cxnSp>
        <p:nvCxnSpPr>
          <p:cNvPr id="39" name="Straight Connector 38">
            <a:extLst>
              <a:ext uri="{FF2B5EF4-FFF2-40B4-BE49-F238E27FC236}">
                <a16:creationId xmlns:a16="http://schemas.microsoft.com/office/drawing/2014/main" id="{D644D78F-A2F6-4283-A17A-F6FC58C44077}"/>
              </a:ext>
            </a:extLst>
          </p:cNvPr>
          <p:cNvCxnSpPr>
            <a:cxnSpLocks/>
            <a:stCxn id="14" idx="3"/>
          </p:cNvCxnSpPr>
          <p:nvPr/>
        </p:nvCxnSpPr>
        <p:spPr>
          <a:xfrm flipH="1">
            <a:off x="8881928" y="3771923"/>
            <a:ext cx="1364376" cy="598183"/>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FACF76B-E210-4AF2-A22A-A52809510571}"/>
              </a:ext>
            </a:extLst>
          </p:cNvPr>
          <p:cNvCxnSpPr>
            <a:cxnSpLocks/>
            <a:stCxn id="14" idx="1"/>
          </p:cNvCxnSpPr>
          <p:nvPr/>
        </p:nvCxnSpPr>
        <p:spPr>
          <a:xfrm flipH="1" flipV="1">
            <a:off x="8834294" y="2932514"/>
            <a:ext cx="1412010" cy="500350"/>
          </a:xfrm>
          <a:prstGeom prst="line">
            <a:avLst/>
          </a:prstGeom>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3D0FC3E4-CB88-40E8-B90E-21AA14B9D9F8}"/>
              </a:ext>
            </a:extLst>
          </p:cNvPr>
          <p:cNvGrpSpPr/>
          <p:nvPr/>
        </p:nvGrpSpPr>
        <p:grpSpPr>
          <a:xfrm>
            <a:off x="11317255" y="5989103"/>
            <a:ext cx="841781" cy="748032"/>
            <a:chOff x="11337354" y="6025684"/>
            <a:chExt cx="841781" cy="748032"/>
          </a:xfrm>
        </p:grpSpPr>
        <p:pic>
          <p:nvPicPr>
            <p:cNvPr id="42" name="Picture 41">
              <a:extLst>
                <a:ext uri="{FF2B5EF4-FFF2-40B4-BE49-F238E27FC236}">
                  <a16:creationId xmlns:a16="http://schemas.microsoft.com/office/drawing/2014/main" id="{10AB55D4-92D4-4E7B-B6AD-42EB0AA65FE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descr="Logo COP3530">
              <a:extLst>
                <a:ext uri="{FF2B5EF4-FFF2-40B4-BE49-F238E27FC236}">
                  <a16:creationId xmlns:a16="http://schemas.microsoft.com/office/drawing/2014/main" id="{5B88B536-931C-4579-AE27-A9B97549C35A}"/>
                </a:ext>
              </a:extLst>
            </p:cNvPr>
            <p:cNvPicPr>
              <a:picLocks noChangeAspect="1"/>
            </p:cNvPicPr>
            <p:nvPr/>
          </p:nvPicPr>
          <p:blipFill rotWithShape="1">
            <a:blip r:embed="rId8"/>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22008089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D1A51D59-D2D3-4210-9D1A-4881006160A9}"/>
              </a:ext>
            </a:extLst>
          </p:cNvPr>
          <p:cNvGrpSpPr/>
          <p:nvPr/>
        </p:nvGrpSpPr>
        <p:grpSpPr>
          <a:xfrm>
            <a:off x="11317255" y="5989103"/>
            <a:ext cx="841781" cy="748032"/>
            <a:chOff x="11337354" y="6025684"/>
            <a:chExt cx="841781" cy="748032"/>
          </a:xfrm>
        </p:grpSpPr>
        <p:pic>
          <p:nvPicPr>
            <p:cNvPr id="4" name="Picture 3">
              <a:extLst>
                <a:ext uri="{FF2B5EF4-FFF2-40B4-BE49-F238E27FC236}">
                  <a16:creationId xmlns:a16="http://schemas.microsoft.com/office/drawing/2014/main" id="{AE3FCB03-6B3C-4A8C-9476-D1884DDB4F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ogo COP3530">
              <a:extLst>
                <a:ext uri="{FF2B5EF4-FFF2-40B4-BE49-F238E27FC236}">
                  <a16:creationId xmlns:a16="http://schemas.microsoft.com/office/drawing/2014/main" id="{4C3AE7BD-F7F9-4D78-A29D-87991531336A}"/>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
        <p:nvSpPr>
          <p:cNvPr id="6" name="TextBox 5">
            <a:extLst>
              <a:ext uri="{FF2B5EF4-FFF2-40B4-BE49-F238E27FC236}">
                <a16:creationId xmlns:a16="http://schemas.microsoft.com/office/drawing/2014/main" id="{D6694A48-2A4F-BE05-A891-2EF83EF37089}"/>
              </a:ext>
            </a:extLst>
          </p:cNvPr>
          <p:cNvSpPr txBox="1"/>
          <p:nvPr/>
        </p:nvSpPr>
        <p:spPr>
          <a:xfrm>
            <a:off x="992227" y="621437"/>
            <a:ext cx="10207546" cy="2739211"/>
          </a:xfrm>
          <a:prstGeom prst="rect">
            <a:avLst/>
          </a:prstGeom>
          <a:noFill/>
        </p:spPr>
        <p:txBody>
          <a:bodyPr wrap="square" rtlCol="0">
            <a:spAutoFit/>
          </a:bodyPr>
          <a:lstStyle/>
          <a:p>
            <a:r>
              <a:rPr lang="en-US" sz="2800" dirty="0">
                <a:solidFill>
                  <a:schemeClr val="bg1"/>
                </a:solidFill>
                <a:latin typeface="Gotham Bold" pitchFamily="50" charset="0"/>
              </a:rPr>
              <a:t>Alt Text for the Graph on Next Slide</a:t>
            </a:r>
          </a:p>
          <a:p>
            <a:endParaRPr lang="en-US" dirty="0">
              <a:solidFill>
                <a:schemeClr val="bg1"/>
              </a:solidFill>
            </a:endParaRPr>
          </a:p>
          <a:p>
            <a:r>
              <a:rPr lang="en-US" dirty="0">
                <a:solidFill>
                  <a:schemeClr val="bg1"/>
                </a:solidFill>
              </a:rPr>
              <a:t>Vertex: &lt;Neighbors of Vertex (Edges pointing from a vertex to the neighbor), edge weight&gt;</a:t>
            </a:r>
          </a:p>
          <a:p>
            <a:endParaRPr lang="en-US" dirty="0">
              <a:solidFill>
                <a:schemeClr val="bg1"/>
              </a:solidFill>
            </a:endParaRPr>
          </a:p>
          <a:p>
            <a:r>
              <a:rPr lang="en-US" dirty="0">
                <a:solidFill>
                  <a:schemeClr val="bg1"/>
                </a:solidFill>
              </a:rPr>
              <a:t>A: &lt;B, 1&gt;, &lt;D, 3&gt;, &lt;E, 10&gt;</a:t>
            </a:r>
          </a:p>
          <a:p>
            <a:r>
              <a:rPr lang="en-US" dirty="0">
                <a:solidFill>
                  <a:schemeClr val="bg1"/>
                </a:solidFill>
              </a:rPr>
              <a:t>B: &lt;C, 5&gt;, &lt;D, 5&gt;</a:t>
            </a:r>
          </a:p>
          <a:p>
            <a:r>
              <a:rPr lang="en-US" dirty="0">
                <a:solidFill>
                  <a:schemeClr val="bg1"/>
                </a:solidFill>
              </a:rPr>
              <a:t>C: &lt;E, 1&gt; </a:t>
            </a:r>
          </a:p>
          <a:p>
            <a:r>
              <a:rPr lang="en-US" dirty="0">
                <a:solidFill>
                  <a:schemeClr val="bg1"/>
                </a:solidFill>
              </a:rPr>
              <a:t>D: &lt;B, 1&gt;, &lt;C, 2&gt;, &lt;E, 6&gt;</a:t>
            </a:r>
          </a:p>
          <a:p>
            <a:r>
              <a:rPr lang="en-US" dirty="0">
                <a:solidFill>
                  <a:schemeClr val="bg1"/>
                </a:solidFill>
              </a:rPr>
              <a:t>E: -</a:t>
            </a:r>
          </a:p>
        </p:txBody>
      </p:sp>
      <p:pic>
        <p:nvPicPr>
          <p:cNvPr id="2" name="Picture 1">
            <a:extLst>
              <a:ext uri="{FF2B5EF4-FFF2-40B4-BE49-F238E27FC236}">
                <a16:creationId xmlns:a16="http://schemas.microsoft.com/office/drawing/2014/main" id="{8BD68561-D924-9134-0BB4-2D67CC6CB057}"/>
              </a:ext>
            </a:extLst>
          </p:cNvPr>
          <p:cNvPicPr>
            <a:picLocks noChangeAspect="1"/>
          </p:cNvPicPr>
          <p:nvPr/>
        </p:nvPicPr>
        <p:blipFill>
          <a:blip r:embed="rId5"/>
          <a:stretch>
            <a:fillRect/>
          </a:stretch>
        </p:blipFill>
        <p:spPr>
          <a:xfrm>
            <a:off x="6568371" y="2281998"/>
            <a:ext cx="3248025" cy="3133725"/>
          </a:xfrm>
          <a:prstGeom prst="rect">
            <a:avLst/>
          </a:prstGeom>
        </p:spPr>
      </p:pic>
    </p:spTree>
    <p:extLst>
      <p:ext uri="{BB962C8B-B14F-4D97-AF65-F5344CB8AC3E}">
        <p14:creationId xmlns:p14="http://schemas.microsoft.com/office/powerpoint/2010/main" val="26406946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lstStyle/>
          <a:p>
            <a:r>
              <a:rPr lang="en-US" dirty="0">
                <a:solidFill>
                  <a:schemeClr val="bg1"/>
                </a:solidFill>
                <a:latin typeface="Gotham Bold" pitchFamily="50" charset="0"/>
              </a:rPr>
              <a:t>Dijkstra with A as source</a:t>
            </a:r>
          </a:p>
        </p:txBody>
      </p:sp>
      <p:pic>
        <p:nvPicPr>
          <p:cNvPr id="5" name="Picture 4">
            <a:extLst>
              <a:ext uri="{FF2B5EF4-FFF2-40B4-BE49-F238E27FC236}">
                <a16:creationId xmlns:a16="http://schemas.microsoft.com/office/drawing/2014/main" id="{29F615AF-E6B5-4E9E-AC89-C57A051E39CC}"/>
              </a:ext>
            </a:extLst>
          </p:cNvPr>
          <p:cNvPicPr>
            <a:picLocks noChangeAspect="1"/>
          </p:cNvPicPr>
          <p:nvPr/>
        </p:nvPicPr>
        <p:blipFill>
          <a:blip r:embed="rId3"/>
          <a:stretch>
            <a:fillRect/>
          </a:stretch>
        </p:blipFill>
        <p:spPr>
          <a:xfrm>
            <a:off x="1126359" y="2131078"/>
            <a:ext cx="3248025" cy="3133725"/>
          </a:xfrm>
          <a:prstGeom prst="rect">
            <a:avLst/>
          </a:prstGeom>
        </p:spPr>
      </p:pic>
      <p:sp>
        <p:nvSpPr>
          <p:cNvPr id="7" name="TextBox 6">
            <a:extLst>
              <a:ext uri="{FF2B5EF4-FFF2-40B4-BE49-F238E27FC236}">
                <a16:creationId xmlns:a16="http://schemas.microsoft.com/office/drawing/2014/main" id="{59EBBEAE-1E95-4A07-963A-4DF7F4B69C83}"/>
              </a:ext>
            </a:extLst>
          </p:cNvPr>
          <p:cNvSpPr txBox="1"/>
          <p:nvPr/>
        </p:nvSpPr>
        <p:spPr>
          <a:xfrm>
            <a:off x="5553635" y="2327265"/>
            <a:ext cx="6094206" cy="2554545"/>
          </a:xfrm>
          <a:prstGeom prst="rect">
            <a:avLst/>
          </a:prstGeom>
          <a:noFill/>
        </p:spPr>
        <p:txBody>
          <a:bodyPr wrap="square">
            <a:spAutoFit/>
          </a:bodyPr>
          <a:lstStyle/>
          <a:p>
            <a:pPr algn="l"/>
            <a:r>
              <a:rPr lang="en-US" sz="3200" b="0" i="0" dirty="0">
                <a:solidFill>
                  <a:srgbClr val="00DA63"/>
                </a:solidFill>
                <a:effectLst/>
                <a:latin typeface="Consolas" panose="020B0609020204030204" pitchFamily="49" charset="0"/>
              </a:rPr>
              <a:t>V       d(V)      p(V)</a:t>
            </a:r>
          </a:p>
          <a:p>
            <a:pPr algn="l"/>
            <a:r>
              <a:rPr lang="en-US" sz="3200" b="0" i="0" dirty="0">
                <a:solidFill>
                  <a:srgbClr val="FFFF00"/>
                </a:solidFill>
                <a:effectLst/>
                <a:latin typeface="Consolas" panose="020B0609020204030204" pitchFamily="49" charset="0"/>
              </a:rPr>
              <a:t>B      </a:t>
            </a:r>
          </a:p>
          <a:p>
            <a:pPr algn="l"/>
            <a:r>
              <a:rPr lang="en-US" sz="3200" b="0" i="0" dirty="0">
                <a:solidFill>
                  <a:srgbClr val="FFFF00"/>
                </a:solidFill>
                <a:effectLst/>
                <a:latin typeface="Consolas" panose="020B0609020204030204" pitchFamily="49" charset="0"/>
              </a:rPr>
              <a:t>C      </a:t>
            </a:r>
          </a:p>
          <a:p>
            <a:pPr algn="l"/>
            <a:r>
              <a:rPr lang="en-US" sz="3200" b="0" i="0" dirty="0">
                <a:solidFill>
                  <a:srgbClr val="FFFF00"/>
                </a:solidFill>
                <a:effectLst/>
                <a:latin typeface="Consolas" panose="020B0609020204030204" pitchFamily="49" charset="0"/>
              </a:rPr>
              <a:t>D      </a:t>
            </a:r>
          </a:p>
          <a:p>
            <a:pPr algn="l"/>
            <a:r>
              <a:rPr lang="en-US" sz="3200" b="0" i="0" dirty="0">
                <a:solidFill>
                  <a:srgbClr val="FFFF00"/>
                </a:solidFill>
                <a:effectLst/>
                <a:latin typeface="Consolas" panose="020B0609020204030204" pitchFamily="49" charset="0"/>
              </a:rPr>
              <a:t>E</a:t>
            </a:r>
            <a:r>
              <a:rPr lang="en-US" sz="3200" b="0" i="0" dirty="0">
                <a:solidFill>
                  <a:srgbClr val="00DA63"/>
                </a:solidFill>
                <a:effectLst/>
                <a:latin typeface="Consolas" panose="020B0609020204030204" pitchFamily="49" charset="0"/>
              </a:rPr>
              <a:t>     </a:t>
            </a:r>
          </a:p>
        </p:txBody>
      </p:sp>
      <p:grpSp>
        <p:nvGrpSpPr>
          <p:cNvPr id="6" name="Group 5">
            <a:extLst>
              <a:ext uri="{FF2B5EF4-FFF2-40B4-BE49-F238E27FC236}">
                <a16:creationId xmlns:a16="http://schemas.microsoft.com/office/drawing/2014/main" id="{5688D695-012A-463F-A4EB-B4254C31D5F1}"/>
              </a:ext>
            </a:extLst>
          </p:cNvPr>
          <p:cNvGrpSpPr/>
          <p:nvPr/>
        </p:nvGrpSpPr>
        <p:grpSpPr>
          <a:xfrm>
            <a:off x="11317255" y="5989103"/>
            <a:ext cx="841781" cy="748032"/>
            <a:chOff x="11337354" y="6025684"/>
            <a:chExt cx="841781" cy="748032"/>
          </a:xfrm>
        </p:grpSpPr>
        <p:pic>
          <p:nvPicPr>
            <p:cNvPr id="8" name="Picture 7">
              <a:extLst>
                <a:ext uri="{FF2B5EF4-FFF2-40B4-BE49-F238E27FC236}">
                  <a16:creationId xmlns:a16="http://schemas.microsoft.com/office/drawing/2014/main" id="{A2EA3B34-C183-45C7-B578-9C2B5E5452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Logo COP3530">
              <a:extLst>
                <a:ext uri="{FF2B5EF4-FFF2-40B4-BE49-F238E27FC236}">
                  <a16:creationId xmlns:a16="http://schemas.microsoft.com/office/drawing/2014/main" id="{98F7B7D7-C278-462A-895F-4B2C3A282AB0}"/>
                </a:ext>
              </a:extLst>
            </p:cNvPr>
            <p:cNvPicPr>
              <a:picLocks noChangeAspect="1"/>
            </p:cNvPicPr>
            <p:nvPr/>
          </p:nvPicPr>
          <p:blipFill rotWithShape="1">
            <a:blip r:embed="rId5"/>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1176023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lstStyle/>
          <a:p>
            <a:r>
              <a:rPr lang="en-US" dirty="0">
                <a:solidFill>
                  <a:schemeClr val="bg1"/>
                </a:solidFill>
                <a:latin typeface="Gotham Bold" pitchFamily="50" charset="0"/>
              </a:rPr>
              <a:t>Dijkstra with A as source</a:t>
            </a:r>
          </a:p>
        </p:txBody>
      </p:sp>
      <p:pic>
        <p:nvPicPr>
          <p:cNvPr id="5" name="Picture 4">
            <a:extLst>
              <a:ext uri="{FF2B5EF4-FFF2-40B4-BE49-F238E27FC236}">
                <a16:creationId xmlns:a16="http://schemas.microsoft.com/office/drawing/2014/main" id="{29F615AF-E6B5-4E9E-AC89-C57A051E39CC}"/>
              </a:ext>
            </a:extLst>
          </p:cNvPr>
          <p:cNvPicPr>
            <a:picLocks noChangeAspect="1"/>
          </p:cNvPicPr>
          <p:nvPr/>
        </p:nvPicPr>
        <p:blipFill>
          <a:blip r:embed="rId3"/>
          <a:stretch>
            <a:fillRect/>
          </a:stretch>
        </p:blipFill>
        <p:spPr>
          <a:xfrm>
            <a:off x="1126359" y="2131078"/>
            <a:ext cx="3248025" cy="3133725"/>
          </a:xfrm>
          <a:prstGeom prst="rect">
            <a:avLst/>
          </a:prstGeom>
        </p:spPr>
      </p:pic>
      <p:sp>
        <p:nvSpPr>
          <p:cNvPr id="7" name="TextBox 6">
            <a:extLst>
              <a:ext uri="{FF2B5EF4-FFF2-40B4-BE49-F238E27FC236}">
                <a16:creationId xmlns:a16="http://schemas.microsoft.com/office/drawing/2014/main" id="{59EBBEAE-1E95-4A07-963A-4DF7F4B69C83}"/>
              </a:ext>
            </a:extLst>
          </p:cNvPr>
          <p:cNvSpPr txBox="1"/>
          <p:nvPr/>
        </p:nvSpPr>
        <p:spPr>
          <a:xfrm>
            <a:off x="5553635" y="2327265"/>
            <a:ext cx="6094206" cy="2554545"/>
          </a:xfrm>
          <a:prstGeom prst="rect">
            <a:avLst/>
          </a:prstGeom>
          <a:noFill/>
        </p:spPr>
        <p:txBody>
          <a:bodyPr wrap="square">
            <a:spAutoFit/>
          </a:bodyPr>
          <a:lstStyle/>
          <a:p>
            <a:pPr algn="l"/>
            <a:r>
              <a:rPr lang="en-US" sz="3200" b="0" i="0" dirty="0">
                <a:solidFill>
                  <a:srgbClr val="00DA63"/>
                </a:solidFill>
                <a:effectLst/>
                <a:latin typeface="Consolas" panose="020B0609020204030204" pitchFamily="49" charset="0"/>
              </a:rPr>
              <a:t>V       d(V)      p(V)</a:t>
            </a:r>
          </a:p>
          <a:p>
            <a:pPr algn="l"/>
            <a:r>
              <a:rPr lang="en-US" sz="3200" b="0" i="0" dirty="0">
                <a:solidFill>
                  <a:srgbClr val="FFFF00"/>
                </a:solidFill>
                <a:effectLst/>
                <a:latin typeface="Consolas" panose="020B0609020204030204" pitchFamily="49" charset="0"/>
              </a:rPr>
              <a:t>B         1        A</a:t>
            </a:r>
          </a:p>
          <a:p>
            <a:pPr algn="l"/>
            <a:r>
              <a:rPr lang="en-US" sz="3200" b="0" i="0" dirty="0">
                <a:solidFill>
                  <a:srgbClr val="FFFF00"/>
                </a:solidFill>
                <a:effectLst/>
                <a:latin typeface="Consolas" panose="020B0609020204030204" pitchFamily="49" charset="0"/>
              </a:rPr>
              <a:t>C         5        D</a:t>
            </a:r>
          </a:p>
          <a:p>
            <a:pPr algn="l"/>
            <a:r>
              <a:rPr lang="en-US" sz="3200" b="0" i="0" dirty="0">
                <a:solidFill>
                  <a:srgbClr val="FFFF00"/>
                </a:solidFill>
                <a:effectLst/>
                <a:latin typeface="Consolas" panose="020B0609020204030204" pitchFamily="49" charset="0"/>
              </a:rPr>
              <a:t>D         3        A</a:t>
            </a:r>
          </a:p>
          <a:p>
            <a:pPr algn="l"/>
            <a:r>
              <a:rPr lang="en-US" sz="3200" b="0" i="0" dirty="0">
                <a:solidFill>
                  <a:srgbClr val="FFFF00"/>
                </a:solidFill>
                <a:effectLst/>
                <a:latin typeface="Consolas" panose="020B0609020204030204" pitchFamily="49" charset="0"/>
              </a:rPr>
              <a:t>E         6        C</a:t>
            </a:r>
          </a:p>
        </p:txBody>
      </p:sp>
      <p:grpSp>
        <p:nvGrpSpPr>
          <p:cNvPr id="6" name="Group 5">
            <a:extLst>
              <a:ext uri="{FF2B5EF4-FFF2-40B4-BE49-F238E27FC236}">
                <a16:creationId xmlns:a16="http://schemas.microsoft.com/office/drawing/2014/main" id="{D9C41071-E3BB-4D2B-BCDA-F8F69FBD25EF}"/>
              </a:ext>
            </a:extLst>
          </p:cNvPr>
          <p:cNvGrpSpPr/>
          <p:nvPr/>
        </p:nvGrpSpPr>
        <p:grpSpPr>
          <a:xfrm>
            <a:off x="11317255" y="5989103"/>
            <a:ext cx="841781" cy="748032"/>
            <a:chOff x="11337354" y="6025684"/>
            <a:chExt cx="841781" cy="748032"/>
          </a:xfrm>
        </p:grpSpPr>
        <p:pic>
          <p:nvPicPr>
            <p:cNvPr id="8" name="Picture 7">
              <a:extLst>
                <a:ext uri="{FF2B5EF4-FFF2-40B4-BE49-F238E27FC236}">
                  <a16:creationId xmlns:a16="http://schemas.microsoft.com/office/drawing/2014/main" id="{E7D795F1-53A5-43AA-A354-495025FA0E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Logo COP3530">
              <a:extLst>
                <a:ext uri="{FF2B5EF4-FFF2-40B4-BE49-F238E27FC236}">
                  <a16:creationId xmlns:a16="http://schemas.microsoft.com/office/drawing/2014/main" id="{E514D647-04FC-45EB-85D5-5A259E4E88A0}"/>
                </a:ext>
              </a:extLst>
            </p:cNvPr>
            <p:cNvPicPr>
              <a:picLocks noChangeAspect="1"/>
            </p:cNvPicPr>
            <p:nvPr/>
          </p:nvPicPr>
          <p:blipFill rotWithShape="1">
            <a:blip r:embed="rId5"/>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16327409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9D5D4F-8054-48EF-9170-C7D04C6E7DC6}"/>
              </a:ext>
            </a:extLst>
          </p:cNvPr>
          <p:cNvSpPr txBox="1"/>
          <p:nvPr/>
        </p:nvSpPr>
        <p:spPr>
          <a:xfrm>
            <a:off x="578855" y="2521189"/>
            <a:ext cx="11034289" cy="83099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4800" dirty="0">
                <a:solidFill>
                  <a:prstClr val="white"/>
                </a:solidFill>
                <a:latin typeface="Gotham Bold" pitchFamily="50" charset="0"/>
              </a:rPr>
              <a:t>Algorithmic Paradigms</a:t>
            </a:r>
            <a:endParaRPr kumimoji="0" lang="en-US" sz="4800" b="0" i="0" u="none" strike="noStrike" kern="1200" cap="none" spc="0" normalizeH="0" baseline="0" noProof="0" dirty="0">
              <a:ln>
                <a:noFill/>
              </a:ln>
              <a:solidFill>
                <a:prstClr val="white"/>
              </a:solidFill>
              <a:effectLst/>
              <a:uLnTx/>
              <a:uFillTx/>
              <a:latin typeface="Gotham Bold" pitchFamily="50" charset="0"/>
              <a:ea typeface="+mn-ea"/>
              <a:cs typeface="+mn-cs"/>
            </a:endParaRPr>
          </a:p>
        </p:txBody>
      </p:sp>
    </p:spTree>
    <p:extLst>
      <p:ext uri="{BB962C8B-B14F-4D97-AF65-F5344CB8AC3E}">
        <p14:creationId xmlns:p14="http://schemas.microsoft.com/office/powerpoint/2010/main" val="37776036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pPr lvl="0" defTabSz="457200">
              <a:lnSpc>
                <a:spcPct val="100000"/>
              </a:lnSpc>
              <a:spcBef>
                <a:spcPts val="0"/>
              </a:spcBef>
              <a:defRPr/>
            </a:pPr>
            <a:r>
              <a:rPr lang="en-US" sz="2800" dirty="0">
                <a:solidFill>
                  <a:prstClr val="white"/>
                </a:solidFill>
                <a:latin typeface="Gotham Bold" pitchFamily="50" charset="0"/>
              </a:rPr>
              <a:t>Algorithmic Paradigms</a:t>
            </a:r>
          </a:p>
        </p:txBody>
      </p:sp>
      <p:graphicFrame>
        <p:nvGraphicFramePr>
          <p:cNvPr id="5" name="Table 5">
            <a:extLst>
              <a:ext uri="{FF2B5EF4-FFF2-40B4-BE49-F238E27FC236}">
                <a16:creationId xmlns:a16="http://schemas.microsoft.com/office/drawing/2014/main" id="{03B9B620-623F-4FCC-8D22-41245F67FA34}"/>
              </a:ext>
            </a:extLst>
          </p:cNvPr>
          <p:cNvGraphicFramePr>
            <a:graphicFrameLocks noGrp="1"/>
          </p:cNvGraphicFramePr>
          <p:nvPr>
            <p:extLst>
              <p:ext uri="{D42A27DB-BD31-4B8C-83A1-F6EECF244321}">
                <p14:modId xmlns:p14="http://schemas.microsoft.com/office/powerpoint/2010/main" val="3001659554"/>
              </p:ext>
            </p:extLst>
          </p:nvPr>
        </p:nvGraphicFramePr>
        <p:xfrm>
          <a:off x="1024933" y="1690688"/>
          <a:ext cx="10515600" cy="4636419"/>
        </p:xfrm>
        <a:graphic>
          <a:graphicData uri="http://schemas.openxmlformats.org/drawingml/2006/table">
            <a:tbl>
              <a:tblPr firstRow="1" bandRow="1">
                <a:tableStyleId>{793D81CF-94F2-401A-BA57-92F5A7B2D0C5}</a:tableStyleId>
              </a:tblPr>
              <a:tblGrid>
                <a:gridCol w="1195753">
                  <a:extLst>
                    <a:ext uri="{9D8B030D-6E8A-4147-A177-3AD203B41FA5}">
                      <a16:colId xmlns:a16="http://schemas.microsoft.com/office/drawing/2014/main" val="1241222671"/>
                    </a:ext>
                  </a:extLst>
                </a:gridCol>
                <a:gridCol w="5004079">
                  <a:extLst>
                    <a:ext uri="{9D8B030D-6E8A-4147-A177-3AD203B41FA5}">
                      <a16:colId xmlns:a16="http://schemas.microsoft.com/office/drawing/2014/main" val="3302313541"/>
                    </a:ext>
                  </a:extLst>
                </a:gridCol>
                <a:gridCol w="4315768">
                  <a:extLst>
                    <a:ext uri="{9D8B030D-6E8A-4147-A177-3AD203B41FA5}">
                      <a16:colId xmlns:a16="http://schemas.microsoft.com/office/drawing/2014/main" val="3807218254"/>
                    </a:ext>
                  </a:extLst>
                </a:gridCol>
              </a:tblGrid>
              <a:tr h="405624">
                <a:tc>
                  <a:txBody>
                    <a:bodyPr/>
                    <a:lstStyle/>
                    <a:p>
                      <a:pPr algn="ctr"/>
                      <a:endParaRPr lang="en-US" sz="1200" b="0" dirty="0">
                        <a:solidFill>
                          <a:schemeClr val="bg1">
                            <a:lumMod val="95000"/>
                          </a:schemeClr>
                        </a:solidFill>
                        <a:latin typeface="Consolas" panose="020B0609020204030204" pitchFamily="49" charset="0"/>
                      </a:endParaRP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tc>
                  <a:txBody>
                    <a:bodyPr/>
                    <a:lstStyle/>
                    <a:p>
                      <a:pPr algn="ctr"/>
                      <a:r>
                        <a:rPr lang="en-US" sz="1200" b="0" dirty="0">
                          <a:solidFill>
                            <a:srgbClr val="EB6E19"/>
                          </a:solidFill>
                          <a:latin typeface="Consolas" panose="020B0609020204030204" pitchFamily="49" charset="0"/>
                        </a:rPr>
                        <a:t>Properties</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tc>
                  <a:txBody>
                    <a:bodyPr/>
                    <a:lstStyle/>
                    <a:p>
                      <a:pPr algn="ctr"/>
                      <a:r>
                        <a:rPr lang="en-US" sz="1200" b="0" dirty="0">
                          <a:solidFill>
                            <a:srgbClr val="EB6E19"/>
                          </a:solidFill>
                          <a:latin typeface="Consolas" panose="020B0609020204030204" pitchFamily="49" charset="0"/>
                        </a:rPr>
                        <a:t>Examples</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extLst>
                  <a:ext uri="{0D108BD9-81ED-4DB2-BD59-A6C34878D82A}">
                    <a16:rowId xmlns:a16="http://schemas.microsoft.com/office/drawing/2014/main" val="1021758040"/>
                  </a:ext>
                </a:extLst>
              </a:tr>
              <a:tr h="1082710">
                <a:tc>
                  <a:txBody>
                    <a:bodyPr/>
                    <a:lstStyle/>
                    <a:p>
                      <a:pPr algn="ctr"/>
                      <a:r>
                        <a:rPr lang="en-US" sz="1200" b="0" dirty="0">
                          <a:solidFill>
                            <a:srgbClr val="0081E2"/>
                          </a:solidFill>
                          <a:latin typeface="Consolas" panose="020B0609020204030204" pitchFamily="49" charset="0"/>
                        </a:rPr>
                        <a:t>Brute Force</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tc>
                  <a:txBody>
                    <a:bodyPr/>
                    <a:lstStyle/>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Generate and Test an Exhaustive Set of all possible combinations</a:t>
                      </a:r>
                    </a:p>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Can be computationally very expensive</a:t>
                      </a:r>
                    </a:p>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Guarantees optimal solution</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tc>
                  <a:txBody>
                    <a:bodyPr/>
                    <a:lstStyle/>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Finding divisors of a number, n by checking if all numbers from 1..n divides n without remainder</a:t>
                      </a:r>
                    </a:p>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Finding duplicates using all combinations</a:t>
                      </a:r>
                    </a:p>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Bubble/Selection Sort</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extLst>
                  <a:ext uri="{0D108BD9-81ED-4DB2-BD59-A6C34878D82A}">
                    <a16:rowId xmlns:a16="http://schemas.microsoft.com/office/drawing/2014/main" val="4201945089"/>
                  </a:ext>
                </a:extLst>
              </a:tr>
              <a:tr h="642765">
                <a:tc>
                  <a:txBody>
                    <a:bodyPr/>
                    <a:lstStyle/>
                    <a:p>
                      <a:pPr algn="ctr"/>
                      <a:r>
                        <a:rPr lang="en-US" sz="1200" b="0" dirty="0">
                          <a:solidFill>
                            <a:srgbClr val="0081E2"/>
                          </a:solidFill>
                          <a:latin typeface="Consolas" panose="020B0609020204030204" pitchFamily="49" charset="0"/>
                        </a:rPr>
                        <a:t>Divide and Conquer</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tc>
                  <a:txBody>
                    <a:bodyPr/>
                    <a:lstStyle/>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Break the problem into subcomponents typically using recursion</a:t>
                      </a:r>
                    </a:p>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Solve the basic component</a:t>
                      </a:r>
                    </a:p>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Combine the solutions to sub-problems</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tc>
                  <a:txBody>
                    <a:bodyPr/>
                    <a:lstStyle/>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Quick Sort</a:t>
                      </a:r>
                    </a:p>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Merge Sort</a:t>
                      </a:r>
                    </a:p>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Binary Search</a:t>
                      </a:r>
                    </a:p>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Peak Finding</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extLst>
                  <a:ext uri="{0D108BD9-81ED-4DB2-BD59-A6C34878D82A}">
                    <a16:rowId xmlns:a16="http://schemas.microsoft.com/office/drawing/2014/main" val="501773803"/>
                  </a:ext>
                </a:extLst>
              </a:tr>
              <a:tr h="953525">
                <a:tc>
                  <a:txBody>
                    <a:bodyPr/>
                    <a:lstStyle/>
                    <a:p>
                      <a:pPr algn="ctr"/>
                      <a:r>
                        <a:rPr lang="en-US" sz="1200" b="0" dirty="0">
                          <a:solidFill>
                            <a:srgbClr val="0081E2"/>
                          </a:solidFill>
                          <a:latin typeface="Consolas" panose="020B0609020204030204" pitchFamily="49" charset="0"/>
                        </a:rPr>
                        <a:t>Dynamic Programming</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tc>
                  <a:txBody>
                    <a:bodyPr/>
                    <a:lstStyle/>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Optimal substructure: solution to a large problem can be obtained by solution to a smaller optimal problems</a:t>
                      </a:r>
                    </a:p>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Overlapping sub-problems: space of sub-problems must be small, that is, any recursive algorithm solving the problem should solve the same sub-problems over and over, rather than generating new sub-problems.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b="0" dirty="0">
                          <a:solidFill>
                            <a:schemeClr val="bg1">
                              <a:lumMod val="95000"/>
                            </a:schemeClr>
                          </a:solidFill>
                          <a:latin typeface="Consolas" panose="020B0609020204030204" pitchFamily="49" charset="0"/>
                        </a:rPr>
                        <a:t>Guarantees optimal solution</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tc>
                  <a:txBody>
                    <a:bodyPr/>
                    <a:lstStyle/>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Fibonacci Sequence</a:t>
                      </a:r>
                    </a:p>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Assembly Scheduling</a:t>
                      </a:r>
                    </a:p>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Knapsack</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extLst>
                  <a:ext uri="{0D108BD9-81ED-4DB2-BD59-A6C34878D82A}">
                    <a16:rowId xmlns:a16="http://schemas.microsoft.com/office/drawing/2014/main" val="3714389191"/>
                  </a:ext>
                </a:extLst>
              </a:tr>
              <a:tr h="953525">
                <a:tc>
                  <a:txBody>
                    <a:bodyPr/>
                    <a:lstStyle/>
                    <a:p>
                      <a:pPr algn="ctr"/>
                      <a:r>
                        <a:rPr lang="en-US" sz="1200" b="0" dirty="0">
                          <a:solidFill>
                            <a:srgbClr val="0081E2"/>
                          </a:solidFill>
                          <a:latin typeface="Consolas" panose="020B0609020204030204" pitchFamily="49" charset="0"/>
                        </a:rPr>
                        <a:t>Greedy Algorithms</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tc>
                  <a:txBody>
                    <a:bodyPr/>
                    <a:lstStyle/>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Local optimal solutions at each stage</a:t>
                      </a:r>
                    </a:p>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Does not guarantee optimal solution</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tc>
                  <a:txBody>
                    <a:bodyPr/>
                    <a:lstStyle/>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Prim’s Algorithm</a:t>
                      </a:r>
                    </a:p>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Dijkstra’s Algorithm</a:t>
                      </a:r>
                    </a:p>
                    <a:p>
                      <a:pPr marL="285750" indent="-285750" algn="l">
                        <a:buFont typeface="Wingdings" panose="05000000000000000000" pitchFamily="2" charset="2"/>
                        <a:buChar char="§"/>
                      </a:pPr>
                      <a:r>
                        <a:rPr lang="en-US" sz="1200" b="0" dirty="0">
                          <a:solidFill>
                            <a:schemeClr val="bg1">
                              <a:lumMod val="95000"/>
                            </a:schemeClr>
                          </a:solidFill>
                          <a:latin typeface="Consolas" panose="020B0609020204030204" pitchFamily="49" charset="0"/>
                        </a:rPr>
                        <a:t>Kruskal’s Algorithm</a:t>
                      </a:r>
                    </a:p>
                  </a:txBody>
                  <a:tcPr anchor="ctr">
                    <a:lnL w="12700" cap="flat" cmpd="sng" algn="ctr">
                      <a:solidFill>
                        <a:schemeClr val="bg2">
                          <a:lumMod val="25000"/>
                        </a:schemeClr>
                      </a:solidFill>
                      <a:prstDash val="solid"/>
                      <a:round/>
                      <a:headEnd type="none" w="med" len="med"/>
                      <a:tailEnd type="none" w="med" len="med"/>
                    </a:lnL>
                    <a:lnR w="12700" cap="flat" cmpd="sng" algn="ctr">
                      <a:solidFill>
                        <a:schemeClr val="bg2">
                          <a:lumMod val="25000"/>
                        </a:schemeClr>
                      </a:solidFill>
                      <a:prstDash val="solid"/>
                      <a:round/>
                      <a:headEnd type="none" w="med" len="med"/>
                      <a:tailEnd type="none" w="med" len="med"/>
                    </a:lnR>
                    <a:lnT w="12700" cap="flat" cmpd="sng" algn="ctr">
                      <a:solidFill>
                        <a:schemeClr val="bg2">
                          <a:lumMod val="25000"/>
                        </a:schemeClr>
                      </a:solidFill>
                      <a:prstDash val="solid"/>
                      <a:round/>
                      <a:headEnd type="none" w="med" len="med"/>
                      <a:tailEnd type="none" w="med" len="med"/>
                    </a:lnT>
                    <a:lnB w="12700" cap="flat" cmpd="sng" algn="ctr">
                      <a:solidFill>
                        <a:schemeClr val="bg2">
                          <a:lumMod val="25000"/>
                        </a:schemeClr>
                      </a:solidFill>
                      <a:prstDash val="solid"/>
                      <a:round/>
                      <a:headEnd type="none" w="med" len="med"/>
                      <a:tailEnd type="none" w="med" len="med"/>
                    </a:lnB>
                    <a:noFill/>
                  </a:tcPr>
                </a:tc>
                <a:extLst>
                  <a:ext uri="{0D108BD9-81ED-4DB2-BD59-A6C34878D82A}">
                    <a16:rowId xmlns:a16="http://schemas.microsoft.com/office/drawing/2014/main" val="187856626"/>
                  </a:ext>
                </a:extLst>
              </a:tr>
            </a:tbl>
          </a:graphicData>
        </a:graphic>
      </p:graphicFrame>
    </p:spTree>
    <p:extLst>
      <p:ext uri="{BB962C8B-B14F-4D97-AF65-F5344CB8AC3E}">
        <p14:creationId xmlns:p14="http://schemas.microsoft.com/office/powerpoint/2010/main" val="15150960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pPr defTabSz="457200">
              <a:lnSpc>
                <a:spcPct val="100000"/>
              </a:lnSpc>
              <a:spcBef>
                <a:spcPts val="0"/>
              </a:spcBef>
              <a:defRPr/>
            </a:pPr>
            <a:r>
              <a:rPr lang="en-US" sz="2800" dirty="0">
                <a:solidFill>
                  <a:prstClr val="white"/>
                </a:solidFill>
                <a:latin typeface="Gotham Bold" pitchFamily="50" charset="0"/>
              </a:rPr>
              <a:t>Bin Packing</a:t>
            </a:r>
          </a:p>
        </p:txBody>
      </p:sp>
      <p:sp>
        <p:nvSpPr>
          <p:cNvPr id="4" name="Rectangle 3">
            <a:extLst>
              <a:ext uri="{FF2B5EF4-FFF2-40B4-BE49-F238E27FC236}">
                <a16:creationId xmlns:a16="http://schemas.microsoft.com/office/drawing/2014/main" id="{08990E5C-A296-4D44-B853-EFCE81788BE9}"/>
              </a:ext>
            </a:extLst>
          </p:cNvPr>
          <p:cNvSpPr/>
          <p:nvPr/>
        </p:nvSpPr>
        <p:spPr>
          <a:xfrm>
            <a:off x="1209436" y="1690688"/>
            <a:ext cx="10144364" cy="3447098"/>
          </a:xfrm>
          <a:prstGeom prst="rect">
            <a:avLst/>
          </a:prstGeom>
        </p:spPr>
        <p:txBody>
          <a:bodyPr wrap="square">
            <a:spAutoFit/>
          </a:bodyPr>
          <a:lstStyle/>
          <a:p>
            <a:r>
              <a:rPr lang="en-US" dirty="0">
                <a:solidFill>
                  <a:srgbClr val="EB6E19"/>
                </a:solidFill>
                <a:latin typeface="Consolas" panose="020B0609020204030204" pitchFamily="49" charset="0"/>
              </a:rPr>
              <a:t>If we have packets that each require 7 units, 8 units, 2 units and 3 units of space, how many minimum bins are required to store all the four packets if each bin can take at most 10 units of space using the following Greedy strategies</a:t>
            </a:r>
          </a:p>
          <a:p>
            <a:r>
              <a:rPr lang="en-US" sz="1000" dirty="0">
                <a:solidFill>
                  <a:srgbClr val="EB6E19"/>
                </a:solidFill>
                <a:latin typeface="Consolas" panose="020B0609020204030204" pitchFamily="49" charset="0"/>
              </a:rPr>
              <a:t> </a:t>
            </a:r>
          </a:p>
          <a:p>
            <a:endParaRPr lang="en-US" sz="1000" dirty="0">
              <a:solidFill>
                <a:srgbClr val="EB6E19"/>
              </a:solidFill>
              <a:latin typeface="Consolas" panose="020B0609020204030204" pitchFamily="49" charset="0"/>
            </a:endParaRPr>
          </a:p>
          <a:p>
            <a:pPr marL="742950" lvl="1" indent="-285750">
              <a:buFont typeface="Wingdings" panose="05000000000000000000" pitchFamily="2" charset="2"/>
              <a:buChar char="§"/>
            </a:pPr>
            <a:r>
              <a:rPr lang="en-US" dirty="0">
                <a:solidFill>
                  <a:srgbClr val="EB6E19"/>
                </a:solidFill>
                <a:latin typeface="Consolas" panose="020B0609020204030204" pitchFamily="49" charset="0"/>
              </a:rPr>
              <a:t>First Fit: </a:t>
            </a:r>
            <a:r>
              <a:rPr lang="en-US" dirty="0">
                <a:solidFill>
                  <a:srgbClr val="0081E2"/>
                </a:solidFill>
                <a:latin typeface="Consolas" panose="020B0609020204030204" pitchFamily="49" charset="0"/>
              </a:rPr>
              <a:t>scan the bins and place the new item in the first bin that is large enough.</a:t>
            </a:r>
          </a:p>
          <a:p>
            <a:pPr lvl="1"/>
            <a:endParaRPr lang="en-US" dirty="0">
              <a:solidFill>
                <a:srgbClr val="0081E2"/>
              </a:solidFill>
              <a:latin typeface="Consolas" panose="020B0609020204030204" pitchFamily="49" charset="0"/>
            </a:endParaRPr>
          </a:p>
          <a:p>
            <a:pPr lvl="1"/>
            <a:endParaRPr lang="en-US" dirty="0">
              <a:solidFill>
                <a:srgbClr val="0081E2"/>
              </a:solidFill>
              <a:latin typeface="Consolas" panose="020B0609020204030204" pitchFamily="49" charset="0"/>
            </a:endParaRPr>
          </a:p>
          <a:p>
            <a:pPr lvl="1"/>
            <a:endParaRPr lang="en-US" dirty="0">
              <a:solidFill>
                <a:srgbClr val="0081E2"/>
              </a:solidFill>
              <a:latin typeface="Consolas" panose="020B0609020204030204" pitchFamily="49" charset="0"/>
            </a:endParaRPr>
          </a:p>
          <a:p>
            <a:pPr lvl="1"/>
            <a:endParaRPr lang="en-US" dirty="0">
              <a:solidFill>
                <a:srgbClr val="0081E2"/>
              </a:solidFill>
              <a:latin typeface="Consolas" panose="020B0609020204030204" pitchFamily="49" charset="0"/>
            </a:endParaRPr>
          </a:p>
          <a:p>
            <a:pPr marL="742950" lvl="1" indent="-285750">
              <a:buFont typeface="Wingdings" panose="05000000000000000000" pitchFamily="2" charset="2"/>
              <a:buChar char="§"/>
            </a:pPr>
            <a:r>
              <a:rPr lang="en-US" dirty="0">
                <a:solidFill>
                  <a:srgbClr val="EB6E19"/>
                </a:solidFill>
                <a:latin typeface="Consolas" panose="020B0609020204030204" pitchFamily="49" charset="0"/>
              </a:rPr>
              <a:t>Best Fit: </a:t>
            </a:r>
            <a:r>
              <a:rPr lang="en-US" dirty="0">
                <a:solidFill>
                  <a:srgbClr val="0081E2"/>
                </a:solidFill>
                <a:latin typeface="Consolas" panose="020B0609020204030204" pitchFamily="49" charset="0"/>
              </a:rPr>
              <a:t>scan the bins and place the new item in the bin that finds the spot that creates the smallest empty space</a:t>
            </a:r>
          </a:p>
        </p:txBody>
      </p:sp>
      <p:grpSp>
        <p:nvGrpSpPr>
          <p:cNvPr id="5" name="Group 4">
            <a:extLst>
              <a:ext uri="{FF2B5EF4-FFF2-40B4-BE49-F238E27FC236}">
                <a16:creationId xmlns:a16="http://schemas.microsoft.com/office/drawing/2014/main" id="{7A2CE5CF-169C-4F36-84A4-4A52F37D73E7}"/>
              </a:ext>
            </a:extLst>
          </p:cNvPr>
          <p:cNvGrpSpPr/>
          <p:nvPr/>
        </p:nvGrpSpPr>
        <p:grpSpPr>
          <a:xfrm>
            <a:off x="11317255" y="5989103"/>
            <a:ext cx="841781" cy="748032"/>
            <a:chOff x="11337354" y="6025684"/>
            <a:chExt cx="841781" cy="748032"/>
          </a:xfrm>
        </p:grpSpPr>
        <p:pic>
          <p:nvPicPr>
            <p:cNvPr id="6" name="Picture 5">
              <a:extLst>
                <a:ext uri="{FF2B5EF4-FFF2-40B4-BE49-F238E27FC236}">
                  <a16:creationId xmlns:a16="http://schemas.microsoft.com/office/drawing/2014/main" id="{B60763E9-6E70-4B5D-A941-BBC6A3732E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Logo COP3530">
              <a:extLst>
                <a:ext uri="{FF2B5EF4-FFF2-40B4-BE49-F238E27FC236}">
                  <a16:creationId xmlns:a16="http://schemas.microsoft.com/office/drawing/2014/main" id="{BC21A978-572F-4707-914A-468223BEA18D}"/>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33900253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pPr lvl="0" defTabSz="457200">
              <a:lnSpc>
                <a:spcPct val="100000"/>
              </a:lnSpc>
              <a:spcBef>
                <a:spcPts val="0"/>
              </a:spcBef>
              <a:defRPr/>
            </a:pPr>
            <a:r>
              <a:rPr lang="en-US" sz="2800" dirty="0">
                <a:solidFill>
                  <a:prstClr val="white"/>
                </a:solidFill>
                <a:latin typeface="Gotham Bold" pitchFamily="50" charset="0"/>
              </a:rPr>
              <a:t>Algorithm for Huffman Encoding</a:t>
            </a:r>
          </a:p>
        </p:txBody>
      </p:sp>
      <p:sp>
        <p:nvSpPr>
          <p:cNvPr id="4" name="Rectangle 3">
            <a:extLst>
              <a:ext uri="{FF2B5EF4-FFF2-40B4-BE49-F238E27FC236}">
                <a16:creationId xmlns:a16="http://schemas.microsoft.com/office/drawing/2014/main" id="{08990E5C-A296-4D44-B853-EFCE81788BE9}"/>
              </a:ext>
            </a:extLst>
          </p:cNvPr>
          <p:cNvSpPr/>
          <p:nvPr/>
        </p:nvSpPr>
        <p:spPr>
          <a:xfrm>
            <a:off x="978322" y="1875954"/>
            <a:ext cx="10515599" cy="5078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Given this file, generate a Huffman Tree and identify the codes of each character.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 </a:t>
            </a:r>
          </a:p>
        </p:txBody>
      </p:sp>
      <p:sp>
        <p:nvSpPr>
          <p:cNvPr id="5" name="Slide Number Placeholder 4">
            <a:extLst>
              <a:ext uri="{FF2B5EF4-FFF2-40B4-BE49-F238E27FC236}">
                <a16:creationId xmlns:a16="http://schemas.microsoft.com/office/drawing/2014/main" id="{97839201-5FEF-4A49-9BF1-D69CC9B0628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C28E0-2F8B-4999-AEA2-B3AA3AE899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CA6127C4-7DBE-435F-9D58-E0FDBBB2C92E}"/>
              </a:ext>
            </a:extLst>
          </p:cNvPr>
          <p:cNvSpPr/>
          <p:nvPr/>
        </p:nvSpPr>
        <p:spPr>
          <a:xfrm>
            <a:off x="1077775" y="2383785"/>
            <a:ext cx="2217054" cy="369332"/>
          </a:xfrm>
          <a:prstGeom prst="rect">
            <a:avLst/>
          </a:prstGeom>
          <a:ln>
            <a:solidFill>
              <a:schemeClr val="tx1">
                <a:lumMod val="75000"/>
                <a:lumOff val="2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EB6E19"/>
                </a:solidFill>
                <a:latin typeface="Consolas" panose="020B0609020204030204" pitchFamily="49" charset="0"/>
              </a:rPr>
              <a:t>care racecar era</a:t>
            </a:r>
            <a:endParaRPr kumimoji="0" lang="en-US" sz="9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endParaRPr>
          </a:p>
        </p:txBody>
      </p:sp>
      <p:grpSp>
        <p:nvGrpSpPr>
          <p:cNvPr id="7" name="Group 6">
            <a:extLst>
              <a:ext uri="{FF2B5EF4-FFF2-40B4-BE49-F238E27FC236}">
                <a16:creationId xmlns:a16="http://schemas.microsoft.com/office/drawing/2014/main" id="{56937287-9F39-4BB4-800F-CF9AA69BBAA8}"/>
              </a:ext>
            </a:extLst>
          </p:cNvPr>
          <p:cNvGrpSpPr/>
          <p:nvPr/>
        </p:nvGrpSpPr>
        <p:grpSpPr>
          <a:xfrm>
            <a:off x="11317255" y="5989103"/>
            <a:ext cx="841781" cy="748032"/>
            <a:chOff x="11337354" y="6025684"/>
            <a:chExt cx="841781" cy="748032"/>
          </a:xfrm>
        </p:grpSpPr>
        <p:pic>
          <p:nvPicPr>
            <p:cNvPr id="8" name="Picture 7">
              <a:extLst>
                <a:ext uri="{FF2B5EF4-FFF2-40B4-BE49-F238E27FC236}">
                  <a16:creationId xmlns:a16="http://schemas.microsoft.com/office/drawing/2014/main" id="{D513B087-1EF9-4E3F-8299-C7483ABF65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Logo COP3530">
              <a:extLst>
                <a:ext uri="{FF2B5EF4-FFF2-40B4-BE49-F238E27FC236}">
                  <a16:creationId xmlns:a16="http://schemas.microsoft.com/office/drawing/2014/main" id="{41841846-44B1-4455-B1DB-D5D87BAA86C6}"/>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
        <p:nvSpPr>
          <p:cNvPr id="10" name="TextBox 9">
            <a:extLst>
              <a:ext uri="{FF2B5EF4-FFF2-40B4-BE49-F238E27FC236}">
                <a16:creationId xmlns:a16="http://schemas.microsoft.com/office/drawing/2014/main" id="{7588331C-9C6E-956D-759E-BE2C4924DFEE}"/>
              </a:ext>
            </a:extLst>
          </p:cNvPr>
          <p:cNvSpPr txBox="1"/>
          <p:nvPr/>
        </p:nvSpPr>
        <p:spPr>
          <a:xfrm>
            <a:off x="978322" y="2937926"/>
            <a:ext cx="10020115" cy="3293209"/>
          </a:xfrm>
          <a:prstGeom prst="rect">
            <a:avLst/>
          </a:prstGeom>
          <a:noFill/>
        </p:spPr>
        <p:txBody>
          <a:bodyPr wrap="square">
            <a:spAutoFit/>
          </a:bodyPr>
          <a:lstStyle/>
          <a:p>
            <a:r>
              <a:rPr lang="en-US" sz="1600" dirty="0">
                <a:solidFill>
                  <a:srgbClr val="0081E2"/>
                </a:solidFill>
                <a:latin typeface="Consolas" panose="020B0609020204030204" pitchFamily="49" charset="0"/>
              </a:rPr>
              <a:t>Use the following constraints when building the tree: </a:t>
            </a:r>
          </a:p>
          <a:p>
            <a:endParaRPr lang="en-US" sz="1600" dirty="0">
              <a:solidFill>
                <a:srgbClr val="0081E2"/>
              </a:solidFill>
              <a:latin typeface="Consolas" panose="020B0609020204030204" pitchFamily="49" charset="0"/>
            </a:endParaRPr>
          </a:p>
          <a:p>
            <a:pPr marL="285750" indent="-285750">
              <a:buFont typeface="Wingdings" panose="05000000000000000000" pitchFamily="2" charset="2"/>
              <a:buChar char="§"/>
            </a:pPr>
            <a:r>
              <a:rPr lang="en-US" sz="1600" dirty="0">
                <a:solidFill>
                  <a:srgbClr val="0081E2"/>
                </a:solidFill>
                <a:latin typeface="Consolas" panose="020B0609020204030204" pitchFamily="49" charset="0"/>
              </a:rPr>
              <a:t>the </a:t>
            </a:r>
            <a:r>
              <a:rPr lang="en-US" sz="1600" dirty="0">
                <a:solidFill>
                  <a:srgbClr val="EB6E19"/>
                </a:solidFill>
                <a:latin typeface="Consolas" panose="020B0609020204030204" pitchFamily="49" charset="0"/>
              </a:rPr>
              <a:t>node with a lower frequency is attached to the left</a:t>
            </a:r>
            <a:r>
              <a:rPr lang="en-US" sz="1600" dirty="0">
                <a:solidFill>
                  <a:srgbClr val="0081E2"/>
                </a:solidFill>
                <a:latin typeface="Consolas" panose="020B0609020204030204" pitchFamily="49" charset="0"/>
              </a:rPr>
              <a:t> in case two nodes are merged after extraction from the priority queue;</a:t>
            </a:r>
          </a:p>
          <a:p>
            <a:pPr marL="285750" indent="-285750">
              <a:buFont typeface="Wingdings" panose="05000000000000000000" pitchFamily="2" charset="2"/>
              <a:buChar char="§"/>
            </a:pPr>
            <a:r>
              <a:rPr lang="en-US" sz="1600" dirty="0">
                <a:solidFill>
                  <a:srgbClr val="0081E2"/>
                </a:solidFill>
                <a:latin typeface="Consolas" panose="020B0609020204030204" pitchFamily="49" charset="0"/>
              </a:rPr>
              <a:t>if two </a:t>
            </a:r>
            <a:r>
              <a:rPr lang="en-US" sz="1600" dirty="0">
                <a:solidFill>
                  <a:srgbClr val="EB6E19"/>
                </a:solidFill>
                <a:latin typeface="Consolas" panose="020B0609020204030204" pitchFamily="49" charset="0"/>
              </a:rPr>
              <a:t>nodes have the same priority </a:t>
            </a:r>
            <a:r>
              <a:rPr lang="en-US" sz="1600" dirty="0">
                <a:solidFill>
                  <a:srgbClr val="0081E2"/>
                </a:solidFill>
                <a:latin typeface="Consolas" panose="020B0609020204030204" pitchFamily="49" charset="0"/>
              </a:rPr>
              <a:t>when merging, then the merged nodes are resolved as follows:</a:t>
            </a:r>
          </a:p>
          <a:p>
            <a:pPr marL="742950" lvl="1" indent="-285750">
              <a:buFont typeface="Wingdings" panose="05000000000000000000" pitchFamily="2" charset="2"/>
              <a:buChar char="§"/>
            </a:pPr>
            <a:r>
              <a:rPr lang="en-US" sz="1600" dirty="0">
                <a:solidFill>
                  <a:srgbClr val="EB6E19"/>
                </a:solidFill>
                <a:latin typeface="Consolas" panose="020B0609020204030204" pitchFamily="49" charset="0"/>
              </a:rPr>
              <a:t>if both nodes have letters </a:t>
            </a:r>
            <a:r>
              <a:rPr lang="en-US" sz="1600" dirty="0">
                <a:solidFill>
                  <a:srgbClr val="0081E2"/>
                </a:solidFill>
                <a:latin typeface="Consolas" panose="020B0609020204030204" pitchFamily="49" charset="0"/>
              </a:rPr>
              <a:t>(a.k.a. left nodes) </a:t>
            </a:r>
            <a:r>
              <a:rPr lang="en-US" sz="1600" dirty="0">
                <a:solidFill>
                  <a:srgbClr val="EB6E19"/>
                </a:solidFill>
                <a:latin typeface="Consolas" panose="020B0609020204030204" pitchFamily="49" charset="0"/>
              </a:rPr>
              <a:t>then the letter with lower ascii value will be the left node</a:t>
            </a:r>
            <a:r>
              <a:rPr lang="en-US" sz="1600" dirty="0">
                <a:solidFill>
                  <a:srgbClr val="0081E2"/>
                </a:solidFill>
                <a:latin typeface="Consolas" panose="020B0609020204030204" pitchFamily="49" charset="0"/>
              </a:rPr>
              <a:t> when combining two nodes into a tree. </a:t>
            </a:r>
          </a:p>
          <a:p>
            <a:pPr marL="742950" lvl="1" indent="-285750">
              <a:buFont typeface="Wingdings" panose="05000000000000000000" pitchFamily="2" charset="2"/>
              <a:buChar char="§"/>
            </a:pPr>
            <a:r>
              <a:rPr lang="en-US" sz="1600" dirty="0">
                <a:solidFill>
                  <a:srgbClr val="EB6E19"/>
                </a:solidFill>
                <a:latin typeface="Consolas" panose="020B0609020204030204" pitchFamily="49" charset="0"/>
              </a:rPr>
              <a:t>if one or both nodes have cumulative frequencies</a:t>
            </a:r>
            <a:r>
              <a:rPr lang="en-US" sz="1600" dirty="0">
                <a:solidFill>
                  <a:srgbClr val="0081E2"/>
                </a:solidFill>
                <a:latin typeface="Consolas" panose="020B0609020204030204" pitchFamily="49" charset="0"/>
              </a:rPr>
              <a:t>, then the node with more number of nodes in the tree will be attached to the right, in other words, </a:t>
            </a:r>
            <a:r>
              <a:rPr lang="en-US" sz="1600" dirty="0">
                <a:solidFill>
                  <a:srgbClr val="EB6E19"/>
                </a:solidFill>
                <a:latin typeface="Consolas" panose="020B0609020204030204" pitchFamily="49" charset="0"/>
              </a:rPr>
              <a:t>the smaller tree will be towards the left</a:t>
            </a:r>
            <a:r>
              <a:rPr lang="en-US" sz="1600" dirty="0">
                <a:solidFill>
                  <a:srgbClr val="0081E2"/>
                </a:solidFill>
                <a:latin typeface="Consolas" panose="020B0609020204030204" pitchFamily="49" charset="0"/>
              </a:rPr>
              <a:t>.</a:t>
            </a:r>
          </a:p>
          <a:p>
            <a:pPr marL="285750" indent="-285750">
              <a:buFont typeface="Wingdings" panose="05000000000000000000" pitchFamily="2" charset="2"/>
              <a:buChar char="§"/>
            </a:pPr>
            <a:r>
              <a:rPr lang="en-US" sz="1600" dirty="0">
                <a:solidFill>
                  <a:srgbClr val="0081E2"/>
                </a:solidFill>
                <a:latin typeface="Consolas" panose="020B0609020204030204" pitchFamily="49" charset="0"/>
              </a:rPr>
              <a:t>traversing left from a node appends '0' to the Huffman code and traversing right appends '1'. </a:t>
            </a:r>
          </a:p>
        </p:txBody>
      </p:sp>
    </p:spTree>
    <p:extLst>
      <p:ext uri="{BB962C8B-B14F-4D97-AF65-F5344CB8AC3E}">
        <p14:creationId xmlns:p14="http://schemas.microsoft.com/office/powerpoint/2010/main" val="26157410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pPr lvl="0" defTabSz="457200">
              <a:lnSpc>
                <a:spcPct val="100000"/>
              </a:lnSpc>
              <a:spcBef>
                <a:spcPts val="0"/>
              </a:spcBef>
              <a:defRPr/>
            </a:pPr>
            <a:r>
              <a:rPr lang="en-US" sz="2800" dirty="0">
                <a:solidFill>
                  <a:prstClr val="white"/>
                </a:solidFill>
                <a:latin typeface="Gotham Bold" pitchFamily="50" charset="0"/>
              </a:rPr>
              <a:t>Algorithm for Huffman Encoding</a:t>
            </a:r>
          </a:p>
        </p:txBody>
      </p:sp>
      <p:sp>
        <p:nvSpPr>
          <p:cNvPr id="4" name="Rectangle 3">
            <a:extLst>
              <a:ext uri="{FF2B5EF4-FFF2-40B4-BE49-F238E27FC236}">
                <a16:creationId xmlns:a16="http://schemas.microsoft.com/office/drawing/2014/main" id="{08990E5C-A296-4D44-B853-EFCE81788BE9}"/>
              </a:ext>
            </a:extLst>
          </p:cNvPr>
          <p:cNvSpPr/>
          <p:nvPr/>
        </p:nvSpPr>
        <p:spPr>
          <a:xfrm>
            <a:off x="978322" y="1875954"/>
            <a:ext cx="10515599" cy="5078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1.  Create a table with symbols and their frequencies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a:t>
            </a:r>
          </a:p>
        </p:txBody>
      </p:sp>
      <p:sp>
        <p:nvSpPr>
          <p:cNvPr id="5" name="Slide Number Placeholder 4">
            <a:extLst>
              <a:ext uri="{FF2B5EF4-FFF2-40B4-BE49-F238E27FC236}">
                <a16:creationId xmlns:a16="http://schemas.microsoft.com/office/drawing/2014/main" id="{97839201-5FEF-4A49-9BF1-D69CC9B0628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C28E0-2F8B-4999-AEA2-B3AA3AE899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3D731EF2-9BDB-4A08-AA4C-92AD349826D3}"/>
              </a:ext>
            </a:extLst>
          </p:cNvPr>
          <p:cNvSpPr/>
          <p:nvPr/>
        </p:nvSpPr>
        <p:spPr>
          <a:xfrm>
            <a:off x="978322" y="2383785"/>
            <a:ext cx="10515599"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2.  Construct a set of trees with root nodes that contain each of the individual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symbols and their weight (frequency).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3.  Place the set of trees into a min priority queue.</a:t>
            </a:r>
          </a:p>
        </p:txBody>
      </p:sp>
      <p:sp>
        <p:nvSpPr>
          <p:cNvPr id="7" name="Rectangle 6">
            <a:extLst>
              <a:ext uri="{FF2B5EF4-FFF2-40B4-BE49-F238E27FC236}">
                <a16:creationId xmlns:a16="http://schemas.microsoft.com/office/drawing/2014/main" id="{393E9B6A-53C7-40E0-9961-963F22B180BC}"/>
              </a:ext>
            </a:extLst>
          </p:cNvPr>
          <p:cNvSpPr/>
          <p:nvPr/>
        </p:nvSpPr>
        <p:spPr>
          <a:xfrm>
            <a:off x="978322" y="3861131"/>
            <a:ext cx="10515599" cy="189282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4. while the priority queue has more than one item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Remove the two trees with the smallest weights.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Combine them into a new binary tree in which the weight of the tree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root is the sum of the weights of its children.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Insert the newly created tree back into the priority queue.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a:t>
            </a:r>
          </a:p>
        </p:txBody>
      </p:sp>
      <p:sp>
        <p:nvSpPr>
          <p:cNvPr id="8" name="Rectangle 7">
            <a:extLst>
              <a:ext uri="{FF2B5EF4-FFF2-40B4-BE49-F238E27FC236}">
                <a16:creationId xmlns:a16="http://schemas.microsoft.com/office/drawing/2014/main" id="{E65CDA13-C605-4954-8F58-23CA0F933A66}"/>
              </a:ext>
            </a:extLst>
          </p:cNvPr>
          <p:cNvSpPr/>
          <p:nvPr/>
        </p:nvSpPr>
        <p:spPr>
          <a:xfrm>
            <a:off x="978322" y="5661642"/>
            <a:ext cx="9847384"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5. Traverse the resulting tree to obtain binary codes for characters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80B2E8E2-4F7D-4A2E-9500-03659BA01F39}"/>
              </a:ext>
            </a:extLst>
          </p:cNvPr>
          <p:cNvGrpSpPr/>
          <p:nvPr/>
        </p:nvGrpSpPr>
        <p:grpSpPr>
          <a:xfrm>
            <a:off x="11317255" y="5989103"/>
            <a:ext cx="841781" cy="748032"/>
            <a:chOff x="11337354" y="6025684"/>
            <a:chExt cx="841781" cy="748032"/>
          </a:xfrm>
        </p:grpSpPr>
        <p:pic>
          <p:nvPicPr>
            <p:cNvPr id="10" name="Picture 9">
              <a:extLst>
                <a:ext uri="{FF2B5EF4-FFF2-40B4-BE49-F238E27FC236}">
                  <a16:creationId xmlns:a16="http://schemas.microsoft.com/office/drawing/2014/main" id="{C138A9D9-25DB-4AE7-A8EC-F68D29EC8B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Logo COP3530">
              <a:extLst>
                <a:ext uri="{FF2B5EF4-FFF2-40B4-BE49-F238E27FC236}">
                  <a16:creationId xmlns:a16="http://schemas.microsoft.com/office/drawing/2014/main" id="{D267FC76-0939-4169-AEFA-4468C7CE0E4F}"/>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7434016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pPr lvl="0" defTabSz="457200">
              <a:lnSpc>
                <a:spcPct val="100000"/>
              </a:lnSpc>
              <a:spcBef>
                <a:spcPts val="0"/>
              </a:spcBef>
              <a:defRPr/>
            </a:pPr>
            <a:r>
              <a:rPr lang="en-US" sz="2800" dirty="0">
                <a:solidFill>
                  <a:prstClr val="white"/>
                </a:solidFill>
                <a:latin typeface="Gotham Bold" pitchFamily="50" charset="0"/>
              </a:rPr>
              <a:t>Algorithm for Huffman Encoding</a:t>
            </a:r>
          </a:p>
        </p:txBody>
      </p:sp>
      <p:sp>
        <p:nvSpPr>
          <p:cNvPr id="4" name="Rectangle 3">
            <a:extLst>
              <a:ext uri="{FF2B5EF4-FFF2-40B4-BE49-F238E27FC236}">
                <a16:creationId xmlns:a16="http://schemas.microsoft.com/office/drawing/2014/main" id="{08990E5C-A296-4D44-B853-EFCE81788BE9}"/>
              </a:ext>
            </a:extLst>
          </p:cNvPr>
          <p:cNvSpPr/>
          <p:nvPr/>
        </p:nvSpPr>
        <p:spPr>
          <a:xfrm>
            <a:off x="978322" y="1875954"/>
            <a:ext cx="10515599" cy="5078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1.  Create a table with symbols and their frequencies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a:t>
            </a:r>
          </a:p>
        </p:txBody>
      </p:sp>
      <p:sp>
        <p:nvSpPr>
          <p:cNvPr id="5" name="Slide Number Placeholder 4">
            <a:extLst>
              <a:ext uri="{FF2B5EF4-FFF2-40B4-BE49-F238E27FC236}">
                <a16:creationId xmlns:a16="http://schemas.microsoft.com/office/drawing/2014/main" id="{97839201-5FEF-4A49-9BF1-D69CC9B0628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C28E0-2F8B-4999-AEA2-B3AA3AE899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C9971D79-9B78-4829-9B4D-041D3D54AEF9}"/>
              </a:ext>
            </a:extLst>
          </p:cNvPr>
          <p:cNvSpPr/>
          <p:nvPr/>
        </p:nvSpPr>
        <p:spPr>
          <a:xfrm>
            <a:off x="1631466" y="2675712"/>
            <a:ext cx="2217054" cy="369332"/>
          </a:xfrm>
          <a:prstGeom prst="rect">
            <a:avLst/>
          </a:prstGeom>
          <a:ln>
            <a:solidFill>
              <a:schemeClr val="tx1">
                <a:lumMod val="75000"/>
                <a:lumOff val="25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81E2"/>
                </a:solidFill>
                <a:latin typeface="Consolas" panose="020B0609020204030204" pitchFamily="49" charset="0"/>
              </a:rPr>
              <a:t>care racecar era</a:t>
            </a:r>
            <a:endParaRPr kumimoji="0" lang="en-US" sz="9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endParaRPr>
          </a:p>
        </p:txBody>
      </p:sp>
      <p:graphicFrame>
        <p:nvGraphicFramePr>
          <p:cNvPr id="3" name="Table 9">
            <a:extLst>
              <a:ext uri="{FF2B5EF4-FFF2-40B4-BE49-F238E27FC236}">
                <a16:creationId xmlns:a16="http://schemas.microsoft.com/office/drawing/2014/main" id="{5FC82B5D-7E20-452E-91A2-315ABDFF50DE}"/>
              </a:ext>
            </a:extLst>
          </p:cNvPr>
          <p:cNvGraphicFramePr>
            <a:graphicFrameLocks noGrp="1"/>
          </p:cNvGraphicFramePr>
          <p:nvPr>
            <p:extLst>
              <p:ext uri="{D42A27DB-BD31-4B8C-83A1-F6EECF244321}">
                <p14:modId xmlns:p14="http://schemas.microsoft.com/office/powerpoint/2010/main" val="2319681446"/>
              </p:ext>
            </p:extLst>
          </p:nvPr>
        </p:nvGraphicFramePr>
        <p:xfrm>
          <a:off x="1631466" y="3547116"/>
          <a:ext cx="3983892" cy="2225040"/>
        </p:xfrm>
        <a:graphic>
          <a:graphicData uri="http://schemas.openxmlformats.org/drawingml/2006/table">
            <a:tbl>
              <a:tblPr firstRow="1" bandRow="1">
                <a:tableStyleId>{616DA210-FB5B-4158-B5E0-FEB733F419BA}</a:tableStyleId>
              </a:tblPr>
              <a:tblGrid>
                <a:gridCol w="1991946">
                  <a:extLst>
                    <a:ext uri="{9D8B030D-6E8A-4147-A177-3AD203B41FA5}">
                      <a16:colId xmlns:a16="http://schemas.microsoft.com/office/drawing/2014/main" val="2271265037"/>
                    </a:ext>
                  </a:extLst>
                </a:gridCol>
                <a:gridCol w="1991946">
                  <a:extLst>
                    <a:ext uri="{9D8B030D-6E8A-4147-A177-3AD203B41FA5}">
                      <a16:colId xmlns:a16="http://schemas.microsoft.com/office/drawing/2014/main" val="2272467781"/>
                    </a:ext>
                  </a:extLst>
                </a:gridCol>
              </a:tblGrid>
              <a:tr h="370840">
                <a:tc>
                  <a:txBody>
                    <a:bodyPr/>
                    <a:lstStyle/>
                    <a:p>
                      <a:pPr algn="ctr"/>
                      <a:r>
                        <a:rPr lang="en-US" dirty="0">
                          <a:solidFill>
                            <a:srgbClr val="0081E2"/>
                          </a:solidFill>
                          <a:latin typeface="Consolas" panose="020B0609020204030204" pitchFamily="49" charset="0"/>
                        </a:rPr>
                        <a:t>Character</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0081E2"/>
                          </a:solidFill>
                          <a:latin typeface="Consolas" panose="020B0609020204030204" pitchFamily="49" charset="0"/>
                        </a:rPr>
                        <a:t>Frequency</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1595092"/>
                  </a:ext>
                </a:extLst>
              </a:tr>
              <a:tr h="370840">
                <a:tc>
                  <a:txBody>
                    <a:bodyPr/>
                    <a:lstStyle/>
                    <a:p>
                      <a:pPr algn="ctr"/>
                      <a:r>
                        <a:rPr lang="en-US" dirty="0">
                          <a:solidFill>
                            <a:schemeClr val="bg1"/>
                          </a:solidFill>
                          <a:latin typeface="Consolas" panose="020B0609020204030204" pitchFamily="49" charset="0"/>
                        </a:rPr>
                        <a:t>a</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4</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49970937"/>
                  </a:ext>
                </a:extLst>
              </a:tr>
              <a:tr h="370840">
                <a:tc>
                  <a:txBody>
                    <a:bodyPr/>
                    <a:lstStyle/>
                    <a:p>
                      <a:pPr algn="ctr"/>
                      <a:r>
                        <a:rPr lang="en-US" dirty="0">
                          <a:solidFill>
                            <a:schemeClr val="bg1"/>
                          </a:solidFill>
                          <a:latin typeface="Consolas" panose="020B0609020204030204" pitchFamily="49" charset="0"/>
                        </a:rPr>
                        <a:t>r</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4</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68507038"/>
                  </a:ext>
                </a:extLst>
              </a:tr>
              <a:tr h="370840">
                <a:tc>
                  <a:txBody>
                    <a:bodyPr/>
                    <a:lstStyle/>
                    <a:p>
                      <a:pPr algn="ctr"/>
                      <a:r>
                        <a:rPr lang="en-US" dirty="0">
                          <a:solidFill>
                            <a:schemeClr val="bg1"/>
                          </a:solidFill>
                          <a:latin typeface="Consolas" panose="020B0609020204030204" pitchFamily="49" charset="0"/>
                        </a:rPr>
                        <a:t>c</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3</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4359449"/>
                  </a:ext>
                </a:extLst>
              </a:tr>
              <a:tr h="370840">
                <a:tc>
                  <a:txBody>
                    <a:bodyPr/>
                    <a:lstStyle/>
                    <a:p>
                      <a:pPr algn="ctr"/>
                      <a:r>
                        <a:rPr lang="en-US" dirty="0">
                          <a:solidFill>
                            <a:schemeClr val="bg1"/>
                          </a:solidFill>
                          <a:latin typeface="Consolas" panose="020B0609020204030204" pitchFamily="49" charset="0"/>
                        </a:rPr>
                        <a:t>e</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3</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96846206"/>
                  </a:ext>
                </a:extLst>
              </a:tr>
              <a:tr h="370840">
                <a:tc>
                  <a:txBody>
                    <a:bodyPr/>
                    <a:lstStyle/>
                    <a:p>
                      <a:pPr algn="ctr"/>
                      <a:r>
                        <a:rPr lang="en-US" dirty="0">
                          <a:solidFill>
                            <a:schemeClr val="bg1"/>
                          </a:solidFill>
                          <a:latin typeface="Consolas" panose="020B0609020204030204" pitchFamily="49" charset="0"/>
                        </a:rPr>
                        <a:t>‘ ’</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2</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68509123"/>
                  </a:ext>
                </a:extLst>
              </a:tr>
            </a:tbl>
          </a:graphicData>
        </a:graphic>
      </p:graphicFrame>
      <p:grpSp>
        <p:nvGrpSpPr>
          <p:cNvPr id="10" name="Group 9">
            <a:extLst>
              <a:ext uri="{FF2B5EF4-FFF2-40B4-BE49-F238E27FC236}">
                <a16:creationId xmlns:a16="http://schemas.microsoft.com/office/drawing/2014/main" id="{2E3EFAD8-268F-440E-BC23-A8DB2838F1A0}"/>
              </a:ext>
            </a:extLst>
          </p:cNvPr>
          <p:cNvGrpSpPr/>
          <p:nvPr/>
        </p:nvGrpSpPr>
        <p:grpSpPr>
          <a:xfrm>
            <a:off x="11317255" y="5989103"/>
            <a:ext cx="841781" cy="748032"/>
            <a:chOff x="11337354" y="6025684"/>
            <a:chExt cx="841781" cy="748032"/>
          </a:xfrm>
        </p:grpSpPr>
        <p:pic>
          <p:nvPicPr>
            <p:cNvPr id="11" name="Picture 10">
              <a:extLst>
                <a:ext uri="{FF2B5EF4-FFF2-40B4-BE49-F238E27FC236}">
                  <a16:creationId xmlns:a16="http://schemas.microsoft.com/office/drawing/2014/main" id="{C223BFF8-52BE-4CD1-ABE2-440AB8F2C7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Logo COP3530">
              <a:extLst>
                <a:ext uri="{FF2B5EF4-FFF2-40B4-BE49-F238E27FC236}">
                  <a16:creationId xmlns:a16="http://schemas.microsoft.com/office/drawing/2014/main" id="{D06196ED-86C4-4368-91B4-FF92668FBFB0}"/>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3646537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7" name="Table 9">
            <a:extLst>
              <a:ext uri="{FF2B5EF4-FFF2-40B4-BE49-F238E27FC236}">
                <a16:creationId xmlns:a16="http://schemas.microsoft.com/office/drawing/2014/main" id="{3D1B1668-E70C-4396-A0D1-9B52A673CEFC}"/>
              </a:ext>
            </a:extLst>
          </p:cNvPr>
          <p:cNvGraphicFramePr>
            <a:graphicFrameLocks noGrp="1"/>
          </p:cNvGraphicFramePr>
          <p:nvPr>
            <p:extLst>
              <p:ext uri="{D42A27DB-BD31-4B8C-83A1-F6EECF244321}">
                <p14:modId xmlns:p14="http://schemas.microsoft.com/office/powerpoint/2010/main" val="747498728"/>
              </p:ext>
            </p:extLst>
          </p:nvPr>
        </p:nvGraphicFramePr>
        <p:xfrm>
          <a:off x="5536507" y="4066272"/>
          <a:ext cx="6141150" cy="914400"/>
        </p:xfrm>
        <a:graphic>
          <a:graphicData uri="http://schemas.openxmlformats.org/drawingml/2006/table">
            <a:tbl>
              <a:tblPr firstRow="1" bandRow="1">
                <a:tableStyleId>{616DA210-FB5B-4158-B5E0-FEB733F419BA}</a:tableStyleId>
              </a:tblPr>
              <a:tblGrid>
                <a:gridCol w="1228230">
                  <a:extLst>
                    <a:ext uri="{9D8B030D-6E8A-4147-A177-3AD203B41FA5}">
                      <a16:colId xmlns:a16="http://schemas.microsoft.com/office/drawing/2014/main" val="2738313436"/>
                    </a:ext>
                  </a:extLst>
                </a:gridCol>
                <a:gridCol w="1228230">
                  <a:extLst>
                    <a:ext uri="{9D8B030D-6E8A-4147-A177-3AD203B41FA5}">
                      <a16:colId xmlns:a16="http://schemas.microsoft.com/office/drawing/2014/main" val="2269355868"/>
                    </a:ext>
                  </a:extLst>
                </a:gridCol>
                <a:gridCol w="1228230">
                  <a:extLst>
                    <a:ext uri="{9D8B030D-6E8A-4147-A177-3AD203B41FA5}">
                      <a16:colId xmlns:a16="http://schemas.microsoft.com/office/drawing/2014/main" val="1947061169"/>
                    </a:ext>
                  </a:extLst>
                </a:gridCol>
                <a:gridCol w="1228230">
                  <a:extLst>
                    <a:ext uri="{9D8B030D-6E8A-4147-A177-3AD203B41FA5}">
                      <a16:colId xmlns:a16="http://schemas.microsoft.com/office/drawing/2014/main" val="3498175666"/>
                    </a:ext>
                  </a:extLst>
                </a:gridCol>
                <a:gridCol w="1228230">
                  <a:extLst>
                    <a:ext uri="{9D8B030D-6E8A-4147-A177-3AD203B41FA5}">
                      <a16:colId xmlns:a16="http://schemas.microsoft.com/office/drawing/2014/main" val="3093084202"/>
                    </a:ext>
                  </a:extLst>
                </a:gridCol>
              </a:tblGrid>
              <a:tr h="460935">
                <a:tc>
                  <a:txBody>
                    <a:bodyPr/>
                    <a:lstStyle/>
                    <a:p>
                      <a:endParaRPr lang="en-US" dirty="0"/>
                    </a:p>
                    <a:p>
                      <a:endParaRPr lang="en-US" dirty="0"/>
                    </a:p>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lang="en-US"/>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547400478"/>
                  </a:ext>
                </a:extLst>
              </a:tr>
            </a:tbl>
          </a:graphicData>
        </a:graphic>
      </p:graphicFrame>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pPr lvl="0" defTabSz="457200">
              <a:lnSpc>
                <a:spcPct val="100000"/>
              </a:lnSpc>
              <a:spcBef>
                <a:spcPts val="0"/>
              </a:spcBef>
              <a:defRPr/>
            </a:pPr>
            <a:r>
              <a:rPr lang="en-US" sz="2800" dirty="0">
                <a:solidFill>
                  <a:prstClr val="white"/>
                </a:solidFill>
                <a:latin typeface="Gotham Bold" pitchFamily="50" charset="0"/>
              </a:rPr>
              <a:t>Algorithm for Huffman Encoding</a:t>
            </a:r>
          </a:p>
        </p:txBody>
      </p:sp>
      <p:sp>
        <p:nvSpPr>
          <p:cNvPr id="5" name="Slide Number Placeholder 4">
            <a:extLst>
              <a:ext uri="{FF2B5EF4-FFF2-40B4-BE49-F238E27FC236}">
                <a16:creationId xmlns:a16="http://schemas.microsoft.com/office/drawing/2014/main" id="{97839201-5FEF-4A49-9BF1-D69CC9B0628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C28E0-2F8B-4999-AEA2-B3AA3AE899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3" name="Table 9">
            <a:extLst>
              <a:ext uri="{FF2B5EF4-FFF2-40B4-BE49-F238E27FC236}">
                <a16:creationId xmlns:a16="http://schemas.microsoft.com/office/drawing/2014/main" id="{5FC82B5D-7E20-452E-91A2-315ABDFF50DE}"/>
              </a:ext>
            </a:extLst>
          </p:cNvPr>
          <p:cNvGraphicFramePr>
            <a:graphicFrameLocks noGrp="1"/>
          </p:cNvGraphicFramePr>
          <p:nvPr>
            <p:extLst>
              <p:ext uri="{D42A27DB-BD31-4B8C-83A1-F6EECF244321}">
                <p14:modId xmlns:p14="http://schemas.microsoft.com/office/powerpoint/2010/main" val="918432774"/>
              </p:ext>
            </p:extLst>
          </p:nvPr>
        </p:nvGraphicFramePr>
        <p:xfrm>
          <a:off x="1108952" y="3115037"/>
          <a:ext cx="3983892" cy="2225040"/>
        </p:xfrm>
        <a:graphic>
          <a:graphicData uri="http://schemas.openxmlformats.org/drawingml/2006/table">
            <a:tbl>
              <a:tblPr firstRow="1" bandRow="1">
                <a:tableStyleId>{616DA210-FB5B-4158-B5E0-FEB733F419BA}</a:tableStyleId>
              </a:tblPr>
              <a:tblGrid>
                <a:gridCol w="1991946">
                  <a:extLst>
                    <a:ext uri="{9D8B030D-6E8A-4147-A177-3AD203B41FA5}">
                      <a16:colId xmlns:a16="http://schemas.microsoft.com/office/drawing/2014/main" val="2271265037"/>
                    </a:ext>
                  </a:extLst>
                </a:gridCol>
                <a:gridCol w="1991946">
                  <a:extLst>
                    <a:ext uri="{9D8B030D-6E8A-4147-A177-3AD203B41FA5}">
                      <a16:colId xmlns:a16="http://schemas.microsoft.com/office/drawing/2014/main" val="2272467781"/>
                    </a:ext>
                  </a:extLst>
                </a:gridCol>
              </a:tblGrid>
              <a:tr h="370840">
                <a:tc>
                  <a:txBody>
                    <a:bodyPr/>
                    <a:lstStyle/>
                    <a:p>
                      <a:pPr algn="ctr"/>
                      <a:r>
                        <a:rPr lang="en-US" dirty="0">
                          <a:solidFill>
                            <a:srgbClr val="0081E2"/>
                          </a:solidFill>
                          <a:latin typeface="Consolas" panose="020B0609020204030204" pitchFamily="49" charset="0"/>
                        </a:rPr>
                        <a:t>Character</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0081E2"/>
                          </a:solidFill>
                          <a:latin typeface="Consolas" panose="020B0609020204030204" pitchFamily="49" charset="0"/>
                        </a:rPr>
                        <a:t>Frequency</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1595092"/>
                  </a:ext>
                </a:extLst>
              </a:tr>
              <a:tr h="370840">
                <a:tc>
                  <a:txBody>
                    <a:bodyPr/>
                    <a:lstStyle/>
                    <a:p>
                      <a:pPr algn="ctr"/>
                      <a:r>
                        <a:rPr lang="en-US" dirty="0">
                          <a:solidFill>
                            <a:schemeClr val="bg1"/>
                          </a:solidFill>
                          <a:latin typeface="Consolas" panose="020B0609020204030204" pitchFamily="49" charset="0"/>
                        </a:rPr>
                        <a:t>a</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4</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49970937"/>
                  </a:ext>
                </a:extLst>
              </a:tr>
              <a:tr h="370840">
                <a:tc>
                  <a:txBody>
                    <a:bodyPr/>
                    <a:lstStyle/>
                    <a:p>
                      <a:pPr algn="ctr"/>
                      <a:r>
                        <a:rPr lang="en-US" dirty="0">
                          <a:solidFill>
                            <a:schemeClr val="bg1"/>
                          </a:solidFill>
                          <a:latin typeface="Consolas" panose="020B0609020204030204" pitchFamily="49" charset="0"/>
                        </a:rPr>
                        <a:t>r</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4</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68507038"/>
                  </a:ext>
                </a:extLst>
              </a:tr>
              <a:tr h="370840">
                <a:tc>
                  <a:txBody>
                    <a:bodyPr/>
                    <a:lstStyle/>
                    <a:p>
                      <a:pPr algn="ctr"/>
                      <a:r>
                        <a:rPr lang="en-US" dirty="0">
                          <a:solidFill>
                            <a:schemeClr val="bg1"/>
                          </a:solidFill>
                          <a:latin typeface="Consolas" panose="020B0609020204030204" pitchFamily="49" charset="0"/>
                        </a:rPr>
                        <a:t>c</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3</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4359449"/>
                  </a:ext>
                </a:extLst>
              </a:tr>
              <a:tr h="370840">
                <a:tc>
                  <a:txBody>
                    <a:bodyPr/>
                    <a:lstStyle/>
                    <a:p>
                      <a:pPr algn="ctr"/>
                      <a:r>
                        <a:rPr lang="en-US" dirty="0">
                          <a:solidFill>
                            <a:schemeClr val="bg1"/>
                          </a:solidFill>
                          <a:latin typeface="Consolas" panose="020B0609020204030204" pitchFamily="49" charset="0"/>
                        </a:rPr>
                        <a:t>e</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3</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96846206"/>
                  </a:ext>
                </a:extLst>
              </a:tr>
              <a:tr h="370840">
                <a:tc>
                  <a:txBody>
                    <a:bodyPr/>
                    <a:lstStyle/>
                    <a:p>
                      <a:pPr algn="ctr"/>
                      <a:r>
                        <a:rPr lang="en-US" dirty="0">
                          <a:solidFill>
                            <a:schemeClr val="bg1"/>
                          </a:solidFill>
                          <a:latin typeface="Consolas" panose="020B0609020204030204" pitchFamily="49" charset="0"/>
                        </a:rPr>
                        <a:t>‘ ’</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2</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68509123"/>
                  </a:ext>
                </a:extLst>
              </a:tr>
            </a:tbl>
          </a:graphicData>
        </a:graphic>
      </p:graphicFrame>
      <p:sp>
        <p:nvSpPr>
          <p:cNvPr id="10" name="Rectangle 9">
            <a:extLst>
              <a:ext uri="{FF2B5EF4-FFF2-40B4-BE49-F238E27FC236}">
                <a16:creationId xmlns:a16="http://schemas.microsoft.com/office/drawing/2014/main" id="{9F5014BE-BB74-48E8-83D1-DB7A3437EF36}"/>
              </a:ext>
            </a:extLst>
          </p:cNvPr>
          <p:cNvSpPr/>
          <p:nvPr/>
        </p:nvSpPr>
        <p:spPr>
          <a:xfrm>
            <a:off x="948177" y="1615534"/>
            <a:ext cx="10515599"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2.  Construct a set of trees with root nodes that contain each of the individual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symbols and their weight (frequency).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3.  Place the set of trees into a min priority queue.</a:t>
            </a:r>
          </a:p>
        </p:txBody>
      </p:sp>
      <p:sp>
        <p:nvSpPr>
          <p:cNvPr id="11" name="Oval 10">
            <a:extLst>
              <a:ext uri="{FF2B5EF4-FFF2-40B4-BE49-F238E27FC236}">
                <a16:creationId xmlns:a16="http://schemas.microsoft.com/office/drawing/2014/main" id="{8A96C72C-818E-4FB6-A251-7CD145D7379D}"/>
              </a:ext>
            </a:extLst>
          </p:cNvPr>
          <p:cNvSpPr/>
          <p:nvPr/>
        </p:nvSpPr>
        <p:spPr>
          <a:xfrm>
            <a:off x="5694246" y="4178183"/>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 ’:2</a:t>
            </a:r>
          </a:p>
        </p:txBody>
      </p:sp>
      <p:sp>
        <p:nvSpPr>
          <p:cNvPr id="12" name="Oval 11">
            <a:extLst>
              <a:ext uri="{FF2B5EF4-FFF2-40B4-BE49-F238E27FC236}">
                <a16:creationId xmlns:a16="http://schemas.microsoft.com/office/drawing/2014/main" id="{5A021C81-4E20-4EB7-A574-42B62FA76DCE}"/>
              </a:ext>
            </a:extLst>
          </p:cNvPr>
          <p:cNvSpPr/>
          <p:nvPr/>
        </p:nvSpPr>
        <p:spPr>
          <a:xfrm>
            <a:off x="6889665" y="4178183"/>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c:3</a:t>
            </a:r>
          </a:p>
        </p:txBody>
      </p:sp>
      <p:sp>
        <p:nvSpPr>
          <p:cNvPr id="13" name="Oval 12">
            <a:extLst>
              <a:ext uri="{FF2B5EF4-FFF2-40B4-BE49-F238E27FC236}">
                <a16:creationId xmlns:a16="http://schemas.microsoft.com/office/drawing/2014/main" id="{2C2BFF5E-B01D-4839-A2FF-F3BC96FA9297}"/>
              </a:ext>
            </a:extLst>
          </p:cNvPr>
          <p:cNvSpPr/>
          <p:nvPr/>
        </p:nvSpPr>
        <p:spPr>
          <a:xfrm>
            <a:off x="8149882" y="4180733"/>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e:3</a:t>
            </a:r>
          </a:p>
        </p:txBody>
      </p:sp>
      <p:sp>
        <p:nvSpPr>
          <p:cNvPr id="14" name="Oval 13">
            <a:extLst>
              <a:ext uri="{FF2B5EF4-FFF2-40B4-BE49-F238E27FC236}">
                <a16:creationId xmlns:a16="http://schemas.microsoft.com/office/drawing/2014/main" id="{7895F5F3-4975-4071-8551-F82BC7EA5F24}"/>
              </a:ext>
            </a:extLst>
          </p:cNvPr>
          <p:cNvSpPr/>
          <p:nvPr/>
        </p:nvSpPr>
        <p:spPr>
          <a:xfrm>
            <a:off x="9410099" y="4178183"/>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a:4</a:t>
            </a:r>
          </a:p>
        </p:txBody>
      </p:sp>
      <p:sp>
        <p:nvSpPr>
          <p:cNvPr id="15" name="Oval 14">
            <a:extLst>
              <a:ext uri="{FF2B5EF4-FFF2-40B4-BE49-F238E27FC236}">
                <a16:creationId xmlns:a16="http://schemas.microsoft.com/office/drawing/2014/main" id="{7F3E4D51-D7D2-44E3-A73B-097532425B00}"/>
              </a:ext>
            </a:extLst>
          </p:cNvPr>
          <p:cNvSpPr/>
          <p:nvPr/>
        </p:nvSpPr>
        <p:spPr>
          <a:xfrm>
            <a:off x="10577744" y="4178183"/>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r:4</a:t>
            </a:r>
          </a:p>
        </p:txBody>
      </p:sp>
      <p:grpSp>
        <p:nvGrpSpPr>
          <p:cNvPr id="16" name="Group 15">
            <a:extLst>
              <a:ext uri="{FF2B5EF4-FFF2-40B4-BE49-F238E27FC236}">
                <a16:creationId xmlns:a16="http://schemas.microsoft.com/office/drawing/2014/main" id="{4D42D00E-EC2F-4CCC-A9FA-65DFEE2FF899}"/>
              </a:ext>
            </a:extLst>
          </p:cNvPr>
          <p:cNvGrpSpPr/>
          <p:nvPr/>
        </p:nvGrpSpPr>
        <p:grpSpPr>
          <a:xfrm>
            <a:off x="11317255" y="5989103"/>
            <a:ext cx="841781" cy="748032"/>
            <a:chOff x="11337354" y="6025684"/>
            <a:chExt cx="841781" cy="748032"/>
          </a:xfrm>
        </p:grpSpPr>
        <p:pic>
          <p:nvPicPr>
            <p:cNvPr id="17" name="Picture 16">
              <a:extLst>
                <a:ext uri="{FF2B5EF4-FFF2-40B4-BE49-F238E27FC236}">
                  <a16:creationId xmlns:a16="http://schemas.microsoft.com/office/drawing/2014/main" id="{4E1B0A17-F990-483C-86ED-429B6C8879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Logo COP3530">
              <a:extLst>
                <a:ext uri="{FF2B5EF4-FFF2-40B4-BE49-F238E27FC236}">
                  <a16:creationId xmlns:a16="http://schemas.microsoft.com/office/drawing/2014/main" id="{1026593B-A0E9-4C6F-82D4-F93B759ECDF1}"/>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18781971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EE6E6CB-5B16-0A39-26C0-A0F82480023A}"/>
            </a:ext>
          </a:extLst>
        </p:cNvPr>
        <p:cNvGrpSpPr/>
        <p:nvPr/>
      </p:nvGrpSpPr>
      <p:grpSpPr>
        <a:xfrm>
          <a:off x="0" y="0"/>
          <a:ext cx="0" cy="0"/>
          <a:chOff x="0" y="0"/>
          <a:chExt cx="0" cy="0"/>
        </a:xfrm>
      </p:grpSpPr>
      <p:graphicFrame>
        <p:nvGraphicFramePr>
          <p:cNvPr id="7" name="Table 9">
            <a:extLst>
              <a:ext uri="{FF2B5EF4-FFF2-40B4-BE49-F238E27FC236}">
                <a16:creationId xmlns:a16="http://schemas.microsoft.com/office/drawing/2014/main" id="{8BE1192D-4AD9-6FB4-5ECB-0D2E5BF57BE9}"/>
              </a:ext>
            </a:extLst>
          </p:cNvPr>
          <p:cNvGraphicFramePr>
            <a:graphicFrameLocks noGrp="1"/>
          </p:cNvGraphicFramePr>
          <p:nvPr/>
        </p:nvGraphicFramePr>
        <p:xfrm>
          <a:off x="5536507" y="4066272"/>
          <a:ext cx="6141150" cy="914400"/>
        </p:xfrm>
        <a:graphic>
          <a:graphicData uri="http://schemas.openxmlformats.org/drawingml/2006/table">
            <a:tbl>
              <a:tblPr firstRow="1" bandRow="1">
                <a:tableStyleId>{616DA210-FB5B-4158-B5E0-FEB733F419BA}</a:tableStyleId>
              </a:tblPr>
              <a:tblGrid>
                <a:gridCol w="1228230">
                  <a:extLst>
                    <a:ext uri="{9D8B030D-6E8A-4147-A177-3AD203B41FA5}">
                      <a16:colId xmlns:a16="http://schemas.microsoft.com/office/drawing/2014/main" val="2738313436"/>
                    </a:ext>
                  </a:extLst>
                </a:gridCol>
                <a:gridCol w="1228230">
                  <a:extLst>
                    <a:ext uri="{9D8B030D-6E8A-4147-A177-3AD203B41FA5}">
                      <a16:colId xmlns:a16="http://schemas.microsoft.com/office/drawing/2014/main" val="2269355868"/>
                    </a:ext>
                  </a:extLst>
                </a:gridCol>
                <a:gridCol w="1228230">
                  <a:extLst>
                    <a:ext uri="{9D8B030D-6E8A-4147-A177-3AD203B41FA5}">
                      <a16:colId xmlns:a16="http://schemas.microsoft.com/office/drawing/2014/main" val="1947061169"/>
                    </a:ext>
                  </a:extLst>
                </a:gridCol>
                <a:gridCol w="1228230">
                  <a:extLst>
                    <a:ext uri="{9D8B030D-6E8A-4147-A177-3AD203B41FA5}">
                      <a16:colId xmlns:a16="http://schemas.microsoft.com/office/drawing/2014/main" val="3498175666"/>
                    </a:ext>
                  </a:extLst>
                </a:gridCol>
                <a:gridCol w="1228230">
                  <a:extLst>
                    <a:ext uri="{9D8B030D-6E8A-4147-A177-3AD203B41FA5}">
                      <a16:colId xmlns:a16="http://schemas.microsoft.com/office/drawing/2014/main" val="3093084202"/>
                    </a:ext>
                  </a:extLst>
                </a:gridCol>
              </a:tblGrid>
              <a:tr h="460935">
                <a:tc>
                  <a:txBody>
                    <a:bodyPr/>
                    <a:lstStyle/>
                    <a:p>
                      <a:endParaRPr lang="en-US" dirty="0"/>
                    </a:p>
                    <a:p>
                      <a:endParaRPr lang="en-US" dirty="0"/>
                    </a:p>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547400478"/>
                  </a:ext>
                </a:extLst>
              </a:tr>
            </a:tbl>
          </a:graphicData>
        </a:graphic>
      </p:graphicFrame>
      <p:sp>
        <p:nvSpPr>
          <p:cNvPr id="2" name="Title 1">
            <a:extLst>
              <a:ext uri="{FF2B5EF4-FFF2-40B4-BE49-F238E27FC236}">
                <a16:creationId xmlns:a16="http://schemas.microsoft.com/office/drawing/2014/main" id="{1A534B26-65FE-D970-464B-8645FE389CBD}"/>
              </a:ext>
            </a:extLst>
          </p:cNvPr>
          <p:cNvSpPr>
            <a:spLocks noGrp="1"/>
          </p:cNvSpPr>
          <p:nvPr>
            <p:ph type="title"/>
          </p:nvPr>
        </p:nvSpPr>
        <p:spPr/>
        <p:txBody>
          <a:bodyPr>
            <a:normAutofit/>
          </a:bodyPr>
          <a:lstStyle/>
          <a:p>
            <a:pPr lvl="0" defTabSz="457200">
              <a:lnSpc>
                <a:spcPct val="100000"/>
              </a:lnSpc>
              <a:spcBef>
                <a:spcPts val="0"/>
              </a:spcBef>
              <a:defRPr/>
            </a:pPr>
            <a:r>
              <a:rPr lang="en-US" sz="2800" dirty="0">
                <a:solidFill>
                  <a:prstClr val="white"/>
                </a:solidFill>
                <a:latin typeface="Gotham Bold" pitchFamily="50" charset="0"/>
              </a:rPr>
              <a:t>Algorithm for Huffman Encoding</a:t>
            </a:r>
          </a:p>
        </p:txBody>
      </p:sp>
      <p:sp>
        <p:nvSpPr>
          <p:cNvPr id="5" name="Slide Number Placeholder 4">
            <a:extLst>
              <a:ext uri="{FF2B5EF4-FFF2-40B4-BE49-F238E27FC236}">
                <a16:creationId xmlns:a16="http://schemas.microsoft.com/office/drawing/2014/main" id="{C5F6CE29-3081-36C0-ADFF-6A121EA9AF6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C28E0-2F8B-4999-AEA2-B3AA3AE899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3" name="Table 9">
            <a:extLst>
              <a:ext uri="{FF2B5EF4-FFF2-40B4-BE49-F238E27FC236}">
                <a16:creationId xmlns:a16="http://schemas.microsoft.com/office/drawing/2014/main" id="{BDF82F93-8B90-ACAD-85D6-73AEC8C961ED}"/>
              </a:ext>
            </a:extLst>
          </p:cNvPr>
          <p:cNvGraphicFramePr>
            <a:graphicFrameLocks noGrp="1"/>
          </p:cNvGraphicFramePr>
          <p:nvPr/>
        </p:nvGraphicFramePr>
        <p:xfrm>
          <a:off x="1108952" y="3115037"/>
          <a:ext cx="3983892" cy="2225040"/>
        </p:xfrm>
        <a:graphic>
          <a:graphicData uri="http://schemas.openxmlformats.org/drawingml/2006/table">
            <a:tbl>
              <a:tblPr firstRow="1" bandRow="1">
                <a:tableStyleId>{616DA210-FB5B-4158-B5E0-FEB733F419BA}</a:tableStyleId>
              </a:tblPr>
              <a:tblGrid>
                <a:gridCol w="1991946">
                  <a:extLst>
                    <a:ext uri="{9D8B030D-6E8A-4147-A177-3AD203B41FA5}">
                      <a16:colId xmlns:a16="http://schemas.microsoft.com/office/drawing/2014/main" val="2271265037"/>
                    </a:ext>
                  </a:extLst>
                </a:gridCol>
                <a:gridCol w="1991946">
                  <a:extLst>
                    <a:ext uri="{9D8B030D-6E8A-4147-A177-3AD203B41FA5}">
                      <a16:colId xmlns:a16="http://schemas.microsoft.com/office/drawing/2014/main" val="2272467781"/>
                    </a:ext>
                  </a:extLst>
                </a:gridCol>
              </a:tblGrid>
              <a:tr h="370840">
                <a:tc>
                  <a:txBody>
                    <a:bodyPr/>
                    <a:lstStyle/>
                    <a:p>
                      <a:pPr algn="ctr"/>
                      <a:r>
                        <a:rPr lang="en-US" dirty="0">
                          <a:solidFill>
                            <a:srgbClr val="0081E2"/>
                          </a:solidFill>
                          <a:latin typeface="Consolas" panose="020B0609020204030204" pitchFamily="49" charset="0"/>
                        </a:rPr>
                        <a:t>Character</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0081E2"/>
                          </a:solidFill>
                          <a:latin typeface="Consolas" panose="020B0609020204030204" pitchFamily="49" charset="0"/>
                        </a:rPr>
                        <a:t>Frequency</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1595092"/>
                  </a:ext>
                </a:extLst>
              </a:tr>
              <a:tr h="370840">
                <a:tc>
                  <a:txBody>
                    <a:bodyPr/>
                    <a:lstStyle/>
                    <a:p>
                      <a:pPr algn="ctr"/>
                      <a:r>
                        <a:rPr lang="en-US" dirty="0">
                          <a:solidFill>
                            <a:schemeClr val="bg1"/>
                          </a:solidFill>
                          <a:latin typeface="Consolas" panose="020B0609020204030204" pitchFamily="49" charset="0"/>
                        </a:rPr>
                        <a:t>a</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4</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49970937"/>
                  </a:ext>
                </a:extLst>
              </a:tr>
              <a:tr h="370840">
                <a:tc>
                  <a:txBody>
                    <a:bodyPr/>
                    <a:lstStyle/>
                    <a:p>
                      <a:pPr algn="ctr"/>
                      <a:r>
                        <a:rPr lang="en-US" dirty="0">
                          <a:solidFill>
                            <a:schemeClr val="bg1"/>
                          </a:solidFill>
                          <a:latin typeface="Consolas" panose="020B0609020204030204" pitchFamily="49" charset="0"/>
                        </a:rPr>
                        <a:t>r</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4</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68507038"/>
                  </a:ext>
                </a:extLst>
              </a:tr>
              <a:tr h="370840">
                <a:tc>
                  <a:txBody>
                    <a:bodyPr/>
                    <a:lstStyle/>
                    <a:p>
                      <a:pPr algn="ctr"/>
                      <a:r>
                        <a:rPr lang="en-US" dirty="0">
                          <a:solidFill>
                            <a:schemeClr val="bg1"/>
                          </a:solidFill>
                          <a:latin typeface="Consolas" panose="020B0609020204030204" pitchFamily="49" charset="0"/>
                        </a:rPr>
                        <a:t>c</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3</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4359449"/>
                  </a:ext>
                </a:extLst>
              </a:tr>
              <a:tr h="370840">
                <a:tc>
                  <a:txBody>
                    <a:bodyPr/>
                    <a:lstStyle/>
                    <a:p>
                      <a:pPr algn="ctr"/>
                      <a:r>
                        <a:rPr lang="en-US" dirty="0">
                          <a:solidFill>
                            <a:schemeClr val="bg1"/>
                          </a:solidFill>
                          <a:latin typeface="Consolas" panose="020B0609020204030204" pitchFamily="49" charset="0"/>
                        </a:rPr>
                        <a:t>e</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3</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96846206"/>
                  </a:ext>
                </a:extLst>
              </a:tr>
              <a:tr h="370840">
                <a:tc>
                  <a:txBody>
                    <a:bodyPr/>
                    <a:lstStyle/>
                    <a:p>
                      <a:pPr algn="ctr"/>
                      <a:r>
                        <a:rPr lang="en-US" dirty="0">
                          <a:solidFill>
                            <a:schemeClr val="bg1"/>
                          </a:solidFill>
                          <a:latin typeface="Consolas" panose="020B0609020204030204" pitchFamily="49" charset="0"/>
                        </a:rPr>
                        <a:t>‘ ’</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2</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68509123"/>
                  </a:ext>
                </a:extLst>
              </a:tr>
            </a:tbl>
          </a:graphicData>
        </a:graphic>
      </p:graphicFrame>
      <p:sp>
        <p:nvSpPr>
          <p:cNvPr id="10" name="Rectangle 9">
            <a:extLst>
              <a:ext uri="{FF2B5EF4-FFF2-40B4-BE49-F238E27FC236}">
                <a16:creationId xmlns:a16="http://schemas.microsoft.com/office/drawing/2014/main" id="{44C9DA6A-3FAE-7193-E409-8BF2B9746591}"/>
              </a:ext>
            </a:extLst>
          </p:cNvPr>
          <p:cNvSpPr/>
          <p:nvPr/>
        </p:nvSpPr>
        <p:spPr>
          <a:xfrm>
            <a:off x="948177" y="1615534"/>
            <a:ext cx="10515599"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2.  Construct a set of trees with root nodes that contain each of the individual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symbols and their weight (frequency).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3.  Place the set of trees into a min priority queue.</a:t>
            </a:r>
          </a:p>
        </p:txBody>
      </p:sp>
      <p:sp>
        <p:nvSpPr>
          <p:cNvPr id="11" name="Oval 10">
            <a:extLst>
              <a:ext uri="{FF2B5EF4-FFF2-40B4-BE49-F238E27FC236}">
                <a16:creationId xmlns:a16="http://schemas.microsoft.com/office/drawing/2014/main" id="{BA4DB76E-A094-DA1C-7A02-8D20EBE1C8E7}"/>
              </a:ext>
            </a:extLst>
          </p:cNvPr>
          <p:cNvSpPr/>
          <p:nvPr/>
        </p:nvSpPr>
        <p:spPr>
          <a:xfrm>
            <a:off x="8714328" y="5152696"/>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 ’:2</a:t>
            </a:r>
          </a:p>
        </p:txBody>
      </p:sp>
      <p:sp>
        <p:nvSpPr>
          <p:cNvPr id="12" name="Oval 11">
            <a:extLst>
              <a:ext uri="{FF2B5EF4-FFF2-40B4-BE49-F238E27FC236}">
                <a16:creationId xmlns:a16="http://schemas.microsoft.com/office/drawing/2014/main" id="{A408C07A-3386-A2FE-D4C9-7AD32EDECED7}"/>
              </a:ext>
            </a:extLst>
          </p:cNvPr>
          <p:cNvSpPr/>
          <p:nvPr/>
        </p:nvSpPr>
        <p:spPr>
          <a:xfrm>
            <a:off x="9881973" y="5151209"/>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c:3</a:t>
            </a:r>
          </a:p>
        </p:txBody>
      </p:sp>
      <p:sp>
        <p:nvSpPr>
          <p:cNvPr id="13" name="Oval 12">
            <a:extLst>
              <a:ext uri="{FF2B5EF4-FFF2-40B4-BE49-F238E27FC236}">
                <a16:creationId xmlns:a16="http://schemas.microsoft.com/office/drawing/2014/main" id="{08AFC9B0-2956-6AC0-BB15-B8394F2591BD}"/>
              </a:ext>
            </a:extLst>
          </p:cNvPr>
          <p:cNvSpPr/>
          <p:nvPr/>
        </p:nvSpPr>
        <p:spPr>
          <a:xfrm>
            <a:off x="5654510" y="4182685"/>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e:3</a:t>
            </a:r>
          </a:p>
        </p:txBody>
      </p:sp>
      <p:sp>
        <p:nvSpPr>
          <p:cNvPr id="14" name="Oval 13">
            <a:extLst>
              <a:ext uri="{FF2B5EF4-FFF2-40B4-BE49-F238E27FC236}">
                <a16:creationId xmlns:a16="http://schemas.microsoft.com/office/drawing/2014/main" id="{B42F2339-8861-172A-09B5-6FF5E8FCF40D}"/>
              </a:ext>
            </a:extLst>
          </p:cNvPr>
          <p:cNvSpPr/>
          <p:nvPr/>
        </p:nvSpPr>
        <p:spPr>
          <a:xfrm>
            <a:off x="6914727" y="4180135"/>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a:4</a:t>
            </a:r>
          </a:p>
        </p:txBody>
      </p:sp>
      <p:sp>
        <p:nvSpPr>
          <p:cNvPr id="15" name="Oval 14">
            <a:extLst>
              <a:ext uri="{FF2B5EF4-FFF2-40B4-BE49-F238E27FC236}">
                <a16:creationId xmlns:a16="http://schemas.microsoft.com/office/drawing/2014/main" id="{0D1E8CB3-5A0E-6DF8-15FB-67F6AAF5BF59}"/>
              </a:ext>
            </a:extLst>
          </p:cNvPr>
          <p:cNvSpPr/>
          <p:nvPr/>
        </p:nvSpPr>
        <p:spPr>
          <a:xfrm>
            <a:off x="8082372" y="4180135"/>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r:4</a:t>
            </a:r>
          </a:p>
        </p:txBody>
      </p:sp>
      <p:grpSp>
        <p:nvGrpSpPr>
          <p:cNvPr id="16" name="Group 15">
            <a:extLst>
              <a:ext uri="{FF2B5EF4-FFF2-40B4-BE49-F238E27FC236}">
                <a16:creationId xmlns:a16="http://schemas.microsoft.com/office/drawing/2014/main" id="{B273F27C-1A7E-B759-265E-B0FD9A064BCE}"/>
              </a:ext>
            </a:extLst>
          </p:cNvPr>
          <p:cNvGrpSpPr/>
          <p:nvPr/>
        </p:nvGrpSpPr>
        <p:grpSpPr>
          <a:xfrm>
            <a:off x="11317255" y="5989103"/>
            <a:ext cx="841781" cy="748032"/>
            <a:chOff x="11337354" y="6025684"/>
            <a:chExt cx="841781" cy="748032"/>
          </a:xfrm>
        </p:grpSpPr>
        <p:pic>
          <p:nvPicPr>
            <p:cNvPr id="17" name="Picture 16">
              <a:extLst>
                <a:ext uri="{FF2B5EF4-FFF2-40B4-BE49-F238E27FC236}">
                  <a16:creationId xmlns:a16="http://schemas.microsoft.com/office/drawing/2014/main" id="{E691054B-B01C-A62B-8BAF-960A8FFBE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Logo COP3530">
              <a:extLst>
                <a:ext uri="{FF2B5EF4-FFF2-40B4-BE49-F238E27FC236}">
                  <a16:creationId xmlns:a16="http://schemas.microsoft.com/office/drawing/2014/main" id="{F3BE20C1-2959-1561-D991-27F0370A79BA}"/>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
        <p:nvSpPr>
          <p:cNvPr id="4" name="Oval 3">
            <a:extLst>
              <a:ext uri="{FF2B5EF4-FFF2-40B4-BE49-F238E27FC236}">
                <a16:creationId xmlns:a16="http://schemas.microsoft.com/office/drawing/2014/main" id="{6725EDAC-A5BC-13B9-6E60-4EFC4274A389}"/>
              </a:ext>
            </a:extLst>
          </p:cNvPr>
          <p:cNvSpPr/>
          <p:nvPr/>
        </p:nvSpPr>
        <p:spPr>
          <a:xfrm>
            <a:off x="9354271" y="4157712"/>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5</a:t>
            </a:r>
          </a:p>
        </p:txBody>
      </p:sp>
      <p:cxnSp>
        <p:nvCxnSpPr>
          <p:cNvPr id="6" name="Straight Connector 5">
            <a:extLst>
              <a:ext uri="{FF2B5EF4-FFF2-40B4-BE49-F238E27FC236}">
                <a16:creationId xmlns:a16="http://schemas.microsoft.com/office/drawing/2014/main" id="{DFD0FD2E-EE01-95EF-3AEB-1D3EDD1A59E0}"/>
              </a:ext>
            </a:extLst>
          </p:cNvPr>
          <p:cNvCxnSpPr>
            <a:cxnSpLocks/>
          </p:cNvCxnSpPr>
          <p:nvPr/>
        </p:nvCxnSpPr>
        <p:spPr>
          <a:xfrm flipH="1">
            <a:off x="9250017" y="4810135"/>
            <a:ext cx="219105" cy="341074"/>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8ACD22-C24F-64D8-B9C1-9D03090C13C1}"/>
              </a:ext>
            </a:extLst>
          </p:cNvPr>
          <p:cNvCxnSpPr>
            <a:cxnSpLocks/>
          </p:cNvCxnSpPr>
          <p:nvPr/>
        </p:nvCxnSpPr>
        <p:spPr>
          <a:xfrm>
            <a:off x="10097461" y="4839995"/>
            <a:ext cx="277283" cy="31121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01424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3D5EF21-4D3E-F853-8759-39D440951166}"/>
            </a:ext>
          </a:extLst>
        </p:cNvPr>
        <p:cNvGrpSpPr/>
        <p:nvPr/>
      </p:nvGrpSpPr>
      <p:grpSpPr>
        <a:xfrm>
          <a:off x="0" y="0"/>
          <a:ext cx="0" cy="0"/>
          <a:chOff x="0" y="0"/>
          <a:chExt cx="0" cy="0"/>
        </a:xfrm>
      </p:grpSpPr>
      <p:graphicFrame>
        <p:nvGraphicFramePr>
          <p:cNvPr id="7" name="Table 9">
            <a:extLst>
              <a:ext uri="{FF2B5EF4-FFF2-40B4-BE49-F238E27FC236}">
                <a16:creationId xmlns:a16="http://schemas.microsoft.com/office/drawing/2014/main" id="{1706B7F3-9C6A-BDEB-4E78-22256FE3FC28}"/>
              </a:ext>
            </a:extLst>
          </p:cNvPr>
          <p:cNvGraphicFramePr>
            <a:graphicFrameLocks noGrp="1"/>
          </p:cNvGraphicFramePr>
          <p:nvPr/>
        </p:nvGraphicFramePr>
        <p:xfrm>
          <a:off x="5536507" y="4066272"/>
          <a:ext cx="6141150" cy="914400"/>
        </p:xfrm>
        <a:graphic>
          <a:graphicData uri="http://schemas.openxmlformats.org/drawingml/2006/table">
            <a:tbl>
              <a:tblPr firstRow="1" bandRow="1">
                <a:tableStyleId>{616DA210-FB5B-4158-B5E0-FEB733F419BA}</a:tableStyleId>
              </a:tblPr>
              <a:tblGrid>
                <a:gridCol w="1228230">
                  <a:extLst>
                    <a:ext uri="{9D8B030D-6E8A-4147-A177-3AD203B41FA5}">
                      <a16:colId xmlns:a16="http://schemas.microsoft.com/office/drawing/2014/main" val="2738313436"/>
                    </a:ext>
                  </a:extLst>
                </a:gridCol>
                <a:gridCol w="1228230">
                  <a:extLst>
                    <a:ext uri="{9D8B030D-6E8A-4147-A177-3AD203B41FA5}">
                      <a16:colId xmlns:a16="http://schemas.microsoft.com/office/drawing/2014/main" val="2269355868"/>
                    </a:ext>
                  </a:extLst>
                </a:gridCol>
                <a:gridCol w="1228230">
                  <a:extLst>
                    <a:ext uri="{9D8B030D-6E8A-4147-A177-3AD203B41FA5}">
                      <a16:colId xmlns:a16="http://schemas.microsoft.com/office/drawing/2014/main" val="1947061169"/>
                    </a:ext>
                  </a:extLst>
                </a:gridCol>
                <a:gridCol w="1228230">
                  <a:extLst>
                    <a:ext uri="{9D8B030D-6E8A-4147-A177-3AD203B41FA5}">
                      <a16:colId xmlns:a16="http://schemas.microsoft.com/office/drawing/2014/main" val="3498175666"/>
                    </a:ext>
                  </a:extLst>
                </a:gridCol>
                <a:gridCol w="1228230">
                  <a:extLst>
                    <a:ext uri="{9D8B030D-6E8A-4147-A177-3AD203B41FA5}">
                      <a16:colId xmlns:a16="http://schemas.microsoft.com/office/drawing/2014/main" val="3093084202"/>
                    </a:ext>
                  </a:extLst>
                </a:gridCol>
              </a:tblGrid>
              <a:tr h="460935">
                <a:tc>
                  <a:txBody>
                    <a:bodyPr/>
                    <a:lstStyle/>
                    <a:p>
                      <a:endParaRPr lang="en-US" dirty="0"/>
                    </a:p>
                    <a:p>
                      <a:endParaRPr lang="en-US" dirty="0"/>
                    </a:p>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547400478"/>
                  </a:ext>
                </a:extLst>
              </a:tr>
            </a:tbl>
          </a:graphicData>
        </a:graphic>
      </p:graphicFrame>
      <p:sp>
        <p:nvSpPr>
          <p:cNvPr id="2" name="Title 1">
            <a:extLst>
              <a:ext uri="{FF2B5EF4-FFF2-40B4-BE49-F238E27FC236}">
                <a16:creationId xmlns:a16="http://schemas.microsoft.com/office/drawing/2014/main" id="{7E414943-34EF-8E7D-6EC4-844C697C02A2}"/>
              </a:ext>
            </a:extLst>
          </p:cNvPr>
          <p:cNvSpPr>
            <a:spLocks noGrp="1"/>
          </p:cNvSpPr>
          <p:nvPr>
            <p:ph type="title"/>
          </p:nvPr>
        </p:nvSpPr>
        <p:spPr/>
        <p:txBody>
          <a:bodyPr>
            <a:normAutofit/>
          </a:bodyPr>
          <a:lstStyle/>
          <a:p>
            <a:pPr lvl="0" defTabSz="457200">
              <a:lnSpc>
                <a:spcPct val="100000"/>
              </a:lnSpc>
              <a:spcBef>
                <a:spcPts val="0"/>
              </a:spcBef>
              <a:defRPr/>
            </a:pPr>
            <a:r>
              <a:rPr lang="en-US" sz="2800" dirty="0">
                <a:solidFill>
                  <a:prstClr val="white"/>
                </a:solidFill>
                <a:latin typeface="Gotham Bold" pitchFamily="50" charset="0"/>
              </a:rPr>
              <a:t>Algorithm for Huffman Encoding</a:t>
            </a:r>
          </a:p>
        </p:txBody>
      </p:sp>
      <p:sp>
        <p:nvSpPr>
          <p:cNvPr id="5" name="Slide Number Placeholder 4">
            <a:extLst>
              <a:ext uri="{FF2B5EF4-FFF2-40B4-BE49-F238E27FC236}">
                <a16:creationId xmlns:a16="http://schemas.microsoft.com/office/drawing/2014/main" id="{53C1CDF8-61FF-182F-37C6-4EA0183E22B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C28E0-2F8B-4999-AEA2-B3AA3AE899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3" name="Table 9">
            <a:extLst>
              <a:ext uri="{FF2B5EF4-FFF2-40B4-BE49-F238E27FC236}">
                <a16:creationId xmlns:a16="http://schemas.microsoft.com/office/drawing/2014/main" id="{EFA4EB2C-412A-51A7-5A13-27034706A2F1}"/>
              </a:ext>
            </a:extLst>
          </p:cNvPr>
          <p:cNvGraphicFramePr>
            <a:graphicFrameLocks noGrp="1"/>
          </p:cNvGraphicFramePr>
          <p:nvPr/>
        </p:nvGraphicFramePr>
        <p:xfrm>
          <a:off x="1108952" y="3115037"/>
          <a:ext cx="3983892" cy="2225040"/>
        </p:xfrm>
        <a:graphic>
          <a:graphicData uri="http://schemas.openxmlformats.org/drawingml/2006/table">
            <a:tbl>
              <a:tblPr firstRow="1" bandRow="1">
                <a:tableStyleId>{616DA210-FB5B-4158-B5E0-FEB733F419BA}</a:tableStyleId>
              </a:tblPr>
              <a:tblGrid>
                <a:gridCol w="1991946">
                  <a:extLst>
                    <a:ext uri="{9D8B030D-6E8A-4147-A177-3AD203B41FA5}">
                      <a16:colId xmlns:a16="http://schemas.microsoft.com/office/drawing/2014/main" val="2271265037"/>
                    </a:ext>
                  </a:extLst>
                </a:gridCol>
                <a:gridCol w="1991946">
                  <a:extLst>
                    <a:ext uri="{9D8B030D-6E8A-4147-A177-3AD203B41FA5}">
                      <a16:colId xmlns:a16="http://schemas.microsoft.com/office/drawing/2014/main" val="2272467781"/>
                    </a:ext>
                  </a:extLst>
                </a:gridCol>
              </a:tblGrid>
              <a:tr h="370840">
                <a:tc>
                  <a:txBody>
                    <a:bodyPr/>
                    <a:lstStyle/>
                    <a:p>
                      <a:pPr algn="ctr"/>
                      <a:r>
                        <a:rPr lang="en-US" dirty="0">
                          <a:solidFill>
                            <a:srgbClr val="0081E2"/>
                          </a:solidFill>
                          <a:latin typeface="Consolas" panose="020B0609020204030204" pitchFamily="49" charset="0"/>
                        </a:rPr>
                        <a:t>Character</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0081E2"/>
                          </a:solidFill>
                          <a:latin typeface="Consolas" panose="020B0609020204030204" pitchFamily="49" charset="0"/>
                        </a:rPr>
                        <a:t>Frequency</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1595092"/>
                  </a:ext>
                </a:extLst>
              </a:tr>
              <a:tr h="370840">
                <a:tc>
                  <a:txBody>
                    <a:bodyPr/>
                    <a:lstStyle/>
                    <a:p>
                      <a:pPr algn="ctr"/>
                      <a:r>
                        <a:rPr lang="en-US" dirty="0">
                          <a:solidFill>
                            <a:schemeClr val="bg1"/>
                          </a:solidFill>
                          <a:latin typeface="Consolas" panose="020B0609020204030204" pitchFamily="49" charset="0"/>
                        </a:rPr>
                        <a:t>a</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4</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49970937"/>
                  </a:ext>
                </a:extLst>
              </a:tr>
              <a:tr h="370840">
                <a:tc>
                  <a:txBody>
                    <a:bodyPr/>
                    <a:lstStyle/>
                    <a:p>
                      <a:pPr algn="ctr"/>
                      <a:r>
                        <a:rPr lang="en-US" dirty="0">
                          <a:solidFill>
                            <a:schemeClr val="bg1"/>
                          </a:solidFill>
                          <a:latin typeface="Consolas" panose="020B0609020204030204" pitchFamily="49" charset="0"/>
                        </a:rPr>
                        <a:t>r</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4</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68507038"/>
                  </a:ext>
                </a:extLst>
              </a:tr>
              <a:tr h="370840">
                <a:tc>
                  <a:txBody>
                    <a:bodyPr/>
                    <a:lstStyle/>
                    <a:p>
                      <a:pPr algn="ctr"/>
                      <a:r>
                        <a:rPr lang="en-US" dirty="0">
                          <a:solidFill>
                            <a:schemeClr val="bg1"/>
                          </a:solidFill>
                          <a:latin typeface="Consolas" panose="020B0609020204030204" pitchFamily="49" charset="0"/>
                        </a:rPr>
                        <a:t>c</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3</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4359449"/>
                  </a:ext>
                </a:extLst>
              </a:tr>
              <a:tr h="370840">
                <a:tc>
                  <a:txBody>
                    <a:bodyPr/>
                    <a:lstStyle/>
                    <a:p>
                      <a:pPr algn="ctr"/>
                      <a:r>
                        <a:rPr lang="en-US" dirty="0">
                          <a:solidFill>
                            <a:schemeClr val="bg1"/>
                          </a:solidFill>
                          <a:latin typeface="Consolas" panose="020B0609020204030204" pitchFamily="49" charset="0"/>
                        </a:rPr>
                        <a:t>e</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3</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96846206"/>
                  </a:ext>
                </a:extLst>
              </a:tr>
              <a:tr h="370840">
                <a:tc>
                  <a:txBody>
                    <a:bodyPr/>
                    <a:lstStyle/>
                    <a:p>
                      <a:pPr algn="ctr"/>
                      <a:r>
                        <a:rPr lang="en-US" dirty="0">
                          <a:solidFill>
                            <a:schemeClr val="bg1"/>
                          </a:solidFill>
                          <a:latin typeface="Consolas" panose="020B0609020204030204" pitchFamily="49" charset="0"/>
                        </a:rPr>
                        <a:t>‘ ’</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2</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68509123"/>
                  </a:ext>
                </a:extLst>
              </a:tr>
            </a:tbl>
          </a:graphicData>
        </a:graphic>
      </p:graphicFrame>
      <p:sp>
        <p:nvSpPr>
          <p:cNvPr id="10" name="Rectangle 9">
            <a:extLst>
              <a:ext uri="{FF2B5EF4-FFF2-40B4-BE49-F238E27FC236}">
                <a16:creationId xmlns:a16="http://schemas.microsoft.com/office/drawing/2014/main" id="{91C0D7C6-B692-86AB-1C40-455C78BCCE94}"/>
              </a:ext>
            </a:extLst>
          </p:cNvPr>
          <p:cNvSpPr/>
          <p:nvPr/>
        </p:nvSpPr>
        <p:spPr>
          <a:xfrm>
            <a:off x="948177" y="1615534"/>
            <a:ext cx="10515599"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2.  Construct a set of trees with root nodes that contain each of the individual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symbols and their weight (frequency).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3.  Place the set of trees into a min priority queue.</a:t>
            </a:r>
          </a:p>
        </p:txBody>
      </p:sp>
      <p:sp>
        <p:nvSpPr>
          <p:cNvPr id="11" name="Oval 10">
            <a:extLst>
              <a:ext uri="{FF2B5EF4-FFF2-40B4-BE49-F238E27FC236}">
                <a16:creationId xmlns:a16="http://schemas.microsoft.com/office/drawing/2014/main" id="{10704C0F-FEBB-AA81-266C-BCD8DCBE29AB}"/>
              </a:ext>
            </a:extLst>
          </p:cNvPr>
          <p:cNvSpPr/>
          <p:nvPr/>
        </p:nvSpPr>
        <p:spPr>
          <a:xfrm>
            <a:off x="6295860" y="5152696"/>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 ’:2</a:t>
            </a:r>
          </a:p>
        </p:txBody>
      </p:sp>
      <p:sp>
        <p:nvSpPr>
          <p:cNvPr id="12" name="Oval 11">
            <a:extLst>
              <a:ext uri="{FF2B5EF4-FFF2-40B4-BE49-F238E27FC236}">
                <a16:creationId xmlns:a16="http://schemas.microsoft.com/office/drawing/2014/main" id="{D45F6D17-FAA6-434A-678B-646C529E0132}"/>
              </a:ext>
            </a:extLst>
          </p:cNvPr>
          <p:cNvSpPr/>
          <p:nvPr/>
        </p:nvSpPr>
        <p:spPr>
          <a:xfrm>
            <a:off x="7463505" y="5151209"/>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c:3</a:t>
            </a:r>
          </a:p>
        </p:txBody>
      </p:sp>
      <p:sp>
        <p:nvSpPr>
          <p:cNvPr id="13" name="Oval 12">
            <a:extLst>
              <a:ext uri="{FF2B5EF4-FFF2-40B4-BE49-F238E27FC236}">
                <a16:creationId xmlns:a16="http://schemas.microsoft.com/office/drawing/2014/main" id="{DB2E0018-2FA7-67FD-5447-B0A43FA8D907}"/>
              </a:ext>
            </a:extLst>
          </p:cNvPr>
          <p:cNvSpPr/>
          <p:nvPr/>
        </p:nvSpPr>
        <p:spPr>
          <a:xfrm>
            <a:off x="8519790" y="5151811"/>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e:3</a:t>
            </a:r>
          </a:p>
        </p:txBody>
      </p:sp>
      <p:sp>
        <p:nvSpPr>
          <p:cNvPr id="14" name="Oval 13">
            <a:extLst>
              <a:ext uri="{FF2B5EF4-FFF2-40B4-BE49-F238E27FC236}">
                <a16:creationId xmlns:a16="http://schemas.microsoft.com/office/drawing/2014/main" id="{428AD276-DB1C-5668-FBD7-AF6D2C03E739}"/>
              </a:ext>
            </a:extLst>
          </p:cNvPr>
          <p:cNvSpPr/>
          <p:nvPr/>
        </p:nvSpPr>
        <p:spPr>
          <a:xfrm>
            <a:off x="9636803" y="5151209"/>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a:4</a:t>
            </a:r>
          </a:p>
        </p:txBody>
      </p:sp>
      <p:sp>
        <p:nvSpPr>
          <p:cNvPr id="15" name="Oval 14">
            <a:extLst>
              <a:ext uri="{FF2B5EF4-FFF2-40B4-BE49-F238E27FC236}">
                <a16:creationId xmlns:a16="http://schemas.microsoft.com/office/drawing/2014/main" id="{3B5CE161-4FB5-CBEE-59BF-6D8B0C980D63}"/>
              </a:ext>
            </a:extLst>
          </p:cNvPr>
          <p:cNvSpPr/>
          <p:nvPr/>
        </p:nvSpPr>
        <p:spPr>
          <a:xfrm>
            <a:off x="5663904" y="4180135"/>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r:4</a:t>
            </a:r>
          </a:p>
        </p:txBody>
      </p:sp>
      <p:grpSp>
        <p:nvGrpSpPr>
          <p:cNvPr id="16" name="Group 15">
            <a:extLst>
              <a:ext uri="{FF2B5EF4-FFF2-40B4-BE49-F238E27FC236}">
                <a16:creationId xmlns:a16="http://schemas.microsoft.com/office/drawing/2014/main" id="{DBAEE871-8D3E-E18A-B713-EFD750497051}"/>
              </a:ext>
            </a:extLst>
          </p:cNvPr>
          <p:cNvGrpSpPr/>
          <p:nvPr/>
        </p:nvGrpSpPr>
        <p:grpSpPr>
          <a:xfrm>
            <a:off x="11317255" y="5989103"/>
            <a:ext cx="841781" cy="748032"/>
            <a:chOff x="11337354" y="6025684"/>
            <a:chExt cx="841781" cy="748032"/>
          </a:xfrm>
        </p:grpSpPr>
        <p:pic>
          <p:nvPicPr>
            <p:cNvPr id="17" name="Picture 16">
              <a:extLst>
                <a:ext uri="{FF2B5EF4-FFF2-40B4-BE49-F238E27FC236}">
                  <a16:creationId xmlns:a16="http://schemas.microsoft.com/office/drawing/2014/main" id="{B9B6842B-CA9D-6115-6D43-591FB4A0F4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Logo COP3530">
              <a:extLst>
                <a:ext uri="{FF2B5EF4-FFF2-40B4-BE49-F238E27FC236}">
                  <a16:creationId xmlns:a16="http://schemas.microsoft.com/office/drawing/2014/main" id="{16B20E79-40F9-4697-E6FA-CDDD7F4F04BB}"/>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
        <p:nvSpPr>
          <p:cNvPr id="4" name="Oval 3">
            <a:extLst>
              <a:ext uri="{FF2B5EF4-FFF2-40B4-BE49-F238E27FC236}">
                <a16:creationId xmlns:a16="http://schemas.microsoft.com/office/drawing/2014/main" id="{5B5E7D53-356D-A287-C7FF-051BFDF5942C}"/>
              </a:ext>
            </a:extLst>
          </p:cNvPr>
          <p:cNvSpPr/>
          <p:nvPr/>
        </p:nvSpPr>
        <p:spPr>
          <a:xfrm>
            <a:off x="6935803" y="4157712"/>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5</a:t>
            </a:r>
          </a:p>
        </p:txBody>
      </p:sp>
      <p:cxnSp>
        <p:nvCxnSpPr>
          <p:cNvPr id="6" name="Straight Connector 5">
            <a:extLst>
              <a:ext uri="{FF2B5EF4-FFF2-40B4-BE49-F238E27FC236}">
                <a16:creationId xmlns:a16="http://schemas.microsoft.com/office/drawing/2014/main" id="{B3CF1CAC-F5C2-6543-1326-BC8C8F78AD64}"/>
              </a:ext>
            </a:extLst>
          </p:cNvPr>
          <p:cNvCxnSpPr>
            <a:cxnSpLocks/>
          </p:cNvCxnSpPr>
          <p:nvPr/>
        </p:nvCxnSpPr>
        <p:spPr>
          <a:xfrm flipH="1">
            <a:off x="6831549" y="4810135"/>
            <a:ext cx="219105" cy="341074"/>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8584962-18F9-A3E1-980B-2089A5C313FC}"/>
              </a:ext>
            </a:extLst>
          </p:cNvPr>
          <p:cNvCxnSpPr>
            <a:cxnSpLocks/>
          </p:cNvCxnSpPr>
          <p:nvPr/>
        </p:nvCxnSpPr>
        <p:spPr>
          <a:xfrm>
            <a:off x="7678993" y="4839995"/>
            <a:ext cx="277283" cy="311214"/>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B5797EF5-FA22-60AE-6E8F-902192624EA9}"/>
              </a:ext>
            </a:extLst>
          </p:cNvPr>
          <p:cNvSpPr/>
          <p:nvPr/>
        </p:nvSpPr>
        <p:spPr>
          <a:xfrm>
            <a:off x="8171764" y="4155703"/>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7</a:t>
            </a:r>
          </a:p>
        </p:txBody>
      </p:sp>
      <p:cxnSp>
        <p:nvCxnSpPr>
          <p:cNvPr id="19" name="Straight Connector 18">
            <a:extLst>
              <a:ext uri="{FF2B5EF4-FFF2-40B4-BE49-F238E27FC236}">
                <a16:creationId xmlns:a16="http://schemas.microsoft.com/office/drawing/2014/main" id="{1E9DC709-6468-3BAD-0AF7-DA25DA572754}"/>
              </a:ext>
            </a:extLst>
          </p:cNvPr>
          <p:cNvCxnSpPr>
            <a:cxnSpLocks/>
          </p:cNvCxnSpPr>
          <p:nvPr/>
        </p:nvCxnSpPr>
        <p:spPr>
          <a:xfrm>
            <a:off x="8738895" y="4876107"/>
            <a:ext cx="50464" cy="366359"/>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5DD6F49-55B4-4AEB-7149-31E5585441B9}"/>
              </a:ext>
            </a:extLst>
          </p:cNvPr>
          <p:cNvCxnSpPr>
            <a:cxnSpLocks/>
            <a:endCxn id="14" idx="1"/>
          </p:cNvCxnSpPr>
          <p:nvPr/>
        </p:nvCxnSpPr>
        <p:spPr>
          <a:xfrm>
            <a:off x="9025811" y="4731616"/>
            <a:ext cx="744903" cy="52672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62102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824042E-A998-F9F6-CF46-EFDE1BE5B9A2}"/>
            </a:ext>
          </a:extLst>
        </p:cNvPr>
        <p:cNvGrpSpPr/>
        <p:nvPr/>
      </p:nvGrpSpPr>
      <p:grpSpPr>
        <a:xfrm>
          <a:off x="0" y="0"/>
          <a:ext cx="0" cy="0"/>
          <a:chOff x="0" y="0"/>
          <a:chExt cx="0" cy="0"/>
        </a:xfrm>
      </p:grpSpPr>
      <p:graphicFrame>
        <p:nvGraphicFramePr>
          <p:cNvPr id="7" name="Table 9">
            <a:extLst>
              <a:ext uri="{FF2B5EF4-FFF2-40B4-BE49-F238E27FC236}">
                <a16:creationId xmlns:a16="http://schemas.microsoft.com/office/drawing/2014/main" id="{61533166-28CC-E32E-D3E3-B223F7C6D421}"/>
              </a:ext>
            </a:extLst>
          </p:cNvPr>
          <p:cNvGraphicFramePr>
            <a:graphicFrameLocks noGrp="1"/>
          </p:cNvGraphicFramePr>
          <p:nvPr/>
        </p:nvGraphicFramePr>
        <p:xfrm>
          <a:off x="5536507" y="4066272"/>
          <a:ext cx="6141150" cy="914400"/>
        </p:xfrm>
        <a:graphic>
          <a:graphicData uri="http://schemas.openxmlformats.org/drawingml/2006/table">
            <a:tbl>
              <a:tblPr firstRow="1" bandRow="1">
                <a:tableStyleId>{616DA210-FB5B-4158-B5E0-FEB733F419BA}</a:tableStyleId>
              </a:tblPr>
              <a:tblGrid>
                <a:gridCol w="1228230">
                  <a:extLst>
                    <a:ext uri="{9D8B030D-6E8A-4147-A177-3AD203B41FA5}">
                      <a16:colId xmlns:a16="http://schemas.microsoft.com/office/drawing/2014/main" val="2738313436"/>
                    </a:ext>
                  </a:extLst>
                </a:gridCol>
                <a:gridCol w="1228230">
                  <a:extLst>
                    <a:ext uri="{9D8B030D-6E8A-4147-A177-3AD203B41FA5}">
                      <a16:colId xmlns:a16="http://schemas.microsoft.com/office/drawing/2014/main" val="2269355868"/>
                    </a:ext>
                  </a:extLst>
                </a:gridCol>
                <a:gridCol w="1228230">
                  <a:extLst>
                    <a:ext uri="{9D8B030D-6E8A-4147-A177-3AD203B41FA5}">
                      <a16:colId xmlns:a16="http://schemas.microsoft.com/office/drawing/2014/main" val="1947061169"/>
                    </a:ext>
                  </a:extLst>
                </a:gridCol>
                <a:gridCol w="1228230">
                  <a:extLst>
                    <a:ext uri="{9D8B030D-6E8A-4147-A177-3AD203B41FA5}">
                      <a16:colId xmlns:a16="http://schemas.microsoft.com/office/drawing/2014/main" val="3498175666"/>
                    </a:ext>
                  </a:extLst>
                </a:gridCol>
                <a:gridCol w="1228230">
                  <a:extLst>
                    <a:ext uri="{9D8B030D-6E8A-4147-A177-3AD203B41FA5}">
                      <a16:colId xmlns:a16="http://schemas.microsoft.com/office/drawing/2014/main" val="3093084202"/>
                    </a:ext>
                  </a:extLst>
                </a:gridCol>
              </a:tblGrid>
              <a:tr h="460935">
                <a:tc>
                  <a:txBody>
                    <a:bodyPr/>
                    <a:lstStyle/>
                    <a:p>
                      <a:endParaRPr lang="en-US" dirty="0"/>
                    </a:p>
                    <a:p>
                      <a:endParaRPr lang="en-US" dirty="0"/>
                    </a:p>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tc>
                  <a:txBody>
                    <a:bodyPr/>
                    <a:lstStyle/>
                    <a:p>
                      <a:endParaRPr lang="en-US" dirty="0"/>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tcPr>
                </a:tc>
                <a:extLst>
                  <a:ext uri="{0D108BD9-81ED-4DB2-BD59-A6C34878D82A}">
                    <a16:rowId xmlns:a16="http://schemas.microsoft.com/office/drawing/2014/main" val="547400478"/>
                  </a:ext>
                </a:extLst>
              </a:tr>
            </a:tbl>
          </a:graphicData>
        </a:graphic>
      </p:graphicFrame>
      <p:sp>
        <p:nvSpPr>
          <p:cNvPr id="2" name="Title 1">
            <a:extLst>
              <a:ext uri="{FF2B5EF4-FFF2-40B4-BE49-F238E27FC236}">
                <a16:creationId xmlns:a16="http://schemas.microsoft.com/office/drawing/2014/main" id="{5573AB12-8E37-76FC-52FE-BE265C55F381}"/>
              </a:ext>
            </a:extLst>
          </p:cNvPr>
          <p:cNvSpPr>
            <a:spLocks noGrp="1"/>
          </p:cNvSpPr>
          <p:nvPr>
            <p:ph type="title"/>
          </p:nvPr>
        </p:nvSpPr>
        <p:spPr/>
        <p:txBody>
          <a:bodyPr>
            <a:normAutofit/>
          </a:bodyPr>
          <a:lstStyle/>
          <a:p>
            <a:pPr lvl="0" defTabSz="457200">
              <a:lnSpc>
                <a:spcPct val="100000"/>
              </a:lnSpc>
              <a:spcBef>
                <a:spcPts val="0"/>
              </a:spcBef>
              <a:defRPr/>
            </a:pPr>
            <a:r>
              <a:rPr lang="en-US" sz="2800" dirty="0">
                <a:solidFill>
                  <a:prstClr val="white"/>
                </a:solidFill>
                <a:latin typeface="Gotham Bold" pitchFamily="50" charset="0"/>
              </a:rPr>
              <a:t>Algorithm for Huffman Encoding</a:t>
            </a:r>
          </a:p>
        </p:txBody>
      </p:sp>
      <p:sp>
        <p:nvSpPr>
          <p:cNvPr id="5" name="Slide Number Placeholder 4">
            <a:extLst>
              <a:ext uri="{FF2B5EF4-FFF2-40B4-BE49-F238E27FC236}">
                <a16:creationId xmlns:a16="http://schemas.microsoft.com/office/drawing/2014/main" id="{74596553-8A0A-1171-E043-3ACC5F6D20E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C28E0-2F8B-4999-AEA2-B3AA3AE899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3" name="Table 9">
            <a:extLst>
              <a:ext uri="{FF2B5EF4-FFF2-40B4-BE49-F238E27FC236}">
                <a16:creationId xmlns:a16="http://schemas.microsoft.com/office/drawing/2014/main" id="{40F63279-3DB7-71CA-E689-92999F536A98}"/>
              </a:ext>
            </a:extLst>
          </p:cNvPr>
          <p:cNvGraphicFramePr>
            <a:graphicFrameLocks noGrp="1"/>
          </p:cNvGraphicFramePr>
          <p:nvPr/>
        </p:nvGraphicFramePr>
        <p:xfrm>
          <a:off x="1108952" y="3115037"/>
          <a:ext cx="3983892" cy="2225040"/>
        </p:xfrm>
        <a:graphic>
          <a:graphicData uri="http://schemas.openxmlformats.org/drawingml/2006/table">
            <a:tbl>
              <a:tblPr firstRow="1" bandRow="1">
                <a:tableStyleId>{616DA210-FB5B-4158-B5E0-FEB733F419BA}</a:tableStyleId>
              </a:tblPr>
              <a:tblGrid>
                <a:gridCol w="1991946">
                  <a:extLst>
                    <a:ext uri="{9D8B030D-6E8A-4147-A177-3AD203B41FA5}">
                      <a16:colId xmlns:a16="http://schemas.microsoft.com/office/drawing/2014/main" val="2271265037"/>
                    </a:ext>
                  </a:extLst>
                </a:gridCol>
                <a:gridCol w="1991946">
                  <a:extLst>
                    <a:ext uri="{9D8B030D-6E8A-4147-A177-3AD203B41FA5}">
                      <a16:colId xmlns:a16="http://schemas.microsoft.com/office/drawing/2014/main" val="2272467781"/>
                    </a:ext>
                  </a:extLst>
                </a:gridCol>
              </a:tblGrid>
              <a:tr h="370840">
                <a:tc>
                  <a:txBody>
                    <a:bodyPr/>
                    <a:lstStyle/>
                    <a:p>
                      <a:pPr algn="ctr"/>
                      <a:r>
                        <a:rPr lang="en-US" dirty="0">
                          <a:solidFill>
                            <a:srgbClr val="0081E2"/>
                          </a:solidFill>
                          <a:latin typeface="Consolas" panose="020B0609020204030204" pitchFamily="49" charset="0"/>
                        </a:rPr>
                        <a:t>Character</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0081E2"/>
                          </a:solidFill>
                          <a:latin typeface="Consolas" panose="020B0609020204030204" pitchFamily="49" charset="0"/>
                        </a:rPr>
                        <a:t>Frequency</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1595092"/>
                  </a:ext>
                </a:extLst>
              </a:tr>
              <a:tr h="370840">
                <a:tc>
                  <a:txBody>
                    <a:bodyPr/>
                    <a:lstStyle/>
                    <a:p>
                      <a:pPr algn="ctr"/>
                      <a:r>
                        <a:rPr lang="en-US" dirty="0">
                          <a:solidFill>
                            <a:schemeClr val="bg1"/>
                          </a:solidFill>
                          <a:latin typeface="Consolas" panose="020B0609020204030204" pitchFamily="49" charset="0"/>
                        </a:rPr>
                        <a:t>a</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4</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49970937"/>
                  </a:ext>
                </a:extLst>
              </a:tr>
              <a:tr h="370840">
                <a:tc>
                  <a:txBody>
                    <a:bodyPr/>
                    <a:lstStyle/>
                    <a:p>
                      <a:pPr algn="ctr"/>
                      <a:r>
                        <a:rPr lang="en-US" dirty="0">
                          <a:solidFill>
                            <a:schemeClr val="bg1"/>
                          </a:solidFill>
                          <a:latin typeface="Consolas" panose="020B0609020204030204" pitchFamily="49" charset="0"/>
                        </a:rPr>
                        <a:t>r</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4</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68507038"/>
                  </a:ext>
                </a:extLst>
              </a:tr>
              <a:tr h="370840">
                <a:tc>
                  <a:txBody>
                    <a:bodyPr/>
                    <a:lstStyle/>
                    <a:p>
                      <a:pPr algn="ctr"/>
                      <a:r>
                        <a:rPr lang="en-US" dirty="0">
                          <a:solidFill>
                            <a:schemeClr val="bg1"/>
                          </a:solidFill>
                          <a:latin typeface="Consolas" panose="020B0609020204030204" pitchFamily="49" charset="0"/>
                        </a:rPr>
                        <a:t>c</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3</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4359449"/>
                  </a:ext>
                </a:extLst>
              </a:tr>
              <a:tr h="370840">
                <a:tc>
                  <a:txBody>
                    <a:bodyPr/>
                    <a:lstStyle/>
                    <a:p>
                      <a:pPr algn="ctr"/>
                      <a:r>
                        <a:rPr lang="en-US" dirty="0">
                          <a:solidFill>
                            <a:schemeClr val="bg1"/>
                          </a:solidFill>
                          <a:latin typeface="Consolas" panose="020B0609020204030204" pitchFamily="49" charset="0"/>
                        </a:rPr>
                        <a:t>e</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3</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96846206"/>
                  </a:ext>
                </a:extLst>
              </a:tr>
              <a:tr h="370840">
                <a:tc>
                  <a:txBody>
                    <a:bodyPr/>
                    <a:lstStyle/>
                    <a:p>
                      <a:pPr algn="ctr"/>
                      <a:r>
                        <a:rPr lang="en-US" dirty="0">
                          <a:solidFill>
                            <a:schemeClr val="bg1"/>
                          </a:solidFill>
                          <a:latin typeface="Consolas" panose="020B0609020204030204" pitchFamily="49" charset="0"/>
                        </a:rPr>
                        <a:t>‘ ’</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2</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68509123"/>
                  </a:ext>
                </a:extLst>
              </a:tr>
            </a:tbl>
          </a:graphicData>
        </a:graphic>
      </p:graphicFrame>
      <p:sp>
        <p:nvSpPr>
          <p:cNvPr id="10" name="Rectangle 9">
            <a:extLst>
              <a:ext uri="{FF2B5EF4-FFF2-40B4-BE49-F238E27FC236}">
                <a16:creationId xmlns:a16="http://schemas.microsoft.com/office/drawing/2014/main" id="{2D34682C-F507-C82A-65EE-A16311E0912D}"/>
              </a:ext>
            </a:extLst>
          </p:cNvPr>
          <p:cNvSpPr/>
          <p:nvPr/>
        </p:nvSpPr>
        <p:spPr>
          <a:xfrm>
            <a:off x="948177" y="1615534"/>
            <a:ext cx="10515599"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2.  Construct a set of trees with root nodes that contain each of the individual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symbols and their weight (frequency).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3.  Place the set of trees into a min priority queue.</a:t>
            </a:r>
          </a:p>
        </p:txBody>
      </p:sp>
      <p:sp>
        <p:nvSpPr>
          <p:cNvPr id="11" name="Oval 10">
            <a:extLst>
              <a:ext uri="{FF2B5EF4-FFF2-40B4-BE49-F238E27FC236}">
                <a16:creationId xmlns:a16="http://schemas.microsoft.com/office/drawing/2014/main" id="{DE527246-175C-AFB7-FB87-DA535B907994}"/>
              </a:ext>
            </a:extLst>
          </p:cNvPr>
          <p:cNvSpPr/>
          <p:nvPr/>
        </p:nvSpPr>
        <p:spPr>
          <a:xfrm>
            <a:off x="7052930" y="6127967"/>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 ’:2</a:t>
            </a:r>
          </a:p>
        </p:txBody>
      </p:sp>
      <p:sp>
        <p:nvSpPr>
          <p:cNvPr id="12" name="Oval 11">
            <a:extLst>
              <a:ext uri="{FF2B5EF4-FFF2-40B4-BE49-F238E27FC236}">
                <a16:creationId xmlns:a16="http://schemas.microsoft.com/office/drawing/2014/main" id="{0E8E7907-FFFD-BEE0-5A05-8CBC1CDD0A00}"/>
              </a:ext>
            </a:extLst>
          </p:cNvPr>
          <p:cNvSpPr/>
          <p:nvPr/>
        </p:nvSpPr>
        <p:spPr>
          <a:xfrm>
            <a:off x="8220575" y="6126480"/>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c:3</a:t>
            </a:r>
          </a:p>
        </p:txBody>
      </p:sp>
      <p:sp>
        <p:nvSpPr>
          <p:cNvPr id="13" name="Oval 12">
            <a:extLst>
              <a:ext uri="{FF2B5EF4-FFF2-40B4-BE49-F238E27FC236}">
                <a16:creationId xmlns:a16="http://schemas.microsoft.com/office/drawing/2014/main" id="{503A8750-9065-AD96-D16F-292AD438EDD3}"/>
              </a:ext>
            </a:extLst>
          </p:cNvPr>
          <p:cNvSpPr/>
          <p:nvPr/>
        </p:nvSpPr>
        <p:spPr>
          <a:xfrm>
            <a:off x="4470643" y="5623343"/>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e:3</a:t>
            </a:r>
          </a:p>
        </p:txBody>
      </p:sp>
      <p:sp>
        <p:nvSpPr>
          <p:cNvPr id="14" name="Oval 13">
            <a:extLst>
              <a:ext uri="{FF2B5EF4-FFF2-40B4-BE49-F238E27FC236}">
                <a16:creationId xmlns:a16="http://schemas.microsoft.com/office/drawing/2014/main" id="{A095EE11-F642-C1BC-CA60-1AAEE54B2862}"/>
              </a:ext>
            </a:extLst>
          </p:cNvPr>
          <p:cNvSpPr/>
          <p:nvPr/>
        </p:nvSpPr>
        <p:spPr>
          <a:xfrm>
            <a:off x="5494986" y="5613088"/>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a:4</a:t>
            </a:r>
          </a:p>
        </p:txBody>
      </p:sp>
      <p:sp>
        <p:nvSpPr>
          <p:cNvPr id="15" name="Oval 14">
            <a:extLst>
              <a:ext uri="{FF2B5EF4-FFF2-40B4-BE49-F238E27FC236}">
                <a16:creationId xmlns:a16="http://schemas.microsoft.com/office/drawing/2014/main" id="{C3A87105-8A20-B540-1D2A-9545D10110DE}"/>
              </a:ext>
            </a:extLst>
          </p:cNvPr>
          <p:cNvSpPr/>
          <p:nvPr/>
        </p:nvSpPr>
        <p:spPr>
          <a:xfrm>
            <a:off x="6623431" y="5132983"/>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r:4</a:t>
            </a:r>
          </a:p>
        </p:txBody>
      </p:sp>
      <p:grpSp>
        <p:nvGrpSpPr>
          <p:cNvPr id="16" name="Group 15">
            <a:extLst>
              <a:ext uri="{FF2B5EF4-FFF2-40B4-BE49-F238E27FC236}">
                <a16:creationId xmlns:a16="http://schemas.microsoft.com/office/drawing/2014/main" id="{8EFBEE60-7126-42AF-7B3B-39B22BDC8C19}"/>
              </a:ext>
            </a:extLst>
          </p:cNvPr>
          <p:cNvGrpSpPr/>
          <p:nvPr/>
        </p:nvGrpSpPr>
        <p:grpSpPr>
          <a:xfrm>
            <a:off x="11317255" y="5989103"/>
            <a:ext cx="841781" cy="748032"/>
            <a:chOff x="11337354" y="6025684"/>
            <a:chExt cx="841781" cy="748032"/>
          </a:xfrm>
        </p:grpSpPr>
        <p:pic>
          <p:nvPicPr>
            <p:cNvPr id="17" name="Picture 16">
              <a:extLst>
                <a:ext uri="{FF2B5EF4-FFF2-40B4-BE49-F238E27FC236}">
                  <a16:creationId xmlns:a16="http://schemas.microsoft.com/office/drawing/2014/main" id="{54D530B8-495D-D57B-809A-A4337DA434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Logo COP3530">
              <a:extLst>
                <a:ext uri="{FF2B5EF4-FFF2-40B4-BE49-F238E27FC236}">
                  <a16:creationId xmlns:a16="http://schemas.microsoft.com/office/drawing/2014/main" id="{E4C6AB59-291F-3AA9-898C-91DD9CC2B554}"/>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
        <p:nvSpPr>
          <p:cNvPr id="4" name="Oval 3">
            <a:extLst>
              <a:ext uri="{FF2B5EF4-FFF2-40B4-BE49-F238E27FC236}">
                <a16:creationId xmlns:a16="http://schemas.microsoft.com/office/drawing/2014/main" id="{CDAEC5AE-5220-9065-8F84-7798F7441831}"/>
              </a:ext>
            </a:extLst>
          </p:cNvPr>
          <p:cNvSpPr/>
          <p:nvPr/>
        </p:nvSpPr>
        <p:spPr>
          <a:xfrm>
            <a:off x="7692873" y="5132983"/>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5</a:t>
            </a:r>
          </a:p>
        </p:txBody>
      </p:sp>
      <p:cxnSp>
        <p:nvCxnSpPr>
          <p:cNvPr id="6" name="Straight Connector 5">
            <a:extLst>
              <a:ext uri="{FF2B5EF4-FFF2-40B4-BE49-F238E27FC236}">
                <a16:creationId xmlns:a16="http://schemas.microsoft.com/office/drawing/2014/main" id="{839DAA12-7B69-76D7-8C2D-DD79E5D44424}"/>
              </a:ext>
            </a:extLst>
          </p:cNvPr>
          <p:cNvCxnSpPr>
            <a:cxnSpLocks/>
          </p:cNvCxnSpPr>
          <p:nvPr/>
        </p:nvCxnSpPr>
        <p:spPr>
          <a:xfrm flipH="1">
            <a:off x="7588619" y="5785406"/>
            <a:ext cx="219105" cy="341074"/>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CDBD41B-7E80-F6AB-722C-941E24506170}"/>
              </a:ext>
            </a:extLst>
          </p:cNvPr>
          <p:cNvCxnSpPr>
            <a:cxnSpLocks/>
          </p:cNvCxnSpPr>
          <p:nvPr/>
        </p:nvCxnSpPr>
        <p:spPr>
          <a:xfrm>
            <a:off x="8436063" y="5815266"/>
            <a:ext cx="277283" cy="311214"/>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6C33DC0B-30B2-D4CF-4176-80D85F5650F3}"/>
              </a:ext>
            </a:extLst>
          </p:cNvPr>
          <p:cNvSpPr/>
          <p:nvPr/>
        </p:nvSpPr>
        <p:spPr>
          <a:xfrm>
            <a:off x="5632601" y="4136875"/>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7</a:t>
            </a:r>
          </a:p>
        </p:txBody>
      </p:sp>
      <p:cxnSp>
        <p:nvCxnSpPr>
          <p:cNvPr id="19" name="Straight Connector 18">
            <a:extLst>
              <a:ext uri="{FF2B5EF4-FFF2-40B4-BE49-F238E27FC236}">
                <a16:creationId xmlns:a16="http://schemas.microsoft.com/office/drawing/2014/main" id="{2273D5A5-6474-C819-FD78-71D776499F54}"/>
              </a:ext>
            </a:extLst>
          </p:cNvPr>
          <p:cNvCxnSpPr>
            <a:cxnSpLocks/>
          </p:cNvCxnSpPr>
          <p:nvPr/>
        </p:nvCxnSpPr>
        <p:spPr>
          <a:xfrm flipH="1">
            <a:off x="5084252" y="4808229"/>
            <a:ext cx="788879" cy="815114"/>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32A2CB2-227F-2305-0C2D-82529922C00A}"/>
              </a:ext>
            </a:extLst>
          </p:cNvPr>
          <p:cNvCxnSpPr>
            <a:cxnSpLocks/>
          </p:cNvCxnSpPr>
          <p:nvPr/>
        </p:nvCxnSpPr>
        <p:spPr>
          <a:xfrm flipH="1">
            <a:off x="6157326" y="4808229"/>
            <a:ext cx="143018" cy="804859"/>
          </a:xfrm>
          <a:prstGeom prst="line">
            <a:avLst/>
          </a:prstGeom>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E431972-86A6-3A10-DB93-28751DC420E9}"/>
              </a:ext>
            </a:extLst>
          </p:cNvPr>
          <p:cNvSpPr/>
          <p:nvPr/>
        </p:nvSpPr>
        <p:spPr>
          <a:xfrm>
            <a:off x="6909648" y="4137346"/>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9</a:t>
            </a:r>
          </a:p>
        </p:txBody>
      </p:sp>
      <p:cxnSp>
        <p:nvCxnSpPr>
          <p:cNvPr id="22" name="Straight Connector 21">
            <a:extLst>
              <a:ext uri="{FF2B5EF4-FFF2-40B4-BE49-F238E27FC236}">
                <a16:creationId xmlns:a16="http://schemas.microsoft.com/office/drawing/2014/main" id="{B46B6F8E-989D-EF2B-B7FB-AAC162546082}"/>
              </a:ext>
            </a:extLst>
          </p:cNvPr>
          <p:cNvCxnSpPr>
            <a:cxnSpLocks/>
            <a:endCxn id="15" idx="0"/>
          </p:cNvCxnSpPr>
          <p:nvPr/>
        </p:nvCxnSpPr>
        <p:spPr>
          <a:xfrm flipH="1">
            <a:off x="7080631" y="4852956"/>
            <a:ext cx="109523" cy="2800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4800855-8A81-A19B-1DF9-74D68B3D0C89}"/>
              </a:ext>
            </a:extLst>
          </p:cNvPr>
          <p:cNvCxnSpPr>
            <a:cxnSpLocks/>
          </p:cNvCxnSpPr>
          <p:nvPr/>
        </p:nvCxnSpPr>
        <p:spPr>
          <a:xfrm>
            <a:off x="7763695" y="4713259"/>
            <a:ext cx="215395" cy="49750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98159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pPr lvl="0" defTabSz="457200">
              <a:lnSpc>
                <a:spcPct val="100000"/>
              </a:lnSpc>
              <a:spcBef>
                <a:spcPts val="0"/>
              </a:spcBef>
              <a:defRPr/>
            </a:pPr>
            <a:r>
              <a:rPr lang="en-US" sz="2800" dirty="0">
                <a:solidFill>
                  <a:prstClr val="white"/>
                </a:solidFill>
                <a:latin typeface="Gotham Bold" pitchFamily="50" charset="0"/>
              </a:rPr>
              <a:t>Algorithm for Huffman Encoding</a:t>
            </a:r>
          </a:p>
        </p:txBody>
      </p:sp>
      <p:sp>
        <p:nvSpPr>
          <p:cNvPr id="5" name="Slide Number Placeholder 4">
            <a:extLst>
              <a:ext uri="{FF2B5EF4-FFF2-40B4-BE49-F238E27FC236}">
                <a16:creationId xmlns:a16="http://schemas.microsoft.com/office/drawing/2014/main" id="{97839201-5FEF-4A49-9BF1-D69CC9B0628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C28E0-2F8B-4999-AEA2-B3AA3AE899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3" name="Table 9">
            <a:extLst>
              <a:ext uri="{FF2B5EF4-FFF2-40B4-BE49-F238E27FC236}">
                <a16:creationId xmlns:a16="http://schemas.microsoft.com/office/drawing/2014/main" id="{5FC82B5D-7E20-452E-91A2-315ABDFF50DE}"/>
              </a:ext>
            </a:extLst>
          </p:cNvPr>
          <p:cNvGraphicFramePr>
            <a:graphicFrameLocks noGrp="1"/>
          </p:cNvGraphicFramePr>
          <p:nvPr>
            <p:extLst>
              <p:ext uri="{D42A27DB-BD31-4B8C-83A1-F6EECF244321}">
                <p14:modId xmlns:p14="http://schemas.microsoft.com/office/powerpoint/2010/main" val="973366138"/>
              </p:ext>
            </p:extLst>
          </p:nvPr>
        </p:nvGraphicFramePr>
        <p:xfrm>
          <a:off x="1088925" y="3868152"/>
          <a:ext cx="3983892" cy="2225040"/>
        </p:xfrm>
        <a:graphic>
          <a:graphicData uri="http://schemas.openxmlformats.org/drawingml/2006/table">
            <a:tbl>
              <a:tblPr firstRow="1" bandRow="1">
                <a:tableStyleId>{616DA210-FB5B-4158-B5E0-FEB733F419BA}</a:tableStyleId>
              </a:tblPr>
              <a:tblGrid>
                <a:gridCol w="1991946">
                  <a:extLst>
                    <a:ext uri="{9D8B030D-6E8A-4147-A177-3AD203B41FA5}">
                      <a16:colId xmlns:a16="http://schemas.microsoft.com/office/drawing/2014/main" val="2271265037"/>
                    </a:ext>
                  </a:extLst>
                </a:gridCol>
                <a:gridCol w="1991946">
                  <a:extLst>
                    <a:ext uri="{9D8B030D-6E8A-4147-A177-3AD203B41FA5}">
                      <a16:colId xmlns:a16="http://schemas.microsoft.com/office/drawing/2014/main" val="2272467781"/>
                    </a:ext>
                  </a:extLst>
                </a:gridCol>
              </a:tblGrid>
              <a:tr h="370840">
                <a:tc>
                  <a:txBody>
                    <a:bodyPr/>
                    <a:lstStyle/>
                    <a:p>
                      <a:pPr algn="ctr"/>
                      <a:r>
                        <a:rPr lang="en-US" dirty="0">
                          <a:solidFill>
                            <a:srgbClr val="0081E2"/>
                          </a:solidFill>
                          <a:latin typeface="Consolas" panose="020B0609020204030204" pitchFamily="49" charset="0"/>
                        </a:rPr>
                        <a:t>Character</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0081E2"/>
                          </a:solidFill>
                          <a:latin typeface="Consolas" panose="020B0609020204030204" pitchFamily="49" charset="0"/>
                        </a:rPr>
                        <a:t>Frequency</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1595092"/>
                  </a:ext>
                </a:extLst>
              </a:tr>
              <a:tr h="370840">
                <a:tc>
                  <a:txBody>
                    <a:bodyPr/>
                    <a:lstStyle/>
                    <a:p>
                      <a:pPr algn="ctr"/>
                      <a:r>
                        <a:rPr lang="en-US" dirty="0">
                          <a:solidFill>
                            <a:schemeClr val="bg1"/>
                          </a:solidFill>
                          <a:latin typeface="Consolas" panose="020B0609020204030204" pitchFamily="49" charset="0"/>
                        </a:rPr>
                        <a:t>a</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4</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49970937"/>
                  </a:ext>
                </a:extLst>
              </a:tr>
              <a:tr h="370840">
                <a:tc>
                  <a:txBody>
                    <a:bodyPr/>
                    <a:lstStyle/>
                    <a:p>
                      <a:pPr algn="ctr"/>
                      <a:r>
                        <a:rPr lang="en-US" dirty="0">
                          <a:solidFill>
                            <a:schemeClr val="bg1"/>
                          </a:solidFill>
                          <a:latin typeface="Consolas" panose="020B0609020204030204" pitchFamily="49" charset="0"/>
                        </a:rPr>
                        <a:t>r</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4</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68507038"/>
                  </a:ext>
                </a:extLst>
              </a:tr>
              <a:tr h="370840">
                <a:tc>
                  <a:txBody>
                    <a:bodyPr/>
                    <a:lstStyle/>
                    <a:p>
                      <a:pPr algn="ctr"/>
                      <a:r>
                        <a:rPr lang="en-US" dirty="0">
                          <a:solidFill>
                            <a:schemeClr val="bg1"/>
                          </a:solidFill>
                          <a:latin typeface="Consolas" panose="020B0609020204030204" pitchFamily="49" charset="0"/>
                        </a:rPr>
                        <a:t>c</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3</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4359449"/>
                  </a:ext>
                </a:extLst>
              </a:tr>
              <a:tr h="370840">
                <a:tc>
                  <a:txBody>
                    <a:bodyPr/>
                    <a:lstStyle/>
                    <a:p>
                      <a:pPr algn="ctr"/>
                      <a:r>
                        <a:rPr lang="en-US" dirty="0">
                          <a:solidFill>
                            <a:schemeClr val="bg1"/>
                          </a:solidFill>
                          <a:latin typeface="Consolas" panose="020B0609020204030204" pitchFamily="49" charset="0"/>
                        </a:rPr>
                        <a:t>e</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3</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96846206"/>
                  </a:ext>
                </a:extLst>
              </a:tr>
              <a:tr h="370840">
                <a:tc>
                  <a:txBody>
                    <a:bodyPr/>
                    <a:lstStyle/>
                    <a:p>
                      <a:pPr algn="ctr"/>
                      <a:r>
                        <a:rPr lang="en-US" dirty="0">
                          <a:solidFill>
                            <a:schemeClr val="bg1"/>
                          </a:solidFill>
                          <a:latin typeface="Consolas" panose="020B0609020204030204" pitchFamily="49" charset="0"/>
                        </a:rPr>
                        <a:t>‘ ’</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2</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68509123"/>
                  </a:ext>
                </a:extLst>
              </a:tr>
            </a:tbl>
          </a:graphicData>
        </a:graphic>
      </p:graphicFrame>
      <p:grpSp>
        <p:nvGrpSpPr>
          <p:cNvPr id="16" name="Group 15">
            <a:extLst>
              <a:ext uri="{FF2B5EF4-FFF2-40B4-BE49-F238E27FC236}">
                <a16:creationId xmlns:a16="http://schemas.microsoft.com/office/drawing/2014/main" id="{4D42D00E-EC2F-4CCC-A9FA-65DFEE2FF899}"/>
              </a:ext>
            </a:extLst>
          </p:cNvPr>
          <p:cNvGrpSpPr/>
          <p:nvPr/>
        </p:nvGrpSpPr>
        <p:grpSpPr>
          <a:xfrm>
            <a:off x="11317255" y="5989103"/>
            <a:ext cx="841781" cy="748032"/>
            <a:chOff x="11337354" y="6025684"/>
            <a:chExt cx="841781" cy="748032"/>
          </a:xfrm>
        </p:grpSpPr>
        <p:pic>
          <p:nvPicPr>
            <p:cNvPr id="17" name="Picture 16">
              <a:extLst>
                <a:ext uri="{FF2B5EF4-FFF2-40B4-BE49-F238E27FC236}">
                  <a16:creationId xmlns:a16="http://schemas.microsoft.com/office/drawing/2014/main" id="{4E1B0A17-F990-483C-86ED-429B6C8879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Logo COP3530">
              <a:extLst>
                <a:ext uri="{FF2B5EF4-FFF2-40B4-BE49-F238E27FC236}">
                  <a16:creationId xmlns:a16="http://schemas.microsoft.com/office/drawing/2014/main" id="{1026593B-A0E9-4C6F-82D4-F93B759ECDF1}"/>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
        <p:nvSpPr>
          <p:cNvPr id="19" name="Rectangle 18">
            <a:extLst>
              <a:ext uri="{FF2B5EF4-FFF2-40B4-BE49-F238E27FC236}">
                <a16:creationId xmlns:a16="http://schemas.microsoft.com/office/drawing/2014/main" id="{E7820370-7ED0-4C97-8925-6D581D129736}"/>
              </a:ext>
            </a:extLst>
          </p:cNvPr>
          <p:cNvSpPr/>
          <p:nvPr/>
        </p:nvSpPr>
        <p:spPr>
          <a:xfrm>
            <a:off x="889277" y="1456450"/>
            <a:ext cx="10515599" cy="189282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4. while the priority queue has more than one item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Remove the two trees with the smallest weights.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Combine them into a new binary tree in which the weight of the tree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root is the sum of the weights of its children.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Insert the newly created tree back into the priority queue.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a:t>
            </a:r>
          </a:p>
        </p:txBody>
      </p:sp>
      <p:grpSp>
        <p:nvGrpSpPr>
          <p:cNvPr id="28" name="Group 27">
            <a:extLst>
              <a:ext uri="{FF2B5EF4-FFF2-40B4-BE49-F238E27FC236}">
                <a16:creationId xmlns:a16="http://schemas.microsoft.com/office/drawing/2014/main" id="{CA7D9669-FC23-4B11-868E-5830E7855672}"/>
              </a:ext>
            </a:extLst>
          </p:cNvPr>
          <p:cNvGrpSpPr/>
          <p:nvPr/>
        </p:nvGrpSpPr>
        <p:grpSpPr>
          <a:xfrm>
            <a:off x="5682882" y="3997754"/>
            <a:ext cx="2079064" cy="1710117"/>
            <a:chOff x="6469315" y="4044511"/>
            <a:chExt cx="2079064" cy="1710117"/>
          </a:xfrm>
        </p:grpSpPr>
        <p:sp>
          <p:nvSpPr>
            <p:cNvPr id="13" name="Oval 12">
              <a:extLst>
                <a:ext uri="{FF2B5EF4-FFF2-40B4-BE49-F238E27FC236}">
                  <a16:creationId xmlns:a16="http://schemas.microsoft.com/office/drawing/2014/main" id="{2C2BFF5E-B01D-4839-A2FF-F3BC96FA9297}"/>
                </a:ext>
              </a:extLst>
            </p:cNvPr>
            <p:cNvSpPr/>
            <p:nvPr/>
          </p:nvSpPr>
          <p:spPr>
            <a:xfrm>
              <a:off x="6469315" y="5023108"/>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e:3</a:t>
              </a:r>
            </a:p>
          </p:txBody>
        </p:sp>
        <p:sp>
          <p:nvSpPr>
            <p:cNvPr id="14" name="Oval 13">
              <a:extLst>
                <a:ext uri="{FF2B5EF4-FFF2-40B4-BE49-F238E27FC236}">
                  <a16:creationId xmlns:a16="http://schemas.microsoft.com/office/drawing/2014/main" id="{7895F5F3-4975-4071-8551-F82BC7EA5F24}"/>
                </a:ext>
              </a:extLst>
            </p:cNvPr>
            <p:cNvSpPr/>
            <p:nvPr/>
          </p:nvSpPr>
          <p:spPr>
            <a:xfrm>
              <a:off x="7633979" y="4999062"/>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a:4</a:t>
              </a:r>
            </a:p>
          </p:txBody>
        </p:sp>
        <p:sp>
          <p:nvSpPr>
            <p:cNvPr id="25" name="Oval 24">
              <a:extLst>
                <a:ext uri="{FF2B5EF4-FFF2-40B4-BE49-F238E27FC236}">
                  <a16:creationId xmlns:a16="http://schemas.microsoft.com/office/drawing/2014/main" id="{E3EADA8D-468B-46F6-80ED-99B1616D9CC0}"/>
                </a:ext>
              </a:extLst>
            </p:cNvPr>
            <p:cNvSpPr/>
            <p:nvPr/>
          </p:nvSpPr>
          <p:spPr>
            <a:xfrm>
              <a:off x="6946483" y="4044511"/>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7</a:t>
              </a:r>
            </a:p>
          </p:txBody>
        </p:sp>
        <p:cxnSp>
          <p:nvCxnSpPr>
            <p:cNvPr id="26" name="Straight Connector 25">
              <a:extLst>
                <a:ext uri="{FF2B5EF4-FFF2-40B4-BE49-F238E27FC236}">
                  <a16:creationId xmlns:a16="http://schemas.microsoft.com/office/drawing/2014/main" id="{9B652411-A486-4051-9118-7A7F8D21A83F}"/>
                </a:ext>
              </a:extLst>
            </p:cNvPr>
            <p:cNvCxnSpPr>
              <a:cxnSpLocks/>
              <a:stCxn id="25" idx="3"/>
            </p:cNvCxnSpPr>
            <p:nvPr/>
          </p:nvCxnSpPr>
          <p:spPr>
            <a:xfrm flipH="1">
              <a:off x="6861289" y="4668902"/>
              <a:ext cx="219105" cy="3410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668A59A-57D6-4445-BF23-480F043E9A4B}"/>
                </a:ext>
              </a:extLst>
            </p:cNvPr>
            <p:cNvCxnSpPr>
              <a:cxnSpLocks/>
            </p:cNvCxnSpPr>
            <p:nvPr/>
          </p:nvCxnSpPr>
          <p:spPr>
            <a:xfrm>
              <a:off x="7708733" y="4698762"/>
              <a:ext cx="277283" cy="31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92D0D24F-9ECF-4FE9-944F-B810CDB8C869}"/>
              </a:ext>
            </a:extLst>
          </p:cNvPr>
          <p:cNvGrpSpPr/>
          <p:nvPr/>
        </p:nvGrpSpPr>
        <p:grpSpPr>
          <a:xfrm>
            <a:off x="8012967" y="3953791"/>
            <a:ext cx="2854517" cy="2665942"/>
            <a:chOff x="6256227" y="3727856"/>
            <a:chExt cx="2854517" cy="2665942"/>
          </a:xfrm>
        </p:grpSpPr>
        <p:sp>
          <p:nvSpPr>
            <p:cNvPr id="15" name="Oval 14">
              <a:extLst>
                <a:ext uri="{FF2B5EF4-FFF2-40B4-BE49-F238E27FC236}">
                  <a16:creationId xmlns:a16="http://schemas.microsoft.com/office/drawing/2014/main" id="{7F3E4D51-D7D2-44E3-A73B-097532425B00}"/>
                </a:ext>
              </a:extLst>
            </p:cNvPr>
            <p:cNvSpPr/>
            <p:nvPr/>
          </p:nvSpPr>
          <p:spPr>
            <a:xfrm>
              <a:off x="6256227" y="4695067"/>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r:4</a:t>
              </a:r>
            </a:p>
          </p:txBody>
        </p:sp>
        <p:grpSp>
          <p:nvGrpSpPr>
            <p:cNvPr id="24" name="Group 23">
              <a:extLst>
                <a:ext uri="{FF2B5EF4-FFF2-40B4-BE49-F238E27FC236}">
                  <a16:creationId xmlns:a16="http://schemas.microsoft.com/office/drawing/2014/main" id="{42A546A3-95E5-40CB-B097-727BDDC3DC53}"/>
                </a:ext>
              </a:extLst>
            </p:cNvPr>
            <p:cNvGrpSpPr/>
            <p:nvPr/>
          </p:nvGrpSpPr>
          <p:grpSpPr>
            <a:xfrm>
              <a:off x="7071617" y="4696813"/>
              <a:ext cx="2039127" cy="1696985"/>
              <a:chOff x="8606748" y="4406225"/>
              <a:chExt cx="2039127" cy="1696985"/>
            </a:xfrm>
          </p:grpSpPr>
          <p:sp>
            <p:nvSpPr>
              <p:cNvPr id="11" name="Oval 10">
                <a:extLst>
                  <a:ext uri="{FF2B5EF4-FFF2-40B4-BE49-F238E27FC236}">
                    <a16:creationId xmlns:a16="http://schemas.microsoft.com/office/drawing/2014/main" id="{8A96C72C-818E-4FB6-A251-7CD145D7379D}"/>
                  </a:ext>
                </a:extLst>
              </p:cNvPr>
              <p:cNvSpPr/>
              <p:nvPr/>
            </p:nvSpPr>
            <p:spPr>
              <a:xfrm>
                <a:off x="8606748" y="5371690"/>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 ’:2</a:t>
                </a:r>
              </a:p>
            </p:txBody>
          </p:sp>
          <p:sp>
            <p:nvSpPr>
              <p:cNvPr id="12" name="Oval 11">
                <a:extLst>
                  <a:ext uri="{FF2B5EF4-FFF2-40B4-BE49-F238E27FC236}">
                    <a16:creationId xmlns:a16="http://schemas.microsoft.com/office/drawing/2014/main" id="{5A021C81-4E20-4EB7-A574-42B62FA76DCE}"/>
                  </a:ext>
                </a:extLst>
              </p:cNvPr>
              <p:cNvSpPr/>
              <p:nvPr/>
            </p:nvSpPr>
            <p:spPr>
              <a:xfrm>
                <a:off x="9731475" y="5371690"/>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c:3</a:t>
                </a:r>
              </a:p>
            </p:txBody>
          </p:sp>
          <p:sp>
            <p:nvSpPr>
              <p:cNvPr id="20" name="Oval 19">
                <a:extLst>
                  <a:ext uri="{FF2B5EF4-FFF2-40B4-BE49-F238E27FC236}">
                    <a16:creationId xmlns:a16="http://schemas.microsoft.com/office/drawing/2014/main" id="{144AF360-1F07-415B-BF15-96CCDF250341}"/>
                  </a:ext>
                </a:extLst>
              </p:cNvPr>
              <p:cNvSpPr/>
              <p:nvPr/>
            </p:nvSpPr>
            <p:spPr>
              <a:xfrm>
                <a:off x="9149142" y="4406225"/>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5</a:t>
                </a:r>
              </a:p>
            </p:txBody>
          </p:sp>
          <p:cxnSp>
            <p:nvCxnSpPr>
              <p:cNvPr id="6" name="Straight Connector 5">
                <a:extLst>
                  <a:ext uri="{FF2B5EF4-FFF2-40B4-BE49-F238E27FC236}">
                    <a16:creationId xmlns:a16="http://schemas.microsoft.com/office/drawing/2014/main" id="{404A6ADE-9251-424F-863E-C2148CCF761E}"/>
                  </a:ext>
                </a:extLst>
              </p:cNvPr>
              <p:cNvCxnSpPr>
                <a:cxnSpLocks/>
                <a:stCxn id="20" idx="3"/>
                <a:endCxn id="11" idx="0"/>
              </p:cNvCxnSpPr>
              <p:nvPr/>
            </p:nvCxnSpPr>
            <p:spPr>
              <a:xfrm flipH="1">
                <a:off x="9063948" y="5030616"/>
                <a:ext cx="219105" cy="3410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698E88B-FFE4-414E-BA55-1B352D776905}"/>
                  </a:ext>
                </a:extLst>
              </p:cNvPr>
              <p:cNvCxnSpPr>
                <a:cxnSpLocks/>
                <a:endCxn id="12" idx="0"/>
              </p:cNvCxnSpPr>
              <p:nvPr/>
            </p:nvCxnSpPr>
            <p:spPr>
              <a:xfrm>
                <a:off x="9911392" y="5060476"/>
                <a:ext cx="277283" cy="311214"/>
              </a:xfrm>
              <a:prstGeom prst="line">
                <a:avLst/>
              </a:prstGeom>
            </p:spPr>
            <p:style>
              <a:lnRef idx="1">
                <a:schemeClr val="accent1"/>
              </a:lnRef>
              <a:fillRef idx="0">
                <a:schemeClr val="accent1"/>
              </a:fillRef>
              <a:effectRef idx="0">
                <a:schemeClr val="accent1"/>
              </a:effectRef>
              <a:fontRef idx="minor">
                <a:schemeClr val="tx1"/>
              </a:fontRef>
            </p:style>
          </p:cxnSp>
        </p:grpSp>
        <p:sp>
          <p:nvSpPr>
            <p:cNvPr id="29" name="Oval 28">
              <a:extLst>
                <a:ext uri="{FF2B5EF4-FFF2-40B4-BE49-F238E27FC236}">
                  <a16:creationId xmlns:a16="http://schemas.microsoft.com/office/drawing/2014/main" id="{37EF1EE9-ACD1-455B-BCD4-EF6662120D36}"/>
                </a:ext>
              </a:extLst>
            </p:cNvPr>
            <p:cNvSpPr/>
            <p:nvPr/>
          </p:nvSpPr>
          <p:spPr>
            <a:xfrm>
              <a:off x="6894261" y="3727856"/>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9</a:t>
              </a:r>
            </a:p>
          </p:txBody>
        </p:sp>
        <p:cxnSp>
          <p:nvCxnSpPr>
            <p:cNvPr id="30" name="Straight Connector 29">
              <a:extLst>
                <a:ext uri="{FF2B5EF4-FFF2-40B4-BE49-F238E27FC236}">
                  <a16:creationId xmlns:a16="http://schemas.microsoft.com/office/drawing/2014/main" id="{AB11978E-B67F-4D17-8816-CD17191C3373}"/>
                </a:ext>
              </a:extLst>
            </p:cNvPr>
            <p:cNvCxnSpPr>
              <a:cxnSpLocks/>
              <a:stCxn id="29" idx="3"/>
            </p:cNvCxnSpPr>
            <p:nvPr/>
          </p:nvCxnSpPr>
          <p:spPr>
            <a:xfrm flipH="1">
              <a:off x="6809067" y="4352247"/>
              <a:ext cx="219105" cy="341074"/>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323313E-1EA8-4B9B-B776-47A441049A7A}"/>
                </a:ext>
              </a:extLst>
            </p:cNvPr>
            <p:cNvCxnSpPr>
              <a:cxnSpLocks/>
            </p:cNvCxnSpPr>
            <p:nvPr/>
          </p:nvCxnSpPr>
          <p:spPr>
            <a:xfrm>
              <a:off x="7656511" y="4382107"/>
              <a:ext cx="277283" cy="311214"/>
            </a:xfrm>
            <a:prstGeom prst="line">
              <a:avLst/>
            </a:prstGeom>
          </p:spPr>
          <p:style>
            <a:lnRef idx="1">
              <a:schemeClr val="accent1"/>
            </a:lnRef>
            <a:fillRef idx="0">
              <a:schemeClr val="accent1"/>
            </a:fillRef>
            <a:effectRef idx="0">
              <a:schemeClr val="accent1"/>
            </a:effectRef>
            <a:fontRef idx="minor">
              <a:schemeClr val="tx1"/>
            </a:fontRef>
          </p:style>
        </p:cxnSp>
      </p:grpSp>
      <p:sp>
        <p:nvSpPr>
          <p:cNvPr id="33" name="Oval 32">
            <a:extLst>
              <a:ext uri="{FF2B5EF4-FFF2-40B4-BE49-F238E27FC236}">
                <a16:creationId xmlns:a16="http://schemas.microsoft.com/office/drawing/2014/main" id="{EF247701-E71A-4D01-8FF0-D8D20B980205}"/>
              </a:ext>
            </a:extLst>
          </p:cNvPr>
          <p:cNvSpPr/>
          <p:nvPr/>
        </p:nvSpPr>
        <p:spPr>
          <a:xfrm>
            <a:off x="7304746" y="2969950"/>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16</a:t>
            </a:r>
          </a:p>
        </p:txBody>
      </p:sp>
      <p:cxnSp>
        <p:nvCxnSpPr>
          <p:cNvPr id="34" name="Straight Connector 33">
            <a:extLst>
              <a:ext uri="{FF2B5EF4-FFF2-40B4-BE49-F238E27FC236}">
                <a16:creationId xmlns:a16="http://schemas.microsoft.com/office/drawing/2014/main" id="{9F260C89-6762-4DD2-87DB-E95BC0CAB55C}"/>
              </a:ext>
            </a:extLst>
          </p:cNvPr>
          <p:cNvCxnSpPr>
            <a:cxnSpLocks/>
            <a:stCxn id="33" idx="3"/>
            <a:endCxn id="25" idx="7"/>
          </p:cNvCxnSpPr>
          <p:nvPr/>
        </p:nvCxnSpPr>
        <p:spPr>
          <a:xfrm flipH="1">
            <a:off x="6940539" y="3594341"/>
            <a:ext cx="498118" cy="510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3A77FEA-F51E-4393-996B-A08E0F41D731}"/>
              </a:ext>
            </a:extLst>
          </p:cNvPr>
          <p:cNvCxnSpPr>
            <a:cxnSpLocks/>
            <a:endCxn id="29" idx="1"/>
          </p:cNvCxnSpPr>
          <p:nvPr/>
        </p:nvCxnSpPr>
        <p:spPr>
          <a:xfrm>
            <a:off x="8066996" y="3624201"/>
            <a:ext cx="717916" cy="43671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92056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pPr lvl="0" defTabSz="457200">
              <a:lnSpc>
                <a:spcPct val="100000"/>
              </a:lnSpc>
              <a:spcBef>
                <a:spcPts val="0"/>
              </a:spcBef>
              <a:defRPr/>
            </a:pPr>
            <a:r>
              <a:rPr lang="en-US" sz="2800" dirty="0">
                <a:solidFill>
                  <a:prstClr val="white"/>
                </a:solidFill>
                <a:latin typeface="Gotham Bold" pitchFamily="50" charset="0"/>
              </a:rPr>
              <a:t>Algorithm for Huffman Encoding</a:t>
            </a:r>
          </a:p>
        </p:txBody>
      </p:sp>
      <p:sp>
        <p:nvSpPr>
          <p:cNvPr id="5" name="Slide Number Placeholder 4">
            <a:extLst>
              <a:ext uri="{FF2B5EF4-FFF2-40B4-BE49-F238E27FC236}">
                <a16:creationId xmlns:a16="http://schemas.microsoft.com/office/drawing/2014/main" id="{97839201-5FEF-4A49-9BF1-D69CC9B0628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C28E0-2F8B-4999-AEA2-B3AA3AE899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3" name="Table 9">
            <a:extLst>
              <a:ext uri="{FF2B5EF4-FFF2-40B4-BE49-F238E27FC236}">
                <a16:creationId xmlns:a16="http://schemas.microsoft.com/office/drawing/2014/main" id="{5FC82B5D-7E20-452E-91A2-315ABDFF50DE}"/>
              </a:ext>
            </a:extLst>
          </p:cNvPr>
          <p:cNvGraphicFramePr>
            <a:graphicFrameLocks noGrp="1"/>
          </p:cNvGraphicFramePr>
          <p:nvPr>
            <p:extLst>
              <p:ext uri="{D42A27DB-BD31-4B8C-83A1-F6EECF244321}">
                <p14:modId xmlns:p14="http://schemas.microsoft.com/office/powerpoint/2010/main" val="486316588"/>
              </p:ext>
            </p:extLst>
          </p:nvPr>
        </p:nvGraphicFramePr>
        <p:xfrm>
          <a:off x="628574" y="3764063"/>
          <a:ext cx="4567992" cy="2225040"/>
        </p:xfrm>
        <a:graphic>
          <a:graphicData uri="http://schemas.openxmlformats.org/drawingml/2006/table">
            <a:tbl>
              <a:tblPr firstRow="1" bandRow="1">
                <a:tableStyleId>{616DA210-FB5B-4158-B5E0-FEB733F419BA}</a:tableStyleId>
              </a:tblPr>
              <a:tblGrid>
                <a:gridCol w="1343025">
                  <a:extLst>
                    <a:ext uri="{9D8B030D-6E8A-4147-A177-3AD203B41FA5}">
                      <a16:colId xmlns:a16="http://schemas.microsoft.com/office/drawing/2014/main" val="2271265037"/>
                    </a:ext>
                  </a:extLst>
                </a:gridCol>
                <a:gridCol w="1459105">
                  <a:extLst>
                    <a:ext uri="{9D8B030D-6E8A-4147-A177-3AD203B41FA5}">
                      <a16:colId xmlns:a16="http://schemas.microsoft.com/office/drawing/2014/main" val="2272467781"/>
                    </a:ext>
                  </a:extLst>
                </a:gridCol>
                <a:gridCol w="1765862">
                  <a:extLst>
                    <a:ext uri="{9D8B030D-6E8A-4147-A177-3AD203B41FA5}">
                      <a16:colId xmlns:a16="http://schemas.microsoft.com/office/drawing/2014/main" val="3754691315"/>
                    </a:ext>
                  </a:extLst>
                </a:gridCol>
              </a:tblGrid>
              <a:tr h="370840">
                <a:tc>
                  <a:txBody>
                    <a:bodyPr/>
                    <a:lstStyle/>
                    <a:p>
                      <a:pPr algn="ctr"/>
                      <a:r>
                        <a:rPr lang="en-US" dirty="0">
                          <a:solidFill>
                            <a:srgbClr val="0081E2"/>
                          </a:solidFill>
                          <a:latin typeface="Consolas" panose="020B0609020204030204" pitchFamily="49" charset="0"/>
                        </a:rPr>
                        <a:t>Character</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0081E2"/>
                          </a:solidFill>
                          <a:latin typeface="Consolas" panose="020B0609020204030204" pitchFamily="49" charset="0"/>
                        </a:rPr>
                        <a:t>Frequency</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rgbClr val="0081E2"/>
                          </a:solidFill>
                          <a:latin typeface="Consolas" panose="020B0609020204030204" pitchFamily="49" charset="0"/>
                        </a:rPr>
                        <a:t>Huffman Code</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1595092"/>
                  </a:ext>
                </a:extLst>
              </a:tr>
              <a:tr h="370840">
                <a:tc>
                  <a:txBody>
                    <a:bodyPr/>
                    <a:lstStyle/>
                    <a:p>
                      <a:pPr algn="ctr"/>
                      <a:r>
                        <a:rPr lang="en-US" dirty="0">
                          <a:solidFill>
                            <a:schemeClr val="bg1"/>
                          </a:solidFill>
                          <a:latin typeface="Consolas" panose="020B0609020204030204" pitchFamily="49" charset="0"/>
                        </a:rPr>
                        <a:t>a</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4</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01</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49970937"/>
                  </a:ext>
                </a:extLst>
              </a:tr>
              <a:tr h="370840">
                <a:tc>
                  <a:txBody>
                    <a:bodyPr/>
                    <a:lstStyle/>
                    <a:p>
                      <a:pPr algn="ctr"/>
                      <a:r>
                        <a:rPr lang="en-US" dirty="0">
                          <a:solidFill>
                            <a:schemeClr val="bg1"/>
                          </a:solidFill>
                          <a:latin typeface="Consolas" panose="020B0609020204030204" pitchFamily="49" charset="0"/>
                        </a:rPr>
                        <a:t>r</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4</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10</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68507038"/>
                  </a:ext>
                </a:extLst>
              </a:tr>
              <a:tr h="370840">
                <a:tc>
                  <a:txBody>
                    <a:bodyPr/>
                    <a:lstStyle/>
                    <a:p>
                      <a:pPr algn="ctr"/>
                      <a:r>
                        <a:rPr lang="en-US" dirty="0">
                          <a:solidFill>
                            <a:schemeClr val="bg1"/>
                          </a:solidFill>
                          <a:latin typeface="Consolas" panose="020B0609020204030204" pitchFamily="49" charset="0"/>
                        </a:rPr>
                        <a:t>c</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3</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111</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04359449"/>
                  </a:ext>
                </a:extLst>
              </a:tr>
              <a:tr h="370840">
                <a:tc>
                  <a:txBody>
                    <a:bodyPr/>
                    <a:lstStyle/>
                    <a:p>
                      <a:pPr algn="ctr"/>
                      <a:r>
                        <a:rPr lang="en-US" dirty="0">
                          <a:solidFill>
                            <a:schemeClr val="bg1"/>
                          </a:solidFill>
                          <a:latin typeface="Consolas" panose="020B0609020204030204" pitchFamily="49" charset="0"/>
                        </a:rPr>
                        <a:t>e</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3</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00</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96846206"/>
                  </a:ext>
                </a:extLst>
              </a:tr>
              <a:tr h="370840">
                <a:tc>
                  <a:txBody>
                    <a:bodyPr/>
                    <a:lstStyle/>
                    <a:p>
                      <a:pPr algn="ctr"/>
                      <a:r>
                        <a:rPr lang="en-US" dirty="0">
                          <a:solidFill>
                            <a:schemeClr val="bg1"/>
                          </a:solidFill>
                          <a:latin typeface="Consolas" panose="020B0609020204030204" pitchFamily="49" charset="0"/>
                        </a:rPr>
                        <a:t>‘ ’</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2</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solidFill>
                            <a:schemeClr val="bg1"/>
                          </a:solidFill>
                          <a:latin typeface="Consolas" panose="020B0609020204030204" pitchFamily="49" charset="0"/>
                        </a:rPr>
                        <a:t>110</a:t>
                      </a:r>
                    </a:p>
                  </a:txBody>
                  <a:tcPr>
                    <a:lnL w="12700" cap="flat" cmpd="sng" algn="ctr">
                      <a:solidFill>
                        <a:schemeClr val="bg2">
                          <a:lumMod val="50000"/>
                        </a:schemeClr>
                      </a:solidFill>
                      <a:prstDash val="solid"/>
                      <a:round/>
                      <a:headEnd type="none" w="med" len="med"/>
                      <a:tailEnd type="none" w="med" len="med"/>
                    </a:lnL>
                    <a:lnR w="12700" cap="flat" cmpd="sng" algn="ctr">
                      <a:solidFill>
                        <a:schemeClr val="bg2">
                          <a:lumMod val="50000"/>
                        </a:schemeClr>
                      </a:solidFill>
                      <a:prstDash val="solid"/>
                      <a:round/>
                      <a:headEnd type="none" w="med" len="med"/>
                      <a:tailEnd type="none" w="med" len="med"/>
                    </a:lnR>
                    <a:lnT w="12700" cap="flat" cmpd="sng" algn="ctr">
                      <a:solidFill>
                        <a:schemeClr val="bg2">
                          <a:lumMod val="50000"/>
                        </a:schemeClr>
                      </a:solidFill>
                      <a:prstDash val="solid"/>
                      <a:round/>
                      <a:headEnd type="none" w="med" len="med"/>
                      <a:tailEnd type="none" w="med" len="med"/>
                    </a:lnT>
                    <a:lnB w="12700" cap="flat" cmpd="sng" algn="ctr">
                      <a:solidFill>
                        <a:schemeClr val="bg2">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68509123"/>
                  </a:ext>
                </a:extLst>
              </a:tr>
            </a:tbl>
          </a:graphicData>
        </a:graphic>
      </p:graphicFrame>
      <p:grpSp>
        <p:nvGrpSpPr>
          <p:cNvPr id="16" name="Group 15">
            <a:extLst>
              <a:ext uri="{FF2B5EF4-FFF2-40B4-BE49-F238E27FC236}">
                <a16:creationId xmlns:a16="http://schemas.microsoft.com/office/drawing/2014/main" id="{4D42D00E-EC2F-4CCC-A9FA-65DFEE2FF899}"/>
              </a:ext>
            </a:extLst>
          </p:cNvPr>
          <p:cNvGrpSpPr/>
          <p:nvPr/>
        </p:nvGrpSpPr>
        <p:grpSpPr>
          <a:xfrm>
            <a:off x="11317255" y="5989103"/>
            <a:ext cx="841781" cy="748032"/>
            <a:chOff x="11337354" y="6025684"/>
            <a:chExt cx="841781" cy="748032"/>
          </a:xfrm>
        </p:grpSpPr>
        <p:pic>
          <p:nvPicPr>
            <p:cNvPr id="17" name="Picture 16">
              <a:extLst>
                <a:ext uri="{FF2B5EF4-FFF2-40B4-BE49-F238E27FC236}">
                  <a16:creationId xmlns:a16="http://schemas.microsoft.com/office/drawing/2014/main" id="{4E1B0A17-F990-483C-86ED-429B6C8879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Logo COP3530">
              <a:extLst>
                <a:ext uri="{FF2B5EF4-FFF2-40B4-BE49-F238E27FC236}">
                  <a16:creationId xmlns:a16="http://schemas.microsoft.com/office/drawing/2014/main" id="{1026593B-A0E9-4C6F-82D4-F93B759ECDF1}"/>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
        <p:nvSpPr>
          <p:cNvPr id="19" name="Rectangle 18">
            <a:extLst>
              <a:ext uri="{FF2B5EF4-FFF2-40B4-BE49-F238E27FC236}">
                <a16:creationId xmlns:a16="http://schemas.microsoft.com/office/drawing/2014/main" id="{E7820370-7ED0-4C97-8925-6D581D129736}"/>
              </a:ext>
            </a:extLst>
          </p:cNvPr>
          <p:cNvSpPr/>
          <p:nvPr/>
        </p:nvSpPr>
        <p:spPr>
          <a:xfrm>
            <a:off x="889277" y="1456450"/>
            <a:ext cx="10515599" cy="189282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4. while the priority queue has more than one item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Remove the two trees with the smallest weights.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Combine them into a new binary tree in which the weight of the tree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root is the sum of the weights of its children.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Insert the newly created tree back into the priority queue.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a:t>
            </a:r>
          </a:p>
        </p:txBody>
      </p:sp>
      <p:grpSp>
        <p:nvGrpSpPr>
          <p:cNvPr id="28" name="Group 27">
            <a:extLst>
              <a:ext uri="{FF2B5EF4-FFF2-40B4-BE49-F238E27FC236}">
                <a16:creationId xmlns:a16="http://schemas.microsoft.com/office/drawing/2014/main" id="{CA7D9669-FC23-4B11-868E-5830E7855672}"/>
              </a:ext>
            </a:extLst>
          </p:cNvPr>
          <p:cNvGrpSpPr/>
          <p:nvPr/>
        </p:nvGrpSpPr>
        <p:grpSpPr>
          <a:xfrm>
            <a:off x="5682882" y="3997754"/>
            <a:ext cx="2079064" cy="1710117"/>
            <a:chOff x="6469315" y="4044511"/>
            <a:chExt cx="2079064" cy="1710117"/>
          </a:xfrm>
        </p:grpSpPr>
        <p:sp>
          <p:nvSpPr>
            <p:cNvPr id="13" name="Oval 12">
              <a:extLst>
                <a:ext uri="{FF2B5EF4-FFF2-40B4-BE49-F238E27FC236}">
                  <a16:creationId xmlns:a16="http://schemas.microsoft.com/office/drawing/2014/main" id="{2C2BFF5E-B01D-4839-A2FF-F3BC96FA9297}"/>
                </a:ext>
              </a:extLst>
            </p:cNvPr>
            <p:cNvSpPr/>
            <p:nvPr/>
          </p:nvSpPr>
          <p:spPr>
            <a:xfrm>
              <a:off x="6469315" y="5023108"/>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e:3</a:t>
              </a:r>
            </a:p>
          </p:txBody>
        </p:sp>
        <p:sp>
          <p:nvSpPr>
            <p:cNvPr id="14" name="Oval 13">
              <a:extLst>
                <a:ext uri="{FF2B5EF4-FFF2-40B4-BE49-F238E27FC236}">
                  <a16:creationId xmlns:a16="http://schemas.microsoft.com/office/drawing/2014/main" id="{7895F5F3-4975-4071-8551-F82BC7EA5F24}"/>
                </a:ext>
              </a:extLst>
            </p:cNvPr>
            <p:cNvSpPr/>
            <p:nvPr/>
          </p:nvSpPr>
          <p:spPr>
            <a:xfrm>
              <a:off x="7633979" y="4999062"/>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a:4</a:t>
              </a:r>
            </a:p>
          </p:txBody>
        </p:sp>
        <p:sp>
          <p:nvSpPr>
            <p:cNvPr id="25" name="Oval 24">
              <a:extLst>
                <a:ext uri="{FF2B5EF4-FFF2-40B4-BE49-F238E27FC236}">
                  <a16:creationId xmlns:a16="http://schemas.microsoft.com/office/drawing/2014/main" id="{E3EADA8D-468B-46F6-80ED-99B1616D9CC0}"/>
                </a:ext>
              </a:extLst>
            </p:cNvPr>
            <p:cNvSpPr/>
            <p:nvPr/>
          </p:nvSpPr>
          <p:spPr>
            <a:xfrm>
              <a:off x="6946483" y="4044511"/>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7</a:t>
              </a:r>
            </a:p>
          </p:txBody>
        </p:sp>
        <p:cxnSp>
          <p:nvCxnSpPr>
            <p:cNvPr id="26" name="Straight Connector 25">
              <a:extLst>
                <a:ext uri="{FF2B5EF4-FFF2-40B4-BE49-F238E27FC236}">
                  <a16:creationId xmlns:a16="http://schemas.microsoft.com/office/drawing/2014/main" id="{9B652411-A486-4051-9118-7A7F8D21A83F}"/>
                </a:ext>
              </a:extLst>
            </p:cNvPr>
            <p:cNvCxnSpPr>
              <a:cxnSpLocks/>
              <a:stCxn id="25" idx="3"/>
            </p:cNvCxnSpPr>
            <p:nvPr/>
          </p:nvCxnSpPr>
          <p:spPr>
            <a:xfrm flipH="1">
              <a:off x="6861289" y="4668902"/>
              <a:ext cx="219105" cy="3410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668A59A-57D6-4445-BF23-480F043E9A4B}"/>
                </a:ext>
              </a:extLst>
            </p:cNvPr>
            <p:cNvCxnSpPr>
              <a:cxnSpLocks/>
            </p:cNvCxnSpPr>
            <p:nvPr/>
          </p:nvCxnSpPr>
          <p:spPr>
            <a:xfrm>
              <a:off x="7708733" y="4698762"/>
              <a:ext cx="277283" cy="311214"/>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92D0D24F-9ECF-4FE9-944F-B810CDB8C869}"/>
              </a:ext>
            </a:extLst>
          </p:cNvPr>
          <p:cNvGrpSpPr/>
          <p:nvPr/>
        </p:nvGrpSpPr>
        <p:grpSpPr>
          <a:xfrm>
            <a:off x="8012967" y="3953791"/>
            <a:ext cx="2854517" cy="2665942"/>
            <a:chOff x="6256227" y="3727856"/>
            <a:chExt cx="2854517" cy="2665942"/>
          </a:xfrm>
        </p:grpSpPr>
        <p:sp>
          <p:nvSpPr>
            <p:cNvPr id="15" name="Oval 14">
              <a:extLst>
                <a:ext uri="{FF2B5EF4-FFF2-40B4-BE49-F238E27FC236}">
                  <a16:creationId xmlns:a16="http://schemas.microsoft.com/office/drawing/2014/main" id="{7F3E4D51-D7D2-44E3-A73B-097532425B00}"/>
                </a:ext>
              </a:extLst>
            </p:cNvPr>
            <p:cNvSpPr/>
            <p:nvPr/>
          </p:nvSpPr>
          <p:spPr>
            <a:xfrm>
              <a:off x="6256227" y="4695067"/>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r:4</a:t>
              </a:r>
            </a:p>
          </p:txBody>
        </p:sp>
        <p:grpSp>
          <p:nvGrpSpPr>
            <p:cNvPr id="24" name="Group 23">
              <a:extLst>
                <a:ext uri="{FF2B5EF4-FFF2-40B4-BE49-F238E27FC236}">
                  <a16:creationId xmlns:a16="http://schemas.microsoft.com/office/drawing/2014/main" id="{42A546A3-95E5-40CB-B097-727BDDC3DC53}"/>
                </a:ext>
              </a:extLst>
            </p:cNvPr>
            <p:cNvGrpSpPr/>
            <p:nvPr/>
          </p:nvGrpSpPr>
          <p:grpSpPr>
            <a:xfrm>
              <a:off x="7071617" y="4696813"/>
              <a:ext cx="2039127" cy="1696985"/>
              <a:chOff x="8606748" y="4406225"/>
              <a:chExt cx="2039127" cy="1696985"/>
            </a:xfrm>
          </p:grpSpPr>
          <p:sp>
            <p:nvSpPr>
              <p:cNvPr id="11" name="Oval 10">
                <a:extLst>
                  <a:ext uri="{FF2B5EF4-FFF2-40B4-BE49-F238E27FC236}">
                    <a16:creationId xmlns:a16="http://schemas.microsoft.com/office/drawing/2014/main" id="{8A96C72C-818E-4FB6-A251-7CD145D7379D}"/>
                  </a:ext>
                </a:extLst>
              </p:cNvPr>
              <p:cNvSpPr/>
              <p:nvPr/>
            </p:nvSpPr>
            <p:spPr>
              <a:xfrm>
                <a:off x="8606748" y="5371690"/>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 ’:2</a:t>
                </a:r>
              </a:p>
            </p:txBody>
          </p:sp>
          <p:sp>
            <p:nvSpPr>
              <p:cNvPr id="12" name="Oval 11">
                <a:extLst>
                  <a:ext uri="{FF2B5EF4-FFF2-40B4-BE49-F238E27FC236}">
                    <a16:creationId xmlns:a16="http://schemas.microsoft.com/office/drawing/2014/main" id="{5A021C81-4E20-4EB7-A574-42B62FA76DCE}"/>
                  </a:ext>
                </a:extLst>
              </p:cNvPr>
              <p:cNvSpPr/>
              <p:nvPr/>
            </p:nvSpPr>
            <p:spPr>
              <a:xfrm>
                <a:off x="9731475" y="5371690"/>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c:3</a:t>
                </a:r>
              </a:p>
            </p:txBody>
          </p:sp>
          <p:sp>
            <p:nvSpPr>
              <p:cNvPr id="20" name="Oval 19">
                <a:extLst>
                  <a:ext uri="{FF2B5EF4-FFF2-40B4-BE49-F238E27FC236}">
                    <a16:creationId xmlns:a16="http://schemas.microsoft.com/office/drawing/2014/main" id="{144AF360-1F07-415B-BF15-96CCDF250341}"/>
                  </a:ext>
                </a:extLst>
              </p:cNvPr>
              <p:cNvSpPr/>
              <p:nvPr/>
            </p:nvSpPr>
            <p:spPr>
              <a:xfrm>
                <a:off x="9149142" y="4406225"/>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5</a:t>
                </a:r>
              </a:p>
            </p:txBody>
          </p:sp>
          <p:cxnSp>
            <p:nvCxnSpPr>
              <p:cNvPr id="6" name="Straight Connector 5">
                <a:extLst>
                  <a:ext uri="{FF2B5EF4-FFF2-40B4-BE49-F238E27FC236}">
                    <a16:creationId xmlns:a16="http://schemas.microsoft.com/office/drawing/2014/main" id="{404A6ADE-9251-424F-863E-C2148CCF761E}"/>
                  </a:ext>
                </a:extLst>
              </p:cNvPr>
              <p:cNvCxnSpPr>
                <a:cxnSpLocks/>
                <a:stCxn id="20" idx="3"/>
                <a:endCxn id="11" idx="0"/>
              </p:cNvCxnSpPr>
              <p:nvPr/>
            </p:nvCxnSpPr>
            <p:spPr>
              <a:xfrm flipH="1">
                <a:off x="9063948" y="5030616"/>
                <a:ext cx="219105" cy="34107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698E88B-FFE4-414E-BA55-1B352D776905}"/>
                  </a:ext>
                </a:extLst>
              </p:cNvPr>
              <p:cNvCxnSpPr>
                <a:cxnSpLocks/>
                <a:endCxn id="12" idx="0"/>
              </p:cNvCxnSpPr>
              <p:nvPr/>
            </p:nvCxnSpPr>
            <p:spPr>
              <a:xfrm>
                <a:off x="9911392" y="5060476"/>
                <a:ext cx="277283" cy="311214"/>
              </a:xfrm>
              <a:prstGeom prst="line">
                <a:avLst/>
              </a:prstGeom>
            </p:spPr>
            <p:style>
              <a:lnRef idx="1">
                <a:schemeClr val="accent1"/>
              </a:lnRef>
              <a:fillRef idx="0">
                <a:schemeClr val="accent1"/>
              </a:fillRef>
              <a:effectRef idx="0">
                <a:schemeClr val="accent1"/>
              </a:effectRef>
              <a:fontRef idx="minor">
                <a:schemeClr val="tx1"/>
              </a:fontRef>
            </p:style>
          </p:cxnSp>
        </p:grpSp>
        <p:sp>
          <p:nvSpPr>
            <p:cNvPr id="29" name="Oval 28">
              <a:extLst>
                <a:ext uri="{FF2B5EF4-FFF2-40B4-BE49-F238E27FC236}">
                  <a16:creationId xmlns:a16="http://schemas.microsoft.com/office/drawing/2014/main" id="{37EF1EE9-ACD1-455B-BCD4-EF6662120D36}"/>
                </a:ext>
              </a:extLst>
            </p:cNvPr>
            <p:cNvSpPr/>
            <p:nvPr/>
          </p:nvSpPr>
          <p:spPr>
            <a:xfrm>
              <a:off x="6894261" y="3727856"/>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9</a:t>
              </a:r>
            </a:p>
          </p:txBody>
        </p:sp>
        <p:cxnSp>
          <p:nvCxnSpPr>
            <p:cNvPr id="30" name="Straight Connector 29">
              <a:extLst>
                <a:ext uri="{FF2B5EF4-FFF2-40B4-BE49-F238E27FC236}">
                  <a16:creationId xmlns:a16="http://schemas.microsoft.com/office/drawing/2014/main" id="{AB11978E-B67F-4D17-8816-CD17191C3373}"/>
                </a:ext>
              </a:extLst>
            </p:cNvPr>
            <p:cNvCxnSpPr>
              <a:cxnSpLocks/>
              <a:stCxn id="29" idx="3"/>
            </p:cNvCxnSpPr>
            <p:nvPr/>
          </p:nvCxnSpPr>
          <p:spPr>
            <a:xfrm flipH="1">
              <a:off x="6809067" y="4352247"/>
              <a:ext cx="219105" cy="341074"/>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B323313E-1EA8-4B9B-B776-47A441049A7A}"/>
                </a:ext>
              </a:extLst>
            </p:cNvPr>
            <p:cNvCxnSpPr>
              <a:cxnSpLocks/>
            </p:cNvCxnSpPr>
            <p:nvPr/>
          </p:nvCxnSpPr>
          <p:spPr>
            <a:xfrm>
              <a:off x="7656511" y="4382107"/>
              <a:ext cx="277283" cy="311214"/>
            </a:xfrm>
            <a:prstGeom prst="line">
              <a:avLst/>
            </a:prstGeom>
          </p:spPr>
          <p:style>
            <a:lnRef idx="1">
              <a:schemeClr val="accent1"/>
            </a:lnRef>
            <a:fillRef idx="0">
              <a:schemeClr val="accent1"/>
            </a:fillRef>
            <a:effectRef idx="0">
              <a:schemeClr val="accent1"/>
            </a:effectRef>
            <a:fontRef idx="minor">
              <a:schemeClr val="tx1"/>
            </a:fontRef>
          </p:style>
        </p:cxnSp>
      </p:grpSp>
      <p:sp>
        <p:nvSpPr>
          <p:cNvPr id="33" name="Oval 32">
            <a:extLst>
              <a:ext uri="{FF2B5EF4-FFF2-40B4-BE49-F238E27FC236}">
                <a16:creationId xmlns:a16="http://schemas.microsoft.com/office/drawing/2014/main" id="{EF247701-E71A-4D01-8FF0-D8D20B980205}"/>
              </a:ext>
            </a:extLst>
          </p:cNvPr>
          <p:cNvSpPr/>
          <p:nvPr/>
        </p:nvSpPr>
        <p:spPr>
          <a:xfrm>
            <a:off x="7304746" y="2969950"/>
            <a:ext cx="914400" cy="7315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EB6E19"/>
                </a:solidFill>
                <a:latin typeface="Consolas" panose="020B0609020204030204" pitchFamily="49" charset="0"/>
              </a:rPr>
              <a:t>16</a:t>
            </a:r>
          </a:p>
        </p:txBody>
      </p:sp>
      <p:cxnSp>
        <p:nvCxnSpPr>
          <p:cNvPr id="34" name="Straight Connector 33">
            <a:extLst>
              <a:ext uri="{FF2B5EF4-FFF2-40B4-BE49-F238E27FC236}">
                <a16:creationId xmlns:a16="http://schemas.microsoft.com/office/drawing/2014/main" id="{9F260C89-6762-4DD2-87DB-E95BC0CAB55C}"/>
              </a:ext>
            </a:extLst>
          </p:cNvPr>
          <p:cNvCxnSpPr>
            <a:cxnSpLocks/>
            <a:stCxn id="33" idx="3"/>
            <a:endCxn id="25" idx="7"/>
          </p:cNvCxnSpPr>
          <p:nvPr/>
        </p:nvCxnSpPr>
        <p:spPr>
          <a:xfrm flipH="1">
            <a:off x="6940539" y="3594341"/>
            <a:ext cx="498118" cy="5105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3A77FEA-F51E-4393-996B-A08E0F41D731}"/>
              </a:ext>
            </a:extLst>
          </p:cNvPr>
          <p:cNvCxnSpPr>
            <a:cxnSpLocks/>
            <a:endCxn id="29" idx="1"/>
          </p:cNvCxnSpPr>
          <p:nvPr/>
        </p:nvCxnSpPr>
        <p:spPr>
          <a:xfrm>
            <a:off x="8066996" y="3624201"/>
            <a:ext cx="717916" cy="43671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09137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a:xfrm>
            <a:off x="4546041" y="2666197"/>
            <a:ext cx="5170715" cy="1325563"/>
          </a:xfrm>
        </p:spPr>
        <p:txBody>
          <a:bodyPr/>
          <a:lstStyle/>
          <a:p>
            <a:r>
              <a:rPr lang="en-US" dirty="0">
                <a:solidFill>
                  <a:schemeClr val="bg1"/>
                </a:solidFill>
                <a:latin typeface="Gotham Bold" pitchFamily="50" charset="0"/>
              </a:rPr>
              <a:t>Questions</a:t>
            </a:r>
          </a:p>
        </p:txBody>
      </p:sp>
      <p:grpSp>
        <p:nvGrpSpPr>
          <p:cNvPr id="3" name="Group 2">
            <a:extLst>
              <a:ext uri="{FF2B5EF4-FFF2-40B4-BE49-F238E27FC236}">
                <a16:creationId xmlns:a16="http://schemas.microsoft.com/office/drawing/2014/main" id="{81EB3781-A458-4460-9BC0-4F814FF6D1E0}"/>
              </a:ext>
            </a:extLst>
          </p:cNvPr>
          <p:cNvGrpSpPr/>
          <p:nvPr/>
        </p:nvGrpSpPr>
        <p:grpSpPr>
          <a:xfrm>
            <a:off x="11317255" y="5989103"/>
            <a:ext cx="841781" cy="748032"/>
            <a:chOff x="11337354" y="6025684"/>
            <a:chExt cx="841781" cy="748032"/>
          </a:xfrm>
        </p:grpSpPr>
        <p:pic>
          <p:nvPicPr>
            <p:cNvPr id="4" name="Picture 3">
              <a:extLst>
                <a:ext uri="{FF2B5EF4-FFF2-40B4-BE49-F238E27FC236}">
                  <a16:creationId xmlns:a16="http://schemas.microsoft.com/office/drawing/2014/main" id="{D3283D6B-42FE-4E46-8F4C-531FE74EE3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ogo COP3530">
              <a:extLst>
                <a:ext uri="{FF2B5EF4-FFF2-40B4-BE49-F238E27FC236}">
                  <a16:creationId xmlns:a16="http://schemas.microsoft.com/office/drawing/2014/main" id="{DF18C837-2DBC-4A87-8BDC-2A26E365FEB8}"/>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Tree>
    <p:extLst>
      <p:ext uri="{BB962C8B-B14F-4D97-AF65-F5344CB8AC3E}">
        <p14:creationId xmlns:p14="http://schemas.microsoft.com/office/powerpoint/2010/main" val="24878010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r>
              <a:rPr lang="en-US" dirty="0">
                <a:solidFill>
                  <a:schemeClr val="bg1"/>
                </a:solidFill>
                <a:latin typeface="Gotham Bold" pitchFamily="50" charset="0"/>
              </a:rPr>
              <a:t>Binary Heap</a:t>
            </a:r>
          </a:p>
        </p:txBody>
      </p:sp>
      <p:sp>
        <p:nvSpPr>
          <p:cNvPr id="4" name="Rectangle 3">
            <a:extLst>
              <a:ext uri="{FF2B5EF4-FFF2-40B4-BE49-F238E27FC236}">
                <a16:creationId xmlns:a16="http://schemas.microsoft.com/office/drawing/2014/main" id="{4C690315-1707-4AD5-8859-99D7FEE7815A}"/>
              </a:ext>
            </a:extLst>
          </p:cNvPr>
          <p:cNvSpPr/>
          <p:nvPr/>
        </p:nvSpPr>
        <p:spPr>
          <a:xfrm>
            <a:off x="1654198" y="1708562"/>
            <a:ext cx="8743941" cy="45935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Gotham Bold" pitchFamily="50" charset="0"/>
                <a:ea typeface="+mn-ea"/>
                <a:cs typeface="+mn-cs"/>
              </a:rPr>
              <a:t>Heap Representation</a:t>
            </a:r>
          </a:p>
        </p:txBody>
      </p:sp>
      <p:sp>
        <p:nvSpPr>
          <p:cNvPr id="14" name="TextBox 13">
            <a:extLst>
              <a:ext uri="{FF2B5EF4-FFF2-40B4-BE49-F238E27FC236}">
                <a16:creationId xmlns:a16="http://schemas.microsoft.com/office/drawing/2014/main" id="{F8E2067A-50DC-4B3B-A941-515F73642C24}"/>
              </a:ext>
              <a:ext uri="{C183D7F6-B498-43B3-948B-1728B52AA6E4}">
                <adec:decorative xmlns:adec="http://schemas.microsoft.com/office/drawing/2017/decorative" val="1"/>
              </a:ext>
            </a:extLst>
          </p:cNvPr>
          <p:cNvSpPr txBox="1"/>
          <p:nvPr/>
        </p:nvSpPr>
        <p:spPr>
          <a:xfrm>
            <a:off x="4468076" y="2790228"/>
            <a:ext cx="28451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a:t>
            </a:r>
          </a:p>
        </p:txBody>
      </p:sp>
      <p:sp>
        <p:nvSpPr>
          <p:cNvPr id="15" name="TextBox 14">
            <a:extLst>
              <a:ext uri="{FF2B5EF4-FFF2-40B4-BE49-F238E27FC236}">
                <a16:creationId xmlns:a16="http://schemas.microsoft.com/office/drawing/2014/main" id="{E0BA7F03-06E1-4DC9-9439-34FD6EF63EEA}"/>
              </a:ext>
              <a:ext uri="{C183D7F6-B498-43B3-948B-1728B52AA6E4}">
                <adec:decorative xmlns:adec="http://schemas.microsoft.com/office/drawing/2017/decorative" val="1"/>
              </a:ext>
            </a:extLst>
          </p:cNvPr>
          <p:cNvSpPr txBox="1"/>
          <p:nvPr/>
        </p:nvSpPr>
        <p:spPr>
          <a:xfrm>
            <a:off x="3588497" y="327933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18</a:t>
            </a:r>
          </a:p>
        </p:txBody>
      </p:sp>
      <p:sp>
        <p:nvSpPr>
          <p:cNvPr id="16" name="TextBox 15">
            <a:extLst>
              <a:ext uri="{FF2B5EF4-FFF2-40B4-BE49-F238E27FC236}">
                <a16:creationId xmlns:a16="http://schemas.microsoft.com/office/drawing/2014/main" id="{BF51B4E7-79A0-4AD4-A124-8F3CF803B8F5}"/>
              </a:ext>
              <a:ext uri="{C183D7F6-B498-43B3-948B-1728B52AA6E4}">
                <adec:decorative xmlns:adec="http://schemas.microsoft.com/office/drawing/2017/decorative" val="1"/>
              </a:ext>
            </a:extLst>
          </p:cNvPr>
          <p:cNvSpPr txBox="1"/>
          <p:nvPr/>
        </p:nvSpPr>
        <p:spPr>
          <a:xfrm>
            <a:off x="5270029" y="3275111"/>
            <a:ext cx="398197" cy="307777"/>
          </a:xfrm>
          <a:prstGeom prst="rect">
            <a:avLst/>
          </a:prstGeom>
          <a:noFill/>
          <a:ln>
            <a:solidFill>
              <a:srgbClr val="EB6E19"/>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29</a:t>
            </a:r>
          </a:p>
        </p:txBody>
      </p:sp>
      <p:sp>
        <p:nvSpPr>
          <p:cNvPr id="17" name="TextBox 16">
            <a:extLst>
              <a:ext uri="{FF2B5EF4-FFF2-40B4-BE49-F238E27FC236}">
                <a16:creationId xmlns:a16="http://schemas.microsoft.com/office/drawing/2014/main" id="{EAD1ACB5-8D10-447A-8512-8CC77D028BBD}"/>
              </a:ext>
              <a:ext uri="{C183D7F6-B498-43B3-948B-1728B52AA6E4}">
                <adec:decorative xmlns:adec="http://schemas.microsoft.com/office/drawing/2017/decorative" val="1"/>
              </a:ext>
            </a:extLst>
          </p:cNvPr>
          <p:cNvSpPr txBox="1"/>
          <p:nvPr/>
        </p:nvSpPr>
        <p:spPr>
          <a:xfrm>
            <a:off x="2947151"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37</a:t>
            </a:r>
          </a:p>
        </p:txBody>
      </p:sp>
      <p:sp>
        <p:nvSpPr>
          <p:cNvPr id="18" name="TextBox 17">
            <a:extLst>
              <a:ext uri="{FF2B5EF4-FFF2-40B4-BE49-F238E27FC236}">
                <a16:creationId xmlns:a16="http://schemas.microsoft.com/office/drawing/2014/main" id="{393196BC-65D8-4C10-87E1-25F4471540B0}"/>
              </a:ext>
              <a:ext uri="{C183D7F6-B498-43B3-948B-1728B52AA6E4}">
                <adec:decorative xmlns:adec="http://schemas.microsoft.com/office/drawing/2017/decorative" val="1"/>
              </a:ext>
            </a:extLst>
          </p:cNvPr>
          <p:cNvSpPr txBox="1"/>
          <p:nvPr/>
        </p:nvSpPr>
        <p:spPr>
          <a:xfrm>
            <a:off x="334534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26</a:t>
            </a:r>
          </a:p>
        </p:txBody>
      </p:sp>
      <p:sp>
        <p:nvSpPr>
          <p:cNvPr id="19" name="TextBox 18">
            <a:extLst>
              <a:ext uri="{FF2B5EF4-FFF2-40B4-BE49-F238E27FC236}">
                <a16:creationId xmlns:a16="http://schemas.microsoft.com/office/drawing/2014/main" id="{C9564090-B42B-476E-AF5C-6D3874077308}"/>
              </a:ext>
              <a:ext uri="{C183D7F6-B498-43B3-948B-1728B52AA6E4}">
                <adec:decorative xmlns:adec="http://schemas.microsoft.com/office/drawing/2017/decorative" val="1"/>
              </a:ext>
            </a:extLst>
          </p:cNvPr>
          <p:cNvSpPr txBox="1"/>
          <p:nvPr/>
        </p:nvSpPr>
        <p:spPr>
          <a:xfrm>
            <a:off x="3835754"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76</a:t>
            </a:r>
          </a:p>
        </p:txBody>
      </p:sp>
      <p:sp>
        <p:nvSpPr>
          <p:cNvPr id="20" name="TextBox 19">
            <a:extLst>
              <a:ext uri="{FF2B5EF4-FFF2-40B4-BE49-F238E27FC236}">
                <a16:creationId xmlns:a16="http://schemas.microsoft.com/office/drawing/2014/main" id="{185757C9-C087-4FAF-884D-183400D216E8}"/>
              </a:ext>
              <a:ext uri="{C183D7F6-B498-43B3-948B-1728B52AA6E4}">
                <adec:decorative xmlns:adec="http://schemas.microsoft.com/office/drawing/2017/decorative" val="1"/>
              </a:ext>
            </a:extLst>
          </p:cNvPr>
          <p:cNvSpPr txBox="1"/>
          <p:nvPr/>
        </p:nvSpPr>
        <p:spPr>
          <a:xfrm>
            <a:off x="422573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32</a:t>
            </a:r>
          </a:p>
        </p:txBody>
      </p:sp>
      <p:sp>
        <p:nvSpPr>
          <p:cNvPr id="21" name="TextBox 20">
            <a:extLst>
              <a:ext uri="{FF2B5EF4-FFF2-40B4-BE49-F238E27FC236}">
                <a16:creationId xmlns:a16="http://schemas.microsoft.com/office/drawing/2014/main" id="{AFA10777-D795-445A-9DD0-7C98889397F6}"/>
              </a:ext>
              <a:ext uri="{C183D7F6-B498-43B3-948B-1728B52AA6E4}">
                <adec:decorative xmlns:adec="http://schemas.microsoft.com/office/drawing/2017/decorative" val="1"/>
              </a:ext>
            </a:extLst>
          </p:cNvPr>
          <p:cNvSpPr txBox="1"/>
          <p:nvPr/>
        </p:nvSpPr>
        <p:spPr>
          <a:xfrm>
            <a:off x="4716143"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74</a:t>
            </a:r>
          </a:p>
        </p:txBody>
      </p:sp>
      <p:sp>
        <p:nvSpPr>
          <p:cNvPr id="22" name="TextBox 21">
            <a:extLst>
              <a:ext uri="{FF2B5EF4-FFF2-40B4-BE49-F238E27FC236}">
                <a16:creationId xmlns:a16="http://schemas.microsoft.com/office/drawing/2014/main" id="{06E43CD1-A952-45EE-8A06-B2B9ECE524CA}"/>
              </a:ext>
              <a:ext uri="{C183D7F6-B498-43B3-948B-1728B52AA6E4}">
                <adec:decorative xmlns:adec="http://schemas.microsoft.com/office/drawing/2017/decorative" val="1"/>
              </a:ext>
            </a:extLst>
          </p:cNvPr>
          <p:cNvSpPr txBox="1"/>
          <p:nvPr/>
        </p:nvSpPr>
        <p:spPr>
          <a:xfrm>
            <a:off x="5114340"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89</a:t>
            </a:r>
          </a:p>
        </p:txBody>
      </p:sp>
      <p:sp>
        <p:nvSpPr>
          <p:cNvPr id="24" name="TextBox 23">
            <a:extLst>
              <a:ext uri="{FF2B5EF4-FFF2-40B4-BE49-F238E27FC236}">
                <a16:creationId xmlns:a16="http://schemas.microsoft.com/office/drawing/2014/main" id="{1D5ED36F-F3C0-4AB8-AD10-D772DBFE12CC}"/>
              </a:ext>
              <a:ext uri="{C183D7F6-B498-43B3-948B-1728B52AA6E4}">
                <adec:decorative xmlns:adec="http://schemas.microsoft.com/office/drawing/2017/decorative" val="1"/>
              </a:ext>
            </a:extLst>
          </p:cNvPr>
          <p:cNvSpPr txBox="1"/>
          <p:nvPr/>
        </p:nvSpPr>
        <p:spPr>
          <a:xfrm>
            <a:off x="3146249" y="3769303"/>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20</a:t>
            </a:r>
          </a:p>
        </p:txBody>
      </p:sp>
      <p:sp>
        <p:nvSpPr>
          <p:cNvPr id="25" name="TextBox 24">
            <a:extLst>
              <a:ext uri="{FF2B5EF4-FFF2-40B4-BE49-F238E27FC236}">
                <a16:creationId xmlns:a16="http://schemas.microsoft.com/office/drawing/2014/main" id="{F68978DC-8D44-459E-9984-49954373B44F}"/>
              </a:ext>
              <a:ext uri="{C183D7F6-B498-43B3-948B-1728B52AA6E4}">
                <adec:decorative xmlns:adec="http://schemas.microsoft.com/office/drawing/2017/decorative" val="1"/>
              </a:ext>
            </a:extLst>
          </p:cNvPr>
          <p:cNvSpPr txBox="1"/>
          <p:nvPr/>
        </p:nvSpPr>
        <p:spPr>
          <a:xfrm>
            <a:off x="4044070" y="3773948"/>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28</a:t>
            </a:r>
          </a:p>
        </p:txBody>
      </p:sp>
      <p:sp>
        <p:nvSpPr>
          <p:cNvPr id="26" name="TextBox 25">
            <a:extLst>
              <a:ext uri="{FF2B5EF4-FFF2-40B4-BE49-F238E27FC236}">
                <a16:creationId xmlns:a16="http://schemas.microsoft.com/office/drawing/2014/main" id="{0475A117-9D5E-44C2-85BD-04F9347631B9}"/>
              </a:ext>
              <a:ext uri="{C183D7F6-B498-43B3-948B-1728B52AA6E4}">
                <adec:decorative xmlns:adec="http://schemas.microsoft.com/office/drawing/2017/decorative" val="1"/>
              </a:ext>
            </a:extLst>
          </p:cNvPr>
          <p:cNvSpPr txBox="1"/>
          <p:nvPr/>
        </p:nvSpPr>
        <p:spPr>
          <a:xfrm>
            <a:off x="4915242" y="3764659"/>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39</a:t>
            </a:r>
          </a:p>
        </p:txBody>
      </p:sp>
      <p:sp>
        <p:nvSpPr>
          <p:cNvPr id="27" name="TextBox 26">
            <a:extLst>
              <a:ext uri="{FF2B5EF4-FFF2-40B4-BE49-F238E27FC236}">
                <a16:creationId xmlns:a16="http://schemas.microsoft.com/office/drawing/2014/main" id="{32F5FA45-C520-4141-A16D-990321183D0E}"/>
              </a:ext>
              <a:ext uri="{C183D7F6-B498-43B3-948B-1728B52AA6E4}">
                <adec:decorative xmlns:adec="http://schemas.microsoft.com/office/drawing/2017/decorative" val="1"/>
              </a:ext>
            </a:extLst>
          </p:cNvPr>
          <p:cNvSpPr txBox="1"/>
          <p:nvPr/>
        </p:nvSpPr>
        <p:spPr>
          <a:xfrm>
            <a:off x="5711635" y="3764659"/>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66</a:t>
            </a:r>
          </a:p>
        </p:txBody>
      </p:sp>
      <p:cxnSp>
        <p:nvCxnSpPr>
          <p:cNvPr id="28" name="Straight Connector 27">
            <a:extLst>
              <a:ext uri="{FF2B5EF4-FFF2-40B4-BE49-F238E27FC236}">
                <a16:creationId xmlns:a16="http://schemas.microsoft.com/office/drawing/2014/main" id="{ED0B8080-326C-48CB-B7CE-F7634259D9D2}"/>
              </a:ext>
              <a:ext uri="{C183D7F6-B498-43B3-948B-1728B52AA6E4}">
                <adec:decorative xmlns:adec="http://schemas.microsoft.com/office/drawing/2017/decorative" val="1"/>
              </a:ext>
            </a:extLst>
          </p:cNvPr>
          <p:cNvCxnSpPr/>
          <p:nvPr/>
        </p:nvCxnSpPr>
        <p:spPr>
          <a:xfrm flipH="1">
            <a:off x="3894434" y="2984644"/>
            <a:ext cx="573642" cy="284847"/>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9812509-2640-493B-ACAE-3D8D204F2E54}"/>
              </a:ext>
              <a:ext uri="{C183D7F6-B498-43B3-948B-1728B52AA6E4}">
                <adec:decorative xmlns:adec="http://schemas.microsoft.com/office/drawing/2017/decorative" val="1"/>
              </a:ext>
            </a:extLst>
          </p:cNvPr>
          <p:cNvCxnSpPr/>
          <p:nvPr/>
        </p:nvCxnSpPr>
        <p:spPr>
          <a:xfrm>
            <a:off x="4752591" y="2957626"/>
            <a:ext cx="716537" cy="330994"/>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BB851A3-DA63-4D8D-ABE6-F992F45E7E01}"/>
              </a:ext>
              <a:ext uri="{C183D7F6-B498-43B3-948B-1728B52AA6E4}">
                <adec:decorative xmlns:adec="http://schemas.microsoft.com/office/drawing/2017/decorative" val="1"/>
              </a:ext>
            </a:extLst>
          </p:cNvPr>
          <p:cNvCxnSpPr/>
          <p:nvPr/>
        </p:nvCxnSpPr>
        <p:spPr>
          <a:xfrm flipH="1">
            <a:off x="3338432" y="3610268"/>
            <a:ext cx="250066" cy="15903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CE30687-F7B7-40D6-B457-8981B596DF52}"/>
              </a:ext>
              <a:ext uri="{C183D7F6-B498-43B3-948B-1728B52AA6E4}">
                <adec:decorative xmlns:adec="http://schemas.microsoft.com/office/drawing/2017/decorative" val="1"/>
              </a:ext>
            </a:extLst>
          </p:cNvPr>
          <p:cNvCxnSpPr/>
          <p:nvPr/>
        </p:nvCxnSpPr>
        <p:spPr>
          <a:xfrm flipH="1">
            <a:off x="5107425" y="3610268"/>
            <a:ext cx="162606" cy="16368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34279F4-3FB3-4909-A81C-5D651E004572}"/>
              </a:ext>
              <a:ext uri="{C183D7F6-B498-43B3-948B-1728B52AA6E4}">
                <adec:decorative xmlns:adec="http://schemas.microsoft.com/office/drawing/2017/decorative" val="1"/>
              </a:ext>
            </a:extLst>
          </p:cNvPr>
          <p:cNvCxnSpPr/>
          <p:nvPr/>
        </p:nvCxnSpPr>
        <p:spPr>
          <a:xfrm flipH="1" flipV="1">
            <a:off x="3986695" y="3610268"/>
            <a:ext cx="249558" cy="16368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38CF59E-7EAA-48FE-A8C4-9706DB95C94F}"/>
              </a:ext>
              <a:ext uri="{C183D7F6-B498-43B3-948B-1728B52AA6E4}">
                <adec:decorative xmlns:adec="http://schemas.microsoft.com/office/drawing/2017/decorative" val="1"/>
              </a:ext>
            </a:extLst>
          </p:cNvPr>
          <p:cNvCxnSpPr/>
          <p:nvPr/>
        </p:nvCxnSpPr>
        <p:spPr>
          <a:xfrm flipH="1" flipV="1">
            <a:off x="5653759" y="3610269"/>
            <a:ext cx="250058"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55D3365-15F9-4289-9D44-E659CF0988E7}"/>
              </a:ext>
              <a:ext uri="{C183D7F6-B498-43B3-948B-1728B52AA6E4}">
                <adec:decorative xmlns:adec="http://schemas.microsoft.com/office/drawing/2017/decorative" val="1"/>
              </a:ext>
            </a:extLst>
          </p:cNvPr>
          <p:cNvCxnSpPr>
            <a:stCxn id="57" idx="0"/>
          </p:cNvCxnSpPr>
          <p:nvPr/>
        </p:nvCxnSpPr>
        <p:spPr>
          <a:xfrm flipV="1">
            <a:off x="3139334" y="4099817"/>
            <a:ext cx="122725"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8E6B03F-EDE4-4FEF-BC74-85BF6BF8DAA7}"/>
              </a:ext>
              <a:ext uri="{C183D7F6-B498-43B3-948B-1728B52AA6E4}">
                <adec:decorative xmlns:adec="http://schemas.microsoft.com/office/drawing/2017/decorative" val="1"/>
              </a:ext>
            </a:extLst>
          </p:cNvPr>
          <p:cNvCxnSpPr>
            <a:stCxn id="58" idx="0"/>
          </p:cNvCxnSpPr>
          <p:nvPr/>
        </p:nvCxnSpPr>
        <p:spPr>
          <a:xfrm flipH="1" flipV="1">
            <a:off x="3466924" y="4099817"/>
            <a:ext cx="706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7AB8B7A-3AA0-4714-BC2A-65786305177D}"/>
              </a:ext>
              <a:ext uri="{C183D7F6-B498-43B3-948B-1728B52AA6E4}">
                <adec:decorative xmlns:adec="http://schemas.microsoft.com/office/drawing/2017/decorative" val="1"/>
              </a:ext>
            </a:extLst>
          </p:cNvPr>
          <p:cNvCxnSpPr>
            <a:stCxn id="59" idx="0"/>
          </p:cNvCxnSpPr>
          <p:nvPr/>
        </p:nvCxnSpPr>
        <p:spPr>
          <a:xfrm flipV="1">
            <a:off x="4027937" y="4109105"/>
            <a:ext cx="80331"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39D941E-7960-4022-8175-FBFCAEC72FEF}"/>
              </a:ext>
              <a:ext uri="{C183D7F6-B498-43B3-948B-1728B52AA6E4}">
                <adec:decorative xmlns:adec="http://schemas.microsoft.com/office/drawing/2017/decorative" val="1"/>
              </a:ext>
            </a:extLst>
          </p:cNvPr>
          <p:cNvCxnSpPr/>
          <p:nvPr/>
        </p:nvCxnSpPr>
        <p:spPr>
          <a:xfrm flipH="1" flipV="1">
            <a:off x="4327340" y="4099817"/>
            <a:ext cx="90580"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AC64B88-7C6F-4B42-B41F-16B1318DEE19}"/>
              </a:ext>
              <a:ext uri="{C183D7F6-B498-43B3-948B-1728B52AA6E4}">
                <adec:decorative xmlns:adec="http://schemas.microsoft.com/office/drawing/2017/decorative" val="1"/>
              </a:ext>
            </a:extLst>
          </p:cNvPr>
          <p:cNvCxnSpPr/>
          <p:nvPr/>
        </p:nvCxnSpPr>
        <p:spPr>
          <a:xfrm flipV="1">
            <a:off x="4908326" y="4099817"/>
            <a:ext cx="908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0BFA9DB-A978-449F-9F63-9DDBA4B0621E}"/>
              </a:ext>
              <a:ext uri="{C183D7F6-B498-43B3-948B-1728B52AA6E4}">
                <adec:decorative xmlns:adec="http://schemas.microsoft.com/office/drawing/2017/decorative" val="1"/>
              </a:ext>
            </a:extLst>
          </p:cNvPr>
          <p:cNvCxnSpPr/>
          <p:nvPr/>
        </p:nvCxnSpPr>
        <p:spPr>
          <a:xfrm flipH="1" flipV="1">
            <a:off x="5255561" y="4109105"/>
            <a:ext cx="50962"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EEAA561-815C-4F98-8113-D9CF68A778A5}"/>
              </a:ext>
              <a:ext uri="{C183D7F6-B498-43B3-948B-1728B52AA6E4}">
                <adec:decorative xmlns:adec="http://schemas.microsoft.com/office/drawing/2017/decorative" val="1"/>
              </a:ext>
            </a:extLst>
          </p:cNvPr>
          <p:cNvSpPr txBox="1"/>
          <p:nvPr/>
        </p:nvSpPr>
        <p:spPr>
          <a:xfrm>
            <a:off x="5270029" y="3275111"/>
            <a:ext cx="398197" cy="307777"/>
          </a:xfrm>
          <a:prstGeom prst="rect">
            <a:avLst/>
          </a:prstGeom>
          <a:noFill/>
          <a:ln w="6350">
            <a:solidFill>
              <a:srgbClr val="EB6E19"/>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29</a:t>
            </a:r>
          </a:p>
        </p:txBody>
      </p:sp>
      <p:sp>
        <p:nvSpPr>
          <p:cNvPr id="41" name="TextBox 40">
            <a:extLst>
              <a:ext uri="{FF2B5EF4-FFF2-40B4-BE49-F238E27FC236}">
                <a16:creationId xmlns:a16="http://schemas.microsoft.com/office/drawing/2014/main" id="{84207F50-D829-441E-A1B4-0A91BEEDEF4D}"/>
              </a:ext>
              <a:ext uri="{C183D7F6-B498-43B3-948B-1728B52AA6E4}">
                <adec:decorative xmlns:adec="http://schemas.microsoft.com/office/drawing/2017/decorative" val="1"/>
              </a:ext>
            </a:extLst>
          </p:cNvPr>
          <p:cNvSpPr txBox="1"/>
          <p:nvPr/>
        </p:nvSpPr>
        <p:spPr>
          <a:xfrm>
            <a:off x="3146249" y="3769303"/>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20</a:t>
            </a:r>
          </a:p>
        </p:txBody>
      </p:sp>
      <p:sp>
        <p:nvSpPr>
          <p:cNvPr id="42" name="TextBox 41">
            <a:extLst>
              <a:ext uri="{FF2B5EF4-FFF2-40B4-BE49-F238E27FC236}">
                <a16:creationId xmlns:a16="http://schemas.microsoft.com/office/drawing/2014/main" id="{871088E9-1A57-451B-A4D9-D0493D3FC3CA}"/>
              </a:ext>
              <a:ext uri="{C183D7F6-B498-43B3-948B-1728B52AA6E4}">
                <adec:decorative xmlns:adec="http://schemas.microsoft.com/office/drawing/2017/decorative" val="1"/>
              </a:ext>
            </a:extLst>
          </p:cNvPr>
          <p:cNvSpPr txBox="1"/>
          <p:nvPr/>
        </p:nvSpPr>
        <p:spPr>
          <a:xfrm>
            <a:off x="4044070" y="3773948"/>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28</a:t>
            </a:r>
          </a:p>
        </p:txBody>
      </p:sp>
      <p:sp>
        <p:nvSpPr>
          <p:cNvPr id="44" name="TextBox 43">
            <a:extLst>
              <a:ext uri="{FF2B5EF4-FFF2-40B4-BE49-F238E27FC236}">
                <a16:creationId xmlns:a16="http://schemas.microsoft.com/office/drawing/2014/main" id="{A6DFE1E6-93BB-4FEA-B25E-3BD2D42A6AF2}"/>
              </a:ext>
              <a:ext uri="{C183D7F6-B498-43B3-948B-1728B52AA6E4}">
                <adec:decorative xmlns:adec="http://schemas.microsoft.com/office/drawing/2017/decorative" val="1"/>
              </a:ext>
            </a:extLst>
          </p:cNvPr>
          <p:cNvSpPr txBox="1"/>
          <p:nvPr/>
        </p:nvSpPr>
        <p:spPr>
          <a:xfrm>
            <a:off x="5711635" y="3764659"/>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66</a:t>
            </a:r>
          </a:p>
        </p:txBody>
      </p:sp>
      <p:sp>
        <p:nvSpPr>
          <p:cNvPr id="46" name="TextBox 45">
            <a:extLst>
              <a:ext uri="{FF2B5EF4-FFF2-40B4-BE49-F238E27FC236}">
                <a16:creationId xmlns:a16="http://schemas.microsoft.com/office/drawing/2014/main" id="{39C61B35-F0FA-439E-904F-1E4CD8F96B23}"/>
              </a:ext>
              <a:ext uri="{C183D7F6-B498-43B3-948B-1728B52AA6E4}">
                <adec:decorative xmlns:adec="http://schemas.microsoft.com/office/drawing/2017/decorative" val="1"/>
              </a:ext>
            </a:extLst>
          </p:cNvPr>
          <p:cNvSpPr txBox="1"/>
          <p:nvPr/>
        </p:nvSpPr>
        <p:spPr>
          <a:xfrm>
            <a:off x="2947151"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37</a:t>
            </a:r>
          </a:p>
        </p:txBody>
      </p:sp>
      <p:sp>
        <p:nvSpPr>
          <p:cNvPr id="47" name="TextBox 46">
            <a:extLst>
              <a:ext uri="{FF2B5EF4-FFF2-40B4-BE49-F238E27FC236}">
                <a16:creationId xmlns:a16="http://schemas.microsoft.com/office/drawing/2014/main" id="{F64F9888-0E5D-44FD-8CCA-230171B60EF2}"/>
              </a:ext>
              <a:ext uri="{C183D7F6-B498-43B3-948B-1728B52AA6E4}">
                <adec:decorative xmlns:adec="http://schemas.microsoft.com/office/drawing/2017/decorative" val="1"/>
              </a:ext>
            </a:extLst>
          </p:cNvPr>
          <p:cNvSpPr txBox="1"/>
          <p:nvPr/>
        </p:nvSpPr>
        <p:spPr>
          <a:xfrm>
            <a:off x="334534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26</a:t>
            </a:r>
          </a:p>
        </p:txBody>
      </p:sp>
      <p:sp>
        <p:nvSpPr>
          <p:cNvPr id="56" name="TextBox 55">
            <a:extLst>
              <a:ext uri="{FF2B5EF4-FFF2-40B4-BE49-F238E27FC236}">
                <a16:creationId xmlns:a16="http://schemas.microsoft.com/office/drawing/2014/main" id="{6087B08E-F810-48F6-98FD-8FC6E1FC27EF}"/>
              </a:ext>
              <a:ext uri="{C183D7F6-B498-43B3-948B-1728B52AA6E4}">
                <adec:decorative xmlns:adec="http://schemas.microsoft.com/office/drawing/2017/decorative" val="1"/>
              </a:ext>
            </a:extLst>
          </p:cNvPr>
          <p:cNvSpPr txBox="1"/>
          <p:nvPr/>
        </p:nvSpPr>
        <p:spPr>
          <a:xfrm>
            <a:off x="3835754"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76</a:t>
            </a:r>
          </a:p>
        </p:txBody>
      </p:sp>
      <p:sp>
        <p:nvSpPr>
          <p:cNvPr id="57" name="TextBox 56">
            <a:extLst>
              <a:ext uri="{FF2B5EF4-FFF2-40B4-BE49-F238E27FC236}">
                <a16:creationId xmlns:a16="http://schemas.microsoft.com/office/drawing/2014/main" id="{8C8CD950-8C99-4070-8111-1C1171DBC0D2}"/>
              </a:ext>
              <a:ext uri="{C183D7F6-B498-43B3-948B-1728B52AA6E4}">
                <adec:decorative xmlns:adec="http://schemas.microsoft.com/office/drawing/2017/decorative" val="1"/>
              </a:ext>
            </a:extLst>
          </p:cNvPr>
          <p:cNvSpPr txBox="1"/>
          <p:nvPr/>
        </p:nvSpPr>
        <p:spPr>
          <a:xfrm>
            <a:off x="422573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32</a:t>
            </a:r>
          </a:p>
        </p:txBody>
      </p:sp>
      <p:sp>
        <p:nvSpPr>
          <p:cNvPr id="58" name="TextBox 57">
            <a:extLst>
              <a:ext uri="{FF2B5EF4-FFF2-40B4-BE49-F238E27FC236}">
                <a16:creationId xmlns:a16="http://schemas.microsoft.com/office/drawing/2014/main" id="{46695E7F-1157-4296-9575-75ABE9F7757C}"/>
              </a:ext>
              <a:ext uri="{C183D7F6-B498-43B3-948B-1728B52AA6E4}">
                <adec:decorative xmlns:adec="http://schemas.microsoft.com/office/drawing/2017/decorative" val="1"/>
              </a:ext>
            </a:extLst>
          </p:cNvPr>
          <p:cNvSpPr txBox="1"/>
          <p:nvPr/>
        </p:nvSpPr>
        <p:spPr>
          <a:xfrm>
            <a:off x="4716143"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74</a:t>
            </a:r>
          </a:p>
        </p:txBody>
      </p:sp>
      <p:sp>
        <p:nvSpPr>
          <p:cNvPr id="59" name="TextBox 58">
            <a:extLst>
              <a:ext uri="{FF2B5EF4-FFF2-40B4-BE49-F238E27FC236}">
                <a16:creationId xmlns:a16="http://schemas.microsoft.com/office/drawing/2014/main" id="{7B1EFF9C-027F-44CB-9278-28DE7C644F43}"/>
              </a:ext>
              <a:ext uri="{C183D7F6-B498-43B3-948B-1728B52AA6E4}">
                <adec:decorative xmlns:adec="http://schemas.microsoft.com/office/drawing/2017/decorative" val="1"/>
              </a:ext>
            </a:extLst>
          </p:cNvPr>
          <p:cNvSpPr txBox="1"/>
          <p:nvPr/>
        </p:nvSpPr>
        <p:spPr>
          <a:xfrm>
            <a:off x="5114340"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89</a:t>
            </a:r>
          </a:p>
        </p:txBody>
      </p:sp>
      <p:sp>
        <p:nvSpPr>
          <p:cNvPr id="43" name="Rectangle 42">
            <a:extLst>
              <a:ext uri="{FF2B5EF4-FFF2-40B4-BE49-F238E27FC236}">
                <a16:creationId xmlns:a16="http://schemas.microsoft.com/office/drawing/2014/main" id="{C17B2482-1B57-42B8-BCFF-29D55C291212}"/>
              </a:ext>
              <a:ext uri="{C183D7F6-B498-43B3-948B-1728B52AA6E4}">
                <adec:decorative xmlns:adec="http://schemas.microsoft.com/office/drawing/2017/decorative" val="1"/>
              </a:ext>
            </a:extLst>
          </p:cNvPr>
          <p:cNvSpPr/>
          <p:nvPr/>
        </p:nvSpPr>
        <p:spPr>
          <a:xfrm>
            <a:off x="1995537" y="5838024"/>
            <a:ext cx="6021256" cy="345745"/>
          </a:xfrm>
          <a:prstGeom prst="rect">
            <a:avLst/>
          </a:prstGeom>
          <a:noFill/>
          <a:ln>
            <a:solidFill>
              <a:srgbClr val="EB6E19"/>
            </a:solidFill>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endParaRPr>
          </a:p>
        </p:txBody>
      </p:sp>
      <p:cxnSp>
        <p:nvCxnSpPr>
          <p:cNvPr id="45" name="Straight Connector 44">
            <a:extLst>
              <a:ext uri="{FF2B5EF4-FFF2-40B4-BE49-F238E27FC236}">
                <a16:creationId xmlns:a16="http://schemas.microsoft.com/office/drawing/2014/main" id="{BB9BC71D-97A6-44D8-8377-4DE5AAF6956B}"/>
              </a:ext>
              <a:ext uri="{C183D7F6-B498-43B3-948B-1728B52AA6E4}">
                <adec:decorative xmlns:adec="http://schemas.microsoft.com/office/drawing/2017/decorative" val="1"/>
              </a:ext>
            </a:extLst>
          </p:cNvPr>
          <p:cNvCxnSpPr>
            <a:cxnSpLocks/>
          </p:cNvCxnSpPr>
          <p:nvPr/>
        </p:nvCxnSpPr>
        <p:spPr>
          <a:xfrm>
            <a:off x="2393733"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BDD08A3-7395-48B6-B028-6501B595C07B}"/>
              </a:ext>
              <a:ext uri="{C183D7F6-B498-43B3-948B-1728B52AA6E4}">
                <adec:decorative xmlns:adec="http://schemas.microsoft.com/office/drawing/2017/decorative" val="1"/>
              </a:ext>
            </a:extLst>
          </p:cNvPr>
          <p:cNvCxnSpPr>
            <a:cxnSpLocks/>
          </p:cNvCxnSpPr>
          <p:nvPr/>
        </p:nvCxnSpPr>
        <p:spPr>
          <a:xfrm>
            <a:off x="7159106"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9E684A0-99CC-488C-97BC-9E3C83CD7C09}"/>
              </a:ext>
              <a:ext uri="{C183D7F6-B498-43B3-948B-1728B52AA6E4}">
                <adec:decorative xmlns:adec="http://schemas.microsoft.com/office/drawing/2017/decorative" val="1"/>
              </a:ext>
            </a:extLst>
          </p:cNvPr>
          <p:cNvCxnSpPr>
            <a:cxnSpLocks/>
          </p:cNvCxnSpPr>
          <p:nvPr/>
        </p:nvCxnSpPr>
        <p:spPr>
          <a:xfrm>
            <a:off x="2870271"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44DDAE8-FB89-4D89-AC71-F47AB42F360B}"/>
              </a:ext>
              <a:ext uri="{C183D7F6-B498-43B3-948B-1728B52AA6E4}">
                <adec:decorative xmlns:adec="http://schemas.microsoft.com/office/drawing/2017/decorative" val="1"/>
              </a:ext>
            </a:extLst>
          </p:cNvPr>
          <p:cNvCxnSpPr>
            <a:cxnSpLocks/>
          </p:cNvCxnSpPr>
          <p:nvPr/>
        </p:nvCxnSpPr>
        <p:spPr>
          <a:xfrm>
            <a:off x="3346808"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A7D9556-B0E5-4207-A066-F24E645A0DD2}"/>
              </a:ext>
              <a:ext uri="{C183D7F6-B498-43B3-948B-1728B52AA6E4}">
                <adec:decorative xmlns:adec="http://schemas.microsoft.com/office/drawing/2017/decorative" val="1"/>
              </a:ext>
            </a:extLst>
          </p:cNvPr>
          <p:cNvCxnSpPr>
            <a:cxnSpLocks/>
          </p:cNvCxnSpPr>
          <p:nvPr/>
        </p:nvCxnSpPr>
        <p:spPr>
          <a:xfrm>
            <a:off x="3823345"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F2BE3DD-1312-4ED3-AB5D-D0D9A5C1186D}"/>
              </a:ext>
              <a:ext uri="{C183D7F6-B498-43B3-948B-1728B52AA6E4}">
                <adec:decorative xmlns:adec="http://schemas.microsoft.com/office/drawing/2017/decorative" val="1"/>
              </a:ext>
            </a:extLst>
          </p:cNvPr>
          <p:cNvCxnSpPr>
            <a:cxnSpLocks/>
          </p:cNvCxnSpPr>
          <p:nvPr/>
        </p:nvCxnSpPr>
        <p:spPr>
          <a:xfrm>
            <a:off x="4299883"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7F86F4-DAE5-453D-A2F2-A01DF41ED87F}"/>
              </a:ext>
              <a:ext uri="{C183D7F6-B498-43B3-948B-1728B52AA6E4}">
                <adec:decorative xmlns:adec="http://schemas.microsoft.com/office/drawing/2017/decorative" val="1"/>
              </a:ext>
            </a:extLst>
          </p:cNvPr>
          <p:cNvCxnSpPr>
            <a:cxnSpLocks/>
          </p:cNvCxnSpPr>
          <p:nvPr/>
        </p:nvCxnSpPr>
        <p:spPr>
          <a:xfrm>
            <a:off x="4776420"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F278C91-2A77-44E6-A28C-BA8DB054B0B2}"/>
              </a:ext>
              <a:ext uri="{C183D7F6-B498-43B3-948B-1728B52AA6E4}">
                <adec:decorative xmlns:adec="http://schemas.microsoft.com/office/drawing/2017/decorative" val="1"/>
              </a:ext>
            </a:extLst>
          </p:cNvPr>
          <p:cNvCxnSpPr>
            <a:cxnSpLocks/>
          </p:cNvCxnSpPr>
          <p:nvPr/>
        </p:nvCxnSpPr>
        <p:spPr>
          <a:xfrm>
            <a:off x="5252958"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797CC39-539D-4C52-97A8-285F112F531B}"/>
              </a:ext>
              <a:ext uri="{C183D7F6-B498-43B3-948B-1728B52AA6E4}">
                <adec:decorative xmlns:adec="http://schemas.microsoft.com/office/drawing/2017/decorative" val="1"/>
              </a:ext>
            </a:extLst>
          </p:cNvPr>
          <p:cNvCxnSpPr>
            <a:cxnSpLocks/>
          </p:cNvCxnSpPr>
          <p:nvPr/>
        </p:nvCxnSpPr>
        <p:spPr>
          <a:xfrm>
            <a:off x="5729495"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E260ACE-BBDD-4860-8CD7-FFB113A4186E}"/>
              </a:ext>
              <a:ext uri="{C183D7F6-B498-43B3-948B-1728B52AA6E4}">
                <adec:decorative xmlns:adec="http://schemas.microsoft.com/office/drawing/2017/decorative" val="1"/>
              </a:ext>
            </a:extLst>
          </p:cNvPr>
          <p:cNvCxnSpPr>
            <a:cxnSpLocks/>
          </p:cNvCxnSpPr>
          <p:nvPr/>
        </p:nvCxnSpPr>
        <p:spPr>
          <a:xfrm>
            <a:off x="6206033"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545713D-1EAC-4638-BFDE-A83C0991F1BD}"/>
              </a:ext>
              <a:ext uri="{C183D7F6-B498-43B3-948B-1728B52AA6E4}">
                <adec:decorative xmlns:adec="http://schemas.microsoft.com/office/drawing/2017/decorative" val="1"/>
              </a:ext>
            </a:extLst>
          </p:cNvPr>
          <p:cNvCxnSpPr>
            <a:cxnSpLocks/>
          </p:cNvCxnSpPr>
          <p:nvPr/>
        </p:nvCxnSpPr>
        <p:spPr>
          <a:xfrm>
            <a:off x="6682570"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5E045E7A-4558-4425-BAD3-40A514645E35}"/>
              </a:ext>
              <a:ext uri="{C183D7F6-B498-43B3-948B-1728B52AA6E4}">
                <adec:decorative xmlns:adec="http://schemas.microsoft.com/office/drawing/2017/decorative" val="1"/>
              </a:ext>
            </a:extLst>
          </p:cNvPr>
          <p:cNvSpPr txBox="1"/>
          <p:nvPr/>
        </p:nvSpPr>
        <p:spPr>
          <a:xfrm>
            <a:off x="1961891" y="5538371"/>
            <a:ext cx="398196"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0</a:t>
            </a:r>
          </a:p>
        </p:txBody>
      </p:sp>
      <p:sp>
        <p:nvSpPr>
          <p:cNvPr id="63" name="TextBox 62">
            <a:extLst>
              <a:ext uri="{FF2B5EF4-FFF2-40B4-BE49-F238E27FC236}">
                <a16:creationId xmlns:a16="http://schemas.microsoft.com/office/drawing/2014/main" id="{9DE572CE-9D05-464B-B243-9070C47DAAF1}"/>
              </a:ext>
              <a:ext uri="{C183D7F6-B498-43B3-948B-1728B52AA6E4}">
                <adec:decorative xmlns:adec="http://schemas.microsoft.com/office/drawing/2017/decorative" val="1"/>
              </a:ext>
            </a:extLst>
          </p:cNvPr>
          <p:cNvSpPr txBox="1"/>
          <p:nvPr/>
        </p:nvSpPr>
        <p:spPr>
          <a:xfrm>
            <a:off x="2456472" y="5538371"/>
            <a:ext cx="269625"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1</a:t>
            </a:r>
          </a:p>
        </p:txBody>
      </p:sp>
      <p:sp>
        <p:nvSpPr>
          <p:cNvPr id="64" name="TextBox 63">
            <a:extLst>
              <a:ext uri="{FF2B5EF4-FFF2-40B4-BE49-F238E27FC236}">
                <a16:creationId xmlns:a16="http://schemas.microsoft.com/office/drawing/2014/main" id="{660A9837-7DB9-4F6A-9939-D7E7BE565372}"/>
              </a:ext>
              <a:ext uri="{C183D7F6-B498-43B3-948B-1728B52AA6E4}">
                <adec:decorative xmlns:adec="http://schemas.microsoft.com/office/drawing/2017/decorative" val="1"/>
              </a:ext>
            </a:extLst>
          </p:cNvPr>
          <p:cNvSpPr txBox="1"/>
          <p:nvPr/>
        </p:nvSpPr>
        <p:spPr>
          <a:xfrm>
            <a:off x="2865843" y="5538371"/>
            <a:ext cx="398197"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2</a:t>
            </a:r>
          </a:p>
        </p:txBody>
      </p:sp>
      <p:sp>
        <p:nvSpPr>
          <p:cNvPr id="65" name="TextBox 64">
            <a:extLst>
              <a:ext uri="{FF2B5EF4-FFF2-40B4-BE49-F238E27FC236}">
                <a16:creationId xmlns:a16="http://schemas.microsoft.com/office/drawing/2014/main" id="{E14730A6-C68A-40F9-90AE-42B4DF6FA48C}"/>
              </a:ext>
              <a:ext uri="{C183D7F6-B498-43B3-948B-1728B52AA6E4}">
                <adec:decorative xmlns:adec="http://schemas.microsoft.com/office/drawing/2017/decorative" val="1"/>
              </a:ext>
            </a:extLst>
          </p:cNvPr>
          <p:cNvSpPr txBox="1"/>
          <p:nvPr/>
        </p:nvSpPr>
        <p:spPr>
          <a:xfrm>
            <a:off x="5334248" y="5538371"/>
            <a:ext cx="269625"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7</a:t>
            </a:r>
          </a:p>
        </p:txBody>
      </p:sp>
      <p:sp>
        <p:nvSpPr>
          <p:cNvPr id="66" name="TextBox 65">
            <a:extLst>
              <a:ext uri="{FF2B5EF4-FFF2-40B4-BE49-F238E27FC236}">
                <a16:creationId xmlns:a16="http://schemas.microsoft.com/office/drawing/2014/main" id="{DF1395C7-1325-46CB-B9AD-9ABCEDB271A8}"/>
              </a:ext>
              <a:ext uri="{C183D7F6-B498-43B3-948B-1728B52AA6E4}">
                <adec:decorative xmlns:adec="http://schemas.microsoft.com/office/drawing/2017/decorative" val="1"/>
              </a:ext>
            </a:extLst>
          </p:cNvPr>
          <p:cNvSpPr txBox="1"/>
          <p:nvPr/>
        </p:nvSpPr>
        <p:spPr>
          <a:xfrm>
            <a:off x="5788145" y="5538371"/>
            <a:ext cx="269625"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8</a:t>
            </a:r>
          </a:p>
        </p:txBody>
      </p:sp>
      <p:sp>
        <p:nvSpPr>
          <p:cNvPr id="67" name="TextBox 66">
            <a:extLst>
              <a:ext uri="{FF2B5EF4-FFF2-40B4-BE49-F238E27FC236}">
                <a16:creationId xmlns:a16="http://schemas.microsoft.com/office/drawing/2014/main" id="{F0DB9C33-41E5-4865-9788-B9520F5EC4E3}"/>
              </a:ext>
              <a:ext uri="{C183D7F6-B498-43B3-948B-1728B52AA6E4}">
                <adec:decorative xmlns:adec="http://schemas.microsoft.com/office/drawing/2017/decorative" val="1"/>
              </a:ext>
            </a:extLst>
          </p:cNvPr>
          <p:cNvSpPr txBox="1"/>
          <p:nvPr/>
        </p:nvSpPr>
        <p:spPr>
          <a:xfrm>
            <a:off x="6267315" y="5538371"/>
            <a:ext cx="269625"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9</a:t>
            </a:r>
          </a:p>
        </p:txBody>
      </p:sp>
      <p:sp>
        <p:nvSpPr>
          <p:cNvPr id="68" name="TextBox 67">
            <a:extLst>
              <a:ext uri="{FF2B5EF4-FFF2-40B4-BE49-F238E27FC236}">
                <a16:creationId xmlns:a16="http://schemas.microsoft.com/office/drawing/2014/main" id="{A8BC5922-70C4-494D-BA78-4698FF176872}"/>
              </a:ext>
              <a:ext uri="{C183D7F6-B498-43B3-948B-1728B52AA6E4}">
                <adec:decorative xmlns:adec="http://schemas.microsoft.com/office/drawing/2017/decorative" val="1"/>
              </a:ext>
            </a:extLst>
          </p:cNvPr>
          <p:cNvSpPr txBox="1"/>
          <p:nvPr/>
        </p:nvSpPr>
        <p:spPr>
          <a:xfrm>
            <a:off x="6694473" y="5538371"/>
            <a:ext cx="354584"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10</a:t>
            </a:r>
          </a:p>
        </p:txBody>
      </p:sp>
      <p:sp>
        <p:nvSpPr>
          <p:cNvPr id="69" name="TextBox 68">
            <a:extLst>
              <a:ext uri="{FF2B5EF4-FFF2-40B4-BE49-F238E27FC236}">
                <a16:creationId xmlns:a16="http://schemas.microsoft.com/office/drawing/2014/main" id="{46CD84FF-CB18-4578-AC72-8E57238A2ECE}"/>
              </a:ext>
              <a:ext uri="{C183D7F6-B498-43B3-948B-1728B52AA6E4}">
                <adec:decorative xmlns:adec="http://schemas.microsoft.com/office/drawing/2017/decorative" val="1"/>
              </a:ext>
            </a:extLst>
          </p:cNvPr>
          <p:cNvSpPr txBox="1"/>
          <p:nvPr/>
        </p:nvSpPr>
        <p:spPr>
          <a:xfrm>
            <a:off x="7179094" y="5538371"/>
            <a:ext cx="354584"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11</a:t>
            </a:r>
          </a:p>
        </p:txBody>
      </p:sp>
      <p:sp>
        <p:nvSpPr>
          <p:cNvPr id="70" name="TextBox 69">
            <a:extLst>
              <a:ext uri="{FF2B5EF4-FFF2-40B4-BE49-F238E27FC236}">
                <a16:creationId xmlns:a16="http://schemas.microsoft.com/office/drawing/2014/main" id="{1727F494-591D-4B13-B60A-EC1295B1F617}"/>
              </a:ext>
              <a:ext uri="{C183D7F6-B498-43B3-948B-1728B52AA6E4}">
                <adec:decorative xmlns:adec="http://schemas.microsoft.com/office/drawing/2017/decorative" val="1"/>
              </a:ext>
            </a:extLst>
          </p:cNvPr>
          <p:cNvSpPr txBox="1"/>
          <p:nvPr/>
        </p:nvSpPr>
        <p:spPr>
          <a:xfrm>
            <a:off x="7658053" y="5528627"/>
            <a:ext cx="354584"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12</a:t>
            </a:r>
          </a:p>
        </p:txBody>
      </p:sp>
      <p:sp>
        <p:nvSpPr>
          <p:cNvPr id="71" name="TextBox 70">
            <a:extLst>
              <a:ext uri="{FF2B5EF4-FFF2-40B4-BE49-F238E27FC236}">
                <a16:creationId xmlns:a16="http://schemas.microsoft.com/office/drawing/2014/main" id="{D0B839F2-4BAC-4712-BA77-0E0512FB169C}"/>
              </a:ext>
              <a:ext uri="{C183D7F6-B498-43B3-948B-1728B52AA6E4}">
                <adec:decorative xmlns:adec="http://schemas.microsoft.com/office/drawing/2017/decorative" val="1"/>
              </a:ext>
            </a:extLst>
          </p:cNvPr>
          <p:cNvSpPr txBox="1"/>
          <p:nvPr/>
        </p:nvSpPr>
        <p:spPr>
          <a:xfrm>
            <a:off x="3413962" y="5538371"/>
            <a:ext cx="269625"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3</a:t>
            </a:r>
          </a:p>
        </p:txBody>
      </p:sp>
      <p:sp>
        <p:nvSpPr>
          <p:cNvPr id="72" name="TextBox 71">
            <a:extLst>
              <a:ext uri="{FF2B5EF4-FFF2-40B4-BE49-F238E27FC236}">
                <a16:creationId xmlns:a16="http://schemas.microsoft.com/office/drawing/2014/main" id="{24217CB9-4C34-431F-ABE0-E2FF844DB38A}"/>
              </a:ext>
              <a:ext uri="{C183D7F6-B498-43B3-948B-1728B52AA6E4}">
                <adec:decorative xmlns:adec="http://schemas.microsoft.com/office/drawing/2017/decorative" val="1"/>
              </a:ext>
            </a:extLst>
          </p:cNvPr>
          <p:cNvSpPr txBox="1"/>
          <p:nvPr/>
        </p:nvSpPr>
        <p:spPr>
          <a:xfrm>
            <a:off x="3912755" y="5538371"/>
            <a:ext cx="269625"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4</a:t>
            </a:r>
          </a:p>
        </p:txBody>
      </p:sp>
      <p:sp>
        <p:nvSpPr>
          <p:cNvPr id="73" name="TextBox 72">
            <a:extLst>
              <a:ext uri="{FF2B5EF4-FFF2-40B4-BE49-F238E27FC236}">
                <a16:creationId xmlns:a16="http://schemas.microsoft.com/office/drawing/2014/main" id="{0AB6318A-634A-4B74-8D81-359A33300866}"/>
              </a:ext>
              <a:ext uri="{C183D7F6-B498-43B3-948B-1728B52AA6E4}">
                <adec:decorative xmlns:adec="http://schemas.microsoft.com/office/drawing/2017/decorative" val="1"/>
              </a:ext>
            </a:extLst>
          </p:cNvPr>
          <p:cNvSpPr txBox="1"/>
          <p:nvPr/>
        </p:nvSpPr>
        <p:spPr>
          <a:xfrm>
            <a:off x="4371755" y="5538371"/>
            <a:ext cx="269625"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5</a:t>
            </a:r>
          </a:p>
        </p:txBody>
      </p:sp>
      <p:sp>
        <p:nvSpPr>
          <p:cNvPr id="74" name="TextBox 73">
            <a:extLst>
              <a:ext uri="{FF2B5EF4-FFF2-40B4-BE49-F238E27FC236}">
                <a16:creationId xmlns:a16="http://schemas.microsoft.com/office/drawing/2014/main" id="{9E041813-9CBA-46BF-A3B1-4DFFB301DB38}"/>
              </a:ext>
              <a:ext uri="{C183D7F6-B498-43B3-948B-1728B52AA6E4}">
                <adec:decorative xmlns:adec="http://schemas.microsoft.com/office/drawing/2017/decorative" val="1"/>
              </a:ext>
            </a:extLst>
          </p:cNvPr>
          <p:cNvSpPr txBox="1"/>
          <p:nvPr/>
        </p:nvSpPr>
        <p:spPr>
          <a:xfrm>
            <a:off x="4850415" y="5538371"/>
            <a:ext cx="269625"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6</a:t>
            </a:r>
          </a:p>
        </p:txBody>
      </p:sp>
      <p:cxnSp>
        <p:nvCxnSpPr>
          <p:cNvPr id="75" name="Straight Connector 74">
            <a:extLst>
              <a:ext uri="{FF2B5EF4-FFF2-40B4-BE49-F238E27FC236}">
                <a16:creationId xmlns:a16="http://schemas.microsoft.com/office/drawing/2014/main" id="{F73FB967-2E16-44E5-85E0-380230A160E0}"/>
              </a:ext>
              <a:ext uri="{C183D7F6-B498-43B3-948B-1728B52AA6E4}">
                <adec:decorative xmlns:adec="http://schemas.microsoft.com/office/drawing/2017/decorative" val="1"/>
              </a:ext>
            </a:extLst>
          </p:cNvPr>
          <p:cNvCxnSpPr>
            <a:cxnSpLocks/>
          </p:cNvCxnSpPr>
          <p:nvPr/>
        </p:nvCxnSpPr>
        <p:spPr>
          <a:xfrm>
            <a:off x="7604106" y="5854196"/>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3D183A31-29B4-4ADA-814D-8ED05F1DE350}"/>
              </a:ext>
              <a:ext uri="{C183D7F6-B498-43B3-948B-1728B52AA6E4}">
                <adec:decorative xmlns:adec="http://schemas.microsoft.com/office/drawing/2017/decorative" val="1"/>
              </a:ext>
            </a:extLst>
          </p:cNvPr>
          <p:cNvSpPr txBox="1"/>
          <p:nvPr/>
        </p:nvSpPr>
        <p:spPr>
          <a:xfrm>
            <a:off x="1984279" y="5889135"/>
            <a:ext cx="398196"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8</a:t>
            </a:r>
          </a:p>
        </p:txBody>
      </p:sp>
      <p:sp>
        <p:nvSpPr>
          <p:cNvPr id="77" name="TextBox 76">
            <a:extLst>
              <a:ext uri="{FF2B5EF4-FFF2-40B4-BE49-F238E27FC236}">
                <a16:creationId xmlns:a16="http://schemas.microsoft.com/office/drawing/2014/main" id="{1D643547-67A8-4835-BE7E-889DA10B4C43}"/>
              </a:ext>
              <a:ext uri="{C183D7F6-B498-43B3-948B-1728B52AA6E4}">
                <adec:decorative xmlns:adec="http://schemas.microsoft.com/office/drawing/2017/decorative" val="1"/>
              </a:ext>
            </a:extLst>
          </p:cNvPr>
          <p:cNvSpPr txBox="1"/>
          <p:nvPr/>
        </p:nvSpPr>
        <p:spPr>
          <a:xfrm>
            <a:off x="2429970" y="5890783"/>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18</a:t>
            </a:r>
          </a:p>
        </p:txBody>
      </p:sp>
      <p:sp>
        <p:nvSpPr>
          <p:cNvPr id="78" name="TextBox 77">
            <a:extLst>
              <a:ext uri="{FF2B5EF4-FFF2-40B4-BE49-F238E27FC236}">
                <a16:creationId xmlns:a16="http://schemas.microsoft.com/office/drawing/2014/main" id="{6AA01378-70C5-453F-B4E2-0DCA2AE2E80E}"/>
              </a:ext>
              <a:ext uri="{C183D7F6-B498-43B3-948B-1728B52AA6E4}">
                <adec:decorative xmlns:adec="http://schemas.microsoft.com/office/drawing/2017/decorative" val="1"/>
              </a:ext>
            </a:extLst>
          </p:cNvPr>
          <p:cNvSpPr txBox="1"/>
          <p:nvPr/>
        </p:nvSpPr>
        <p:spPr>
          <a:xfrm>
            <a:off x="2888231" y="5890783"/>
            <a:ext cx="398197"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29</a:t>
            </a:r>
          </a:p>
        </p:txBody>
      </p:sp>
      <p:sp>
        <p:nvSpPr>
          <p:cNvPr id="79" name="TextBox 78">
            <a:extLst>
              <a:ext uri="{FF2B5EF4-FFF2-40B4-BE49-F238E27FC236}">
                <a16:creationId xmlns:a16="http://schemas.microsoft.com/office/drawing/2014/main" id="{8F7E79B9-F01C-46F6-9DB8-18A09C429714}"/>
              </a:ext>
              <a:ext uri="{C183D7F6-B498-43B3-948B-1728B52AA6E4}">
                <adec:decorative xmlns:adec="http://schemas.microsoft.com/office/drawing/2017/decorative" val="1"/>
              </a:ext>
            </a:extLst>
          </p:cNvPr>
          <p:cNvSpPr txBox="1"/>
          <p:nvPr/>
        </p:nvSpPr>
        <p:spPr>
          <a:xfrm>
            <a:off x="3413597" y="5876455"/>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20</a:t>
            </a:r>
          </a:p>
        </p:txBody>
      </p:sp>
      <p:sp>
        <p:nvSpPr>
          <p:cNvPr id="80" name="TextBox 79">
            <a:extLst>
              <a:ext uri="{FF2B5EF4-FFF2-40B4-BE49-F238E27FC236}">
                <a16:creationId xmlns:a16="http://schemas.microsoft.com/office/drawing/2014/main" id="{F9AF925B-10D1-4BFA-99DF-8B9C9EBE5096}"/>
              </a:ext>
              <a:ext uri="{C183D7F6-B498-43B3-948B-1728B52AA6E4}">
                <adec:decorative xmlns:adec="http://schemas.microsoft.com/office/drawing/2017/decorative" val="1"/>
              </a:ext>
            </a:extLst>
          </p:cNvPr>
          <p:cNvSpPr txBox="1"/>
          <p:nvPr/>
        </p:nvSpPr>
        <p:spPr>
          <a:xfrm>
            <a:off x="3886254" y="5878547"/>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28</a:t>
            </a:r>
          </a:p>
        </p:txBody>
      </p:sp>
      <p:sp>
        <p:nvSpPr>
          <p:cNvPr id="81" name="TextBox 80">
            <a:extLst>
              <a:ext uri="{FF2B5EF4-FFF2-40B4-BE49-F238E27FC236}">
                <a16:creationId xmlns:a16="http://schemas.microsoft.com/office/drawing/2014/main" id="{61749B38-4FF9-414D-A2CF-B3B3F20B7A10}"/>
              </a:ext>
              <a:ext uri="{C183D7F6-B498-43B3-948B-1728B52AA6E4}">
                <adec:decorative xmlns:adec="http://schemas.microsoft.com/office/drawing/2017/decorative" val="1"/>
              </a:ext>
            </a:extLst>
          </p:cNvPr>
          <p:cNvSpPr txBox="1"/>
          <p:nvPr/>
        </p:nvSpPr>
        <p:spPr>
          <a:xfrm>
            <a:off x="4345254" y="5894571"/>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39</a:t>
            </a:r>
          </a:p>
        </p:txBody>
      </p:sp>
      <p:sp>
        <p:nvSpPr>
          <p:cNvPr id="82" name="TextBox 81">
            <a:extLst>
              <a:ext uri="{FF2B5EF4-FFF2-40B4-BE49-F238E27FC236}">
                <a16:creationId xmlns:a16="http://schemas.microsoft.com/office/drawing/2014/main" id="{E158AF40-E181-464E-8B91-C364086A2C79}"/>
              </a:ext>
              <a:ext uri="{C183D7F6-B498-43B3-948B-1728B52AA6E4}">
                <adec:decorative xmlns:adec="http://schemas.microsoft.com/office/drawing/2017/decorative" val="1"/>
              </a:ext>
            </a:extLst>
          </p:cNvPr>
          <p:cNvSpPr txBox="1"/>
          <p:nvPr/>
        </p:nvSpPr>
        <p:spPr>
          <a:xfrm>
            <a:off x="4822462" y="5876602"/>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66</a:t>
            </a:r>
          </a:p>
        </p:txBody>
      </p:sp>
      <p:sp>
        <p:nvSpPr>
          <p:cNvPr id="83" name="TextBox 82">
            <a:extLst>
              <a:ext uri="{FF2B5EF4-FFF2-40B4-BE49-F238E27FC236}">
                <a16:creationId xmlns:a16="http://schemas.microsoft.com/office/drawing/2014/main" id="{38E2C54F-C465-4CD9-A835-3CAB4AAA7A41}"/>
              </a:ext>
              <a:ext uri="{C183D7F6-B498-43B3-948B-1728B52AA6E4}">
                <adec:decorative xmlns:adec="http://schemas.microsoft.com/office/drawing/2017/decorative" val="1"/>
              </a:ext>
            </a:extLst>
          </p:cNvPr>
          <p:cNvSpPr txBox="1"/>
          <p:nvPr/>
        </p:nvSpPr>
        <p:spPr>
          <a:xfrm>
            <a:off x="5323783" y="5878547"/>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37</a:t>
            </a:r>
          </a:p>
        </p:txBody>
      </p:sp>
      <p:sp>
        <p:nvSpPr>
          <p:cNvPr id="84" name="TextBox 83">
            <a:extLst>
              <a:ext uri="{FF2B5EF4-FFF2-40B4-BE49-F238E27FC236}">
                <a16:creationId xmlns:a16="http://schemas.microsoft.com/office/drawing/2014/main" id="{743CDD47-3D49-4BF0-ABD7-55F54CF7649D}"/>
              </a:ext>
              <a:ext uri="{C183D7F6-B498-43B3-948B-1728B52AA6E4}">
                <adec:decorative xmlns:adec="http://schemas.microsoft.com/office/drawing/2017/decorative" val="1"/>
              </a:ext>
            </a:extLst>
          </p:cNvPr>
          <p:cNvSpPr txBox="1"/>
          <p:nvPr/>
        </p:nvSpPr>
        <p:spPr>
          <a:xfrm>
            <a:off x="5761641" y="5878547"/>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26</a:t>
            </a:r>
          </a:p>
        </p:txBody>
      </p:sp>
      <p:sp>
        <p:nvSpPr>
          <p:cNvPr id="85" name="TextBox 84">
            <a:extLst>
              <a:ext uri="{FF2B5EF4-FFF2-40B4-BE49-F238E27FC236}">
                <a16:creationId xmlns:a16="http://schemas.microsoft.com/office/drawing/2014/main" id="{7BA5FA64-C0FC-4411-B6EC-D0B9E7B5163D}"/>
              </a:ext>
              <a:ext uri="{C183D7F6-B498-43B3-948B-1728B52AA6E4}">
                <adec:decorative xmlns:adec="http://schemas.microsoft.com/office/drawing/2017/decorative" val="1"/>
              </a:ext>
            </a:extLst>
          </p:cNvPr>
          <p:cNvSpPr txBox="1"/>
          <p:nvPr/>
        </p:nvSpPr>
        <p:spPr>
          <a:xfrm>
            <a:off x="6267315" y="5878547"/>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76</a:t>
            </a:r>
          </a:p>
        </p:txBody>
      </p:sp>
      <p:sp>
        <p:nvSpPr>
          <p:cNvPr id="86" name="TextBox 85">
            <a:extLst>
              <a:ext uri="{FF2B5EF4-FFF2-40B4-BE49-F238E27FC236}">
                <a16:creationId xmlns:a16="http://schemas.microsoft.com/office/drawing/2014/main" id="{F7ABA174-5052-4DC3-AAD1-1374247FBD69}"/>
              </a:ext>
              <a:ext uri="{C183D7F6-B498-43B3-948B-1728B52AA6E4}">
                <adec:decorative xmlns:adec="http://schemas.microsoft.com/office/drawing/2017/decorative" val="1"/>
              </a:ext>
            </a:extLst>
          </p:cNvPr>
          <p:cNvSpPr txBox="1"/>
          <p:nvPr/>
        </p:nvSpPr>
        <p:spPr>
          <a:xfrm>
            <a:off x="6726856" y="5876455"/>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32</a:t>
            </a:r>
          </a:p>
        </p:txBody>
      </p:sp>
      <p:sp>
        <p:nvSpPr>
          <p:cNvPr id="87" name="TextBox 86">
            <a:extLst>
              <a:ext uri="{FF2B5EF4-FFF2-40B4-BE49-F238E27FC236}">
                <a16:creationId xmlns:a16="http://schemas.microsoft.com/office/drawing/2014/main" id="{6380F377-FB46-4645-83AD-3A8598EEE3ED}"/>
              </a:ext>
              <a:ext uri="{C183D7F6-B498-43B3-948B-1728B52AA6E4}">
                <adec:decorative xmlns:adec="http://schemas.microsoft.com/office/drawing/2017/decorative" val="1"/>
              </a:ext>
            </a:extLst>
          </p:cNvPr>
          <p:cNvSpPr txBox="1"/>
          <p:nvPr/>
        </p:nvSpPr>
        <p:spPr>
          <a:xfrm>
            <a:off x="7190814" y="5878547"/>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74</a:t>
            </a:r>
          </a:p>
        </p:txBody>
      </p:sp>
      <p:sp>
        <p:nvSpPr>
          <p:cNvPr id="88" name="TextBox 87">
            <a:extLst>
              <a:ext uri="{FF2B5EF4-FFF2-40B4-BE49-F238E27FC236}">
                <a16:creationId xmlns:a16="http://schemas.microsoft.com/office/drawing/2014/main" id="{4E40C5A1-43F6-4E8E-B170-CFFAD7BA61E7}"/>
              </a:ext>
              <a:ext uri="{C183D7F6-B498-43B3-948B-1728B52AA6E4}">
                <adec:decorative xmlns:adec="http://schemas.microsoft.com/office/drawing/2017/decorative" val="1"/>
              </a:ext>
            </a:extLst>
          </p:cNvPr>
          <p:cNvSpPr txBox="1"/>
          <p:nvPr/>
        </p:nvSpPr>
        <p:spPr>
          <a:xfrm>
            <a:off x="7633991" y="5878547"/>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89</a:t>
            </a:r>
          </a:p>
        </p:txBody>
      </p:sp>
      <p:sp>
        <p:nvSpPr>
          <p:cNvPr id="89" name="Rectangle 88">
            <a:extLst>
              <a:ext uri="{FF2B5EF4-FFF2-40B4-BE49-F238E27FC236}">
                <a16:creationId xmlns:a16="http://schemas.microsoft.com/office/drawing/2014/main" id="{8F606750-D0E2-4A3A-9A59-144BFDDEC29D}"/>
              </a:ext>
              <a:ext uri="{C183D7F6-B498-43B3-948B-1728B52AA6E4}">
                <adec:decorative xmlns:adec="http://schemas.microsoft.com/office/drawing/2017/decorative" val="1"/>
              </a:ext>
            </a:extLst>
          </p:cNvPr>
          <p:cNvSpPr/>
          <p:nvPr/>
        </p:nvSpPr>
        <p:spPr>
          <a:xfrm>
            <a:off x="8014002" y="5836614"/>
            <a:ext cx="337795" cy="347556"/>
          </a:xfrm>
          <a:prstGeom prst="rect">
            <a:avLst/>
          </a:prstGeom>
          <a:noFill/>
          <a:ln>
            <a:solidFill>
              <a:srgbClr val="EB6E19"/>
            </a:solidFill>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endParaRPr>
          </a:p>
        </p:txBody>
      </p:sp>
      <p:sp>
        <p:nvSpPr>
          <p:cNvPr id="90" name="TextBox 89">
            <a:extLst>
              <a:ext uri="{FF2B5EF4-FFF2-40B4-BE49-F238E27FC236}">
                <a16:creationId xmlns:a16="http://schemas.microsoft.com/office/drawing/2014/main" id="{C3CD96F4-72DE-4B98-8652-F5050D1EAC92}"/>
              </a:ext>
              <a:ext uri="{C183D7F6-B498-43B3-948B-1728B52AA6E4}">
                <adec:decorative xmlns:adec="http://schemas.microsoft.com/office/drawing/2017/decorative" val="1"/>
              </a:ext>
            </a:extLst>
          </p:cNvPr>
          <p:cNvSpPr txBox="1"/>
          <p:nvPr/>
        </p:nvSpPr>
        <p:spPr>
          <a:xfrm>
            <a:off x="7997213" y="5510048"/>
            <a:ext cx="354584"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13</a:t>
            </a:r>
          </a:p>
        </p:txBody>
      </p:sp>
      <p:sp>
        <p:nvSpPr>
          <p:cNvPr id="91" name="TextBox 90">
            <a:extLst>
              <a:ext uri="{FF2B5EF4-FFF2-40B4-BE49-F238E27FC236}">
                <a16:creationId xmlns:a16="http://schemas.microsoft.com/office/drawing/2014/main" id="{E5725829-2922-425D-922A-C990322C4BD0}"/>
              </a:ext>
            </a:extLst>
          </p:cNvPr>
          <p:cNvSpPr txBox="1"/>
          <p:nvPr/>
        </p:nvSpPr>
        <p:spPr>
          <a:xfrm>
            <a:off x="7533678" y="2615312"/>
            <a:ext cx="352512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int </a:t>
            </a: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Heap</a:t>
            </a: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a:t>
            </a:r>
          </a:p>
        </p:txBody>
      </p:sp>
      <p:sp>
        <p:nvSpPr>
          <p:cNvPr id="93" name="Rectangle 92">
            <a:extLst>
              <a:ext uri="{FF2B5EF4-FFF2-40B4-BE49-F238E27FC236}">
                <a16:creationId xmlns:a16="http://schemas.microsoft.com/office/drawing/2014/main" id="{B07EF347-9549-4029-B51A-7A95F1077336}"/>
              </a:ext>
            </a:extLst>
          </p:cNvPr>
          <p:cNvSpPr/>
          <p:nvPr/>
        </p:nvSpPr>
        <p:spPr>
          <a:xfrm>
            <a:off x="7633991" y="3250571"/>
            <a:ext cx="2709903" cy="848850"/>
          </a:xfrm>
          <a:prstGeom prst="rect">
            <a:avLst/>
          </a:prstGeom>
          <a:noFill/>
          <a:ln>
            <a:solidFill>
              <a:srgbClr val="0081E2"/>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For a node at position </a:t>
            </a:r>
            <a:r>
              <a:rPr kumimoji="0" lang="en-US" sz="1200" b="0" i="1"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p,</a:t>
            </a:r>
            <a:br>
              <a:rPr kumimoji="0" lang="en-US" sz="1200" b="0" i="1"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br>
            <a:br>
              <a:rPr kumimoji="0" lang="en-US" sz="1200" b="0" i="1"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br>
            <a:r>
              <a:rPr kumimoji="0" lang="en-US" sz="1200" b="0" i="1"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a:t>
            </a: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L. child position:  2</a:t>
            </a:r>
            <a:r>
              <a:rPr kumimoji="0" lang="en-US" sz="1200" b="0" i="1"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p</a:t>
            </a: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R. child position:  2</a:t>
            </a:r>
            <a:r>
              <a:rPr kumimoji="0" lang="en-US" sz="1200" b="0" i="1"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p + 2</a:t>
            </a:r>
            <a:endPar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endParaRPr>
          </a:p>
        </p:txBody>
      </p:sp>
      <p:sp>
        <p:nvSpPr>
          <p:cNvPr id="94" name="Rectangle 93">
            <a:extLst>
              <a:ext uri="{FF2B5EF4-FFF2-40B4-BE49-F238E27FC236}">
                <a16:creationId xmlns:a16="http://schemas.microsoft.com/office/drawing/2014/main" id="{3AC6FBBC-FAA3-42C8-B590-277B3A357FDC}"/>
              </a:ext>
            </a:extLst>
          </p:cNvPr>
          <p:cNvSpPr/>
          <p:nvPr/>
        </p:nvSpPr>
        <p:spPr>
          <a:xfrm>
            <a:off x="7653875" y="4330491"/>
            <a:ext cx="2709902" cy="727518"/>
          </a:xfrm>
          <a:prstGeom prst="rect">
            <a:avLst/>
          </a:prstGeom>
          <a:noFill/>
          <a:ln>
            <a:solidFill>
              <a:srgbClr val="0081E2"/>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A node at position </a:t>
            </a:r>
            <a:r>
              <a:rPr kumimoji="0" lang="en-US" sz="1200" b="0" i="1"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c </a:t>
            </a: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can find its parent at floor((</a:t>
            </a:r>
            <a:r>
              <a:rPr kumimoji="0" lang="en-US" sz="1200" b="0" i="1"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c</a:t>
            </a:r>
            <a:r>
              <a:rPr kumimoji="0" lang="en-US" sz="12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 1)/2)</a:t>
            </a:r>
          </a:p>
        </p:txBody>
      </p:sp>
      <p:grpSp>
        <p:nvGrpSpPr>
          <p:cNvPr id="92" name="Group 91">
            <a:extLst>
              <a:ext uri="{FF2B5EF4-FFF2-40B4-BE49-F238E27FC236}">
                <a16:creationId xmlns:a16="http://schemas.microsoft.com/office/drawing/2014/main" id="{F26EFE58-58DC-46ED-84D8-B02632A54EE4}"/>
              </a:ext>
            </a:extLst>
          </p:cNvPr>
          <p:cNvGrpSpPr/>
          <p:nvPr/>
        </p:nvGrpSpPr>
        <p:grpSpPr>
          <a:xfrm>
            <a:off x="11337354" y="6025684"/>
            <a:ext cx="841781" cy="748032"/>
            <a:chOff x="11337354" y="6025684"/>
            <a:chExt cx="841781" cy="748032"/>
          </a:xfrm>
        </p:grpSpPr>
        <p:pic>
          <p:nvPicPr>
            <p:cNvPr id="95" name="Picture 2">
              <a:extLst>
                <a:ext uri="{FF2B5EF4-FFF2-40B4-BE49-F238E27FC236}">
                  <a16:creationId xmlns:a16="http://schemas.microsoft.com/office/drawing/2014/main" id="{28F0BE31-B7B7-49F3-909B-8F7FEEEE40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95" descr="Logo COP3530">
              <a:extLst>
                <a:ext uri="{FF2B5EF4-FFF2-40B4-BE49-F238E27FC236}">
                  <a16:creationId xmlns:a16="http://schemas.microsoft.com/office/drawing/2014/main" id="{EEFDFCA9-F280-4403-BB34-372C0396188C}"/>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
        <p:nvSpPr>
          <p:cNvPr id="3" name="Slide Number Placeholder 2">
            <a:extLst>
              <a:ext uri="{FF2B5EF4-FFF2-40B4-BE49-F238E27FC236}">
                <a16:creationId xmlns:a16="http://schemas.microsoft.com/office/drawing/2014/main" id="{4E5F6D5D-8FB2-4AE0-A100-E2CADA3361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C28E0-2F8B-4999-AEA2-B3AA3AE899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17176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r>
              <a:rPr lang="en-US" dirty="0">
                <a:solidFill>
                  <a:schemeClr val="bg1"/>
                </a:solidFill>
                <a:latin typeface="Gotham Bold" pitchFamily="50" charset="0"/>
              </a:rPr>
              <a:t>Binary Heap Insertion</a:t>
            </a:r>
          </a:p>
        </p:txBody>
      </p:sp>
      <p:sp>
        <p:nvSpPr>
          <p:cNvPr id="4" name="Rectangle 3">
            <a:extLst>
              <a:ext uri="{FF2B5EF4-FFF2-40B4-BE49-F238E27FC236}">
                <a16:creationId xmlns:a16="http://schemas.microsoft.com/office/drawing/2014/main" id="{4C690315-1707-4AD5-8859-99D7FEE7815A}"/>
              </a:ext>
            </a:extLst>
          </p:cNvPr>
          <p:cNvSpPr/>
          <p:nvPr/>
        </p:nvSpPr>
        <p:spPr>
          <a:xfrm>
            <a:off x="1654198" y="1708562"/>
            <a:ext cx="8743941" cy="45935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Gotham Bold" pitchFamily="50" charset="0"/>
                <a:ea typeface="+mn-ea"/>
                <a:cs typeface="+mn-cs"/>
              </a:rPr>
              <a:t>Heap Insertion</a:t>
            </a:r>
          </a:p>
        </p:txBody>
      </p:sp>
      <p:sp>
        <p:nvSpPr>
          <p:cNvPr id="14" name="TextBox 13">
            <a:extLst>
              <a:ext uri="{FF2B5EF4-FFF2-40B4-BE49-F238E27FC236}">
                <a16:creationId xmlns:a16="http://schemas.microsoft.com/office/drawing/2014/main" id="{F8E2067A-50DC-4B3B-A941-515F73642C24}"/>
              </a:ext>
              <a:ext uri="{C183D7F6-B498-43B3-948B-1728B52AA6E4}">
                <adec:decorative xmlns:adec="http://schemas.microsoft.com/office/drawing/2017/decorative" val="1"/>
              </a:ext>
            </a:extLst>
          </p:cNvPr>
          <p:cNvSpPr txBox="1"/>
          <p:nvPr/>
        </p:nvSpPr>
        <p:spPr>
          <a:xfrm>
            <a:off x="4468076" y="2790228"/>
            <a:ext cx="28451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a:t>
            </a:r>
          </a:p>
        </p:txBody>
      </p:sp>
      <p:sp>
        <p:nvSpPr>
          <p:cNvPr id="15" name="TextBox 14">
            <a:extLst>
              <a:ext uri="{FF2B5EF4-FFF2-40B4-BE49-F238E27FC236}">
                <a16:creationId xmlns:a16="http://schemas.microsoft.com/office/drawing/2014/main" id="{E0BA7F03-06E1-4DC9-9439-34FD6EF63EEA}"/>
              </a:ext>
              <a:ext uri="{C183D7F6-B498-43B3-948B-1728B52AA6E4}">
                <adec:decorative xmlns:adec="http://schemas.microsoft.com/office/drawing/2017/decorative" val="1"/>
              </a:ext>
            </a:extLst>
          </p:cNvPr>
          <p:cNvSpPr txBox="1"/>
          <p:nvPr/>
        </p:nvSpPr>
        <p:spPr>
          <a:xfrm>
            <a:off x="3588497" y="327933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18</a:t>
            </a:r>
          </a:p>
        </p:txBody>
      </p:sp>
      <p:sp>
        <p:nvSpPr>
          <p:cNvPr id="16" name="TextBox 15">
            <a:extLst>
              <a:ext uri="{FF2B5EF4-FFF2-40B4-BE49-F238E27FC236}">
                <a16:creationId xmlns:a16="http://schemas.microsoft.com/office/drawing/2014/main" id="{BF51B4E7-79A0-4AD4-A124-8F3CF803B8F5}"/>
              </a:ext>
              <a:ext uri="{C183D7F6-B498-43B3-948B-1728B52AA6E4}">
                <adec:decorative xmlns:adec="http://schemas.microsoft.com/office/drawing/2017/decorative" val="1"/>
              </a:ext>
            </a:extLst>
          </p:cNvPr>
          <p:cNvSpPr txBox="1"/>
          <p:nvPr/>
        </p:nvSpPr>
        <p:spPr>
          <a:xfrm>
            <a:off x="5270029" y="3275111"/>
            <a:ext cx="398197" cy="307777"/>
          </a:xfrm>
          <a:prstGeom prst="rect">
            <a:avLst/>
          </a:prstGeom>
          <a:noFill/>
          <a:ln>
            <a:solidFill>
              <a:srgbClr val="EB6E19"/>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29</a:t>
            </a:r>
          </a:p>
        </p:txBody>
      </p:sp>
      <p:sp>
        <p:nvSpPr>
          <p:cNvPr id="17" name="TextBox 16">
            <a:extLst>
              <a:ext uri="{FF2B5EF4-FFF2-40B4-BE49-F238E27FC236}">
                <a16:creationId xmlns:a16="http://schemas.microsoft.com/office/drawing/2014/main" id="{EAD1ACB5-8D10-447A-8512-8CC77D028BBD}"/>
              </a:ext>
              <a:ext uri="{C183D7F6-B498-43B3-948B-1728B52AA6E4}">
                <adec:decorative xmlns:adec="http://schemas.microsoft.com/office/drawing/2017/decorative" val="1"/>
              </a:ext>
            </a:extLst>
          </p:cNvPr>
          <p:cNvSpPr txBox="1"/>
          <p:nvPr/>
        </p:nvSpPr>
        <p:spPr>
          <a:xfrm>
            <a:off x="2947151"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37</a:t>
            </a:r>
          </a:p>
        </p:txBody>
      </p:sp>
      <p:sp>
        <p:nvSpPr>
          <p:cNvPr id="18" name="TextBox 17">
            <a:extLst>
              <a:ext uri="{FF2B5EF4-FFF2-40B4-BE49-F238E27FC236}">
                <a16:creationId xmlns:a16="http://schemas.microsoft.com/office/drawing/2014/main" id="{393196BC-65D8-4C10-87E1-25F4471540B0}"/>
              </a:ext>
              <a:ext uri="{C183D7F6-B498-43B3-948B-1728B52AA6E4}">
                <adec:decorative xmlns:adec="http://schemas.microsoft.com/office/drawing/2017/decorative" val="1"/>
              </a:ext>
            </a:extLst>
          </p:cNvPr>
          <p:cNvSpPr txBox="1"/>
          <p:nvPr/>
        </p:nvSpPr>
        <p:spPr>
          <a:xfrm>
            <a:off x="334534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26</a:t>
            </a:r>
          </a:p>
        </p:txBody>
      </p:sp>
      <p:sp>
        <p:nvSpPr>
          <p:cNvPr id="19" name="TextBox 18">
            <a:extLst>
              <a:ext uri="{FF2B5EF4-FFF2-40B4-BE49-F238E27FC236}">
                <a16:creationId xmlns:a16="http://schemas.microsoft.com/office/drawing/2014/main" id="{C9564090-B42B-476E-AF5C-6D3874077308}"/>
              </a:ext>
              <a:ext uri="{C183D7F6-B498-43B3-948B-1728B52AA6E4}">
                <adec:decorative xmlns:adec="http://schemas.microsoft.com/office/drawing/2017/decorative" val="1"/>
              </a:ext>
            </a:extLst>
          </p:cNvPr>
          <p:cNvSpPr txBox="1"/>
          <p:nvPr/>
        </p:nvSpPr>
        <p:spPr>
          <a:xfrm>
            <a:off x="3835754"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76</a:t>
            </a:r>
          </a:p>
        </p:txBody>
      </p:sp>
      <p:sp>
        <p:nvSpPr>
          <p:cNvPr id="20" name="TextBox 19">
            <a:extLst>
              <a:ext uri="{FF2B5EF4-FFF2-40B4-BE49-F238E27FC236}">
                <a16:creationId xmlns:a16="http://schemas.microsoft.com/office/drawing/2014/main" id="{185757C9-C087-4FAF-884D-183400D216E8}"/>
              </a:ext>
              <a:ext uri="{C183D7F6-B498-43B3-948B-1728B52AA6E4}">
                <adec:decorative xmlns:adec="http://schemas.microsoft.com/office/drawing/2017/decorative" val="1"/>
              </a:ext>
            </a:extLst>
          </p:cNvPr>
          <p:cNvSpPr txBox="1"/>
          <p:nvPr/>
        </p:nvSpPr>
        <p:spPr>
          <a:xfrm>
            <a:off x="422573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32</a:t>
            </a:r>
          </a:p>
        </p:txBody>
      </p:sp>
      <p:sp>
        <p:nvSpPr>
          <p:cNvPr id="21" name="TextBox 20">
            <a:extLst>
              <a:ext uri="{FF2B5EF4-FFF2-40B4-BE49-F238E27FC236}">
                <a16:creationId xmlns:a16="http://schemas.microsoft.com/office/drawing/2014/main" id="{AFA10777-D795-445A-9DD0-7C98889397F6}"/>
              </a:ext>
              <a:ext uri="{C183D7F6-B498-43B3-948B-1728B52AA6E4}">
                <adec:decorative xmlns:adec="http://schemas.microsoft.com/office/drawing/2017/decorative" val="1"/>
              </a:ext>
            </a:extLst>
          </p:cNvPr>
          <p:cNvSpPr txBox="1"/>
          <p:nvPr/>
        </p:nvSpPr>
        <p:spPr>
          <a:xfrm>
            <a:off x="4716143"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74</a:t>
            </a:r>
          </a:p>
        </p:txBody>
      </p:sp>
      <p:sp>
        <p:nvSpPr>
          <p:cNvPr id="22" name="TextBox 21">
            <a:extLst>
              <a:ext uri="{FF2B5EF4-FFF2-40B4-BE49-F238E27FC236}">
                <a16:creationId xmlns:a16="http://schemas.microsoft.com/office/drawing/2014/main" id="{06E43CD1-A952-45EE-8A06-B2B9ECE524CA}"/>
              </a:ext>
              <a:ext uri="{C183D7F6-B498-43B3-948B-1728B52AA6E4}">
                <adec:decorative xmlns:adec="http://schemas.microsoft.com/office/drawing/2017/decorative" val="1"/>
              </a:ext>
            </a:extLst>
          </p:cNvPr>
          <p:cNvSpPr txBox="1"/>
          <p:nvPr/>
        </p:nvSpPr>
        <p:spPr>
          <a:xfrm>
            <a:off x="5114340"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89</a:t>
            </a:r>
          </a:p>
        </p:txBody>
      </p:sp>
      <p:sp>
        <p:nvSpPr>
          <p:cNvPr id="24" name="TextBox 23">
            <a:extLst>
              <a:ext uri="{FF2B5EF4-FFF2-40B4-BE49-F238E27FC236}">
                <a16:creationId xmlns:a16="http://schemas.microsoft.com/office/drawing/2014/main" id="{1D5ED36F-F3C0-4AB8-AD10-D772DBFE12CC}"/>
              </a:ext>
              <a:ext uri="{C183D7F6-B498-43B3-948B-1728B52AA6E4}">
                <adec:decorative xmlns:adec="http://schemas.microsoft.com/office/drawing/2017/decorative" val="1"/>
              </a:ext>
            </a:extLst>
          </p:cNvPr>
          <p:cNvSpPr txBox="1"/>
          <p:nvPr/>
        </p:nvSpPr>
        <p:spPr>
          <a:xfrm>
            <a:off x="3146249" y="3769303"/>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20</a:t>
            </a:r>
          </a:p>
        </p:txBody>
      </p:sp>
      <p:sp>
        <p:nvSpPr>
          <p:cNvPr id="25" name="TextBox 24">
            <a:extLst>
              <a:ext uri="{FF2B5EF4-FFF2-40B4-BE49-F238E27FC236}">
                <a16:creationId xmlns:a16="http://schemas.microsoft.com/office/drawing/2014/main" id="{F68978DC-8D44-459E-9984-49954373B44F}"/>
              </a:ext>
              <a:ext uri="{C183D7F6-B498-43B3-948B-1728B52AA6E4}">
                <adec:decorative xmlns:adec="http://schemas.microsoft.com/office/drawing/2017/decorative" val="1"/>
              </a:ext>
            </a:extLst>
          </p:cNvPr>
          <p:cNvSpPr txBox="1"/>
          <p:nvPr/>
        </p:nvSpPr>
        <p:spPr>
          <a:xfrm>
            <a:off x="4044070" y="3773948"/>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28</a:t>
            </a:r>
          </a:p>
        </p:txBody>
      </p:sp>
      <p:sp>
        <p:nvSpPr>
          <p:cNvPr id="26" name="TextBox 25">
            <a:extLst>
              <a:ext uri="{FF2B5EF4-FFF2-40B4-BE49-F238E27FC236}">
                <a16:creationId xmlns:a16="http://schemas.microsoft.com/office/drawing/2014/main" id="{0475A117-9D5E-44C2-85BD-04F9347631B9}"/>
              </a:ext>
              <a:ext uri="{C183D7F6-B498-43B3-948B-1728B52AA6E4}">
                <adec:decorative xmlns:adec="http://schemas.microsoft.com/office/drawing/2017/decorative" val="1"/>
              </a:ext>
            </a:extLst>
          </p:cNvPr>
          <p:cNvSpPr txBox="1"/>
          <p:nvPr/>
        </p:nvSpPr>
        <p:spPr>
          <a:xfrm>
            <a:off x="4915242" y="3764659"/>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39</a:t>
            </a:r>
          </a:p>
        </p:txBody>
      </p:sp>
      <p:sp>
        <p:nvSpPr>
          <p:cNvPr id="27" name="TextBox 26">
            <a:extLst>
              <a:ext uri="{FF2B5EF4-FFF2-40B4-BE49-F238E27FC236}">
                <a16:creationId xmlns:a16="http://schemas.microsoft.com/office/drawing/2014/main" id="{32F5FA45-C520-4141-A16D-990321183D0E}"/>
              </a:ext>
              <a:ext uri="{C183D7F6-B498-43B3-948B-1728B52AA6E4}">
                <adec:decorative xmlns:adec="http://schemas.microsoft.com/office/drawing/2017/decorative" val="1"/>
              </a:ext>
            </a:extLst>
          </p:cNvPr>
          <p:cNvSpPr txBox="1"/>
          <p:nvPr/>
        </p:nvSpPr>
        <p:spPr>
          <a:xfrm>
            <a:off x="5711635" y="3764659"/>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66</a:t>
            </a:r>
          </a:p>
        </p:txBody>
      </p:sp>
      <p:cxnSp>
        <p:nvCxnSpPr>
          <p:cNvPr id="28" name="Straight Connector 27">
            <a:extLst>
              <a:ext uri="{FF2B5EF4-FFF2-40B4-BE49-F238E27FC236}">
                <a16:creationId xmlns:a16="http://schemas.microsoft.com/office/drawing/2014/main" id="{ED0B8080-326C-48CB-B7CE-F7634259D9D2}"/>
              </a:ext>
              <a:ext uri="{C183D7F6-B498-43B3-948B-1728B52AA6E4}">
                <adec:decorative xmlns:adec="http://schemas.microsoft.com/office/drawing/2017/decorative" val="1"/>
              </a:ext>
            </a:extLst>
          </p:cNvPr>
          <p:cNvCxnSpPr/>
          <p:nvPr/>
        </p:nvCxnSpPr>
        <p:spPr>
          <a:xfrm flipH="1">
            <a:off x="3894434" y="2984644"/>
            <a:ext cx="573642" cy="284847"/>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9812509-2640-493B-ACAE-3D8D204F2E54}"/>
              </a:ext>
              <a:ext uri="{C183D7F6-B498-43B3-948B-1728B52AA6E4}">
                <adec:decorative xmlns:adec="http://schemas.microsoft.com/office/drawing/2017/decorative" val="1"/>
              </a:ext>
            </a:extLst>
          </p:cNvPr>
          <p:cNvCxnSpPr/>
          <p:nvPr/>
        </p:nvCxnSpPr>
        <p:spPr>
          <a:xfrm>
            <a:off x="4752591" y="2957626"/>
            <a:ext cx="716537" cy="330994"/>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BB851A3-DA63-4D8D-ABE6-F992F45E7E01}"/>
              </a:ext>
              <a:ext uri="{C183D7F6-B498-43B3-948B-1728B52AA6E4}">
                <adec:decorative xmlns:adec="http://schemas.microsoft.com/office/drawing/2017/decorative" val="1"/>
              </a:ext>
            </a:extLst>
          </p:cNvPr>
          <p:cNvCxnSpPr/>
          <p:nvPr/>
        </p:nvCxnSpPr>
        <p:spPr>
          <a:xfrm flipH="1">
            <a:off x="3338432" y="3610268"/>
            <a:ext cx="250066" cy="15903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CE30687-F7B7-40D6-B457-8981B596DF52}"/>
              </a:ext>
              <a:ext uri="{C183D7F6-B498-43B3-948B-1728B52AA6E4}">
                <adec:decorative xmlns:adec="http://schemas.microsoft.com/office/drawing/2017/decorative" val="1"/>
              </a:ext>
            </a:extLst>
          </p:cNvPr>
          <p:cNvCxnSpPr/>
          <p:nvPr/>
        </p:nvCxnSpPr>
        <p:spPr>
          <a:xfrm flipH="1">
            <a:off x="5107425" y="3610268"/>
            <a:ext cx="162606" cy="16368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34279F4-3FB3-4909-A81C-5D651E004572}"/>
              </a:ext>
              <a:ext uri="{C183D7F6-B498-43B3-948B-1728B52AA6E4}">
                <adec:decorative xmlns:adec="http://schemas.microsoft.com/office/drawing/2017/decorative" val="1"/>
              </a:ext>
            </a:extLst>
          </p:cNvPr>
          <p:cNvCxnSpPr/>
          <p:nvPr/>
        </p:nvCxnSpPr>
        <p:spPr>
          <a:xfrm flipH="1" flipV="1">
            <a:off x="3986695" y="3610268"/>
            <a:ext cx="249558" cy="16368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38CF59E-7EAA-48FE-A8C4-9706DB95C94F}"/>
              </a:ext>
              <a:ext uri="{C183D7F6-B498-43B3-948B-1728B52AA6E4}">
                <adec:decorative xmlns:adec="http://schemas.microsoft.com/office/drawing/2017/decorative" val="1"/>
              </a:ext>
            </a:extLst>
          </p:cNvPr>
          <p:cNvCxnSpPr/>
          <p:nvPr/>
        </p:nvCxnSpPr>
        <p:spPr>
          <a:xfrm flipH="1" flipV="1">
            <a:off x="5653759" y="3610269"/>
            <a:ext cx="250058"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55D3365-15F9-4289-9D44-E659CF0988E7}"/>
              </a:ext>
              <a:ext uri="{C183D7F6-B498-43B3-948B-1728B52AA6E4}">
                <adec:decorative xmlns:adec="http://schemas.microsoft.com/office/drawing/2017/decorative" val="1"/>
              </a:ext>
            </a:extLst>
          </p:cNvPr>
          <p:cNvCxnSpPr>
            <a:stCxn id="57" idx="0"/>
          </p:cNvCxnSpPr>
          <p:nvPr/>
        </p:nvCxnSpPr>
        <p:spPr>
          <a:xfrm flipV="1">
            <a:off x="3139334" y="4099817"/>
            <a:ext cx="122725"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8E6B03F-EDE4-4FEF-BC74-85BF6BF8DAA7}"/>
              </a:ext>
              <a:ext uri="{C183D7F6-B498-43B3-948B-1728B52AA6E4}">
                <adec:decorative xmlns:adec="http://schemas.microsoft.com/office/drawing/2017/decorative" val="1"/>
              </a:ext>
            </a:extLst>
          </p:cNvPr>
          <p:cNvCxnSpPr>
            <a:stCxn id="58" idx="0"/>
          </p:cNvCxnSpPr>
          <p:nvPr/>
        </p:nvCxnSpPr>
        <p:spPr>
          <a:xfrm flipH="1" flipV="1">
            <a:off x="3466924" y="4099817"/>
            <a:ext cx="706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7AB8B7A-3AA0-4714-BC2A-65786305177D}"/>
              </a:ext>
              <a:ext uri="{C183D7F6-B498-43B3-948B-1728B52AA6E4}">
                <adec:decorative xmlns:adec="http://schemas.microsoft.com/office/drawing/2017/decorative" val="1"/>
              </a:ext>
            </a:extLst>
          </p:cNvPr>
          <p:cNvCxnSpPr>
            <a:stCxn id="59" idx="0"/>
          </p:cNvCxnSpPr>
          <p:nvPr/>
        </p:nvCxnSpPr>
        <p:spPr>
          <a:xfrm flipV="1">
            <a:off x="4027937" y="4109105"/>
            <a:ext cx="80331"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39D941E-7960-4022-8175-FBFCAEC72FEF}"/>
              </a:ext>
              <a:ext uri="{C183D7F6-B498-43B3-948B-1728B52AA6E4}">
                <adec:decorative xmlns:adec="http://schemas.microsoft.com/office/drawing/2017/decorative" val="1"/>
              </a:ext>
            </a:extLst>
          </p:cNvPr>
          <p:cNvCxnSpPr/>
          <p:nvPr/>
        </p:nvCxnSpPr>
        <p:spPr>
          <a:xfrm flipH="1" flipV="1">
            <a:off x="4327340" y="4099817"/>
            <a:ext cx="90580"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AC64B88-7C6F-4B42-B41F-16B1318DEE19}"/>
              </a:ext>
              <a:ext uri="{C183D7F6-B498-43B3-948B-1728B52AA6E4}">
                <adec:decorative xmlns:adec="http://schemas.microsoft.com/office/drawing/2017/decorative" val="1"/>
              </a:ext>
            </a:extLst>
          </p:cNvPr>
          <p:cNvCxnSpPr/>
          <p:nvPr/>
        </p:nvCxnSpPr>
        <p:spPr>
          <a:xfrm flipV="1">
            <a:off x="4908326" y="4099817"/>
            <a:ext cx="908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0BFA9DB-A978-449F-9F63-9DDBA4B0621E}"/>
              </a:ext>
              <a:ext uri="{C183D7F6-B498-43B3-948B-1728B52AA6E4}">
                <adec:decorative xmlns:adec="http://schemas.microsoft.com/office/drawing/2017/decorative" val="1"/>
              </a:ext>
            </a:extLst>
          </p:cNvPr>
          <p:cNvCxnSpPr/>
          <p:nvPr/>
        </p:nvCxnSpPr>
        <p:spPr>
          <a:xfrm flipH="1" flipV="1">
            <a:off x="5255561" y="4109105"/>
            <a:ext cx="50962"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EEAA561-815C-4F98-8113-D9CF68A778A5}"/>
              </a:ext>
              <a:ext uri="{C183D7F6-B498-43B3-948B-1728B52AA6E4}">
                <adec:decorative xmlns:adec="http://schemas.microsoft.com/office/drawing/2017/decorative" val="1"/>
              </a:ext>
            </a:extLst>
          </p:cNvPr>
          <p:cNvSpPr txBox="1"/>
          <p:nvPr/>
        </p:nvSpPr>
        <p:spPr>
          <a:xfrm>
            <a:off x="5270029" y="3275111"/>
            <a:ext cx="398197" cy="307777"/>
          </a:xfrm>
          <a:prstGeom prst="rect">
            <a:avLst/>
          </a:prstGeom>
          <a:noFill/>
          <a:ln w="6350">
            <a:solidFill>
              <a:srgbClr val="EB6E19"/>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29</a:t>
            </a:r>
          </a:p>
        </p:txBody>
      </p:sp>
      <p:sp>
        <p:nvSpPr>
          <p:cNvPr id="41" name="TextBox 40">
            <a:extLst>
              <a:ext uri="{FF2B5EF4-FFF2-40B4-BE49-F238E27FC236}">
                <a16:creationId xmlns:a16="http://schemas.microsoft.com/office/drawing/2014/main" id="{84207F50-D829-441E-A1B4-0A91BEEDEF4D}"/>
              </a:ext>
              <a:ext uri="{C183D7F6-B498-43B3-948B-1728B52AA6E4}">
                <adec:decorative xmlns:adec="http://schemas.microsoft.com/office/drawing/2017/decorative" val="1"/>
              </a:ext>
            </a:extLst>
          </p:cNvPr>
          <p:cNvSpPr txBox="1"/>
          <p:nvPr/>
        </p:nvSpPr>
        <p:spPr>
          <a:xfrm>
            <a:off x="3146249" y="3769303"/>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20</a:t>
            </a:r>
          </a:p>
        </p:txBody>
      </p:sp>
      <p:sp>
        <p:nvSpPr>
          <p:cNvPr id="42" name="TextBox 41">
            <a:extLst>
              <a:ext uri="{FF2B5EF4-FFF2-40B4-BE49-F238E27FC236}">
                <a16:creationId xmlns:a16="http://schemas.microsoft.com/office/drawing/2014/main" id="{871088E9-1A57-451B-A4D9-D0493D3FC3CA}"/>
              </a:ext>
              <a:ext uri="{C183D7F6-B498-43B3-948B-1728B52AA6E4}">
                <adec:decorative xmlns:adec="http://schemas.microsoft.com/office/drawing/2017/decorative" val="1"/>
              </a:ext>
            </a:extLst>
          </p:cNvPr>
          <p:cNvSpPr txBox="1"/>
          <p:nvPr/>
        </p:nvSpPr>
        <p:spPr>
          <a:xfrm>
            <a:off x="4044070" y="3773948"/>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28</a:t>
            </a:r>
          </a:p>
        </p:txBody>
      </p:sp>
      <p:sp>
        <p:nvSpPr>
          <p:cNvPr id="44" name="TextBox 43">
            <a:extLst>
              <a:ext uri="{FF2B5EF4-FFF2-40B4-BE49-F238E27FC236}">
                <a16:creationId xmlns:a16="http://schemas.microsoft.com/office/drawing/2014/main" id="{A6DFE1E6-93BB-4FEA-B25E-3BD2D42A6AF2}"/>
              </a:ext>
              <a:ext uri="{C183D7F6-B498-43B3-948B-1728B52AA6E4}">
                <adec:decorative xmlns:adec="http://schemas.microsoft.com/office/drawing/2017/decorative" val="1"/>
              </a:ext>
            </a:extLst>
          </p:cNvPr>
          <p:cNvSpPr txBox="1"/>
          <p:nvPr/>
        </p:nvSpPr>
        <p:spPr>
          <a:xfrm>
            <a:off x="5711635" y="3764659"/>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66</a:t>
            </a:r>
          </a:p>
        </p:txBody>
      </p:sp>
      <p:sp>
        <p:nvSpPr>
          <p:cNvPr id="46" name="TextBox 45">
            <a:extLst>
              <a:ext uri="{FF2B5EF4-FFF2-40B4-BE49-F238E27FC236}">
                <a16:creationId xmlns:a16="http://schemas.microsoft.com/office/drawing/2014/main" id="{39C61B35-F0FA-439E-904F-1E4CD8F96B23}"/>
              </a:ext>
              <a:ext uri="{C183D7F6-B498-43B3-948B-1728B52AA6E4}">
                <adec:decorative xmlns:adec="http://schemas.microsoft.com/office/drawing/2017/decorative" val="1"/>
              </a:ext>
            </a:extLst>
          </p:cNvPr>
          <p:cNvSpPr txBox="1"/>
          <p:nvPr/>
        </p:nvSpPr>
        <p:spPr>
          <a:xfrm>
            <a:off x="2947151"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37</a:t>
            </a:r>
          </a:p>
        </p:txBody>
      </p:sp>
      <p:sp>
        <p:nvSpPr>
          <p:cNvPr id="47" name="TextBox 46">
            <a:extLst>
              <a:ext uri="{FF2B5EF4-FFF2-40B4-BE49-F238E27FC236}">
                <a16:creationId xmlns:a16="http://schemas.microsoft.com/office/drawing/2014/main" id="{F64F9888-0E5D-44FD-8CCA-230171B60EF2}"/>
              </a:ext>
              <a:ext uri="{C183D7F6-B498-43B3-948B-1728B52AA6E4}">
                <adec:decorative xmlns:adec="http://schemas.microsoft.com/office/drawing/2017/decorative" val="1"/>
              </a:ext>
            </a:extLst>
          </p:cNvPr>
          <p:cNvSpPr txBox="1"/>
          <p:nvPr/>
        </p:nvSpPr>
        <p:spPr>
          <a:xfrm>
            <a:off x="334534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26</a:t>
            </a:r>
          </a:p>
        </p:txBody>
      </p:sp>
      <p:sp>
        <p:nvSpPr>
          <p:cNvPr id="56" name="TextBox 55">
            <a:extLst>
              <a:ext uri="{FF2B5EF4-FFF2-40B4-BE49-F238E27FC236}">
                <a16:creationId xmlns:a16="http://schemas.microsoft.com/office/drawing/2014/main" id="{6087B08E-F810-48F6-98FD-8FC6E1FC27EF}"/>
              </a:ext>
              <a:ext uri="{C183D7F6-B498-43B3-948B-1728B52AA6E4}">
                <adec:decorative xmlns:adec="http://schemas.microsoft.com/office/drawing/2017/decorative" val="1"/>
              </a:ext>
            </a:extLst>
          </p:cNvPr>
          <p:cNvSpPr txBox="1"/>
          <p:nvPr/>
        </p:nvSpPr>
        <p:spPr>
          <a:xfrm>
            <a:off x="3835754"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76</a:t>
            </a:r>
          </a:p>
        </p:txBody>
      </p:sp>
      <p:sp>
        <p:nvSpPr>
          <p:cNvPr id="57" name="TextBox 56">
            <a:extLst>
              <a:ext uri="{FF2B5EF4-FFF2-40B4-BE49-F238E27FC236}">
                <a16:creationId xmlns:a16="http://schemas.microsoft.com/office/drawing/2014/main" id="{8C8CD950-8C99-4070-8111-1C1171DBC0D2}"/>
              </a:ext>
              <a:ext uri="{C183D7F6-B498-43B3-948B-1728B52AA6E4}">
                <adec:decorative xmlns:adec="http://schemas.microsoft.com/office/drawing/2017/decorative" val="1"/>
              </a:ext>
            </a:extLst>
          </p:cNvPr>
          <p:cNvSpPr txBox="1"/>
          <p:nvPr/>
        </p:nvSpPr>
        <p:spPr>
          <a:xfrm>
            <a:off x="422573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32</a:t>
            </a:r>
          </a:p>
        </p:txBody>
      </p:sp>
      <p:sp>
        <p:nvSpPr>
          <p:cNvPr id="58" name="TextBox 57">
            <a:extLst>
              <a:ext uri="{FF2B5EF4-FFF2-40B4-BE49-F238E27FC236}">
                <a16:creationId xmlns:a16="http://schemas.microsoft.com/office/drawing/2014/main" id="{46695E7F-1157-4296-9575-75ABE9F7757C}"/>
              </a:ext>
              <a:ext uri="{C183D7F6-B498-43B3-948B-1728B52AA6E4}">
                <adec:decorative xmlns:adec="http://schemas.microsoft.com/office/drawing/2017/decorative" val="1"/>
              </a:ext>
            </a:extLst>
          </p:cNvPr>
          <p:cNvSpPr txBox="1"/>
          <p:nvPr/>
        </p:nvSpPr>
        <p:spPr>
          <a:xfrm>
            <a:off x="4716143"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74</a:t>
            </a:r>
          </a:p>
        </p:txBody>
      </p:sp>
      <p:sp>
        <p:nvSpPr>
          <p:cNvPr id="59" name="TextBox 58">
            <a:extLst>
              <a:ext uri="{FF2B5EF4-FFF2-40B4-BE49-F238E27FC236}">
                <a16:creationId xmlns:a16="http://schemas.microsoft.com/office/drawing/2014/main" id="{7B1EFF9C-027F-44CB-9278-28DE7C644F43}"/>
              </a:ext>
              <a:ext uri="{C183D7F6-B498-43B3-948B-1728B52AA6E4}">
                <adec:decorative xmlns:adec="http://schemas.microsoft.com/office/drawing/2017/decorative" val="1"/>
              </a:ext>
            </a:extLst>
          </p:cNvPr>
          <p:cNvSpPr txBox="1"/>
          <p:nvPr/>
        </p:nvSpPr>
        <p:spPr>
          <a:xfrm>
            <a:off x="5114340"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89</a:t>
            </a:r>
          </a:p>
        </p:txBody>
      </p:sp>
      <p:pic>
        <p:nvPicPr>
          <p:cNvPr id="92" name="Picture 4" descr="Insertion Heap Algorithm">
            <a:extLst>
              <a:ext uri="{FF2B5EF4-FFF2-40B4-BE49-F238E27FC236}">
                <a16:creationId xmlns:a16="http://schemas.microsoft.com/office/drawing/2014/main" id="{A92A8CC5-9FD5-4A6C-A329-912916A957B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52674" y="5227448"/>
            <a:ext cx="5902286" cy="9382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43" name="Group 42">
            <a:extLst>
              <a:ext uri="{FF2B5EF4-FFF2-40B4-BE49-F238E27FC236}">
                <a16:creationId xmlns:a16="http://schemas.microsoft.com/office/drawing/2014/main" id="{275DEB4E-6E41-46FD-B7FE-6AA3BC891AA0}"/>
              </a:ext>
            </a:extLst>
          </p:cNvPr>
          <p:cNvGrpSpPr/>
          <p:nvPr/>
        </p:nvGrpSpPr>
        <p:grpSpPr>
          <a:xfrm>
            <a:off x="11337354" y="6025684"/>
            <a:ext cx="841781" cy="748032"/>
            <a:chOff x="11337354" y="6025684"/>
            <a:chExt cx="841781" cy="748032"/>
          </a:xfrm>
        </p:grpSpPr>
        <p:pic>
          <p:nvPicPr>
            <p:cNvPr id="45" name="Picture 2">
              <a:extLst>
                <a:ext uri="{FF2B5EF4-FFF2-40B4-BE49-F238E27FC236}">
                  <a16:creationId xmlns:a16="http://schemas.microsoft.com/office/drawing/2014/main" id="{6A392AB7-B647-4446-8C44-6933907A94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descr="Logo COP3530">
              <a:extLst>
                <a:ext uri="{FF2B5EF4-FFF2-40B4-BE49-F238E27FC236}">
                  <a16:creationId xmlns:a16="http://schemas.microsoft.com/office/drawing/2014/main" id="{569740D9-AD15-4AA0-BB84-8AE14C774A9E}"/>
                </a:ext>
              </a:extLst>
            </p:cNvPr>
            <p:cNvPicPr>
              <a:picLocks noChangeAspect="1"/>
            </p:cNvPicPr>
            <p:nvPr/>
          </p:nvPicPr>
          <p:blipFill rotWithShape="1">
            <a:blip r:embed="rId5"/>
            <a:srcRect t="1" b="20587"/>
            <a:stretch/>
          </p:blipFill>
          <p:spPr>
            <a:xfrm>
              <a:off x="11337354" y="6025684"/>
              <a:ext cx="841781" cy="465491"/>
            </a:xfrm>
            <a:prstGeom prst="rect">
              <a:avLst/>
            </a:prstGeom>
          </p:spPr>
        </p:pic>
      </p:grpSp>
      <p:sp>
        <p:nvSpPr>
          <p:cNvPr id="3" name="Slide Number Placeholder 2">
            <a:extLst>
              <a:ext uri="{FF2B5EF4-FFF2-40B4-BE49-F238E27FC236}">
                <a16:creationId xmlns:a16="http://schemas.microsoft.com/office/drawing/2014/main" id="{0B8E5ABA-ACB2-4782-B922-4419C84BC35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C28E0-2F8B-4999-AEA2-B3AA3AE899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74979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r>
              <a:rPr lang="en-US" dirty="0">
                <a:solidFill>
                  <a:schemeClr val="bg1"/>
                </a:solidFill>
                <a:latin typeface="Gotham Bold" pitchFamily="50" charset="0"/>
              </a:rPr>
              <a:t>Binary Heap Insertion</a:t>
            </a:r>
          </a:p>
        </p:txBody>
      </p:sp>
      <p:sp>
        <p:nvSpPr>
          <p:cNvPr id="4" name="Rectangle 3">
            <a:extLst>
              <a:ext uri="{FF2B5EF4-FFF2-40B4-BE49-F238E27FC236}">
                <a16:creationId xmlns:a16="http://schemas.microsoft.com/office/drawing/2014/main" id="{4C690315-1707-4AD5-8859-99D7FEE7815A}"/>
              </a:ext>
            </a:extLst>
          </p:cNvPr>
          <p:cNvSpPr/>
          <p:nvPr/>
        </p:nvSpPr>
        <p:spPr>
          <a:xfrm>
            <a:off x="1654198" y="1708562"/>
            <a:ext cx="8743941" cy="45935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Gotham Bold" pitchFamily="50" charset="0"/>
                <a:ea typeface="+mn-ea"/>
                <a:cs typeface="+mn-cs"/>
              </a:rPr>
              <a:t>Heap Insertion</a:t>
            </a:r>
          </a:p>
        </p:txBody>
      </p:sp>
      <p:sp>
        <p:nvSpPr>
          <p:cNvPr id="14" name="TextBox 13">
            <a:extLst>
              <a:ext uri="{FF2B5EF4-FFF2-40B4-BE49-F238E27FC236}">
                <a16:creationId xmlns:a16="http://schemas.microsoft.com/office/drawing/2014/main" id="{F8E2067A-50DC-4B3B-A941-515F73642C24}"/>
              </a:ext>
              <a:ext uri="{C183D7F6-B498-43B3-948B-1728B52AA6E4}">
                <adec:decorative xmlns:adec="http://schemas.microsoft.com/office/drawing/2017/decorative" val="1"/>
              </a:ext>
            </a:extLst>
          </p:cNvPr>
          <p:cNvSpPr txBox="1"/>
          <p:nvPr/>
        </p:nvSpPr>
        <p:spPr>
          <a:xfrm>
            <a:off x="4468076" y="2790228"/>
            <a:ext cx="28451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a:t>
            </a:r>
          </a:p>
        </p:txBody>
      </p:sp>
      <p:sp>
        <p:nvSpPr>
          <p:cNvPr id="15" name="TextBox 14">
            <a:extLst>
              <a:ext uri="{FF2B5EF4-FFF2-40B4-BE49-F238E27FC236}">
                <a16:creationId xmlns:a16="http://schemas.microsoft.com/office/drawing/2014/main" id="{E0BA7F03-06E1-4DC9-9439-34FD6EF63EEA}"/>
              </a:ext>
              <a:ext uri="{C183D7F6-B498-43B3-948B-1728B52AA6E4}">
                <adec:decorative xmlns:adec="http://schemas.microsoft.com/office/drawing/2017/decorative" val="1"/>
              </a:ext>
            </a:extLst>
          </p:cNvPr>
          <p:cNvSpPr txBox="1"/>
          <p:nvPr/>
        </p:nvSpPr>
        <p:spPr>
          <a:xfrm>
            <a:off x="3588497" y="327933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18</a:t>
            </a:r>
          </a:p>
        </p:txBody>
      </p:sp>
      <p:sp>
        <p:nvSpPr>
          <p:cNvPr id="16" name="TextBox 15">
            <a:extLst>
              <a:ext uri="{FF2B5EF4-FFF2-40B4-BE49-F238E27FC236}">
                <a16:creationId xmlns:a16="http://schemas.microsoft.com/office/drawing/2014/main" id="{BF51B4E7-79A0-4AD4-A124-8F3CF803B8F5}"/>
              </a:ext>
              <a:ext uri="{C183D7F6-B498-43B3-948B-1728B52AA6E4}">
                <adec:decorative xmlns:adec="http://schemas.microsoft.com/office/drawing/2017/decorative" val="1"/>
              </a:ext>
            </a:extLst>
          </p:cNvPr>
          <p:cNvSpPr txBox="1"/>
          <p:nvPr/>
        </p:nvSpPr>
        <p:spPr>
          <a:xfrm>
            <a:off x="5270029" y="3275111"/>
            <a:ext cx="398197" cy="307777"/>
          </a:xfrm>
          <a:prstGeom prst="rect">
            <a:avLst/>
          </a:prstGeom>
          <a:noFill/>
          <a:ln>
            <a:solidFill>
              <a:srgbClr val="EB6E19"/>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29</a:t>
            </a:r>
          </a:p>
        </p:txBody>
      </p:sp>
      <p:sp>
        <p:nvSpPr>
          <p:cNvPr id="17" name="TextBox 16">
            <a:extLst>
              <a:ext uri="{FF2B5EF4-FFF2-40B4-BE49-F238E27FC236}">
                <a16:creationId xmlns:a16="http://schemas.microsoft.com/office/drawing/2014/main" id="{EAD1ACB5-8D10-447A-8512-8CC77D028BBD}"/>
              </a:ext>
              <a:ext uri="{C183D7F6-B498-43B3-948B-1728B52AA6E4}">
                <adec:decorative xmlns:adec="http://schemas.microsoft.com/office/drawing/2017/decorative" val="1"/>
              </a:ext>
            </a:extLst>
          </p:cNvPr>
          <p:cNvSpPr txBox="1"/>
          <p:nvPr/>
        </p:nvSpPr>
        <p:spPr>
          <a:xfrm>
            <a:off x="2947151"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37</a:t>
            </a:r>
          </a:p>
        </p:txBody>
      </p:sp>
      <p:sp>
        <p:nvSpPr>
          <p:cNvPr id="18" name="TextBox 17">
            <a:extLst>
              <a:ext uri="{FF2B5EF4-FFF2-40B4-BE49-F238E27FC236}">
                <a16:creationId xmlns:a16="http://schemas.microsoft.com/office/drawing/2014/main" id="{393196BC-65D8-4C10-87E1-25F4471540B0}"/>
              </a:ext>
              <a:ext uri="{C183D7F6-B498-43B3-948B-1728B52AA6E4}">
                <adec:decorative xmlns:adec="http://schemas.microsoft.com/office/drawing/2017/decorative" val="1"/>
              </a:ext>
            </a:extLst>
          </p:cNvPr>
          <p:cNvSpPr txBox="1"/>
          <p:nvPr/>
        </p:nvSpPr>
        <p:spPr>
          <a:xfrm>
            <a:off x="334534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26</a:t>
            </a:r>
          </a:p>
        </p:txBody>
      </p:sp>
      <p:sp>
        <p:nvSpPr>
          <p:cNvPr id="19" name="TextBox 18">
            <a:extLst>
              <a:ext uri="{FF2B5EF4-FFF2-40B4-BE49-F238E27FC236}">
                <a16:creationId xmlns:a16="http://schemas.microsoft.com/office/drawing/2014/main" id="{C9564090-B42B-476E-AF5C-6D3874077308}"/>
              </a:ext>
              <a:ext uri="{C183D7F6-B498-43B3-948B-1728B52AA6E4}">
                <adec:decorative xmlns:adec="http://schemas.microsoft.com/office/drawing/2017/decorative" val="1"/>
              </a:ext>
            </a:extLst>
          </p:cNvPr>
          <p:cNvSpPr txBox="1"/>
          <p:nvPr/>
        </p:nvSpPr>
        <p:spPr>
          <a:xfrm>
            <a:off x="3835754"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76</a:t>
            </a:r>
          </a:p>
        </p:txBody>
      </p:sp>
      <p:sp>
        <p:nvSpPr>
          <p:cNvPr id="20" name="TextBox 19">
            <a:extLst>
              <a:ext uri="{FF2B5EF4-FFF2-40B4-BE49-F238E27FC236}">
                <a16:creationId xmlns:a16="http://schemas.microsoft.com/office/drawing/2014/main" id="{185757C9-C087-4FAF-884D-183400D216E8}"/>
              </a:ext>
              <a:ext uri="{C183D7F6-B498-43B3-948B-1728B52AA6E4}">
                <adec:decorative xmlns:adec="http://schemas.microsoft.com/office/drawing/2017/decorative" val="1"/>
              </a:ext>
            </a:extLst>
          </p:cNvPr>
          <p:cNvSpPr txBox="1"/>
          <p:nvPr/>
        </p:nvSpPr>
        <p:spPr>
          <a:xfrm>
            <a:off x="422573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32</a:t>
            </a:r>
          </a:p>
        </p:txBody>
      </p:sp>
      <p:sp>
        <p:nvSpPr>
          <p:cNvPr id="21" name="TextBox 20">
            <a:extLst>
              <a:ext uri="{FF2B5EF4-FFF2-40B4-BE49-F238E27FC236}">
                <a16:creationId xmlns:a16="http://schemas.microsoft.com/office/drawing/2014/main" id="{AFA10777-D795-445A-9DD0-7C98889397F6}"/>
              </a:ext>
              <a:ext uri="{C183D7F6-B498-43B3-948B-1728B52AA6E4}">
                <adec:decorative xmlns:adec="http://schemas.microsoft.com/office/drawing/2017/decorative" val="1"/>
              </a:ext>
            </a:extLst>
          </p:cNvPr>
          <p:cNvSpPr txBox="1"/>
          <p:nvPr/>
        </p:nvSpPr>
        <p:spPr>
          <a:xfrm>
            <a:off x="4716143"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74</a:t>
            </a:r>
          </a:p>
        </p:txBody>
      </p:sp>
      <p:sp>
        <p:nvSpPr>
          <p:cNvPr id="22" name="TextBox 21">
            <a:extLst>
              <a:ext uri="{FF2B5EF4-FFF2-40B4-BE49-F238E27FC236}">
                <a16:creationId xmlns:a16="http://schemas.microsoft.com/office/drawing/2014/main" id="{06E43CD1-A952-45EE-8A06-B2B9ECE524CA}"/>
              </a:ext>
              <a:ext uri="{C183D7F6-B498-43B3-948B-1728B52AA6E4}">
                <adec:decorative xmlns:adec="http://schemas.microsoft.com/office/drawing/2017/decorative" val="1"/>
              </a:ext>
            </a:extLst>
          </p:cNvPr>
          <p:cNvSpPr txBox="1"/>
          <p:nvPr/>
        </p:nvSpPr>
        <p:spPr>
          <a:xfrm>
            <a:off x="5114340"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89</a:t>
            </a:r>
          </a:p>
        </p:txBody>
      </p:sp>
      <p:sp>
        <p:nvSpPr>
          <p:cNvPr id="24" name="TextBox 23">
            <a:extLst>
              <a:ext uri="{FF2B5EF4-FFF2-40B4-BE49-F238E27FC236}">
                <a16:creationId xmlns:a16="http://schemas.microsoft.com/office/drawing/2014/main" id="{1D5ED36F-F3C0-4AB8-AD10-D772DBFE12CC}"/>
              </a:ext>
              <a:ext uri="{C183D7F6-B498-43B3-948B-1728B52AA6E4}">
                <adec:decorative xmlns:adec="http://schemas.microsoft.com/office/drawing/2017/decorative" val="1"/>
              </a:ext>
            </a:extLst>
          </p:cNvPr>
          <p:cNvSpPr txBox="1"/>
          <p:nvPr/>
        </p:nvSpPr>
        <p:spPr>
          <a:xfrm>
            <a:off x="3146249" y="3769303"/>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20</a:t>
            </a:r>
          </a:p>
        </p:txBody>
      </p:sp>
      <p:sp>
        <p:nvSpPr>
          <p:cNvPr id="25" name="TextBox 24">
            <a:extLst>
              <a:ext uri="{FF2B5EF4-FFF2-40B4-BE49-F238E27FC236}">
                <a16:creationId xmlns:a16="http://schemas.microsoft.com/office/drawing/2014/main" id="{F68978DC-8D44-459E-9984-49954373B44F}"/>
              </a:ext>
              <a:ext uri="{C183D7F6-B498-43B3-948B-1728B52AA6E4}">
                <adec:decorative xmlns:adec="http://schemas.microsoft.com/office/drawing/2017/decorative" val="1"/>
              </a:ext>
            </a:extLst>
          </p:cNvPr>
          <p:cNvSpPr txBox="1"/>
          <p:nvPr/>
        </p:nvSpPr>
        <p:spPr>
          <a:xfrm>
            <a:off x="4044070" y="3773948"/>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28</a:t>
            </a:r>
          </a:p>
        </p:txBody>
      </p:sp>
      <p:sp>
        <p:nvSpPr>
          <p:cNvPr id="26" name="TextBox 25">
            <a:extLst>
              <a:ext uri="{FF2B5EF4-FFF2-40B4-BE49-F238E27FC236}">
                <a16:creationId xmlns:a16="http://schemas.microsoft.com/office/drawing/2014/main" id="{0475A117-9D5E-44C2-85BD-04F9347631B9}"/>
              </a:ext>
              <a:ext uri="{C183D7F6-B498-43B3-948B-1728B52AA6E4}">
                <adec:decorative xmlns:adec="http://schemas.microsoft.com/office/drawing/2017/decorative" val="1"/>
              </a:ext>
            </a:extLst>
          </p:cNvPr>
          <p:cNvSpPr txBox="1"/>
          <p:nvPr/>
        </p:nvSpPr>
        <p:spPr>
          <a:xfrm>
            <a:off x="4915242" y="3764659"/>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39</a:t>
            </a:r>
          </a:p>
        </p:txBody>
      </p:sp>
      <p:sp>
        <p:nvSpPr>
          <p:cNvPr id="27" name="TextBox 26">
            <a:extLst>
              <a:ext uri="{FF2B5EF4-FFF2-40B4-BE49-F238E27FC236}">
                <a16:creationId xmlns:a16="http://schemas.microsoft.com/office/drawing/2014/main" id="{32F5FA45-C520-4141-A16D-990321183D0E}"/>
              </a:ext>
              <a:ext uri="{C183D7F6-B498-43B3-948B-1728B52AA6E4}">
                <adec:decorative xmlns:adec="http://schemas.microsoft.com/office/drawing/2017/decorative" val="1"/>
              </a:ext>
            </a:extLst>
          </p:cNvPr>
          <p:cNvSpPr txBox="1"/>
          <p:nvPr/>
        </p:nvSpPr>
        <p:spPr>
          <a:xfrm>
            <a:off x="5711635" y="3764659"/>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66</a:t>
            </a:r>
          </a:p>
        </p:txBody>
      </p:sp>
      <p:cxnSp>
        <p:nvCxnSpPr>
          <p:cNvPr id="28" name="Straight Connector 27">
            <a:extLst>
              <a:ext uri="{FF2B5EF4-FFF2-40B4-BE49-F238E27FC236}">
                <a16:creationId xmlns:a16="http://schemas.microsoft.com/office/drawing/2014/main" id="{ED0B8080-326C-48CB-B7CE-F7634259D9D2}"/>
              </a:ext>
              <a:ext uri="{C183D7F6-B498-43B3-948B-1728B52AA6E4}">
                <adec:decorative xmlns:adec="http://schemas.microsoft.com/office/drawing/2017/decorative" val="1"/>
              </a:ext>
            </a:extLst>
          </p:cNvPr>
          <p:cNvCxnSpPr/>
          <p:nvPr/>
        </p:nvCxnSpPr>
        <p:spPr>
          <a:xfrm flipH="1">
            <a:off x="3894434" y="2984644"/>
            <a:ext cx="573642" cy="284847"/>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9812509-2640-493B-ACAE-3D8D204F2E54}"/>
              </a:ext>
              <a:ext uri="{C183D7F6-B498-43B3-948B-1728B52AA6E4}">
                <adec:decorative xmlns:adec="http://schemas.microsoft.com/office/drawing/2017/decorative" val="1"/>
              </a:ext>
            </a:extLst>
          </p:cNvPr>
          <p:cNvCxnSpPr/>
          <p:nvPr/>
        </p:nvCxnSpPr>
        <p:spPr>
          <a:xfrm>
            <a:off x="4752591" y="2957626"/>
            <a:ext cx="716537" cy="330994"/>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BB851A3-DA63-4D8D-ABE6-F992F45E7E01}"/>
              </a:ext>
              <a:ext uri="{C183D7F6-B498-43B3-948B-1728B52AA6E4}">
                <adec:decorative xmlns:adec="http://schemas.microsoft.com/office/drawing/2017/decorative" val="1"/>
              </a:ext>
            </a:extLst>
          </p:cNvPr>
          <p:cNvCxnSpPr/>
          <p:nvPr/>
        </p:nvCxnSpPr>
        <p:spPr>
          <a:xfrm flipH="1">
            <a:off x="3338432" y="3610268"/>
            <a:ext cx="250066" cy="15903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CE30687-F7B7-40D6-B457-8981B596DF52}"/>
              </a:ext>
              <a:ext uri="{C183D7F6-B498-43B3-948B-1728B52AA6E4}">
                <adec:decorative xmlns:adec="http://schemas.microsoft.com/office/drawing/2017/decorative" val="1"/>
              </a:ext>
            </a:extLst>
          </p:cNvPr>
          <p:cNvCxnSpPr/>
          <p:nvPr/>
        </p:nvCxnSpPr>
        <p:spPr>
          <a:xfrm flipH="1">
            <a:off x="5107425" y="3610268"/>
            <a:ext cx="162606" cy="16368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34279F4-3FB3-4909-A81C-5D651E004572}"/>
              </a:ext>
              <a:ext uri="{C183D7F6-B498-43B3-948B-1728B52AA6E4}">
                <adec:decorative xmlns:adec="http://schemas.microsoft.com/office/drawing/2017/decorative" val="1"/>
              </a:ext>
            </a:extLst>
          </p:cNvPr>
          <p:cNvCxnSpPr/>
          <p:nvPr/>
        </p:nvCxnSpPr>
        <p:spPr>
          <a:xfrm flipH="1" flipV="1">
            <a:off x="3986695" y="3610268"/>
            <a:ext cx="249558" cy="16368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38CF59E-7EAA-48FE-A8C4-9706DB95C94F}"/>
              </a:ext>
              <a:ext uri="{C183D7F6-B498-43B3-948B-1728B52AA6E4}">
                <adec:decorative xmlns:adec="http://schemas.microsoft.com/office/drawing/2017/decorative" val="1"/>
              </a:ext>
            </a:extLst>
          </p:cNvPr>
          <p:cNvCxnSpPr/>
          <p:nvPr/>
        </p:nvCxnSpPr>
        <p:spPr>
          <a:xfrm flipH="1" flipV="1">
            <a:off x="5653759" y="3610269"/>
            <a:ext cx="250058"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55D3365-15F9-4289-9D44-E659CF0988E7}"/>
              </a:ext>
              <a:ext uri="{C183D7F6-B498-43B3-948B-1728B52AA6E4}">
                <adec:decorative xmlns:adec="http://schemas.microsoft.com/office/drawing/2017/decorative" val="1"/>
              </a:ext>
            </a:extLst>
          </p:cNvPr>
          <p:cNvCxnSpPr>
            <a:stCxn id="57" idx="0"/>
          </p:cNvCxnSpPr>
          <p:nvPr/>
        </p:nvCxnSpPr>
        <p:spPr>
          <a:xfrm flipV="1">
            <a:off x="3139334" y="4099817"/>
            <a:ext cx="122725"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8E6B03F-EDE4-4FEF-BC74-85BF6BF8DAA7}"/>
              </a:ext>
              <a:ext uri="{C183D7F6-B498-43B3-948B-1728B52AA6E4}">
                <adec:decorative xmlns:adec="http://schemas.microsoft.com/office/drawing/2017/decorative" val="1"/>
              </a:ext>
            </a:extLst>
          </p:cNvPr>
          <p:cNvCxnSpPr>
            <a:stCxn id="58" idx="0"/>
          </p:cNvCxnSpPr>
          <p:nvPr/>
        </p:nvCxnSpPr>
        <p:spPr>
          <a:xfrm flipH="1" flipV="1">
            <a:off x="3466924" y="4099817"/>
            <a:ext cx="706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7AB8B7A-3AA0-4714-BC2A-65786305177D}"/>
              </a:ext>
              <a:ext uri="{C183D7F6-B498-43B3-948B-1728B52AA6E4}">
                <adec:decorative xmlns:adec="http://schemas.microsoft.com/office/drawing/2017/decorative" val="1"/>
              </a:ext>
            </a:extLst>
          </p:cNvPr>
          <p:cNvCxnSpPr>
            <a:stCxn id="59" idx="0"/>
          </p:cNvCxnSpPr>
          <p:nvPr/>
        </p:nvCxnSpPr>
        <p:spPr>
          <a:xfrm flipV="1">
            <a:off x="4027937" y="4109105"/>
            <a:ext cx="80331"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39D941E-7960-4022-8175-FBFCAEC72FEF}"/>
              </a:ext>
              <a:ext uri="{C183D7F6-B498-43B3-948B-1728B52AA6E4}">
                <adec:decorative xmlns:adec="http://schemas.microsoft.com/office/drawing/2017/decorative" val="1"/>
              </a:ext>
            </a:extLst>
          </p:cNvPr>
          <p:cNvCxnSpPr/>
          <p:nvPr/>
        </p:nvCxnSpPr>
        <p:spPr>
          <a:xfrm flipH="1" flipV="1">
            <a:off x="4327340" y="4099817"/>
            <a:ext cx="90580"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AC64B88-7C6F-4B42-B41F-16B1318DEE19}"/>
              </a:ext>
              <a:ext uri="{C183D7F6-B498-43B3-948B-1728B52AA6E4}">
                <adec:decorative xmlns:adec="http://schemas.microsoft.com/office/drawing/2017/decorative" val="1"/>
              </a:ext>
            </a:extLst>
          </p:cNvPr>
          <p:cNvCxnSpPr/>
          <p:nvPr/>
        </p:nvCxnSpPr>
        <p:spPr>
          <a:xfrm flipV="1">
            <a:off x="4908326" y="4099817"/>
            <a:ext cx="908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0BFA9DB-A978-449F-9F63-9DDBA4B0621E}"/>
              </a:ext>
              <a:ext uri="{C183D7F6-B498-43B3-948B-1728B52AA6E4}">
                <adec:decorative xmlns:adec="http://schemas.microsoft.com/office/drawing/2017/decorative" val="1"/>
              </a:ext>
            </a:extLst>
          </p:cNvPr>
          <p:cNvCxnSpPr/>
          <p:nvPr/>
        </p:nvCxnSpPr>
        <p:spPr>
          <a:xfrm flipH="1" flipV="1">
            <a:off x="5255561" y="4109105"/>
            <a:ext cx="50962"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5EEAA561-815C-4F98-8113-D9CF68A778A5}"/>
              </a:ext>
              <a:ext uri="{C183D7F6-B498-43B3-948B-1728B52AA6E4}">
                <adec:decorative xmlns:adec="http://schemas.microsoft.com/office/drawing/2017/decorative" val="1"/>
              </a:ext>
            </a:extLst>
          </p:cNvPr>
          <p:cNvSpPr txBox="1"/>
          <p:nvPr/>
        </p:nvSpPr>
        <p:spPr>
          <a:xfrm>
            <a:off x="5270029" y="3275111"/>
            <a:ext cx="398197" cy="307777"/>
          </a:xfrm>
          <a:prstGeom prst="rect">
            <a:avLst/>
          </a:prstGeom>
          <a:noFill/>
          <a:ln w="6350">
            <a:solidFill>
              <a:srgbClr val="EB6E19"/>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29</a:t>
            </a:r>
          </a:p>
        </p:txBody>
      </p:sp>
      <p:sp>
        <p:nvSpPr>
          <p:cNvPr id="41" name="TextBox 40">
            <a:extLst>
              <a:ext uri="{FF2B5EF4-FFF2-40B4-BE49-F238E27FC236}">
                <a16:creationId xmlns:a16="http://schemas.microsoft.com/office/drawing/2014/main" id="{84207F50-D829-441E-A1B4-0A91BEEDEF4D}"/>
              </a:ext>
              <a:ext uri="{C183D7F6-B498-43B3-948B-1728B52AA6E4}">
                <adec:decorative xmlns:adec="http://schemas.microsoft.com/office/drawing/2017/decorative" val="1"/>
              </a:ext>
            </a:extLst>
          </p:cNvPr>
          <p:cNvSpPr txBox="1"/>
          <p:nvPr/>
        </p:nvSpPr>
        <p:spPr>
          <a:xfrm>
            <a:off x="3146249" y="3769303"/>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20</a:t>
            </a:r>
          </a:p>
        </p:txBody>
      </p:sp>
      <p:sp>
        <p:nvSpPr>
          <p:cNvPr id="42" name="TextBox 41">
            <a:extLst>
              <a:ext uri="{FF2B5EF4-FFF2-40B4-BE49-F238E27FC236}">
                <a16:creationId xmlns:a16="http://schemas.microsoft.com/office/drawing/2014/main" id="{871088E9-1A57-451B-A4D9-D0493D3FC3CA}"/>
              </a:ext>
              <a:ext uri="{C183D7F6-B498-43B3-948B-1728B52AA6E4}">
                <adec:decorative xmlns:adec="http://schemas.microsoft.com/office/drawing/2017/decorative" val="1"/>
              </a:ext>
            </a:extLst>
          </p:cNvPr>
          <p:cNvSpPr txBox="1"/>
          <p:nvPr/>
        </p:nvSpPr>
        <p:spPr>
          <a:xfrm>
            <a:off x="4044070" y="3773948"/>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28</a:t>
            </a:r>
          </a:p>
        </p:txBody>
      </p:sp>
      <p:sp>
        <p:nvSpPr>
          <p:cNvPr id="44" name="TextBox 43">
            <a:extLst>
              <a:ext uri="{FF2B5EF4-FFF2-40B4-BE49-F238E27FC236}">
                <a16:creationId xmlns:a16="http://schemas.microsoft.com/office/drawing/2014/main" id="{A6DFE1E6-93BB-4FEA-B25E-3BD2D42A6AF2}"/>
              </a:ext>
              <a:ext uri="{C183D7F6-B498-43B3-948B-1728B52AA6E4}">
                <adec:decorative xmlns:adec="http://schemas.microsoft.com/office/drawing/2017/decorative" val="1"/>
              </a:ext>
            </a:extLst>
          </p:cNvPr>
          <p:cNvSpPr txBox="1"/>
          <p:nvPr/>
        </p:nvSpPr>
        <p:spPr>
          <a:xfrm>
            <a:off x="5711635" y="3764659"/>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66</a:t>
            </a:r>
          </a:p>
        </p:txBody>
      </p:sp>
      <p:sp>
        <p:nvSpPr>
          <p:cNvPr id="46" name="TextBox 45">
            <a:extLst>
              <a:ext uri="{FF2B5EF4-FFF2-40B4-BE49-F238E27FC236}">
                <a16:creationId xmlns:a16="http://schemas.microsoft.com/office/drawing/2014/main" id="{39C61B35-F0FA-439E-904F-1E4CD8F96B23}"/>
              </a:ext>
              <a:ext uri="{C183D7F6-B498-43B3-948B-1728B52AA6E4}">
                <adec:decorative xmlns:adec="http://schemas.microsoft.com/office/drawing/2017/decorative" val="1"/>
              </a:ext>
            </a:extLst>
          </p:cNvPr>
          <p:cNvSpPr txBox="1"/>
          <p:nvPr/>
        </p:nvSpPr>
        <p:spPr>
          <a:xfrm>
            <a:off x="2947151"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37</a:t>
            </a:r>
          </a:p>
        </p:txBody>
      </p:sp>
      <p:sp>
        <p:nvSpPr>
          <p:cNvPr id="47" name="TextBox 46">
            <a:extLst>
              <a:ext uri="{FF2B5EF4-FFF2-40B4-BE49-F238E27FC236}">
                <a16:creationId xmlns:a16="http://schemas.microsoft.com/office/drawing/2014/main" id="{F64F9888-0E5D-44FD-8CCA-230171B60EF2}"/>
              </a:ext>
              <a:ext uri="{C183D7F6-B498-43B3-948B-1728B52AA6E4}">
                <adec:decorative xmlns:adec="http://schemas.microsoft.com/office/drawing/2017/decorative" val="1"/>
              </a:ext>
            </a:extLst>
          </p:cNvPr>
          <p:cNvSpPr txBox="1"/>
          <p:nvPr/>
        </p:nvSpPr>
        <p:spPr>
          <a:xfrm>
            <a:off x="334534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26</a:t>
            </a:r>
          </a:p>
        </p:txBody>
      </p:sp>
      <p:sp>
        <p:nvSpPr>
          <p:cNvPr id="56" name="TextBox 55">
            <a:extLst>
              <a:ext uri="{FF2B5EF4-FFF2-40B4-BE49-F238E27FC236}">
                <a16:creationId xmlns:a16="http://schemas.microsoft.com/office/drawing/2014/main" id="{6087B08E-F810-48F6-98FD-8FC6E1FC27EF}"/>
              </a:ext>
              <a:ext uri="{C183D7F6-B498-43B3-948B-1728B52AA6E4}">
                <adec:decorative xmlns:adec="http://schemas.microsoft.com/office/drawing/2017/decorative" val="1"/>
              </a:ext>
            </a:extLst>
          </p:cNvPr>
          <p:cNvSpPr txBox="1"/>
          <p:nvPr/>
        </p:nvSpPr>
        <p:spPr>
          <a:xfrm>
            <a:off x="3835754"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76</a:t>
            </a:r>
          </a:p>
        </p:txBody>
      </p:sp>
      <p:sp>
        <p:nvSpPr>
          <p:cNvPr id="57" name="TextBox 56">
            <a:extLst>
              <a:ext uri="{FF2B5EF4-FFF2-40B4-BE49-F238E27FC236}">
                <a16:creationId xmlns:a16="http://schemas.microsoft.com/office/drawing/2014/main" id="{8C8CD950-8C99-4070-8111-1C1171DBC0D2}"/>
              </a:ext>
              <a:ext uri="{C183D7F6-B498-43B3-948B-1728B52AA6E4}">
                <adec:decorative xmlns:adec="http://schemas.microsoft.com/office/drawing/2017/decorative" val="1"/>
              </a:ext>
            </a:extLst>
          </p:cNvPr>
          <p:cNvSpPr txBox="1"/>
          <p:nvPr/>
        </p:nvSpPr>
        <p:spPr>
          <a:xfrm>
            <a:off x="422573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32</a:t>
            </a:r>
          </a:p>
        </p:txBody>
      </p:sp>
      <p:sp>
        <p:nvSpPr>
          <p:cNvPr id="58" name="TextBox 57">
            <a:extLst>
              <a:ext uri="{FF2B5EF4-FFF2-40B4-BE49-F238E27FC236}">
                <a16:creationId xmlns:a16="http://schemas.microsoft.com/office/drawing/2014/main" id="{46695E7F-1157-4296-9575-75ABE9F7757C}"/>
              </a:ext>
              <a:ext uri="{C183D7F6-B498-43B3-948B-1728B52AA6E4}">
                <adec:decorative xmlns:adec="http://schemas.microsoft.com/office/drawing/2017/decorative" val="1"/>
              </a:ext>
            </a:extLst>
          </p:cNvPr>
          <p:cNvSpPr txBox="1"/>
          <p:nvPr/>
        </p:nvSpPr>
        <p:spPr>
          <a:xfrm>
            <a:off x="4716143"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74</a:t>
            </a:r>
          </a:p>
        </p:txBody>
      </p:sp>
      <p:sp>
        <p:nvSpPr>
          <p:cNvPr id="59" name="TextBox 58">
            <a:extLst>
              <a:ext uri="{FF2B5EF4-FFF2-40B4-BE49-F238E27FC236}">
                <a16:creationId xmlns:a16="http://schemas.microsoft.com/office/drawing/2014/main" id="{7B1EFF9C-027F-44CB-9278-28DE7C644F43}"/>
              </a:ext>
              <a:ext uri="{C183D7F6-B498-43B3-948B-1728B52AA6E4}">
                <adec:decorative xmlns:adec="http://schemas.microsoft.com/office/drawing/2017/decorative" val="1"/>
              </a:ext>
            </a:extLst>
          </p:cNvPr>
          <p:cNvSpPr txBox="1"/>
          <p:nvPr/>
        </p:nvSpPr>
        <p:spPr>
          <a:xfrm>
            <a:off x="5114340"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89</a:t>
            </a:r>
          </a:p>
        </p:txBody>
      </p:sp>
      <p:sp>
        <p:nvSpPr>
          <p:cNvPr id="43" name="Rectangle 42">
            <a:extLst>
              <a:ext uri="{FF2B5EF4-FFF2-40B4-BE49-F238E27FC236}">
                <a16:creationId xmlns:a16="http://schemas.microsoft.com/office/drawing/2014/main" id="{C17B2482-1B57-42B8-BCFF-29D55C291212}"/>
              </a:ext>
              <a:ext uri="{C183D7F6-B498-43B3-948B-1728B52AA6E4}">
                <adec:decorative xmlns:adec="http://schemas.microsoft.com/office/drawing/2017/decorative" val="1"/>
              </a:ext>
            </a:extLst>
          </p:cNvPr>
          <p:cNvSpPr/>
          <p:nvPr/>
        </p:nvSpPr>
        <p:spPr>
          <a:xfrm>
            <a:off x="1995537" y="5838024"/>
            <a:ext cx="6021256" cy="345745"/>
          </a:xfrm>
          <a:prstGeom prst="rect">
            <a:avLst/>
          </a:prstGeom>
          <a:noFill/>
          <a:ln>
            <a:solidFill>
              <a:srgbClr val="EB6E19"/>
            </a:solidFill>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endParaRPr>
          </a:p>
        </p:txBody>
      </p:sp>
      <p:cxnSp>
        <p:nvCxnSpPr>
          <p:cNvPr id="45" name="Straight Connector 44">
            <a:extLst>
              <a:ext uri="{FF2B5EF4-FFF2-40B4-BE49-F238E27FC236}">
                <a16:creationId xmlns:a16="http://schemas.microsoft.com/office/drawing/2014/main" id="{BB9BC71D-97A6-44D8-8377-4DE5AAF6956B}"/>
              </a:ext>
              <a:ext uri="{C183D7F6-B498-43B3-948B-1728B52AA6E4}">
                <adec:decorative xmlns:adec="http://schemas.microsoft.com/office/drawing/2017/decorative" val="1"/>
              </a:ext>
            </a:extLst>
          </p:cNvPr>
          <p:cNvCxnSpPr>
            <a:cxnSpLocks/>
          </p:cNvCxnSpPr>
          <p:nvPr/>
        </p:nvCxnSpPr>
        <p:spPr>
          <a:xfrm>
            <a:off x="2393733"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3BDD08A3-7395-48B6-B028-6501B595C07B}"/>
              </a:ext>
              <a:ext uri="{C183D7F6-B498-43B3-948B-1728B52AA6E4}">
                <adec:decorative xmlns:adec="http://schemas.microsoft.com/office/drawing/2017/decorative" val="1"/>
              </a:ext>
            </a:extLst>
          </p:cNvPr>
          <p:cNvCxnSpPr>
            <a:cxnSpLocks/>
          </p:cNvCxnSpPr>
          <p:nvPr/>
        </p:nvCxnSpPr>
        <p:spPr>
          <a:xfrm>
            <a:off x="7159106"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9E684A0-99CC-488C-97BC-9E3C83CD7C09}"/>
              </a:ext>
              <a:ext uri="{C183D7F6-B498-43B3-948B-1728B52AA6E4}">
                <adec:decorative xmlns:adec="http://schemas.microsoft.com/office/drawing/2017/decorative" val="1"/>
              </a:ext>
            </a:extLst>
          </p:cNvPr>
          <p:cNvCxnSpPr>
            <a:cxnSpLocks/>
          </p:cNvCxnSpPr>
          <p:nvPr/>
        </p:nvCxnSpPr>
        <p:spPr>
          <a:xfrm>
            <a:off x="2870271"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44DDAE8-FB89-4D89-AC71-F47AB42F360B}"/>
              </a:ext>
              <a:ext uri="{C183D7F6-B498-43B3-948B-1728B52AA6E4}">
                <adec:decorative xmlns:adec="http://schemas.microsoft.com/office/drawing/2017/decorative" val="1"/>
              </a:ext>
            </a:extLst>
          </p:cNvPr>
          <p:cNvCxnSpPr>
            <a:cxnSpLocks/>
          </p:cNvCxnSpPr>
          <p:nvPr/>
        </p:nvCxnSpPr>
        <p:spPr>
          <a:xfrm>
            <a:off x="3346808"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A7D9556-B0E5-4207-A066-F24E645A0DD2}"/>
              </a:ext>
              <a:ext uri="{C183D7F6-B498-43B3-948B-1728B52AA6E4}">
                <adec:decorative xmlns:adec="http://schemas.microsoft.com/office/drawing/2017/decorative" val="1"/>
              </a:ext>
            </a:extLst>
          </p:cNvPr>
          <p:cNvCxnSpPr>
            <a:cxnSpLocks/>
          </p:cNvCxnSpPr>
          <p:nvPr/>
        </p:nvCxnSpPr>
        <p:spPr>
          <a:xfrm>
            <a:off x="3823345"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F2BE3DD-1312-4ED3-AB5D-D0D9A5C1186D}"/>
              </a:ext>
              <a:ext uri="{C183D7F6-B498-43B3-948B-1728B52AA6E4}">
                <adec:decorative xmlns:adec="http://schemas.microsoft.com/office/drawing/2017/decorative" val="1"/>
              </a:ext>
            </a:extLst>
          </p:cNvPr>
          <p:cNvCxnSpPr>
            <a:cxnSpLocks/>
          </p:cNvCxnSpPr>
          <p:nvPr/>
        </p:nvCxnSpPr>
        <p:spPr>
          <a:xfrm>
            <a:off x="4299883"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7F86F4-DAE5-453D-A2F2-A01DF41ED87F}"/>
              </a:ext>
              <a:ext uri="{C183D7F6-B498-43B3-948B-1728B52AA6E4}">
                <adec:decorative xmlns:adec="http://schemas.microsoft.com/office/drawing/2017/decorative" val="1"/>
              </a:ext>
            </a:extLst>
          </p:cNvPr>
          <p:cNvCxnSpPr>
            <a:cxnSpLocks/>
          </p:cNvCxnSpPr>
          <p:nvPr/>
        </p:nvCxnSpPr>
        <p:spPr>
          <a:xfrm>
            <a:off x="4776420"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F278C91-2A77-44E6-A28C-BA8DB054B0B2}"/>
              </a:ext>
              <a:ext uri="{C183D7F6-B498-43B3-948B-1728B52AA6E4}">
                <adec:decorative xmlns:adec="http://schemas.microsoft.com/office/drawing/2017/decorative" val="1"/>
              </a:ext>
            </a:extLst>
          </p:cNvPr>
          <p:cNvCxnSpPr>
            <a:cxnSpLocks/>
          </p:cNvCxnSpPr>
          <p:nvPr/>
        </p:nvCxnSpPr>
        <p:spPr>
          <a:xfrm>
            <a:off x="5252958"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797CC39-539D-4C52-97A8-285F112F531B}"/>
              </a:ext>
              <a:ext uri="{C183D7F6-B498-43B3-948B-1728B52AA6E4}">
                <adec:decorative xmlns:adec="http://schemas.microsoft.com/office/drawing/2017/decorative" val="1"/>
              </a:ext>
            </a:extLst>
          </p:cNvPr>
          <p:cNvCxnSpPr>
            <a:cxnSpLocks/>
          </p:cNvCxnSpPr>
          <p:nvPr/>
        </p:nvCxnSpPr>
        <p:spPr>
          <a:xfrm>
            <a:off x="5729495"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E260ACE-BBDD-4860-8CD7-FFB113A4186E}"/>
              </a:ext>
              <a:ext uri="{C183D7F6-B498-43B3-948B-1728B52AA6E4}">
                <adec:decorative xmlns:adec="http://schemas.microsoft.com/office/drawing/2017/decorative" val="1"/>
              </a:ext>
            </a:extLst>
          </p:cNvPr>
          <p:cNvCxnSpPr>
            <a:cxnSpLocks/>
          </p:cNvCxnSpPr>
          <p:nvPr/>
        </p:nvCxnSpPr>
        <p:spPr>
          <a:xfrm>
            <a:off x="6206033"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545713D-1EAC-4638-BFDE-A83C0991F1BD}"/>
              </a:ext>
              <a:ext uri="{C183D7F6-B498-43B3-948B-1728B52AA6E4}">
                <adec:decorative xmlns:adec="http://schemas.microsoft.com/office/drawing/2017/decorative" val="1"/>
              </a:ext>
            </a:extLst>
          </p:cNvPr>
          <p:cNvCxnSpPr>
            <a:cxnSpLocks/>
          </p:cNvCxnSpPr>
          <p:nvPr/>
        </p:nvCxnSpPr>
        <p:spPr>
          <a:xfrm>
            <a:off x="6682570" y="5838024"/>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5E045E7A-4558-4425-BAD3-40A514645E35}"/>
              </a:ext>
              <a:ext uri="{C183D7F6-B498-43B3-948B-1728B52AA6E4}">
                <adec:decorative xmlns:adec="http://schemas.microsoft.com/office/drawing/2017/decorative" val="1"/>
              </a:ext>
            </a:extLst>
          </p:cNvPr>
          <p:cNvSpPr txBox="1"/>
          <p:nvPr/>
        </p:nvSpPr>
        <p:spPr>
          <a:xfrm>
            <a:off x="1961891" y="5538371"/>
            <a:ext cx="398196"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0</a:t>
            </a:r>
          </a:p>
        </p:txBody>
      </p:sp>
      <p:sp>
        <p:nvSpPr>
          <p:cNvPr id="63" name="TextBox 62">
            <a:extLst>
              <a:ext uri="{FF2B5EF4-FFF2-40B4-BE49-F238E27FC236}">
                <a16:creationId xmlns:a16="http://schemas.microsoft.com/office/drawing/2014/main" id="{9DE572CE-9D05-464B-B243-9070C47DAAF1}"/>
              </a:ext>
              <a:ext uri="{C183D7F6-B498-43B3-948B-1728B52AA6E4}">
                <adec:decorative xmlns:adec="http://schemas.microsoft.com/office/drawing/2017/decorative" val="1"/>
              </a:ext>
            </a:extLst>
          </p:cNvPr>
          <p:cNvSpPr txBox="1"/>
          <p:nvPr/>
        </p:nvSpPr>
        <p:spPr>
          <a:xfrm>
            <a:off x="2456472" y="5538371"/>
            <a:ext cx="269625"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1</a:t>
            </a:r>
          </a:p>
        </p:txBody>
      </p:sp>
      <p:sp>
        <p:nvSpPr>
          <p:cNvPr id="64" name="TextBox 63">
            <a:extLst>
              <a:ext uri="{FF2B5EF4-FFF2-40B4-BE49-F238E27FC236}">
                <a16:creationId xmlns:a16="http://schemas.microsoft.com/office/drawing/2014/main" id="{660A9837-7DB9-4F6A-9939-D7E7BE565372}"/>
              </a:ext>
              <a:ext uri="{C183D7F6-B498-43B3-948B-1728B52AA6E4}">
                <adec:decorative xmlns:adec="http://schemas.microsoft.com/office/drawing/2017/decorative" val="1"/>
              </a:ext>
            </a:extLst>
          </p:cNvPr>
          <p:cNvSpPr txBox="1"/>
          <p:nvPr/>
        </p:nvSpPr>
        <p:spPr>
          <a:xfrm>
            <a:off x="2865843" y="5538371"/>
            <a:ext cx="398197"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2</a:t>
            </a:r>
          </a:p>
        </p:txBody>
      </p:sp>
      <p:sp>
        <p:nvSpPr>
          <p:cNvPr id="65" name="TextBox 64">
            <a:extLst>
              <a:ext uri="{FF2B5EF4-FFF2-40B4-BE49-F238E27FC236}">
                <a16:creationId xmlns:a16="http://schemas.microsoft.com/office/drawing/2014/main" id="{E14730A6-C68A-40F9-90AE-42B4DF6FA48C}"/>
              </a:ext>
              <a:ext uri="{C183D7F6-B498-43B3-948B-1728B52AA6E4}">
                <adec:decorative xmlns:adec="http://schemas.microsoft.com/office/drawing/2017/decorative" val="1"/>
              </a:ext>
            </a:extLst>
          </p:cNvPr>
          <p:cNvSpPr txBox="1"/>
          <p:nvPr/>
        </p:nvSpPr>
        <p:spPr>
          <a:xfrm>
            <a:off x="5334248" y="5538371"/>
            <a:ext cx="269625"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7</a:t>
            </a:r>
          </a:p>
        </p:txBody>
      </p:sp>
      <p:sp>
        <p:nvSpPr>
          <p:cNvPr id="66" name="TextBox 65">
            <a:extLst>
              <a:ext uri="{FF2B5EF4-FFF2-40B4-BE49-F238E27FC236}">
                <a16:creationId xmlns:a16="http://schemas.microsoft.com/office/drawing/2014/main" id="{DF1395C7-1325-46CB-B9AD-9ABCEDB271A8}"/>
              </a:ext>
              <a:ext uri="{C183D7F6-B498-43B3-948B-1728B52AA6E4}">
                <adec:decorative xmlns:adec="http://schemas.microsoft.com/office/drawing/2017/decorative" val="1"/>
              </a:ext>
            </a:extLst>
          </p:cNvPr>
          <p:cNvSpPr txBox="1"/>
          <p:nvPr/>
        </p:nvSpPr>
        <p:spPr>
          <a:xfrm>
            <a:off x="5788145" y="5538371"/>
            <a:ext cx="269625"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8</a:t>
            </a:r>
          </a:p>
        </p:txBody>
      </p:sp>
      <p:sp>
        <p:nvSpPr>
          <p:cNvPr id="67" name="TextBox 66">
            <a:extLst>
              <a:ext uri="{FF2B5EF4-FFF2-40B4-BE49-F238E27FC236}">
                <a16:creationId xmlns:a16="http://schemas.microsoft.com/office/drawing/2014/main" id="{F0DB9C33-41E5-4865-9788-B9520F5EC4E3}"/>
              </a:ext>
              <a:ext uri="{C183D7F6-B498-43B3-948B-1728B52AA6E4}">
                <adec:decorative xmlns:adec="http://schemas.microsoft.com/office/drawing/2017/decorative" val="1"/>
              </a:ext>
            </a:extLst>
          </p:cNvPr>
          <p:cNvSpPr txBox="1"/>
          <p:nvPr/>
        </p:nvSpPr>
        <p:spPr>
          <a:xfrm>
            <a:off x="6267315" y="5538371"/>
            <a:ext cx="269625"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9</a:t>
            </a:r>
          </a:p>
        </p:txBody>
      </p:sp>
      <p:sp>
        <p:nvSpPr>
          <p:cNvPr id="68" name="TextBox 67">
            <a:extLst>
              <a:ext uri="{FF2B5EF4-FFF2-40B4-BE49-F238E27FC236}">
                <a16:creationId xmlns:a16="http://schemas.microsoft.com/office/drawing/2014/main" id="{A8BC5922-70C4-494D-BA78-4698FF176872}"/>
              </a:ext>
              <a:ext uri="{C183D7F6-B498-43B3-948B-1728B52AA6E4}">
                <adec:decorative xmlns:adec="http://schemas.microsoft.com/office/drawing/2017/decorative" val="1"/>
              </a:ext>
            </a:extLst>
          </p:cNvPr>
          <p:cNvSpPr txBox="1"/>
          <p:nvPr/>
        </p:nvSpPr>
        <p:spPr>
          <a:xfrm>
            <a:off x="6694473" y="5538371"/>
            <a:ext cx="354584"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10</a:t>
            </a:r>
          </a:p>
        </p:txBody>
      </p:sp>
      <p:sp>
        <p:nvSpPr>
          <p:cNvPr id="69" name="TextBox 68">
            <a:extLst>
              <a:ext uri="{FF2B5EF4-FFF2-40B4-BE49-F238E27FC236}">
                <a16:creationId xmlns:a16="http://schemas.microsoft.com/office/drawing/2014/main" id="{46CD84FF-CB18-4578-AC72-8E57238A2ECE}"/>
              </a:ext>
              <a:ext uri="{C183D7F6-B498-43B3-948B-1728B52AA6E4}">
                <adec:decorative xmlns:adec="http://schemas.microsoft.com/office/drawing/2017/decorative" val="1"/>
              </a:ext>
            </a:extLst>
          </p:cNvPr>
          <p:cNvSpPr txBox="1"/>
          <p:nvPr/>
        </p:nvSpPr>
        <p:spPr>
          <a:xfrm>
            <a:off x="7179094" y="5538371"/>
            <a:ext cx="354584"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11</a:t>
            </a:r>
          </a:p>
        </p:txBody>
      </p:sp>
      <p:sp>
        <p:nvSpPr>
          <p:cNvPr id="70" name="TextBox 69">
            <a:extLst>
              <a:ext uri="{FF2B5EF4-FFF2-40B4-BE49-F238E27FC236}">
                <a16:creationId xmlns:a16="http://schemas.microsoft.com/office/drawing/2014/main" id="{1727F494-591D-4B13-B60A-EC1295B1F617}"/>
              </a:ext>
              <a:ext uri="{C183D7F6-B498-43B3-948B-1728B52AA6E4}">
                <adec:decorative xmlns:adec="http://schemas.microsoft.com/office/drawing/2017/decorative" val="1"/>
              </a:ext>
            </a:extLst>
          </p:cNvPr>
          <p:cNvSpPr txBox="1"/>
          <p:nvPr/>
        </p:nvSpPr>
        <p:spPr>
          <a:xfrm>
            <a:off x="7658053" y="5528627"/>
            <a:ext cx="354584"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12</a:t>
            </a:r>
          </a:p>
        </p:txBody>
      </p:sp>
      <p:sp>
        <p:nvSpPr>
          <p:cNvPr id="71" name="TextBox 70">
            <a:extLst>
              <a:ext uri="{FF2B5EF4-FFF2-40B4-BE49-F238E27FC236}">
                <a16:creationId xmlns:a16="http://schemas.microsoft.com/office/drawing/2014/main" id="{D0B839F2-4BAC-4712-BA77-0E0512FB169C}"/>
              </a:ext>
              <a:ext uri="{C183D7F6-B498-43B3-948B-1728B52AA6E4}">
                <adec:decorative xmlns:adec="http://schemas.microsoft.com/office/drawing/2017/decorative" val="1"/>
              </a:ext>
            </a:extLst>
          </p:cNvPr>
          <p:cNvSpPr txBox="1"/>
          <p:nvPr/>
        </p:nvSpPr>
        <p:spPr>
          <a:xfrm>
            <a:off x="3413962" y="5538371"/>
            <a:ext cx="269625"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3</a:t>
            </a:r>
          </a:p>
        </p:txBody>
      </p:sp>
      <p:sp>
        <p:nvSpPr>
          <p:cNvPr id="72" name="TextBox 71">
            <a:extLst>
              <a:ext uri="{FF2B5EF4-FFF2-40B4-BE49-F238E27FC236}">
                <a16:creationId xmlns:a16="http://schemas.microsoft.com/office/drawing/2014/main" id="{24217CB9-4C34-431F-ABE0-E2FF844DB38A}"/>
              </a:ext>
              <a:ext uri="{C183D7F6-B498-43B3-948B-1728B52AA6E4}">
                <adec:decorative xmlns:adec="http://schemas.microsoft.com/office/drawing/2017/decorative" val="1"/>
              </a:ext>
            </a:extLst>
          </p:cNvPr>
          <p:cNvSpPr txBox="1"/>
          <p:nvPr/>
        </p:nvSpPr>
        <p:spPr>
          <a:xfrm>
            <a:off x="3912755" y="5538371"/>
            <a:ext cx="269625"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4</a:t>
            </a:r>
          </a:p>
        </p:txBody>
      </p:sp>
      <p:sp>
        <p:nvSpPr>
          <p:cNvPr id="73" name="TextBox 72">
            <a:extLst>
              <a:ext uri="{FF2B5EF4-FFF2-40B4-BE49-F238E27FC236}">
                <a16:creationId xmlns:a16="http://schemas.microsoft.com/office/drawing/2014/main" id="{0AB6318A-634A-4B74-8D81-359A33300866}"/>
              </a:ext>
              <a:ext uri="{C183D7F6-B498-43B3-948B-1728B52AA6E4}">
                <adec:decorative xmlns:adec="http://schemas.microsoft.com/office/drawing/2017/decorative" val="1"/>
              </a:ext>
            </a:extLst>
          </p:cNvPr>
          <p:cNvSpPr txBox="1"/>
          <p:nvPr/>
        </p:nvSpPr>
        <p:spPr>
          <a:xfrm>
            <a:off x="4371755" y="5538371"/>
            <a:ext cx="269625"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5</a:t>
            </a:r>
          </a:p>
        </p:txBody>
      </p:sp>
      <p:sp>
        <p:nvSpPr>
          <p:cNvPr id="74" name="TextBox 73">
            <a:extLst>
              <a:ext uri="{FF2B5EF4-FFF2-40B4-BE49-F238E27FC236}">
                <a16:creationId xmlns:a16="http://schemas.microsoft.com/office/drawing/2014/main" id="{9E041813-9CBA-46BF-A3B1-4DFFB301DB38}"/>
              </a:ext>
              <a:ext uri="{C183D7F6-B498-43B3-948B-1728B52AA6E4}">
                <adec:decorative xmlns:adec="http://schemas.microsoft.com/office/drawing/2017/decorative" val="1"/>
              </a:ext>
            </a:extLst>
          </p:cNvPr>
          <p:cNvSpPr txBox="1"/>
          <p:nvPr/>
        </p:nvSpPr>
        <p:spPr>
          <a:xfrm>
            <a:off x="4850415" y="5538371"/>
            <a:ext cx="269625"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6</a:t>
            </a:r>
          </a:p>
        </p:txBody>
      </p:sp>
      <p:cxnSp>
        <p:nvCxnSpPr>
          <p:cNvPr id="75" name="Straight Connector 74">
            <a:extLst>
              <a:ext uri="{FF2B5EF4-FFF2-40B4-BE49-F238E27FC236}">
                <a16:creationId xmlns:a16="http://schemas.microsoft.com/office/drawing/2014/main" id="{F73FB967-2E16-44E5-85E0-380230A160E0}"/>
              </a:ext>
              <a:ext uri="{C183D7F6-B498-43B3-948B-1728B52AA6E4}">
                <adec:decorative xmlns:adec="http://schemas.microsoft.com/office/drawing/2017/decorative" val="1"/>
              </a:ext>
            </a:extLst>
          </p:cNvPr>
          <p:cNvCxnSpPr>
            <a:cxnSpLocks/>
          </p:cNvCxnSpPr>
          <p:nvPr/>
        </p:nvCxnSpPr>
        <p:spPr>
          <a:xfrm>
            <a:off x="7604106" y="5854196"/>
            <a:ext cx="0" cy="34574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3D183A31-29B4-4ADA-814D-8ED05F1DE350}"/>
              </a:ext>
              <a:ext uri="{C183D7F6-B498-43B3-948B-1728B52AA6E4}">
                <adec:decorative xmlns:adec="http://schemas.microsoft.com/office/drawing/2017/decorative" val="1"/>
              </a:ext>
            </a:extLst>
          </p:cNvPr>
          <p:cNvSpPr txBox="1"/>
          <p:nvPr/>
        </p:nvSpPr>
        <p:spPr>
          <a:xfrm>
            <a:off x="1984279" y="5889135"/>
            <a:ext cx="398196"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8</a:t>
            </a:r>
          </a:p>
        </p:txBody>
      </p:sp>
      <p:sp>
        <p:nvSpPr>
          <p:cNvPr id="77" name="TextBox 76">
            <a:extLst>
              <a:ext uri="{FF2B5EF4-FFF2-40B4-BE49-F238E27FC236}">
                <a16:creationId xmlns:a16="http://schemas.microsoft.com/office/drawing/2014/main" id="{1D643547-67A8-4835-BE7E-889DA10B4C43}"/>
              </a:ext>
              <a:ext uri="{C183D7F6-B498-43B3-948B-1728B52AA6E4}">
                <adec:decorative xmlns:adec="http://schemas.microsoft.com/office/drawing/2017/decorative" val="1"/>
              </a:ext>
            </a:extLst>
          </p:cNvPr>
          <p:cNvSpPr txBox="1"/>
          <p:nvPr/>
        </p:nvSpPr>
        <p:spPr>
          <a:xfrm>
            <a:off x="2429970" y="5890783"/>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18</a:t>
            </a:r>
          </a:p>
        </p:txBody>
      </p:sp>
      <p:sp>
        <p:nvSpPr>
          <p:cNvPr id="78" name="TextBox 77">
            <a:extLst>
              <a:ext uri="{FF2B5EF4-FFF2-40B4-BE49-F238E27FC236}">
                <a16:creationId xmlns:a16="http://schemas.microsoft.com/office/drawing/2014/main" id="{6AA01378-70C5-453F-B4E2-0DCA2AE2E80E}"/>
              </a:ext>
              <a:ext uri="{C183D7F6-B498-43B3-948B-1728B52AA6E4}">
                <adec:decorative xmlns:adec="http://schemas.microsoft.com/office/drawing/2017/decorative" val="1"/>
              </a:ext>
            </a:extLst>
          </p:cNvPr>
          <p:cNvSpPr txBox="1"/>
          <p:nvPr/>
        </p:nvSpPr>
        <p:spPr>
          <a:xfrm>
            <a:off x="2888231" y="5890783"/>
            <a:ext cx="398197"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29</a:t>
            </a:r>
          </a:p>
        </p:txBody>
      </p:sp>
      <p:sp>
        <p:nvSpPr>
          <p:cNvPr id="79" name="TextBox 78">
            <a:extLst>
              <a:ext uri="{FF2B5EF4-FFF2-40B4-BE49-F238E27FC236}">
                <a16:creationId xmlns:a16="http://schemas.microsoft.com/office/drawing/2014/main" id="{8F7E79B9-F01C-46F6-9DB8-18A09C429714}"/>
              </a:ext>
              <a:ext uri="{C183D7F6-B498-43B3-948B-1728B52AA6E4}">
                <adec:decorative xmlns:adec="http://schemas.microsoft.com/office/drawing/2017/decorative" val="1"/>
              </a:ext>
            </a:extLst>
          </p:cNvPr>
          <p:cNvSpPr txBox="1"/>
          <p:nvPr/>
        </p:nvSpPr>
        <p:spPr>
          <a:xfrm>
            <a:off x="3413597" y="5876455"/>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20</a:t>
            </a:r>
          </a:p>
        </p:txBody>
      </p:sp>
      <p:sp>
        <p:nvSpPr>
          <p:cNvPr id="80" name="TextBox 79">
            <a:extLst>
              <a:ext uri="{FF2B5EF4-FFF2-40B4-BE49-F238E27FC236}">
                <a16:creationId xmlns:a16="http://schemas.microsoft.com/office/drawing/2014/main" id="{F9AF925B-10D1-4BFA-99DF-8B9C9EBE5096}"/>
              </a:ext>
              <a:ext uri="{C183D7F6-B498-43B3-948B-1728B52AA6E4}">
                <adec:decorative xmlns:adec="http://schemas.microsoft.com/office/drawing/2017/decorative" val="1"/>
              </a:ext>
            </a:extLst>
          </p:cNvPr>
          <p:cNvSpPr txBox="1"/>
          <p:nvPr/>
        </p:nvSpPr>
        <p:spPr>
          <a:xfrm>
            <a:off x="3886254" y="5878547"/>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28</a:t>
            </a:r>
          </a:p>
        </p:txBody>
      </p:sp>
      <p:sp>
        <p:nvSpPr>
          <p:cNvPr id="81" name="TextBox 80">
            <a:extLst>
              <a:ext uri="{FF2B5EF4-FFF2-40B4-BE49-F238E27FC236}">
                <a16:creationId xmlns:a16="http://schemas.microsoft.com/office/drawing/2014/main" id="{61749B38-4FF9-414D-A2CF-B3B3F20B7A10}"/>
              </a:ext>
              <a:ext uri="{C183D7F6-B498-43B3-948B-1728B52AA6E4}">
                <adec:decorative xmlns:adec="http://schemas.microsoft.com/office/drawing/2017/decorative" val="1"/>
              </a:ext>
            </a:extLst>
          </p:cNvPr>
          <p:cNvSpPr txBox="1"/>
          <p:nvPr/>
        </p:nvSpPr>
        <p:spPr>
          <a:xfrm>
            <a:off x="4345254" y="5894571"/>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39</a:t>
            </a:r>
          </a:p>
        </p:txBody>
      </p:sp>
      <p:sp>
        <p:nvSpPr>
          <p:cNvPr id="82" name="TextBox 81">
            <a:extLst>
              <a:ext uri="{FF2B5EF4-FFF2-40B4-BE49-F238E27FC236}">
                <a16:creationId xmlns:a16="http://schemas.microsoft.com/office/drawing/2014/main" id="{E158AF40-E181-464E-8B91-C364086A2C79}"/>
              </a:ext>
              <a:ext uri="{C183D7F6-B498-43B3-948B-1728B52AA6E4}">
                <adec:decorative xmlns:adec="http://schemas.microsoft.com/office/drawing/2017/decorative" val="1"/>
              </a:ext>
            </a:extLst>
          </p:cNvPr>
          <p:cNvSpPr txBox="1"/>
          <p:nvPr/>
        </p:nvSpPr>
        <p:spPr>
          <a:xfrm>
            <a:off x="4822462" y="5876602"/>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66</a:t>
            </a:r>
          </a:p>
        </p:txBody>
      </p:sp>
      <p:sp>
        <p:nvSpPr>
          <p:cNvPr id="83" name="TextBox 82">
            <a:extLst>
              <a:ext uri="{FF2B5EF4-FFF2-40B4-BE49-F238E27FC236}">
                <a16:creationId xmlns:a16="http://schemas.microsoft.com/office/drawing/2014/main" id="{38E2C54F-C465-4CD9-A835-3CAB4AAA7A41}"/>
              </a:ext>
              <a:ext uri="{C183D7F6-B498-43B3-948B-1728B52AA6E4}">
                <adec:decorative xmlns:adec="http://schemas.microsoft.com/office/drawing/2017/decorative" val="1"/>
              </a:ext>
            </a:extLst>
          </p:cNvPr>
          <p:cNvSpPr txBox="1"/>
          <p:nvPr/>
        </p:nvSpPr>
        <p:spPr>
          <a:xfrm>
            <a:off x="5323783" y="5878547"/>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37</a:t>
            </a:r>
          </a:p>
        </p:txBody>
      </p:sp>
      <p:sp>
        <p:nvSpPr>
          <p:cNvPr id="84" name="TextBox 83">
            <a:extLst>
              <a:ext uri="{FF2B5EF4-FFF2-40B4-BE49-F238E27FC236}">
                <a16:creationId xmlns:a16="http://schemas.microsoft.com/office/drawing/2014/main" id="{743CDD47-3D49-4BF0-ABD7-55F54CF7649D}"/>
              </a:ext>
              <a:ext uri="{C183D7F6-B498-43B3-948B-1728B52AA6E4}">
                <adec:decorative xmlns:adec="http://schemas.microsoft.com/office/drawing/2017/decorative" val="1"/>
              </a:ext>
            </a:extLst>
          </p:cNvPr>
          <p:cNvSpPr txBox="1"/>
          <p:nvPr/>
        </p:nvSpPr>
        <p:spPr>
          <a:xfrm>
            <a:off x="5761641" y="5878547"/>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26</a:t>
            </a:r>
          </a:p>
        </p:txBody>
      </p:sp>
      <p:sp>
        <p:nvSpPr>
          <p:cNvPr id="85" name="TextBox 84">
            <a:extLst>
              <a:ext uri="{FF2B5EF4-FFF2-40B4-BE49-F238E27FC236}">
                <a16:creationId xmlns:a16="http://schemas.microsoft.com/office/drawing/2014/main" id="{7BA5FA64-C0FC-4411-B6EC-D0B9E7B5163D}"/>
              </a:ext>
              <a:ext uri="{C183D7F6-B498-43B3-948B-1728B52AA6E4}">
                <adec:decorative xmlns:adec="http://schemas.microsoft.com/office/drawing/2017/decorative" val="1"/>
              </a:ext>
            </a:extLst>
          </p:cNvPr>
          <p:cNvSpPr txBox="1"/>
          <p:nvPr/>
        </p:nvSpPr>
        <p:spPr>
          <a:xfrm>
            <a:off x="6267315" y="5878547"/>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76</a:t>
            </a:r>
          </a:p>
        </p:txBody>
      </p:sp>
      <p:sp>
        <p:nvSpPr>
          <p:cNvPr id="86" name="TextBox 85">
            <a:extLst>
              <a:ext uri="{FF2B5EF4-FFF2-40B4-BE49-F238E27FC236}">
                <a16:creationId xmlns:a16="http://schemas.microsoft.com/office/drawing/2014/main" id="{F7ABA174-5052-4DC3-AAD1-1374247FBD69}"/>
              </a:ext>
              <a:ext uri="{C183D7F6-B498-43B3-948B-1728B52AA6E4}">
                <adec:decorative xmlns:adec="http://schemas.microsoft.com/office/drawing/2017/decorative" val="1"/>
              </a:ext>
            </a:extLst>
          </p:cNvPr>
          <p:cNvSpPr txBox="1"/>
          <p:nvPr/>
        </p:nvSpPr>
        <p:spPr>
          <a:xfrm>
            <a:off x="6726856" y="5876455"/>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32</a:t>
            </a:r>
          </a:p>
        </p:txBody>
      </p:sp>
      <p:sp>
        <p:nvSpPr>
          <p:cNvPr id="87" name="TextBox 86">
            <a:extLst>
              <a:ext uri="{FF2B5EF4-FFF2-40B4-BE49-F238E27FC236}">
                <a16:creationId xmlns:a16="http://schemas.microsoft.com/office/drawing/2014/main" id="{6380F377-FB46-4645-83AD-3A8598EEE3ED}"/>
              </a:ext>
              <a:ext uri="{C183D7F6-B498-43B3-948B-1728B52AA6E4}">
                <adec:decorative xmlns:adec="http://schemas.microsoft.com/office/drawing/2017/decorative" val="1"/>
              </a:ext>
            </a:extLst>
          </p:cNvPr>
          <p:cNvSpPr txBox="1"/>
          <p:nvPr/>
        </p:nvSpPr>
        <p:spPr>
          <a:xfrm>
            <a:off x="7190814" y="5878547"/>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74</a:t>
            </a:r>
          </a:p>
        </p:txBody>
      </p:sp>
      <p:sp>
        <p:nvSpPr>
          <p:cNvPr id="88" name="TextBox 87">
            <a:extLst>
              <a:ext uri="{FF2B5EF4-FFF2-40B4-BE49-F238E27FC236}">
                <a16:creationId xmlns:a16="http://schemas.microsoft.com/office/drawing/2014/main" id="{4E40C5A1-43F6-4E8E-B170-CFFAD7BA61E7}"/>
              </a:ext>
              <a:ext uri="{C183D7F6-B498-43B3-948B-1728B52AA6E4}">
                <adec:decorative xmlns:adec="http://schemas.microsoft.com/office/drawing/2017/decorative" val="1"/>
              </a:ext>
            </a:extLst>
          </p:cNvPr>
          <p:cNvSpPr txBox="1"/>
          <p:nvPr/>
        </p:nvSpPr>
        <p:spPr>
          <a:xfrm>
            <a:off x="7633991" y="5878547"/>
            <a:ext cx="367408" cy="307777"/>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rPr>
              <a:t>89</a:t>
            </a:r>
          </a:p>
        </p:txBody>
      </p:sp>
      <p:sp>
        <p:nvSpPr>
          <p:cNvPr id="89" name="Rectangle 88">
            <a:extLst>
              <a:ext uri="{FF2B5EF4-FFF2-40B4-BE49-F238E27FC236}">
                <a16:creationId xmlns:a16="http://schemas.microsoft.com/office/drawing/2014/main" id="{8F606750-D0E2-4A3A-9A59-144BFDDEC29D}"/>
              </a:ext>
              <a:ext uri="{C183D7F6-B498-43B3-948B-1728B52AA6E4}">
                <adec:decorative xmlns:adec="http://schemas.microsoft.com/office/drawing/2017/decorative" val="1"/>
              </a:ext>
            </a:extLst>
          </p:cNvPr>
          <p:cNvSpPr/>
          <p:nvPr/>
        </p:nvSpPr>
        <p:spPr>
          <a:xfrm>
            <a:off x="8014002" y="5836614"/>
            <a:ext cx="337795" cy="347556"/>
          </a:xfrm>
          <a:prstGeom prst="rect">
            <a:avLst/>
          </a:prstGeom>
          <a:noFill/>
          <a:ln>
            <a:solidFill>
              <a:srgbClr val="EB6E19"/>
            </a:solidFill>
          </a:ln>
        </p:spPr>
        <p:style>
          <a:lnRef idx="1">
            <a:schemeClr val="accent1"/>
          </a:lnRef>
          <a:fillRef idx="2">
            <a:schemeClr val="accent1"/>
          </a:fillRef>
          <a:effectRef idx="1">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81E2"/>
              </a:solidFill>
              <a:effectLst/>
              <a:uLnTx/>
              <a:uFillTx/>
              <a:latin typeface="Calibri" panose="020F0502020204030204"/>
              <a:ea typeface="+mn-ea"/>
              <a:cs typeface="+mn-cs"/>
            </a:endParaRPr>
          </a:p>
        </p:txBody>
      </p:sp>
      <p:sp>
        <p:nvSpPr>
          <p:cNvPr id="90" name="TextBox 89">
            <a:extLst>
              <a:ext uri="{FF2B5EF4-FFF2-40B4-BE49-F238E27FC236}">
                <a16:creationId xmlns:a16="http://schemas.microsoft.com/office/drawing/2014/main" id="{C3CD96F4-72DE-4B98-8652-F5050D1EAC92}"/>
              </a:ext>
              <a:ext uri="{C183D7F6-B498-43B3-948B-1728B52AA6E4}">
                <adec:decorative xmlns:adec="http://schemas.microsoft.com/office/drawing/2017/decorative" val="1"/>
              </a:ext>
            </a:extLst>
          </p:cNvPr>
          <p:cNvSpPr txBox="1"/>
          <p:nvPr/>
        </p:nvSpPr>
        <p:spPr>
          <a:xfrm>
            <a:off x="7997213" y="5510048"/>
            <a:ext cx="354584" cy="261610"/>
          </a:xfrm>
          <a:prstGeom prst="rect">
            <a:avLst/>
          </a:prstGeom>
          <a:noFill/>
          <a:ln w="6350">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70AD47">
                    <a:lumMod val="40000"/>
                    <a:lumOff val="60000"/>
                  </a:srgbClr>
                </a:solidFill>
                <a:effectLst/>
                <a:uLnTx/>
                <a:uFillTx/>
                <a:latin typeface="Courier New" pitchFamily="49" charset="0"/>
                <a:ea typeface="+mn-ea"/>
                <a:cs typeface="Courier New" pitchFamily="49" charset="0"/>
              </a:rPr>
              <a:t>13</a:t>
            </a:r>
          </a:p>
        </p:txBody>
      </p:sp>
      <p:sp>
        <p:nvSpPr>
          <p:cNvPr id="91" name="TextBox 90">
            <a:extLst>
              <a:ext uri="{FF2B5EF4-FFF2-40B4-BE49-F238E27FC236}">
                <a16:creationId xmlns:a16="http://schemas.microsoft.com/office/drawing/2014/main" id="{E5725829-2922-425D-922A-C990322C4BD0}"/>
              </a:ext>
              <a:ext uri="{C183D7F6-B498-43B3-948B-1728B52AA6E4}">
                <adec:decorative xmlns:adec="http://schemas.microsoft.com/office/drawing/2017/decorative" val="1"/>
              </a:ext>
            </a:extLst>
          </p:cNvPr>
          <p:cNvSpPr txBox="1"/>
          <p:nvPr/>
        </p:nvSpPr>
        <p:spPr>
          <a:xfrm>
            <a:off x="4069497" y="4907938"/>
            <a:ext cx="352512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insert </a:t>
            </a:r>
            <a:r>
              <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11</a:t>
            </a:r>
          </a:p>
        </p:txBody>
      </p:sp>
      <p:sp>
        <p:nvSpPr>
          <p:cNvPr id="93" name="Rectangle 92">
            <a:extLst>
              <a:ext uri="{FF2B5EF4-FFF2-40B4-BE49-F238E27FC236}">
                <a16:creationId xmlns:a16="http://schemas.microsoft.com/office/drawing/2014/main" id="{B07EF347-9549-4029-B51A-7A95F1077336}"/>
              </a:ext>
              <a:ext uri="{C183D7F6-B498-43B3-948B-1728B52AA6E4}">
                <adec:decorative xmlns:adec="http://schemas.microsoft.com/office/drawing/2017/decorative" val="1"/>
              </a:ext>
            </a:extLst>
          </p:cNvPr>
          <p:cNvSpPr/>
          <p:nvPr/>
        </p:nvSpPr>
        <p:spPr>
          <a:xfrm>
            <a:off x="6879566" y="2337778"/>
            <a:ext cx="4600038" cy="1663783"/>
          </a:xfrm>
          <a:prstGeom prst="rect">
            <a:avLst/>
          </a:prstGeom>
          <a:noFill/>
          <a:ln>
            <a:solidFill>
              <a:srgbClr val="0081E2"/>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Insert the new element at the end of the array and set child to </a:t>
            </a:r>
            <a:r>
              <a:rPr kumimoji="0" lang="en-US" sz="1100" b="0" i="0" u="none" strike="noStrike" kern="1200" cap="none" spc="0" normalizeH="0" baseline="0" noProof="0" dirty="0" err="1">
                <a:ln>
                  <a:noFill/>
                </a:ln>
                <a:solidFill>
                  <a:srgbClr val="EB6E19"/>
                </a:solidFill>
                <a:effectLst/>
                <a:uLnTx/>
                <a:uFillTx/>
                <a:latin typeface="Consolas" panose="020B0609020204030204" pitchFamily="49" charset="0"/>
                <a:ea typeface="+mn-ea"/>
                <a:cs typeface="+mn-cs"/>
              </a:rPr>
              <a:t>arr.size</a:t>
            </a: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 1</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Set parent to (child – 1)/ 2</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while (parent &gt;= 0 and </a:t>
            </a:r>
            <a:r>
              <a:rPr kumimoji="0" lang="en-US" sz="1100" b="0" i="0" u="none" strike="noStrike" kern="1200" cap="none" spc="0" normalizeH="0" baseline="0" noProof="0" dirty="0" err="1">
                <a:ln>
                  <a:noFill/>
                </a:ln>
                <a:solidFill>
                  <a:srgbClr val="EB6E19"/>
                </a:solidFill>
                <a:effectLst/>
                <a:uLnTx/>
                <a:uFillTx/>
                <a:latin typeface="Consolas" panose="020B0609020204030204" pitchFamily="49" charset="0"/>
                <a:ea typeface="+mn-ea"/>
                <a:cs typeface="+mn-cs"/>
              </a:rPr>
              <a:t>arr</a:t>
            </a: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[parent] &gt; </a:t>
            </a:r>
            <a:r>
              <a:rPr kumimoji="0" lang="en-US" sz="1100" b="0" i="0" u="none" strike="noStrike" kern="1200" cap="none" spc="0" normalizeH="0" baseline="0" noProof="0" dirty="0" err="1">
                <a:ln>
                  <a:noFill/>
                </a:ln>
                <a:solidFill>
                  <a:srgbClr val="EB6E19"/>
                </a:solidFill>
                <a:effectLst/>
                <a:uLnTx/>
                <a:uFillTx/>
                <a:latin typeface="Consolas" panose="020B0609020204030204" pitchFamily="49" charset="0"/>
                <a:ea typeface="+mn-ea"/>
                <a:cs typeface="+mn-cs"/>
              </a:rPr>
              <a:t>arr</a:t>
            </a: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[child])</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Swap </a:t>
            </a:r>
            <a:r>
              <a:rPr kumimoji="0" lang="en-US" sz="1100" b="0" i="0" u="none" strike="noStrike" kern="1200" cap="none" spc="0" normalizeH="0" baseline="0" noProof="0" dirty="0" err="1">
                <a:ln>
                  <a:noFill/>
                </a:ln>
                <a:solidFill>
                  <a:srgbClr val="EB6E19"/>
                </a:solidFill>
                <a:effectLst/>
                <a:uLnTx/>
                <a:uFillTx/>
                <a:latin typeface="Consolas" panose="020B0609020204030204" pitchFamily="49" charset="0"/>
                <a:ea typeface="+mn-ea"/>
                <a:cs typeface="+mn-cs"/>
              </a:rPr>
              <a:t>arr</a:t>
            </a: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[parent] and </a:t>
            </a:r>
            <a:r>
              <a:rPr kumimoji="0" lang="en-US" sz="1100" b="0" i="0" u="none" strike="noStrike" kern="1200" cap="none" spc="0" normalizeH="0" baseline="0" noProof="0" dirty="0" err="1">
                <a:ln>
                  <a:noFill/>
                </a:ln>
                <a:solidFill>
                  <a:srgbClr val="EB6E19"/>
                </a:solidFill>
                <a:effectLst/>
                <a:uLnTx/>
                <a:uFillTx/>
                <a:latin typeface="Consolas" panose="020B0609020204030204" pitchFamily="49" charset="0"/>
                <a:ea typeface="+mn-ea"/>
                <a:cs typeface="+mn-cs"/>
              </a:rPr>
              <a:t>arr</a:t>
            </a: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[child]</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Set child equal to parent</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Set parent equal to (child-1)/2</a:t>
            </a:r>
          </a:p>
        </p:txBody>
      </p:sp>
      <p:grpSp>
        <p:nvGrpSpPr>
          <p:cNvPr id="92" name="Group 91">
            <a:extLst>
              <a:ext uri="{FF2B5EF4-FFF2-40B4-BE49-F238E27FC236}">
                <a16:creationId xmlns:a16="http://schemas.microsoft.com/office/drawing/2014/main" id="{99AED3FC-CB05-4A42-93C7-BA2B6F6740B8}"/>
              </a:ext>
            </a:extLst>
          </p:cNvPr>
          <p:cNvGrpSpPr/>
          <p:nvPr/>
        </p:nvGrpSpPr>
        <p:grpSpPr>
          <a:xfrm>
            <a:off x="11337354" y="6025684"/>
            <a:ext cx="841781" cy="748032"/>
            <a:chOff x="11337354" y="6025684"/>
            <a:chExt cx="841781" cy="748032"/>
          </a:xfrm>
        </p:grpSpPr>
        <p:pic>
          <p:nvPicPr>
            <p:cNvPr id="94" name="Picture 2">
              <a:extLst>
                <a:ext uri="{FF2B5EF4-FFF2-40B4-BE49-F238E27FC236}">
                  <a16:creationId xmlns:a16="http://schemas.microsoft.com/office/drawing/2014/main" id="{EE0AF704-EC9B-46C8-AF74-AD0FB33E00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94" descr="Logo COP3530">
              <a:extLst>
                <a:ext uri="{FF2B5EF4-FFF2-40B4-BE49-F238E27FC236}">
                  <a16:creationId xmlns:a16="http://schemas.microsoft.com/office/drawing/2014/main" id="{E41DB94F-D77E-4F62-8721-DAAC6F44A19D}"/>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
        <p:nvSpPr>
          <p:cNvPr id="3" name="Slide Number Placeholder 2">
            <a:extLst>
              <a:ext uri="{FF2B5EF4-FFF2-40B4-BE49-F238E27FC236}">
                <a16:creationId xmlns:a16="http://schemas.microsoft.com/office/drawing/2014/main" id="{728E1C50-FCFC-450E-BE3F-87466E2DF7E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C28E0-2F8B-4999-AEA2-B3AA3AE899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51995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r>
              <a:rPr lang="en-US" dirty="0">
                <a:solidFill>
                  <a:schemeClr val="bg1"/>
                </a:solidFill>
                <a:latin typeface="Gotham Bold" pitchFamily="50" charset="0"/>
              </a:rPr>
              <a:t>Binary Heap Insertion</a:t>
            </a:r>
          </a:p>
        </p:txBody>
      </p:sp>
      <p:sp>
        <p:nvSpPr>
          <p:cNvPr id="4" name="Rectangle 3">
            <a:extLst>
              <a:ext uri="{FF2B5EF4-FFF2-40B4-BE49-F238E27FC236}">
                <a16:creationId xmlns:a16="http://schemas.microsoft.com/office/drawing/2014/main" id="{4C690315-1707-4AD5-8859-99D7FEE7815A}"/>
              </a:ext>
            </a:extLst>
          </p:cNvPr>
          <p:cNvSpPr/>
          <p:nvPr/>
        </p:nvSpPr>
        <p:spPr>
          <a:xfrm>
            <a:off x="1654198" y="1708562"/>
            <a:ext cx="8743941" cy="45935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Gotham Bold" pitchFamily="50" charset="0"/>
                <a:ea typeface="+mn-ea"/>
                <a:cs typeface="+mn-cs"/>
              </a:rPr>
              <a:t>Heap Insertion</a:t>
            </a:r>
          </a:p>
        </p:txBody>
      </p:sp>
      <p:sp>
        <p:nvSpPr>
          <p:cNvPr id="14" name="TextBox 13">
            <a:extLst>
              <a:ext uri="{FF2B5EF4-FFF2-40B4-BE49-F238E27FC236}">
                <a16:creationId xmlns:a16="http://schemas.microsoft.com/office/drawing/2014/main" id="{F8E2067A-50DC-4B3B-A941-515F73642C24}"/>
              </a:ext>
              <a:ext uri="{C183D7F6-B498-43B3-948B-1728B52AA6E4}">
                <adec:decorative xmlns:adec="http://schemas.microsoft.com/office/drawing/2017/decorative" val="1"/>
              </a:ext>
            </a:extLst>
          </p:cNvPr>
          <p:cNvSpPr txBox="1"/>
          <p:nvPr/>
        </p:nvSpPr>
        <p:spPr>
          <a:xfrm>
            <a:off x="4468076" y="2790228"/>
            <a:ext cx="284515" cy="307777"/>
          </a:xfrm>
          <a:prstGeom prst="rect">
            <a:avLst/>
          </a:prstGeom>
          <a:noFill/>
          <a:ln>
            <a:solidFill>
              <a:srgbClr val="00DA63"/>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a:t>
            </a:r>
          </a:p>
        </p:txBody>
      </p:sp>
      <p:sp>
        <p:nvSpPr>
          <p:cNvPr id="15" name="TextBox 14">
            <a:extLst>
              <a:ext uri="{FF2B5EF4-FFF2-40B4-BE49-F238E27FC236}">
                <a16:creationId xmlns:a16="http://schemas.microsoft.com/office/drawing/2014/main" id="{E0BA7F03-06E1-4DC9-9439-34FD6EF63EEA}"/>
              </a:ext>
              <a:ext uri="{C183D7F6-B498-43B3-948B-1728B52AA6E4}">
                <adec:decorative xmlns:adec="http://schemas.microsoft.com/office/drawing/2017/decorative" val="1"/>
              </a:ext>
            </a:extLst>
          </p:cNvPr>
          <p:cNvSpPr txBox="1"/>
          <p:nvPr/>
        </p:nvSpPr>
        <p:spPr>
          <a:xfrm>
            <a:off x="3588497" y="327933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18</a:t>
            </a:r>
          </a:p>
        </p:txBody>
      </p:sp>
      <p:sp>
        <p:nvSpPr>
          <p:cNvPr id="16" name="TextBox 15">
            <a:extLst>
              <a:ext uri="{FF2B5EF4-FFF2-40B4-BE49-F238E27FC236}">
                <a16:creationId xmlns:a16="http://schemas.microsoft.com/office/drawing/2014/main" id="{BF51B4E7-79A0-4AD4-A124-8F3CF803B8F5}"/>
              </a:ext>
              <a:ext uri="{C183D7F6-B498-43B3-948B-1728B52AA6E4}">
                <adec:decorative xmlns:adec="http://schemas.microsoft.com/office/drawing/2017/decorative" val="1"/>
              </a:ext>
            </a:extLst>
          </p:cNvPr>
          <p:cNvSpPr txBox="1"/>
          <p:nvPr/>
        </p:nvSpPr>
        <p:spPr>
          <a:xfrm>
            <a:off x="5270029" y="3275111"/>
            <a:ext cx="398197" cy="307777"/>
          </a:xfrm>
          <a:prstGeom prst="rect">
            <a:avLst/>
          </a:prstGeom>
          <a:noFill/>
          <a:ln>
            <a:solidFill>
              <a:srgbClr val="00DA63"/>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11</a:t>
            </a:r>
          </a:p>
        </p:txBody>
      </p:sp>
      <p:sp>
        <p:nvSpPr>
          <p:cNvPr id="17" name="TextBox 16">
            <a:extLst>
              <a:ext uri="{FF2B5EF4-FFF2-40B4-BE49-F238E27FC236}">
                <a16:creationId xmlns:a16="http://schemas.microsoft.com/office/drawing/2014/main" id="{EAD1ACB5-8D10-447A-8512-8CC77D028BBD}"/>
              </a:ext>
              <a:ext uri="{C183D7F6-B498-43B3-948B-1728B52AA6E4}">
                <adec:decorative xmlns:adec="http://schemas.microsoft.com/office/drawing/2017/decorative" val="1"/>
              </a:ext>
            </a:extLst>
          </p:cNvPr>
          <p:cNvSpPr txBox="1"/>
          <p:nvPr/>
        </p:nvSpPr>
        <p:spPr>
          <a:xfrm>
            <a:off x="2947151"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37</a:t>
            </a:r>
          </a:p>
        </p:txBody>
      </p:sp>
      <p:sp>
        <p:nvSpPr>
          <p:cNvPr id="18" name="TextBox 17">
            <a:extLst>
              <a:ext uri="{FF2B5EF4-FFF2-40B4-BE49-F238E27FC236}">
                <a16:creationId xmlns:a16="http://schemas.microsoft.com/office/drawing/2014/main" id="{393196BC-65D8-4C10-87E1-25F4471540B0}"/>
              </a:ext>
              <a:ext uri="{C183D7F6-B498-43B3-948B-1728B52AA6E4}">
                <adec:decorative xmlns:adec="http://schemas.microsoft.com/office/drawing/2017/decorative" val="1"/>
              </a:ext>
            </a:extLst>
          </p:cNvPr>
          <p:cNvSpPr txBox="1"/>
          <p:nvPr/>
        </p:nvSpPr>
        <p:spPr>
          <a:xfrm>
            <a:off x="334534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26</a:t>
            </a:r>
          </a:p>
        </p:txBody>
      </p:sp>
      <p:sp>
        <p:nvSpPr>
          <p:cNvPr id="19" name="TextBox 18">
            <a:extLst>
              <a:ext uri="{FF2B5EF4-FFF2-40B4-BE49-F238E27FC236}">
                <a16:creationId xmlns:a16="http://schemas.microsoft.com/office/drawing/2014/main" id="{C9564090-B42B-476E-AF5C-6D3874077308}"/>
              </a:ext>
              <a:ext uri="{C183D7F6-B498-43B3-948B-1728B52AA6E4}">
                <adec:decorative xmlns:adec="http://schemas.microsoft.com/office/drawing/2017/decorative" val="1"/>
              </a:ext>
            </a:extLst>
          </p:cNvPr>
          <p:cNvSpPr txBox="1"/>
          <p:nvPr/>
        </p:nvSpPr>
        <p:spPr>
          <a:xfrm>
            <a:off x="3835754"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76</a:t>
            </a:r>
          </a:p>
        </p:txBody>
      </p:sp>
      <p:sp>
        <p:nvSpPr>
          <p:cNvPr id="20" name="TextBox 19">
            <a:extLst>
              <a:ext uri="{FF2B5EF4-FFF2-40B4-BE49-F238E27FC236}">
                <a16:creationId xmlns:a16="http://schemas.microsoft.com/office/drawing/2014/main" id="{185757C9-C087-4FAF-884D-183400D216E8}"/>
              </a:ext>
              <a:ext uri="{C183D7F6-B498-43B3-948B-1728B52AA6E4}">
                <adec:decorative xmlns:adec="http://schemas.microsoft.com/office/drawing/2017/decorative" val="1"/>
              </a:ext>
            </a:extLst>
          </p:cNvPr>
          <p:cNvSpPr txBox="1"/>
          <p:nvPr/>
        </p:nvSpPr>
        <p:spPr>
          <a:xfrm>
            <a:off x="422573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32</a:t>
            </a:r>
          </a:p>
        </p:txBody>
      </p:sp>
      <p:sp>
        <p:nvSpPr>
          <p:cNvPr id="21" name="TextBox 20">
            <a:extLst>
              <a:ext uri="{FF2B5EF4-FFF2-40B4-BE49-F238E27FC236}">
                <a16:creationId xmlns:a16="http://schemas.microsoft.com/office/drawing/2014/main" id="{AFA10777-D795-445A-9DD0-7C98889397F6}"/>
              </a:ext>
              <a:ext uri="{C183D7F6-B498-43B3-948B-1728B52AA6E4}">
                <adec:decorative xmlns:adec="http://schemas.microsoft.com/office/drawing/2017/decorative" val="1"/>
              </a:ext>
            </a:extLst>
          </p:cNvPr>
          <p:cNvSpPr txBox="1"/>
          <p:nvPr/>
        </p:nvSpPr>
        <p:spPr>
          <a:xfrm>
            <a:off x="4716143"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74</a:t>
            </a:r>
          </a:p>
        </p:txBody>
      </p:sp>
      <p:sp>
        <p:nvSpPr>
          <p:cNvPr id="22" name="TextBox 21">
            <a:extLst>
              <a:ext uri="{FF2B5EF4-FFF2-40B4-BE49-F238E27FC236}">
                <a16:creationId xmlns:a16="http://schemas.microsoft.com/office/drawing/2014/main" id="{06E43CD1-A952-45EE-8A06-B2B9ECE524CA}"/>
              </a:ext>
              <a:ext uri="{C183D7F6-B498-43B3-948B-1728B52AA6E4}">
                <adec:decorative xmlns:adec="http://schemas.microsoft.com/office/drawing/2017/decorative" val="1"/>
              </a:ext>
            </a:extLst>
          </p:cNvPr>
          <p:cNvSpPr txBox="1"/>
          <p:nvPr/>
        </p:nvSpPr>
        <p:spPr>
          <a:xfrm>
            <a:off x="5114340"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89</a:t>
            </a:r>
          </a:p>
        </p:txBody>
      </p:sp>
      <p:sp>
        <p:nvSpPr>
          <p:cNvPr id="24" name="TextBox 23">
            <a:extLst>
              <a:ext uri="{FF2B5EF4-FFF2-40B4-BE49-F238E27FC236}">
                <a16:creationId xmlns:a16="http://schemas.microsoft.com/office/drawing/2014/main" id="{1D5ED36F-F3C0-4AB8-AD10-D772DBFE12CC}"/>
              </a:ext>
              <a:ext uri="{C183D7F6-B498-43B3-948B-1728B52AA6E4}">
                <adec:decorative xmlns:adec="http://schemas.microsoft.com/office/drawing/2017/decorative" val="1"/>
              </a:ext>
            </a:extLst>
          </p:cNvPr>
          <p:cNvSpPr txBox="1"/>
          <p:nvPr/>
        </p:nvSpPr>
        <p:spPr>
          <a:xfrm>
            <a:off x="3146249" y="3769303"/>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20</a:t>
            </a:r>
          </a:p>
        </p:txBody>
      </p:sp>
      <p:sp>
        <p:nvSpPr>
          <p:cNvPr id="25" name="TextBox 24">
            <a:extLst>
              <a:ext uri="{FF2B5EF4-FFF2-40B4-BE49-F238E27FC236}">
                <a16:creationId xmlns:a16="http://schemas.microsoft.com/office/drawing/2014/main" id="{F68978DC-8D44-459E-9984-49954373B44F}"/>
              </a:ext>
              <a:ext uri="{C183D7F6-B498-43B3-948B-1728B52AA6E4}">
                <adec:decorative xmlns:adec="http://schemas.microsoft.com/office/drawing/2017/decorative" val="1"/>
              </a:ext>
            </a:extLst>
          </p:cNvPr>
          <p:cNvSpPr txBox="1"/>
          <p:nvPr/>
        </p:nvSpPr>
        <p:spPr>
          <a:xfrm>
            <a:off x="4044070" y="3773948"/>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28</a:t>
            </a:r>
          </a:p>
        </p:txBody>
      </p:sp>
      <p:sp>
        <p:nvSpPr>
          <p:cNvPr id="26" name="TextBox 25">
            <a:extLst>
              <a:ext uri="{FF2B5EF4-FFF2-40B4-BE49-F238E27FC236}">
                <a16:creationId xmlns:a16="http://schemas.microsoft.com/office/drawing/2014/main" id="{0475A117-9D5E-44C2-85BD-04F9347631B9}"/>
              </a:ext>
              <a:ext uri="{C183D7F6-B498-43B3-948B-1728B52AA6E4}">
                <adec:decorative xmlns:adec="http://schemas.microsoft.com/office/drawing/2017/decorative" val="1"/>
              </a:ext>
            </a:extLst>
          </p:cNvPr>
          <p:cNvSpPr txBox="1"/>
          <p:nvPr/>
        </p:nvSpPr>
        <p:spPr>
          <a:xfrm>
            <a:off x="4915242" y="3764659"/>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39</a:t>
            </a:r>
          </a:p>
        </p:txBody>
      </p:sp>
      <p:sp>
        <p:nvSpPr>
          <p:cNvPr id="27" name="TextBox 26">
            <a:extLst>
              <a:ext uri="{FF2B5EF4-FFF2-40B4-BE49-F238E27FC236}">
                <a16:creationId xmlns:a16="http://schemas.microsoft.com/office/drawing/2014/main" id="{32F5FA45-C520-4141-A16D-990321183D0E}"/>
              </a:ext>
              <a:ext uri="{C183D7F6-B498-43B3-948B-1728B52AA6E4}">
                <adec:decorative xmlns:adec="http://schemas.microsoft.com/office/drawing/2017/decorative" val="1"/>
              </a:ext>
            </a:extLst>
          </p:cNvPr>
          <p:cNvSpPr txBox="1"/>
          <p:nvPr/>
        </p:nvSpPr>
        <p:spPr>
          <a:xfrm>
            <a:off x="5711635" y="3764659"/>
            <a:ext cx="383438"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29</a:t>
            </a:r>
          </a:p>
        </p:txBody>
      </p:sp>
      <p:cxnSp>
        <p:nvCxnSpPr>
          <p:cNvPr id="28" name="Straight Connector 27">
            <a:extLst>
              <a:ext uri="{FF2B5EF4-FFF2-40B4-BE49-F238E27FC236}">
                <a16:creationId xmlns:a16="http://schemas.microsoft.com/office/drawing/2014/main" id="{ED0B8080-326C-48CB-B7CE-F7634259D9D2}"/>
              </a:ext>
              <a:ext uri="{C183D7F6-B498-43B3-948B-1728B52AA6E4}">
                <adec:decorative xmlns:adec="http://schemas.microsoft.com/office/drawing/2017/decorative" val="1"/>
              </a:ext>
            </a:extLst>
          </p:cNvPr>
          <p:cNvCxnSpPr/>
          <p:nvPr/>
        </p:nvCxnSpPr>
        <p:spPr>
          <a:xfrm flipH="1">
            <a:off x="3894434" y="2984644"/>
            <a:ext cx="573642" cy="284847"/>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9812509-2640-493B-ACAE-3D8D204F2E54}"/>
              </a:ext>
              <a:ext uri="{C183D7F6-B498-43B3-948B-1728B52AA6E4}">
                <adec:decorative xmlns:adec="http://schemas.microsoft.com/office/drawing/2017/decorative" val="1"/>
              </a:ext>
            </a:extLst>
          </p:cNvPr>
          <p:cNvCxnSpPr/>
          <p:nvPr/>
        </p:nvCxnSpPr>
        <p:spPr>
          <a:xfrm>
            <a:off x="4752591" y="2957626"/>
            <a:ext cx="716537" cy="330994"/>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BB851A3-DA63-4D8D-ABE6-F992F45E7E01}"/>
              </a:ext>
              <a:ext uri="{C183D7F6-B498-43B3-948B-1728B52AA6E4}">
                <adec:decorative xmlns:adec="http://schemas.microsoft.com/office/drawing/2017/decorative" val="1"/>
              </a:ext>
            </a:extLst>
          </p:cNvPr>
          <p:cNvCxnSpPr/>
          <p:nvPr/>
        </p:nvCxnSpPr>
        <p:spPr>
          <a:xfrm flipH="1">
            <a:off x="3338432" y="3610268"/>
            <a:ext cx="250066" cy="15903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CE30687-F7B7-40D6-B457-8981B596DF52}"/>
              </a:ext>
              <a:ext uri="{C183D7F6-B498-43B3-948B-1728B52AA6E4}">
                <adec:decorative xmlns:adec="http://schemas.microsoft.com/office/drawing/2017/decorative" val="1"/>
              </a:ext>
            </a:extLst>
          </p:cNvPr>
          <p:cNvCxnSpPr/>
          <p:nvPr/>
        </p:nvCxnSpPr>
        <p:spPr>
          <a:xfrm flipH="1">
            <a:off x="5107425" y="3610268"/>
            <a:ext cx="162606" cy="16368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34279F4-3FB3-4909-A81C-5D651E004572}"/>
              </a:ext>
              <a:ext uri="{C183D7F6-B498-43B3-948B-1728B52AA6E4}">
                <adec:decorative xmlns:adec="http://schemas.microsoft.com/office/drawing/2017/decorative" val="1"/>
              </a:ext>
            </a:extLst>
          </p:cNvPr>
          <p:cNvCxnSpPr/>
          <p:nvPr/>
        </p:nvCxnSpPr>
        <p:spPr>
          <a:xfrm flipH="1" flipV="1">
            <a:off x="3986695" y="3610268"/>
            <a:ext cx="249558" cy="16368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38CF59E-7EAA-48FE-A8C4-9706DB95C94F}"/>
              </a:ext>
              <a:ext uri="{C183D7F6-B498-43B3-948B-1728B52AA6E4}">
                <adec:decorative xmlns:adec="http://schemas.microsoft.com/office/drawing/2017/decorative" val="1"/>
              </a:ext>
            </a:extLst>
          </p:cNvPr>
          <p:cNvCxnSpPr/>
          <p:nvPr/>
        </p:nvCxnSpPr>
        <p:spPr>
          <a:xfrm flipH="1" flipV="1">
            <a:off x="5653759" y="3610269"/>
            <a:ext cx="250058"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55D3365-15F9-4289-9D44-E659CF0988E7}"/>
              </a:ext>
              <a:ext uri="{C183D7F6-B498-43B3-948B-1728B52AA6E4}">
                <adec:decorative xmlns:adec="http://schemas.microsoft.com/office/drawing/2017/decorative" val="1"/>
              </a:ext>
            </a:extLst>
          </p:cNvPr>
          <p:cNvCxnSpPr>
            <a:stCxn id="57" idx="0"/>
          </p:cNvCxnSpPr>
          <p:nvPr/>
        </p:nvCxnSpPr>
        <p:spPr>
          <a:xfrm flipV="1">
            <a:off x="3139334" y="4099817"/>
            <a:ext cx="122725"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8E6B03F-EDE4-4FEF-BC74-85BF6BF8DAA7}"/>
              </a:ext>
              <a:ext uri="{C183D7F6-B498-43B3-948B-1728B52AA6E4}">
                <adec:decorative xmlns:adec="http://schemas.microsoft.com/office/drawing/2017/decorative" val="1"/>
              </a:ext>
            </a:extLst>
          </p:cNvPr>
          <p:cNvCxnSpPr>
            <a:stCxn id="58" idx="0"/>
          </p:cNvCxnSpPr>
          <p:nvPr/>
        </p:nvCxnSpPr>
        <p:spPr>
          <a:xfrm flipH="1" flipV="1">
            <a:off x="3466924" y="4099817"/>
            <a:ext cx="706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7AB8B7A-3AA0-4714-BC2A-65786305177D}"/>
              </a:ext>
              <a:ext uri="{C183D7F6-B498-43B3-948B-1728B52AA6E4}">
                <adec:decorative xmlns:adec="http://schemas.microsoft.com/office/drawing/2017/decorative" val="1"/>
              </a:ext>
            </a:extLst>
          </p:cNvPr>
          <p:cNvCxnSpPr>
            <a:stCxn id="59" idx="0"/>
          </p:cNvCxnSpPr>
          <p:nvPr/>
        </p:nvCxnSpPr>
        <p:spPr>
          <a:xfrm flipV="1">
            <a:off x="4027937" y="4109105"/>
            <a:ext cx="80331"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39D941E-7960-4022-8175-FBFCAEC72FEF}"/>
              </a:ext>
              <a:ext uri="{C183D7F6-B498-43B3-948B-1728B52AA6E4}">
                <adec:decorative xmlns:adec="http://schemas.microsoft.com/office/drawing/2017/decorative" val="1"/>
              </a:ext>
            </a:extLst>
          </p:cNvPr>
          <p:cNvCxnSpPr/>
          <p:nvPr/>
        </p:nvCxnSpPr>
        <p:spPr>
          <a:xfrm flipH="1" flipV="1">
            <a:off x="4327340" y="4099817"/>
            <a:ext cx="90580"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AC64B88-7C6F-4B42-B41F-16B1318DEE19}"/>
              </a:ext>
              <a:ext uri="{C183D7F6-B498-43B3-948B-1728B52AA6E4}">
                <adec:decorative xmlns:adec="http://schemas.microsoft.com/office/drawing/2017/decorative" val="1"/>
              </a:ext>
            </a:extLst>
          </p:cNvPr>
          <p:cNvCxnSpPr/>
          <p:nvPr/>
        </p:nvCxnSpPr>
        <p:spPr>
          <a:xfrm flipV="1">
            <a:off x="4908326" y="4099817"/>
            <a:ext cx="908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0BFA9DB-A978-449F-9F63-9DDBA4B0621E}"/>
              </a:ext>
              <a:ext uri="{C183D7F6-B498-43B3-948B-1728B52AA6E4}">
                <adec:decorative xmlns:adec="http://schemas.microsoft.com/office/drawing/2017/decorative" val="1"/>
              </a:ext>
            </a:extLst>
          </p:cNvPr>
          <p:cNvCxnSpPr/>
          <p:nvPr/>
        </p:nvCxnSpPr>
        <p:spPr>
          <a:xfrm flipH="1" flipV="1">
            <a:off x="5255561" y="4109105"/>
            <a:ext cx="50962"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84207F50-D829-441E-A1B4-0A91BEEDEF4D}"/>
              </a:ext>
              <a:ext uri="{C183D7F6-B498-43B3-948B-1728B52AA6E4}">
                <adec:decorative xmlns:adec="http://schemas.microsoft.com/office/drawing/2017/decorative" val="1"/>
              </a:ext>
            </a:extLst>
          </p:cNvPr>
          <p:cNvSpPr txBox="1"/>
          <p:nvPr/>
        </p:nvSpPr>
        <p:spPr>
          <a:xfrm>
            <a:off x="3146249" y="3769303"/>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20</a:t>
            </a:r>
          </a:p>
        </p:txBody>
      </p:sp>
      <p:sp>
        <p:nvSpPr>
          <p:cNvPr id="42" name="TextBox 41">
            <a:extLst>
              <a:ext uri="{FF2B5EF4-FFF2-40B4-BE49-F238E27FC236}">
                <a16:creationId xmlns:a16="http://schemas.microsoft.com/office/drawing/2014/main" id="{871088E9-1A57-451B-A4D9-D0493D3FC3CA}"/>
              </a:ext>
              <a:ext uri="{C183D7F6-B498-43B3-948B-1728B52AA6E4}">
                <adec:decorative xmlns:adec="http://schemas.microsoft.com/office/drawing/2017/decorative" val="1"/>
              </a:ext>
            </a:extLst>
          </p:cNvPr>
          <p:cNvSpPr txBox="1"/>
          <p:nvPr/>
        </p:nvSpPr>
        <p:spPr>
          <a:xfrm>
            <a:off x="4044070" y="3773948"/>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28</a:t>
            </a:r>
          </a:p>
        </p:txBody>
      </p:sp>
      <p:sp>
        <p:nvSpPr>
          <p:cNvPr id="46" name="TextBox 45">
            <a:extLst>
              <a:ext uri="{FF2B5EF4-FFF2-40B4-BE49-F238E27FC236}">
                <a16:creationId xmlns:a16="http://schemas.microsoft.com/office/drawing/2014/main" id="{39C61B35-F0FA-439E-904F-1E4CD8F96B23}"/>
              </a:ext>
              <a:ext uri="{C183D7F6-B498-43B3-948B-1728B52AA6E4}">
                <adec:decorative xmlns:adec="http://schemas.microsoft.com/office/drawing/2017/decorative" val="1"/>
              </a:ext>
            </a:extLst>
          </p:cNvPr>
          <p:cNvSpPr txBox="1"/>
          <p:nvPr/>
        </p:nvSpPr>
        <p:spPr>
          <a:xfrm>
            <a:off x="2947151"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37</a:t>
            </a:r>
          </a:p>
        </p:txBody>
      </p:sp>
      <p:sp>
        <p:nvSpPr>
          <p:cNvPr id="47" name="TextBox 46">
            <a:extLst>
              <a:ext uri="{FF2B5EF4-FFF2-40B4-BE49-F238E27FC236}">
                <a16:creationId xmlns:a16="http://schemas.microsoft.com/office/drawing/2014/main" id="{F64F9888-0E5D-44FD-8CCA-230171B60EF2}"/>
              </a:ext>
              <a:ext uri="{C183D7F6-B498-43B3-948B-1728B52AA6E4}">
                <adec:decorative xmlns:adec="http://schemas.microsoft.com/office/drawing/2017/decorative" val="1"/>
              </a:ext>
            </a:extLst>
          </p:cNvPr>
          <p:cNvSpPr txBox="1"/>
          <p:nvPr/>
        </p:nvSpPr>
        <p:spPr>
          <a:xfrm>
            <a:off x="334534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26</a:t>
            </a:r>
          </a:p>
        </p:txBody>
      </p:sp>
      <p:sp>
        <p:nvSpPr>
          <p:cNvPr id="56" name="TextBox 55">
            <a:extLst>
              <a:ext uri="{FF2B5EF4-FFF2-40B4-BE49-F238E27FC236}">
                <a16:creationId xmlns:a16="http://schemas.microsoft.com/office/drawing/2014/main" id="{6087B08E-F810-48F6-98FD-8FC6E1FC27EF}"/>
              </a:ext>
              <a:ext uri="{C183D7F6-B498-43B3-948B-1728B52AA6E4}">
                <adec:decorative xmlns:adec="http://schemas.microsoft.com/office/drawing/2017/decorative" val="1"/>
              </a:ext>
            </a:extLst>
          </p:cNvPr>
          <p:cNvSpPr txBox="1"/>
          <p:nvPr/>
        </p:nvSpPr>
        <p:spPr>
          <a:xfrm>
            <a:off x="3835754"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76</a:t>
            </a:r>
          </a:p>
        </p:txBody>
      </p:sp>
      <p:sp>
        <p:nvSpPr>
          <p:cNvPr id="57" name="TextBox 56">
            <a:extLst>
              <a:ext uri="{FF2B5EF4-FFF2-40B4-BE49-F238E27FC236}">
                <a16:creationId xmlns:a16="http://schemas.microsoft.com/office/drawing/2014/main" id="{8C8CD950-8C99-4070-8111-1C1171DBC0D2}"/>
              </a:ext>
              <a:ext uri="{C183D7F6-B498-43B3-948B-1728B52AA6E4}">
                <adec:decorative xmlns:adec="http://schemas.microsoft.com/office/drawing/2017/decorative" val="1"/>
              </a:ext>
            </a:extLst>
          </p:cNvPr>
          <p:cNvSpPr txBox="1"/>
          <p:nvPr/>
        </p:nvSpPr>
        <p:spPr>
          <a:xfrm>
            <a:off x="422573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32</a:t>
            </a:r>
          </a:p>
        </p:txBody>
      </p:sp>
      <p:sp>
        <p:nvSpPr>
          <p:cNvPr id="58" name="TextBox 57">
            <a:extLst>
              <a:ext uri="{FF2B5EF4-FFF2-40B4-BE49-F238E27FC236}">
                <a16:creationId xmlns:a16="http://schemas.microsoft.com/office/drawing/2014/main" id="{46695E7F-1157-4296-9575-75ABE9F7757C}"/>
              </a:ext>
              <a:ext uri="{C183D7F6-B498-43B3-948B-1728B52AA6E4}">
                <adec:decorative xmlns:adec="http://schemas.microsoft.com/office/drawing/2017/decorative" val="1"/>
              </a:ext>
            </a:extLst>
          </p:cNvPr>
          <p:cNvSpPr txBox="1"/>
          <p:nvPr/>
        </p:nvSpPr>
        <p:spPr>
          <a:xfrm>
            <a:off x="4716143"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74</a:t>
            </a:r>
          </a:p>
        </p:txBody>
      </p:sp>
      <p:sp>
        <p:nvSpPr>
          <p:cNvPr id="59" name="TextBox 58">
            <a:extLst>
              <a:ext uri="{FF2B5EF4-FFF2-40B4-BE49-F238E27FC236}">
                <a16:creationId xmlns:a16="http://schemas.microsoft.com/office/drawing/2014/main" id="{7B1EFF9C-027F-44CB-9278-28DE7C644F43}"/>
              </a:ext>
              <a:ext uri="{C183D7F6-B498-43B3-948B-1728B52AA6E4}">
                <adec:decorative xmlns:adec="http://schemas.microsoft.com/office/drawing/2017/decorative" val="1"/>
              </a:ext>
            </a:extLst>
          </p:cNvPr>
          <p:cNvSpPr txBox="1"/>
          <p:nvPr/>
        </p:nvSpPr>
        <p:spPr>
          <a:xfrm>
            <a:off x="5114340"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89</a:t>
            </a:r>
          </a:p>
        </p:txBody>
      </p:sp>
      <p:sp>
        <p:nvSpPr>
          <p:cNvPr id="91" name="TextBox 90">
            <a:extLst>
              <a:ext uri="{FF2B5EF4-FFF2-40B4-BE49-F238E27FC236}">
                <a16:creationId xmlns:a16="http://schemas.microsoft.com/office/drawing/2014/main" id="{E5725829-2922-425D-922A-C990322C4BD0}"/>
              </a:ext>
              <a:ext uri="{C183D7F6-B498-43B3-948B-1728B52AA6E4}">
                <adec:decorative xmlns:adec="http://schemas.microsoft.com/office/drawing/2017/decorative" val="1"/>
              </a:ext>
            </a:extLst>
          </p:cNvPr>
          <p:cNvSpPr txBox="1"/>
          <p:nvPr/>
        </p:nvSpPr>
        <p:spPr>
          <a:xfrm>
            <a:off x="4372630" y="5362662"/>
            <a:ext cx="352512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O(log n) time to insert!</a:t>
            </a:r>
            <a:endPar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endParaRPr>
          </a:p>
        </p:txBody>
      </p:sp>
      <p:sp>
        <p:nvSpPr>
          <p:cNvPr id="93" name="Rectangle 92">
            <a:extLst>
              <a:ext uri="{FF2B5EF4-FFF2-40B4-BE49-F238E27FC236}">
                <a16:creationId xmlns:a16="http://schemas.microsoft.com/office/drawing/2014/main" id="{B07EF347-9549-4029-B51A-7A95F1077336}"/>
              </a:ext>
              <a:ext uri="{C183D7F6-B498-43B3-948B-1728B52AA6E4}">
                <adec:decorative xmlns:adec="http://schemas.microsoft.com/office/drawing/2017/decorative" val="1"/>
              </a:ext>
            </a:extLst>
          </p:cNvPr>
          <p:cNvSpPr/>
          <p:nvPr/>
        </p:nvSpPr>
        <p:spPr>
          <a:xfrm>
            <a:off x="6879566" y="2337778"/>
            <a:ext cx="4600038" cy="1663783"/>
          </a:xfrm>
          <a:prstGeom prst="rect">
            <a:avLst/>
          </a:prstGeom>
          <a:noFill/>
          <a:ln>
            <a:solidFill>
              <a:srgbClr val="0081E2"/>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Insert the new element at the end of the array and set child to </a:t>
            </a:r>
            <a:r>
              <a:rPr kumimoji="0" lang="en-US" sz="1100" b="0" i="0" u="none" strike="noStrike" kern="1200" cap="none" spc="0" normalizeH="0" baseline="0" noProof="0" dirty="0" err="1">
                <a:ln>
                  <a:noFill/>
                </a:ln>
                <a:solidFill>
                  <a:srgbClr val="EB6E19"/>
                </a:solidFill>
                <a:effectLst/>
                <a:uLnTx/>
                <a:uFillTx/>
                <a:latin typeface="Consolas" panose="020B0609020204030204" pitchFamily="49" charset="0"/>
                <a:ea typeface="+mn-ea"/>
                <a:cs typeface="+mn-cs"/>
              </a:rPr>
              <a:t>arr.size</a:t>
            </a: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 1</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Set parent to (child – 1)/ 2</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100" b="0" i="0" u="none" strike="noStrike" kern="1200" cap="none" spc="0" normalizeH="0" baseline="0" noProof="0" dirty="0">
                <a:ln>
                  <a:noFill/>
                </a:ln>
                <a:solidFill>
                  <a:srgbClr val="E60000"/>
                </a:solidFill>
                <a:effectLst/>
                <a:uLnTx/>
                <a:uFillTx/>
                <a:latin typeface="Consolas" panose="020B0609020204030204" pitchFamily="49" charset="0"/>
                <a:ea typeface="+mn-ea"/>
                <a:cs typeface="+mn-cs"/>
              </a:rPr>
              <a:t>while (parent &gt;= 0 and </a:t>
            </a:r>
            <a:r>
              <a:rPr kumimoji="0" lang="en-US" sz="1100" b="0" i="0" u="none" strike="noStrike" kern="1200" cap="none" spc="0" normalizeH="0" baseline="0" noProof="0" dirty="0" err="1">
                <a:ln>
                  <a:noFill/>
                </a:ln>
                <a:solidFill>
                  <a:srgbClr val="E60000"/>
                </a:solidFill>
                <a:effectLst/>
                <a:uLnTx/>
                <a:uFillTx/>
                <a:latin typeface="Consolas" panose="020B0609020204030204" pitchFamily="49" charset="0"/>
                <a:ea typeface="+mn-ea"/>
                <a:cs typeface="+mn-cs"/>
              </a:rPr>
              <a:t>arr</a:t>
            </a:r>
            <a:r>
              <a:rPr kumimoji="0" lang="en-US" sz="1100" b="0" i="0" u="none" strike="noStrike" kern="1200" cap="none" spc="0" normalizeH="0" baseline="0" noProof="0" dirty="0">
                <a:ln>
                  <a:noFill/>
                </a:ln>
                <a:solidFill>
                  <a:srgbClr val="E60000"/>
                </a:solidFill>
                <a:effectLst/>
                <a:uLnTx/>
                <a:uFillTx/>
                <a:latin typeface="Consolas" panose="020B0609020204030204" pitchFamily="49" charset="0"/>
                <a:ea typeface="+mn-ea"/>
                <a:cs typeface="+mn-cs"/>
              </a:rPr>
              <a:t>[parent] &gt; </a:t>
            </a:r>
            <a:r>
              <a:rPr kumimoji="0" lang="en-US" sz="1100" b="0" i="0" u="none" strike="noStrike" kern="1200" cap="none" spc="0" normalizeH="0" baseline="0" noProof="0" dirty="0" err="1">
                <a:ln>
                  <a:noFill/>
                </a:ln>
                <a:solidFill>
                  <a:srgbClr val="E60000"/>
                </a:solidFill>
                <a:effectLst/>
                <a:uLnTx/>
                <a:uFillTx/>
                <a:latin typeface="Consolas" panose="020B0609020204030204" pitchFamily="49" charset="0"/>
                <a:ea typeface="+mn-ea"/>
                <a:cs typeface="+mn-cs"/>
              </a:rPr>
              <a:t>arr</a:t>
            </a:r>
            <a:r>
              <a:rPr kumimoji="0" lang="en-US" sz="1100" b="0" i="0" u="none" strike="noStrike" kern="1200" cap="none" spc="0" normalizeH="0" baseline="0" noProof="0" dirty="0">
                <a:ln>
                  <a:noFill/>
                </a:ln>
                <a:solidFill>
                  <a:srgbClr val="E60000"/>
                </a:solidFill>
                <a:effectLst/>
                <a:uLnTx/>
                <a:uFillTx/>
                <a:latin typeface="Consolas" panose="020B0609020204030204" pitchFamily="49" charset="0"/>
                <a:ea typeface="+mn-ea"/>
                <a:cs typeface="+mn-cs"/>
              </a:rPr>
              <a:t>[child])</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Swap </a:t>
            </a:r>
            <a:r>
              <a:rPr kumimoji="0" lang="en-US" sz="1100" b="0" i="0" u="none" strike="noStrike" kern="1200" cap="none" spc="0" normalizeH="0" baseline="0" noProof="0" dirty="0" err="1">
                <a:ln>
                  <a:noFill/>
                </a:ln>
                <a:solidFill>
                  <a:srgbClr val="EB6E19"/>
                </a:solidFill>
                <a:effectLst/>
                <a:uLnTx/>
                <a:uFillTx/>
                <a:latin typeface="Consolas" panose="020B0609020204030204" pitchFamily="49" charset="0"/>
                <a:ea typeface="+mn-ea"/>
                <a:cs typeface="+mn-cs"/>
              </a:rPr>
              <a:t>arr</a:t>
            </a: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[parent] and </a:t>
            </a:r>
            <a:r>
              <a:rPr kumimoji="0" lang="en-US" sz="1100" b="0" i="0" u="none" strike="noStrike" kern="1200" cap="none" spc="0" normalizeH="0" baseline="0" noProof="0" dirty="0" err="1">
                <a:ln>
                  <a:noFill/>
                </a:ln>
                <a:solidFill>
                  <a:srgbClr val="EB6E19"/>
                </a:solidFill>
                <a:effectLst/>
                <a:uLnTx/>
                <a:uFillTx/>
                <a:latin typeface="Consolas" panose="020B0609020204030204" pitchFamily="49" charset="0"/>
                <a:ea typeface="+mn-ea"/>
                <a:cs typeface="+mn-cs"/>
              </a:rPr>
              <a:t>arr</a:t>
            </a: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[child]</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Set child equal to parent</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Set parent equal to (child-1)/2</a:t>
            </a:r>
          </a:p>
        </p:txBody>
      </p:sp>
      <p:cxnSp>
        <p:nvCxnSpPr>
          <p:cNvPr id="92" name="Straight Connector 91">
            <a:extLst>
              <a:ext uri="{FF2B5EF4-FFF2-40B4-BE49-F238E27FC236}">
                <a16:creationId xmlns:a16="http://schemas.microsoft.com/office/drawing/2014/main" id="{EBEA3ACF-2172-4675-AC74-9451CCF67AD0}"/>
              </a:ext>
              <a:ext uri="{C183D7F6-B498-43B3-948B-1728B52AA6E4}">
                <adec:decorative xmlns:adec="http://schemas.microsoft.com/office/drawing/2017/decorative" val="1"/>
              </a:ext>
            </a:extLst>
          </p:cNvPr>
          <p:cNvCxnSpPr/>
          <p:nvPr/>
        </p:nvCxnSpPr>
        <p:spPr>
          <a:xfrm flipV="1">
            <a:off x="5783097" y="4081725"/>
            <a:ext cx="908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CBC93E32-E9EB-4322-877A-2B3A674BE372}"/>
              </a:ext>
              <a:ext uri="{C183D7F6-B498-43B3-948B-1728B52AA6E4}">
                <adec:decorative xmlns:adec="http://schemas.microsoft.com/office/drawing/2017/decorative" val="1"/>
              </a:ext>
            </a:extLst>
          </p:cNvPr>
          <p:cNvSpPr txBox="1"/>
          <p:nvPr/>
        </p:nvSpPr>
        <p:spPr>
          <a:xfrm>
            <a:off x="5590914" y="4245403"/>
            <a:ext cx="383438"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66</a:t>
            </a:r>
          </a:p>
        </p:txBody>
      </p:sp>
      <p:sp>
        <p:nvSpPr>
          <p:cNvPr id="95" name="Rectangle 94">
            <a:extLst>
              <a:ext uri="{FF2B5EF4-FFF2-40B4-BE49-F238E27FC236}">
                <a16:creationId xmlns:a16="http://schemas.microsoft.com/office/drawing/2014/main" id="{497E49D8-1C06-495B-87C2-E939F9BFCECF}"/>
              </a:ext>
              <a:ext uri="{C183D7F6-B498-43B3-948B-1728B52AA6E4}">
                <adec:decorative xmlns:adec="http://schemas.microsoft.com/office/drawing/2017/decorative" val="1"/>
              </a:ext>
            </a:extLst>
          </p:cNvPr>
          <p:cNvSpPr/>
          <p:nvPr/>
        </p:nvSpPr>
        <p:spPr>
          <a:xfrm>
            <a:off x="8496919" y="4200814"/>
            <a:ext cx="1901220" cy="564279"/>
          </a:xfrm>
          <a:prstGeom prst="rect">
            <a:avLst/>
          </a:prstGeom>
          <a:noFill/>
          <a:ln>
            <a:solidFill>
              <a:srgbClr val="0081E2"/>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child = 13 | </a:t>
            </a:r>
            <a:r>
              <a:rPr kumimoji="0" lang="en-US" sz="11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 </a:t>
            </a: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a:t>
            </a:r>
            <a:r>
              <a:rPr kumimoji="0" lang="en-US" sz="11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parent = 6 | </a:t>
            </a:r>
            <a:r>
              <a:rPr kumimoji="0" lang="en-US" sz="11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 </a:t>
            </a:r>
            <a:r>
              <a:rPr kumimoji="0" lang="en-US" sz="11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rPr>
              <a:t>| </a:t>
            </a:r>
            <a:r>
              <a:rPr kumimoji="0" lang="en-US" sz="11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0</a:t>
            </a:r>
          </a:p>
        </p:txBody>
      </p:sp>
      <p:grpSp>
        <p:nvGrpSpPr>
          <p:cNvPr id="43" name="Group 42">
            <a:extLst>
              <a:ext uri="{FF2B5EF4-FFF2-40B4-BE49-F238E27FC236}">
                <a16:creationId xmlns:a16="http://schemas.microsoft.com/office/drawing/2014/main" id="{13173CBF-17D7-4B40-854A-6E26B8A7B068}"/>
              </a:ext>
            </a:extLst>
          </p:cNvPr>
          <p:cNvGrpSpPr/>
          <p:nvPr/>
        </p:nvGrpSpPr>
        <p:grpSpPr>
          <a:xfrm>
            <a:off x="11337354" y="6025684"/>
            <a:ext cx="841781" cy="748032"/>
            <a:chOff x="11337354" y="6025684"/>
            <a:chExt cx="841781" cy="748032"/>
          </a:xfrm>
        </p:grpSpPr>
        <p:pic>
          <p:nvPicPr>
            <p:cNvPr id="44" name="Picture 2">
              <a:extLst>
                <a:ext uri="{FF2B5EF4-FFF2-40B4-BE49-F238E27FC236}">
                  <a16:creationId xmlns:a16="http://schemas.microsoft.com/office/drawing/2014/main" id="{EF341226-58EF-4060-AA75-BB0FEB23EE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descr="Logo COP3530">
              <a:extLst>
                <a:ext uri="{FF2B5EF4-FFF2-40B4-BE49-F238E27FC236}">
                  <a16:creationId xmlns:a16="http://schemas.microsoft.com/office/drawing/2014/main" id="{4A45C6B7-B42B-4901-B6D0-04D0838882AC}"/>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
        <p:nvSpPr>
          <p:cNvPr id="3" name="Slide Number Placeholder 2">
            <a:extLst>
              <a:ext uri="{FF2B5EF4-FFF2-40B4-BE49-F238E27FC236}">
                <a16:creationId xmlns:a16="http://schemas.microsoft.com/office/drawing/2014/main" id="{6490B18B-C663-4486-B44F-8574DCC976C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C28E0-2F8B-4999-AEA2-B3AA3AE899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08046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r>
              <a:rPr lang="en-US" dirty="0">
                <a:solidFill>
                  <a:schemeClr val="bg1"/>
                </a:solidFill>
                <a:latin typeface="Gotham Bold" pitchFamily="50" charset="0"/>
              </a:rPr>
              <a:t>Binary </a:t>
            </a:r>
            <a:r>
              <a:rPr lang="en-US" dirty="0" err="1">
                <a:solidFill>
                  <a:schemeClr val="bg1"/>
                </a:solidFill>
                <a:latin typeface="Gotham Bold" pitchFamily="50" charset="0"/>
              </a:rPr>
              <a:t>MinHeap</a:t>
            </a:r>
            <a:r>
              <a:rPr lang="en-US" dirty="0">
                <a:solidFill>
                  <a:schemeClr val="bg1"/>
                </a:solidFill>
                <a:latin typeface="Gotham Bold" pitchFamily="50" charset="0"/>
              </a:rPr>
              <a:t> Deletion</a:t>
            </a:r>
          </a:p>
        </p:txBody>
      </p:sp>
      <p:sp>
        <p:nvSpPr>
          <p:cNvPr id="4" name="Rectangle 3">
            <a:extLst>
              <a:ext uri="{FF2B5EF4-FFF2-40B4-BE49-F238E27FC236}">
                <a16:creationId xmlns:a16="http://schemas.microsoft.com/office/drawing/2014/main" id="{4C690315-1707-4AD5-8859-99D7FEE7815A}"/>
              </a:ext>
            </a:extLst>
          </p:cNvPr>
          <p:cNvSpPr/>
          <p:nvPr/>
        </p:nvSpPr>
        <p:spPr>
          <a:xfrm>
            <a:off x="1654198" y="1708562"/>
            <a:ext cx="8743941" cy="45935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Gotham Bold" pitchFamily="50" charset="0"/>
                <a:ea typeface="+mn-ea"/>
                <a:cs typeface="+mn-cs"/>
              </a:rPr>
              <a:t>Heap Deletion (ExtractMin)</a:t>
            </a:r>
          </a:p>
        </p:txBody>
      </p:sp>
      <p:sp>
        <p:nvSpPr>
          <p:cNvPr id="14" name="TextBox 13">
            <a:extLst>
              <a:ext uri="{FF2B5EF4-FFF2-40B4-BE49-F238E27FC236}">
                <a16:creationId xmlns:a16="http://schemas.microsoft.com/office/drawing/2014/main" id="{F8E2067A-50DC-4B3B-A941-515F73642C24}"/>
              </a:ext>
              <a:ext uri="{C183D7F6-B498-43B3-948B-1728B52AA6E4}">
                <adec:decorative xmlns:adec="http://schemas.microsoft.com/office/drawing/2017/decorative" val="1"/>
              </a:ext>
            </a:extLst>
          </p:cNvPr>
          <p:cNvSpPr txBox="1"/>
          <p:nvPr/>
        </p:nvSpPr>
        <p:spPr>
          <a:xfrm>
            <a:off x="4468076" y="2790228"/>
            <a:ext cx="284515" cy="307777"/>
          </a:xfrm>
          <a:prstGeom prst="rect">
            <a:avLst/>
          </a:prstGeom>
          <a:noFill/>
          <a:ln>
            <a:solidFill>
              <a:srgbClr val="00DA63"/>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a:t>
            </a:r>
          </a:p>
        </p:txBody>
      </p:sp>
      <p:sp>
        <p:nvSpPr>
          <p:cNvPr id="15" name="TextBox 14">
            <a:extLst>
              <a:ext uri="{FF2B5EF4-FFF2-40B4-BE49-F238E27FC236}">
                <a16:creationId xmlns:a16="http://schemas.microsoft.com/office/drawing/2014/main" id="{E0BA7F03-06E1-4DC9-9439-34FD6EF63EEA}"/>
              </a:ext>
              <a:ext uri="{C183D7F6-B498-43B3-948B-1728B52AA6E4}">
                <adec:decorative xmlns:adec="http://schemas.microsoft.com/office/drawing/2017/decorative" val="1"/>
              </a:ext>
            </a:extLst>
          </p:cNvPr>
          <p:cNvSpPr txBox="1"/>
          <p:nvPr/>
        </p:nvSpPr>
        <p:spPr>
          <a:xfrm>
            <a:off x="3588497" y="327933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18</a:t>
            </a:r>
          </a:p>
        </p:txBody>
      </p:sp>
      <p:sp>
        <p:nvSpPr>
          <p:cNvPr id="16" name="TextBox 15">
            <a:extLst>
              <a:ext uri="{FF2B5EF4-FFF2-40B4-BE49-F238E27FC236}">
                <a16:creationId xmlns:a16="http://schemas.microsoft.com/office/drawing/2014/main" id="{BF51B4E7-79A0-4AD4-A124-8F3CF803B8F5}"/>
              </a:ext>
              <a:ext uri="{C183D7F6-B498-43B3-948B-1728B52AA6E4}">
                <adec:decorative xmlns:adec="http://schemas.microsoft.com/office/drawing/2017/decorative" val="1"/>
              </a:ext>
            </a:extLst>
          </p:cNvPr>
          <p:cNvSpPr txBox="1"/>
          <p:nvPr/>
        </p:nvSpPr>
        <p:spPr>
          <a:xfrm>
            <a:off x="5270029" y="3275111"/>
            <a:ext cx="398197" cy="307777"/>
          </a:xfrm>
          <a:prstGeom prst="rect">
            <a:avLst/>
          </a:prstGeom>
          <a:noFill/>
          <a:ln>
            <a:solidFill>
              <a:srgbClr val="EB6E19"/>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11</a:t>
            </a:r>
          </a:p>
        </p:txBody>
      </p:sp>
      <p:sp>
        <p:nvSpPr>
          <p:cNvPr id="17" name="TextBox 16">
            <a:extLst>
              <a:ext uri="{FF2B5EF4-FFF2-40B4-BE49-F238E27FC236}">
                <a16:creationId xmlns:a16="http://schemas.microsoft.com/office/drawing/2014/main" id="{EAD1ACB5-8D10-447A-8512-8CC77D028BBD}"/>
              </a:ext>
              <a:ext uri="{C183D7F6-B498-43B3-948B-1728B52AA6E4}">
                <adec:decorative xmlns:adec="http://schemas.microsoft.com/office/drawing/2017/decorative" val="1"/>
              </a:ext>
            </a:extLst>
          </p:cNvPr>
          <p:cNvSpPr txBox="1"/>
          <p:nvPr/>
        </p:nvSpPr>
        <p:spPr>
          <a:xfrm>
            <a:off x="2947151"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37</a:t>
            </a:r>
          </a:p>
        </p:txBody>
      </p:sp>
      <p:sp>
        <p:nvSpPr>
          <p:cNvPr id="18" name="TextBox 17">
            <a:extLst>
              <a:ext uri="{FF2B5EF4-FFF2-40B4-BE49-F238E27FC236}">
                <a16:creationId xmlns:a16="http://schemas.microsoft.com/office/drawing/2014/main" id="{393196BC-65D8-4C10-87E1-25F4471540B0}"/>
              </a:ext>
              <a:ext uri="{C183D7F6-B498-43B3-948B-1728B52AA6E4}">
                <adec:decorative xmlns:adec="http://schemas.microsoft.com/office/drawing/2017/decorative" val="1"/>
              </a:ext>
            </a:extLst>
          </p:cNvPr>
          <p:cNvSpPr txBox="1"/>
          <p:nvPr/>
        </p:nvSpPr>
        <p:spPr>
          <a:xfrm>
            <a:off x="334534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26</a:t>
            </a:r>
          </a:p>
        </p:txBody>
      </p:sp>
      <p:sp>
        <p:nvSpPr>
          <p:cNvPr id="19" name="TextBox 18">
            <a:extLst>
              <a:ext uri="{FF2B5EF4-FFF2-40B4-BE49-F238E27FC236}">
                <a16:creationId xmlns:a16="http://schemas.microsoft.com/office/drawing/2014/main" id="{C9564090-B42B-476E-AF5C-6D3874077308}"/>
              </a:ext>
              <a:ext uri="{C183D7F6-B498-43B3-948B-1728B52AA6E4}">
                <adec:decorative xmlns:adec="http://schemas.microsoft.com/office/drawing/2017/decorative" val="1"/>
              </a:ext>
            </a:extLst>
          </p:cNvPr>
          <p:cNvSpPr txBox="1"/>
          <p:nvPr/>
        </p:nvSpPr>
        <p:spPr>
          <a:xfrm>
            <a:off x="3835754"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76</a:t>
            </a:r>
          </a:p>
        </p:txBody>
      </p:sp>
      <p:sp>
        <p:nvSpPr>
          <p:cNvPr id="20" name="TextBox 19">
            <a:extLst>
              <a:ext uri="{FF2B5EF4-FFF2-40B4-BE49-F238E27FC236}">
                <a16:creationId xmlns:a16="http://schemas.microsoft.com/office/drawing/2014/main" id="{185757C9-C087-4FAF-884D-183400D216E8}"/>
              </a:ext>
              <a:ext uri="{C183D7F6-B498-43B3-948B-1728B52AA6E4}">
                <adec:decorative xmlns:adec="http://schemas.microsoft.com/office/drawing/2017/decorative" val="1"/>
              </a:ext>
            </a:extLst>
          </p:cNvPr>
          <p:cNvSpPr txBox="1"/>
          <p:nvPr/>
        </p:nvSpPr>
        <p:spPr>
          <a:xfrm>
            <a:off x="422573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32</a:t>
            </a:r>
          </a:p>
        </p:txBody>
      </p:sp>
      <p:sp>
        <p:nvSpPr>
          <p:cNvPr id="21" name="TextBox 20">
            <a:extLst>
              <a:ext uri="{FF2B5EF4-FFF2-40B4-BE49-F238E27FC236}">
                <a16:creationId xmlns:a16="http://schemas.microsoft.com/office/drawing/2014/main" id="{AFA10777-D795-445A-9DD0-7C98889397F6}"/>
              </a:ext>
              <a:ext uri="{C183D7F6-B498-43B3-948B-1728B52AA6E4}">
                <adec:decorative xmlns:adec="http://schemas.microsoft.com/office/drawing/2017/decorative" val="1"/>
              </a:ext>
            </a:extLst>
          </p:cNvPr>
          <p:cNvSpPr txBox="1"/>
          <p:nvPr/>
        </p:nvSpPr>
        <p:spPr>
          <a:xfrm>
            <a:off x="4716143"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74</a:t>
            </a:r>
          </a:p>
        </p:txBody>
      </p:sp>
      <p:sp>
        <p:nvSpPr>
          <p:cNvPr id="22" name="TextBox 21">
            <a:extLst>
              <a:ext uri="{FF2B5EF4-FFF2-40B4-BE49-F238E27FC236}">
                <a16:creationId xmlns:a16="http://schemas.microsoft.com/office/drawing/2014/main" id="{06E43CD1-A952-45EE-8A06-B2B9ECE524CA}"/>
              </a:ext>
              <a:ext uri="{C183D7F6-B498-43B3-948B-1728B52AA6E4}">
                <adec:decorative xmlns:adec="http://schemas.microsoft.com/office/drawing/2017/decorative" val="1"/>
              </a:ext>
            </a:extLst>
          </p:cNvPr>
          <p:cNvSpPr txBox="1"/>
          <p:nvPr/>
        </p:nvSpPr>
        <p:spPr>
          <a:xfrm>
            <a:off x="5114340"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89</a:t>
            </a:r>
          </a:p>
        </p:txBody>
      </p:sp>
      <p:sp>
        <p:nvSpPr>
          <p:cNvPr id="24" name="TextBox 23">
            <a:extLst>
              <a:ext uri="{FF2B5EF4-FFF2-40B4-BE49-F238E27FC236}">
                <a16:creationId xmlns:a16="http://schemas.microsoft.com/office/drawing/2014/main" id="{1D5ED36F-F3C0-4AB8-AD10-D772DBFE12CC}"/>
              </a:ext>
              <a:ext uri="{C183D7F6-B498-43B3-948B-1728B52AA6E4}">
                <adec:decorative xmlns:adec="http://schemas.microsoft.com/office/drawing/2017/decorative" val="1"/>
              </a:ext>
            </a:extLst>
          </p:cNvPr>
          <p:cNvSpPr txBox="1"/>
          <p:nvPr/>
        </p:nvSpPr>
        <p:spPr>
          <a:xfrm>
            <a:off x="3146249" y="3769303"/>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20</a:t>
            </a:r>
          </a:p>
        </p:txBody>
      </p:sp>
      <p:sp>
        <p:nvSpPr>
          <p:cNvPr id="25" name="TextBox 24">
            <a:extLst>
              <a:ext uri="{FF2B5EF4-FFF2-40B4-BE49-F238E27FC236}">
                <a16:creationId xmlns:a16="http://schemas.microsoft.com/office/drawing/2014/main" id="{F68978DC-8D44-459E-9984-49954373B44F}"/>
              </a:ext>
              <a:ext uri="{C183D7F6-B498-43B3-948B-1728B52AA6E4}">
                <adec:decorative xmlns:adec="http://schemas.microsoft.com/office/drawing/2017/decorative" val="1"/>
              </a:ext>
            </a:extLst>
          </p:cNvPr>
          <p:cNvSpPr txBox="1"/>
          <p:nvPr/>
        </p:nvSpPr>
        <p:spPr>
          <a:xfrm>
            <a:off x="4044070" y="3773948"/>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28</a:t>
            </a:r>
          </a:p>
        </p:txBody>
      </p:sp>
      <p:sp>
        <p:nvSpPr>
          <p:cNvPr id="26" name="TextBox 25">
            <a:extLst>
              <a:ext uri="{FF2B5EF4-FFF2-40B4-BE49-F238E27FC236}">
                <a16:creationId xmlns:a16="http://schemas.microsoft.com/office/drawing/2014/main" id="{0475A117-9D5E-44C2-85BD-04F9347631B9}"/>
              </a:ext>
              <a:ext uri="{C183D7F6-B498-43B3-948B-1728B52AA6E4}">
                <adec:decorative xmlns:adec="http://schemas.microsoft.com/office/drawing/2017/decorative" val="1"/>
              </a:ext>
            </a:extLst>
          </p:cNvPr>
          <p:cNvSpPr txBox="1"/>
          <p:nvPr/>
        </p:nvSpPr>
        <p:spPr>
          <a:xfrm>
            <a:off x="4915242" y="3764659"/>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39</a:t>
            </a:r>
          </a:p>
        </p:txBody>
      </p:sp>
      <p:sp>
        <p:nvSpPr>
          <p:cNvPr id="27" name="TextBox 26">
            <a:extLst>
              <a:ext uri="{FF2B5EF4-FFF2-40B4-BE49-F238E27FC236}">
                <a16:creationId xmlns:a16="http://schemas.microsoft.com/office/drawing/2014/main" id="{32F5FA45-C520-4141-A16D-990321183D0E}"/>
              </a:ext>
              <a:ext uri="{C183D7F6-B498-43B3-948B-1728B52AA6E4}">
                <adec:decorative xmlns:adec="http://schemas.microsoft.com/office/drawing/2017/decorative" val="1"/>
              </a:ext>
            </a:extLst>
          </p:cNvPr>
          <p:cNvSpPr txBox="1"/>
          <p:nvPr/>
        </p:nvSpPr>
        <p:spPr>
          <a:xfrm>
            <a:off x="5711635" y="3764659"/>
            <a:ext cx="383438"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29</a:t>
            </a:r>
          </a:p>
        </p:txBody>
      </p:sp>
      <p:cxnSp>
        <p:nvCxnSpPr>
          <p:cNvPr id="28" name="Straight Connector 27">
            <a:extLst>
              <a:ext uri="{FF2B5EF4-FFF2-40B4-BE49-F238E27FC236}">
                <a16:creationId xmlns:a16="http://schemas.microsoft.com/office/drawing/2014/main" id="{ED0B8080-326C-48CB-B7CE-F7634259D9D2}"/>
              </a:ext>
              <a:ext uri="{C183D7F6-B498-43B3-948B-1728B52AA6E4}">
                <adec:decorative xmlns:adec="http://schemas.microsoft.com/office/drawing/2017/decorative" val="1"/>
              </a:ext>
            </a:extLst>
          </p:cNvPr>
          <p:cNvCxnSpPr/>
          <p:nvPr/>
        </p:nvCxnSpPr>
        <p:spPr>
          <a:xfrm flipH="1">
            <a:off x="3894434" y="2984644"/>
            <a:ext cx="573642" cy="284847"/>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9812509-2640-493B-ACAE-3D8D204F2E54}"/>
              </a:ext>
              <a:ext uri="{C183D7F6-B498-43B3-948B-1728B52AA6E4}">
                <adec:decorative xmlns:adec="http://schemas.microsoft.com/office/drawing/2017/decorative" val="1"/>
              </a:ext>
            </a:extLst>
          </p:cNvPr>
          <p:cNvCxnSpPr/>
          <p:nvPr/>
        </p:nvCxnSpPr>
        <p:spPr>
          <a:xfrm>
            <a:off x="4752591" y="2957626"/>
            <a:ext cx="716537" cy="330994"/>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BB851A3-DA63-4D8D-ABE6-F992F45E7E01}"/>
              </a:ext>
              <a:ext uri="{C183D7F6-B498-43B3-948B-1728B52AA6E4}">
                <adec:decorative xmlns:adec="http://schemas.microsoft.com/office/drawing/2017/decorative" val="1"/>
              </a:ext>
            </a:extLst>
          </p:cNvPr>
          <p:cNvCxnSpPr/>
          <p:nvPr/>
        </p:nvCxnSpPr>
        <p:spPr>
          <a:xfrm flipH="1">
            <a:off x="3338432" y="3610268"/>
            <a:ext cx="250066" cy="15903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CE30687-F7B7-40D6-B457-8981B596DF52}"/>
              </a:ext>
              <a:ext uri="{C183D7F6-B498-43B3-948B-1728B52AA6E4}">
                <adec:decorative xmlns:adec="http://schemas.microsoft.com/office/drawing/2017/decorative" val="1"/>
              </a:ext>
            </a:extLst>
          </p:cNvPr>
          <p:cNvCxnSpPr/>
          <p:nvPr/>
        </p:nvCxnSpPr>
        <p:spPr>
          <a:xfrm flipH="1">
            <a:off x="5107425" y="3610268"/>
            <a:ext cx="162606" cy="16368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34279F4-3FB3-4909-A81C-5D651E004572}"/>
              </a:ext>
              <a:ext uri="{C183D7F6-B498-43B3-948B-1728B52AA6E4}">
                <adec:decorative xmlns:adec="http://schemas.microsoft.com/office/drawing/2017/decorative" val="1"/>
              </a:ext>
            </a:extLst>
          </p:cNvPr>
          <p:cNvCxnSpPr/>
          <p:nvPr/>
        </p:nvCxnSpPr>
        <p:spPr>
          <a:xfrm flipH="1" flipV="1">
            <a:off x="3986695" y="3610268"/>
            <a:ext cx="249558" cy="16368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38CF59E-7EAA-48FE-A8C4-9706DB95C94F}"/>
              </a:ext>
              <a:ext uri="{C183D7F6-B498-43B3-948B-1728B52AA6E4}">
                <adec:decorative xmlns:adec="http://schemas.microsoft.com/office/drawing/2017/decorative" val="1"/>
              </a:ext>
            </a:extLst>
          </p:cNvPr>
          <p:cNvCxnSpPr/>
          <p:nvPr/>
        </p:nvCxnSpPr>
        <p:spPr>
          <a:xfrm flipH="1" flipV="1">
            <a:off x="5653759" y="3610269"/>
            <a:ext cx="250058"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55D3365-15F9-4289-9D44-E659CF0988E7}"/>
              </a:ext>
              <a:ext uri="{C183D7F6-B498-43B3-948B-1728B52AA6E4}">
                <adec:decorative xmlns:adec="http://schemas.microsoft.com/office/drawing/2017/decorative" val="1"/>
              </a:ext>
            </a:extLst>
          </p:cNvPr>
          <p:cNvCxnSpPr>
            <a:stCxn id="57" idx="0"/>
          </p:cNvCxnSpPr>
          <p:nvPr/>
        </p:nvCxnSpPr>
        <p:spPr>
          <a:xfrm flipV="1">
            <a:off x="3139334" y="4099817"/>
            <a:ext cx="122725"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8E6B03F-EDE4-4FEF-BC74-85BF6BF8DAA7}"/>
              </a:ext>
              <a:ext uri="{C183D7F6-B498-43B3-948B-1728B52AA6E4}">
                <adec:decorative xmlns:adec="http://schemas.microsoft.com/office/drawing/2017/decorative" val="1"/>
              </a:ext>
            </a:extLst>
          </p:cNvPr>
          <p:cNvCxnSpPr>
            <a:stCxn id="58" idx="0"/>
          </p:cNvCxnSpPr>
          <p:nvPr/>
        </p:nvCxnSpPr>
        <p:spPr>
          <a:xfrm flipH="1" flipV="1">
            <a:off x="3466924" y="4099817"/>
            <a:ext cx="706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7AB8B7A-3AA0-4714-BC2A-65786305177D}"/>
              </a:ext>
              <a:ext uri="{C183D7F6-B498-43B3-948B-1728B52AA6E4}">
                <adec:decorative xmlns:adec="http://schemas.microsoft.com/office/drawing/2017/decorative" val="1"/>
              </a:ext>
            </a:extLst>
          </p:cNvPr>
          <p:cNvCxnSpPr>
            <a:stCxn id="59" idx="0"/>
          </p:cNvCxnSpPr>
          <p:nvPr/>
        </p:nvCxnSpPr>
        <p:spPr>
          <a:xfrm flipV="1">
            <a:off x="4027937" y="4109105"/>
            <a:ext cx="80331"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39D941E-7960-4022-8175-FBFCAEC72FEF}"/>
              </a:ext>
              <a:ext uri="{C183D7F6-B498-43B3-948B-1728B52AA6E4}">
                <adec:decorative xmlns:adec="http://schemas.microsoft.com/office/drawing/2017/decorative" val="1"/>
              </a:ext>
            </a:extLst>
          </p:cNvPr>
          <p:cNvCxnSpPr/>
          <p:nvPr/>
        </p:nvCxnSpPr>
        <p:spPr>
          <a:xfrm flipH="1" flipV="1">
            <a:off x="4327340" y="4099817"/>
            <a:ext cx="90580"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AC64B88-7C6F-4B42-B41F-16B1318DEE19}"/>
              </a:ext>
              <a:ext uri="{C183D7F6-B498-43B3-948B-1728B52AA6E4}">
                <adec:decorative xmlns:adec="http://schemas.microsoft.com/office/drawing/2017/decorative" val="1"/>
              </a:ext>
            </a:extLst>
          </p:cNvPr>
          <p:cNvCxnSpPr/>
          <p:nvPr/>
        </p:nvCxnSpPr>
        <p:spPr>
          <a:xfrm flipV="1">
            <a:off x="4908326" y="4099817"/>
            <a:ext cx="908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0BFA9DB-A978-449F-9F63-9DDBA4B0621E}"/>
              </a:ext>
              <a:ext uri="{C183D7F6-B498-43B3-948B-1728B52AA6E4}">
                <adec:decorative xmlns:adec="http://schemas.microsoft.com/office/drawing/2017/decorative" val="1"/>
              </a:ext>
            </a:extLst>
          </p:cNvPr>
          <p:cNvCxnSpPr/>
          <p:nvPr/>
        </p:nvCxnSpPr>
        <p:spPr>
          <a:xfrm flipH="1" flipV="1">
            <a:off x="5255561" y="4109105"/>
            <a:ext cx="50962"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84207F50-D829-441E-A1B4-0A91BEEDEF4D}"/>
              </a:ext>
              <a:ext uri="{C183D7F6-B498-43B3-948B-1728B52AA6E4}">
                <adec:decorative xmlns:adec="http://schemas.microsoft.com/office/drawing/2017/decorative" val="1"/>
              </a:ext>
            </a:extLst>
          </p:cNvPr>
          <p:cNvSpPr txBox="1"/>
          <p:nvPr/>
        </p:nvSpPr>
        <p:spPr>
          <a:xfrm>
            <a:off x="3146249" y="3769303"/>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20</a:t>
            </a:r>
          </a:p>
        </p:txBody>
      </p:sp>
      <p:sp>
        <p:nvSpPr>
          <p:cNvPr id="42" name="TextBox 41">
            <a:extLst>
              <a:ext uri="{FF2B5EF4-FFF2-40B4-BE49-F238E27FC236}">
                <a16:creationId xmlns:a16="http://schemas.microsoft.com/office/drawing/2014/main" id="{871088E9-1A57-451B-A4D9-D0493D3FC3CA}"/>
              </a:ext>
              <a:ext uri="{C183D7F6-B498-43B3-948B-1728B52AA6E4}">
                <adec:decorative xmlns:adec="http://schemas.microsoft.com/office/drawing/2017/decorative" val="1"/>
              </a:ext>
            </a:extLst>
          </p:cNvPr>
          <p:cNvSpPr txBox="1"/>
          <p:nvPr/>
        </p:nvSpPr>
        <p:spPr>
          <a:xfrm>
            <a:off x="4044070" y="3773948"/>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28</a:t>
            </a:r>
          </a:p>
        </p:txBody>
      </p:sp>
      <p:sp>
        <p:nvSpPr>
          <p:cNvPr id="46" name="TextBox 45">
            <a:extLst>
              <a:ext uri="{FF2B5EF4-FFF2-40B4-BE49-F238E27FC236}">
                <a16:creationId xmlns:a16="http://schemas.microsoft.com/office/drawing/2014/main" id="{39C61B35-F0FA-439E-904F-1E4CD8F96B23}"/>
              </a:ext>
              <a:ext uri="{C183D7F6-B498-43B3-948B-1728B52AA6E4}">
                <adec:decorative xmlns:adec="http://schemas.microsoft.com/office/drawing/2017/decorative" val="1"/>
              </a:ext>
            </a:extLst>
          </p:cNvPr>
          <p:cNvSpPr txBox="1"/>
          <p:nvPr/>
        </p:nvSpPr>
        <p:spPr>
          <a:xfrm>
            <a:off x="2947151"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37</a:t>
            </a:r>
          </a:p>
        </p:txBody>
      </p:sp>
      <p:sp>
        <p:nvSpPr>
          <p:cNvPr id="47" name="TextBox 46">
            <a:extLst>
              <a:ext uri="{FF2B5EF4-FFF2-40B4-BE49-F238E27FC236}">
                <a16:creationId xmlns:a16="http://schemas.microsoft.com/office/drawing/2014/main" id="{F64F9888-0E5D-44FD-8CCA-230171B60EF2}"/>
              </a:ext>
              <a:ext uri="{C183D7F6-B498-43B3-948B-1728B52AA6E4}">
                <adec:decorative xmlns:adec="http://schemas.microsoft.com/office/drawing/2017/decorative" val="1"/>
              </a:ext>
            </a:extLst>
          </p:cNvPr>
          <p:cNvSpPr txBox="1"/>
          <p:nvPr/>
        </p:nvSpPr>
        <p:spPr>
          <a:xfrm>
            <a:off x="334534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26</a:t>
            </a:r>
          </a:p>
        </p:txBody>
      </p:sp>
      <p:sp>
        <p:nvSpPr>
          <p:cNvPr id="56" name="TextBox 55">
            <a:extLst>
              <a:ext uri="{FF2B5EF4-FFF2-40B4-BE49-F238E27FC236}">
                <a16:creationId xmlns:a16="http://schemas.microsoft.com/office/drawing/2014/main" id="{6087B08E-F810-48F6-98FD-8FC6E1FC27EF}"/>
              </a:ext>
              <a:ext uri="{C183D7F6-B498-43B3-948B-1728B52AA6E4}">
                <adec:decorative xmlns:adec="http://schemas.microsoft.com/office/drawing/2017/decorative" val="1"/>
              </a:ext>
            </a:extLst>
          </p:cNvPr>
          <p:cNvSpPr txBox="1"/>
          <p:nvPr/>
        </p:nvSpPr>
        <p:spPr>
          <a:xfrm>
            <a:off x="3835754"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76</a:t>
            </a:r>
          </a:p>
        </p:txBody>
      </p:sp>
      <p:sp>
        <p:nvSpPr>
          <p:cNvPr id="57" name="TextBox 56">
            <a:extLst>
              <a:ext uri="{FF2B5EF4-FFF2-40B4-BE49-F238E27FC236}">
                <a16:creationId xmlns:a16="http://schemas.microsoft.com/office/drawing/2014/main" id="{8C8CD950-8C99-4070-8111-1C1171DBC0D2}"/>
              </a:ext>
              <a:ext uri="{C183D7F6-B498-43B3-948B-1728B52AA6E4}">
                <adec:decorative xmlns:adec="http://schemas.microsoft.com/office/drawing/2017/decorative" val="1"/>
              </a:ext>
            </a:extLst>
          </p:cNvPr>
          <p:cNvSpPr txBox="1"/>
          <p:nvPr/>
        </p:nvSpPr>
        <p:spPr>
          <a:xfrm>
            <a:off x="422573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32</a:t>
            </a:r>
          </a:p>
        </p:txBody>
      </p:sp>
      <p:sp>
        <p:nvSpPr>
          <p:cNvPr id="58" name="TextBox 57">
            <a:extLst>
              <a:ext uri="{FF2B5EF4-FFF2-40B4-BE49-F238E27FC236}">
                <a16:creationId xmlns:a16="http://schemas.microsoft.com/office/drawing/2014/main" id="{46695E7F-1157-4296-9575-75ABE9F7757C}"/>
              </a:ext>
              <a:ext uri="{C183D7F6-B498-43B3-948B-1728B52AA6E4}">
                <adec:decorative xmlns:adec="http://schemas.microsoft.com/office/drawing/2017/decorative" val="1"/>
              </a:ext>
            </a:extLst>
          </p:cNvPr>
          <p:cNvSpPr txBox="1"/>
          <p:nvPr/>
        </p:nvSpPr>
        <p:spPr>
          <a:xfrm>
            <a:off x="4716143"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74</a:t>
            </a:r>
          </a:p>
        </p:txBody>
      </p:sp>
      <p:sp>
        <p:nvSpPr>
          <p:cNvPr id="59" name="TextBox 58">
            <a:extLst>
              <a:ext uri="{FF2B5EF4-FFF2-40B4-BE49-F238E27FC236}">
                <a16:creationId xmlns:a16="http://schemas.microsoft.com/office/drawing/2014/main" id="{7B1EFF9C-027F-44CB-9278-28DE7C644F43}"/>
              </a:ext>
              <a:ext uri="{C183D7F6-B498-43B3-948B-1728B52AA6E4}">
                <adec:decorative xmlns:adec="http://schemas.microsoft.com/office/drawing/2017/decorative" val="1"/>
              </a:ext>
            </a:extLst>
          </p:cNvPr>
          <p:cNvSpPr txBox="1"/>
          <p:nvPr/>
        </p:nvSpPr>
        <p:spPr>
          <a:xfrm>
            <a:off x="5114340"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89</a:t>
            </a:r>
          </a:p>
        </p:txBody>
      </p:sp>
      <p:cxnSp>
        <p:nvCxnSpPr>
          <p:cNvPr id="92" name="Straight Connector 91">
            <a:extLst>
              <a:ext uri="{FF2B5EF4-FFF2-40B4-BE49-F238E27FC236}">
                <a16:creationId xmlns:a16="http://schemas.microsoft.com/office/drawing/2014/main" id="{EBEA3ACF-2172-4675-AC74-9451CCF67AD0}"/>
              </a:ext>
              <a:ext uri="{C183D7F6-B498-43B3-948B-1728B52AA6E4}">
                <adec:decorative xmlns:adec="http://schemas.microsoft.com/office/drawing/2017/decorative" val="1"/>
              </a:ext>
            </a:extLst>
          </p:cNvPr>
          <p:cNvCxnSpPr/>
          <p:nvPr/>
        </p:nvCxnSpPr>
        <p:spPr>
          <a:xfrm flipV="1">
            <a:off x="5783097" y="4081725"/>
            <a:ext cx="908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CBC93E32-E9EB-4322-877A-2B3A674BE372}"/>
              </a:ext>
              <a:ext uri="{C183D7F6-B498-43B3-948B-1728B52AA6E4}">
                <adec:decorative xmlns:adec="http://schemas.microsoft.com/office/drawing/2017/decorative" val="1"/>
              </a:ext>
            </a:extLst>
          </p:cNvPr>
          <p:cNvSpPr txBox="1"/>
          <p:nvPr/>
        </p:nvSpPr>
        <p:spPr>
          <a:xfrm>
            <a:off x="5590914" y="4245403"/>
            <a:ext cx="383438"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66</a:t>
            </a:r>
          </a:p>
        </p:txBody>
      </p:sp>
      <p:pic>
        <p:nvPicPr>
          <p:cNvPr id="43" name="Picture 6" descr="Removal Heap Algorithm">
            <a:extLst>
              <a:ext uri="{FF2B5EF4-FFF2-40B4-BE49-F238E27FC236}">
                <a16:creationId xmlns:a16="http://schemas.microsoft.com/office/drawing/2014/main" id="{42A433F4-BB48-43EF-A7C5-6DF9EC92BB0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26275"/>
          <a:stretch/>
        </p:blipFill>
        <p:spPr bwMode="auto">
          <a:xfrm>
            <a:off x="2926815" y="5108753"/>
            <a:ext cx="5865824" cy="11775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40" name="Group 39">
            <a:extLst>
              <a:ext uri="{FF2B5EF4-FFF2-40B4-BE49-F238E27FC236}">
                <a16:creationId xmlns:a16="http://schemas.microsoft.com/office/drawing/2014/main" id="{1CAABE19-912D-4DB6-B6E9-E3EF92EF29BB}"/>
              </a:ext>
            </a:extLst>
          </p:cNvPr>
          <p:cNvGrpSpPr/>
          <p:nvPr/>
        </p:nvGrpSpPr>
        <p:grpSpPr>
          <a:xfrm>
            <a:off x="11337354" y="6025684"/>
            <a:ext cx="841781" cy="748032"/>
            <a:chOff x="11337354" y="6025684"/>
            <a:chExt cx="841781" cy="748032"/>
          </a:xfrm>
        </p:grpSpPr>
        <p:pic>
          <p:nvPicPr>
            <p:cNvPr id="44" name="Picture 2">
              <a:extLst>
                <a:ext uri="{FF2B5EF4-FFF2-40B4-BE49-F238E27FC236}">
                  <a16:creationId xmlns:a16="http://schemas.microsoft.com/office/drawing/2014/main" id="{E9F1B10D-8852-44FF-AA40-02AFDEC3C3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descr="Logo COP3530">
              <a:extLst>
                <a:ext uri="{FF2B5EF4-FFF2-40B4-BE49-F238E27FC236}">
                  <a16:creationId xmlns:a16="http://schemas.microsoft.com/office/drawing/2014/main" id="{DB891E18-3741-408A-8FEC-E6DB0A51092A}"/>
                </a:ext>
              </a:extLst>
            </p:cNvPr>
            <p:cNvPicPr>
              <a:picLocks noChangeAspect="1"/>
            </p:cNvPicPr>
            <p:nvPr/>
          </p:nvPicPr>
          <p:blipFill rotWithShape="1">
            <a:blip r:embed="rId5"/>
            <a:srcRect t="1" b="20587"/>
            <a:stretch/>
          </p:blipFill>
          <p:spPr>
            <a:xfrm>
              <a:off x="11337354" y="6025684"/>
              <a:ext cx="841781" cy="465491"/>
            </a:xfrm>
            <a:prstGeom prst="rect">
              <a:avLst/>
            </a:prstGeom>
          </p:spPr>
        </p:pic>
      </p:grpSp>
      <p:sp>
        <p:nvSpPr>
          <p:cNvPr id="3" name="Slide Number Placeholder 2">
            <a:extLst>
              <a:ext uri="{FF2B5EF4-FFF2-40B4-BE49-F238E27FC236}">
                <a16:creationId xmlns:a16="http://schemas.microsoft.com/office/drawing/2014/main" id="{A2B01D6C-64D2-4AEF-93B3-670B5B28102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C28E0-2F8B-4999-AEA2-B3AA3AE899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21881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r>
              <a:rPr lang="en-US" dirty="0">
                <a:solidFill>
                  <a:schemeClr val="bg1"/>
                </a:solidFill>
                <a:latin typeface="Gotham Bold" pitchFamily="50" charset="0"/>
              </a:rPr>
              <a:t>Binary </a:t>
            </a:r>
            <a:r>
              <a:rPr lang="en-US" dirty="0" err="1">
                <a:solidFill>
                  <a:schemeClr val="bg1"/>
                </a:solidFill>
                <a:latin typeface="Gotham Bold" pitchFamily="50" charset="0"/>
              </a:rPr>
              <a:t>MinHeap</a:t>
            </a:r>
            <a:r>
              <a:rPr lang="en-US" dirty="0">
                <a:solidFill>
                  <a:schemeClr val="bg1"/>
                </a:solidFill>
                <a:latin typeface="Gotham Bold" pitchFamily="50" charset="0"/>
              </a:rPr>
              <a:t> Deletion</a:t>
            </a:r>
          </a:p>
        </p:txBody>
      </p:sp>
      <p:sp>
        <p:nvSpPr>
          <p:cNvPr id="4" name="Rectangle 3">
            <a:extLst>
              <a:ext uri="{FF2B5EF4-FFF2-40B4-BE49-F238E27FC236}">
                <a16:creationId xmlns:a16="http://schemas.microsoft.com/office/drawing/2014/main" id="{4C690315-1707-4AD5-8859-99D7FEE7815A}"/>
              </a:ext>
            </a:extLst>
          </p:cNvPr>
          <p:cNvSpPr/>
          <p:nvPr/>
        </p:nvSpPr>
        <p:spPr>
          <a:xfrm>
            <a:off x="1654198" y="1708562"/>
            <a:ext cx="8743941" cy="45935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Gotham Bold" pitchFamily="50" charset="0"/>
                <a:ea typeface="+mn-ea"/>
                <a:cs typeface="+mn-cs"/>
              </a:rPr>
              <a:t>Heap Deletion (ExtractMin)</a:t>
            </a:r>
          </a:p>
        </p:txBody>
      </p:sp>
      <p:pic>
        <p:nvPicPr>
          <p:cNvPr id="43" name="Picture 6" descr="Removal Heap Algorithm">
            <a:extLst>
              <a:ext uri="{FF2B5EF4-FFF2-40B4-BE49-F238E27FC236}">
                <a16:creationId xmlns:a16="http://schemas.microsoft.com/office/drawing/2014/main" id="{42A433F4-BB48-43EF-A7C5-6DF9EC92BB0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26275"/>
          <a:stretch/>
        </p:blipFill>
        <p:spPr bwMode="auto">
          <a:xfrm>
            <a:off x="2926815" y="5108753"/>
            <a:ext cx="5865824" cy="117754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40" name="Group 39">
            <a:extLst>
              <a:ext uri="{FF2B5EF4-FFF2-40B4-BE49-F238E27FC236}">
                <a16:creationId xmlns:a16="http://schemas.microsoft.com/office/drawing/2014/main" id="{1CAABE19-912D-4DB6-B6E9-E3EF92EF29BB}"/>
              </a:ext>
            </a:extLst>
          </p:cNvPr>
          <p:cNvGrpSpPr/>
          <p:nvPr/>
        </p:nvGrpSpPr>
        <p:grpSpPr>
          <a:xfrm>
            <a:off x="11337354" y="6025684"/>
            <a:ext cx="841781" cy="748032"/>
            <a:chOff x="11337354" y="6025684"/>
            <a:chExt cx="841781" cy="748032"/>
          </a:xfrm>
        </p:grpSpPr>
        <p:pic>
          <p:nvPicPr>
            <p:cNvPr id="44" name="Picture 2">
              <a:extLst>
                <a:ext uri="{FF2B5EF4-FFF2-40B4-BE49-F238E27FC236}">
                  <a16:creationId xmlns:a16="http://schemas.microsoft.com/office/drawing/2014/main" id="{E9F1B10D-8852-44FF-AA40-02AFDEC3C3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descr="Logo COP3530">
              <a:extLst>
                <a:ext uri="{FF2B5EF4-FFF2-40B4-BE49-F238E27FC236}">
                  <a16:creationId xmlns:a16="http://schemas.microsoft.com/office/drawing/2014/main" id="{DB891E18-3741-408A-8FEC-E6DB0A51092A}"/>
                </a:ext>
              </a:extLst>
            </p:cNvPr>
            <p:cNvPicPr>
              <a:picLocks noChangeAspect="1"/>
            </p:cNvPicPr>
            <p:nvPr/>
          </p:nvPicPr>
          <p:blipFill rotWithShape="1">
            <a:blip r:embed="rId5"/>
            <a:srcRect t="1" b="20587"/>
            <a:stretch/>
          </p:blipFill>
          <p:spPr>
            <a:xfrm>
              <a:off x="11337354" y="6025684"/>
              <a:ext cx="841781" cy="465491"/>
            </a:xfrm>
            <a:prstGeom prst="rect">
              <a:avLst/>
            </a:prstGeom>
          </p:spPr>
        </p:pic>
      </p:grpSp>
      <p:sp>
        <p:nvSpPr>
          <p:cNvPr id="3" name="Slide Number Placeholder 2">
            <a:extLst>
              <a:ext uri="{FF2B5EF4-FFF2-40B4-BE49-F238E27FC236}">
                <a16:creationId xmlns:a16="http://schemas.microsoft.com/office/drawing/2014/main" id="{A2B01D6C-64D2-4AEF-93B3-670B5B28102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C28E0-2F8B-4999-AEA2-B3AA3AE899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136" name="Group 135">
            <a:extLst>
              <a:ext uri="{FF2B5EF4-FFF2-40B4-BE49-F238E27FC236}">
                <a16:creationId xmlns:a16="http://schemas.microsoft.com/office/drawing/2014/main" id="{77DFD85F-7682-97EB-8168-62D6C66F185B}"/>
              </a:ext>
            </a:extLst>
          </p:cNvPr>
          <p:cNvGrpSpPr/>
          <p:nvPr/>
        </p:nvGrpSpPr>
        <p:grpSpPr>
          <a:xfrm>
            <a:off x="391699" y="2493717"/>
            <a:ext cx="4652162" cy="2025440"/>
            <a:chOff x="1105746" y="2382897"/>
            <a:chExt cx="4652162" cy="2025440"/>
          </a:xfrm>
        </p:grpSpPr>
        <p:grpSp>
          <p:nvGrpSpPr>
            <p:cNvPr id="8" name="Group 7">
              <a:extLst>
                <a:ext uri="{FF2B5EF4-FFF2-40B4-BE49-F238E27FC236}">
                  <a16:creationId xmlns:a16="http://schemas.microsoft.com/office/drawing/2014/main" id="{A3BF7447-A808-1DB9-EB9A-CD69E06C4146}"/>
                </a:ext>
              </a:extLst>
            </p:cNvPr>
            <p:cNvGrpSpPr/>
            <p:nvPr/>
          </p:nvGrpSpPr>
          <p:grpSpPr>
            <a:xfrm>
              <a:off x="1105746" y="2627293"/>
              <a:ext cx="3147922" cy="1781044"/>
              <a:chOff x="2947151" y="2790228"/>
              <a:chExt cx="3147922" cy="1781044"/>
            </a:xfrm>
          </p:grpSpPr>
          <p:sp>
            <p:nvSpPr>
              <p:cNvPr id="14" name="TextBox 13">
                <a:extLst>
                  <a:ext uri="{FF2B5EF4-FFF2-40B4-BE49-F238E27FC236}">
                    <a16:creationId xmlns:a16="http://schemas.microsoft.com/office/drawing/2014/main" id="{F8E2067A-50DC-4B3B-A941-515F73642C24}"/>
                  </a:ext>
                  <a:ext uri="{C183D7F6-B498-43B3-948B-1728B52AA6E4}">
                    <adec:decorative xmlns:adec="http://schemas.microsoft.com/office/drawing/2017/decorative" val="1"/>
                  </a:ext>
                </a:extLst>
              </p:cNvPr>
              <p:cNvSpPr txBox="1"/>
              <p:nvPr/>
            </p:nvSpPr>
            <p:spPr>
              <a:xfrm>
                <a:off x="4468076" y="2790228"/>
                <a:ext cx="284515" cy="307777"/>
              </a:xfrm>
              <a:prstGeom prst="rect">
                <a:avLst/>
              </a:prstGeom>
              <a:noFill/>
              <a:ln>
                <a:solidFill>
                  <a:srgbClr val="00DA63"/>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a:t>
                </a:r>
              </a:p>
            </p:txBody>
          </p:sp>
          <p:sp>
            <p:nvSpPr>
              <p:cNvPr id="15" name="TextBox 14">
                <a:extLst>
                  <a:ext uri="{FF2B5EF4-FFF2-40B4-BE49-F238E27FC236}">
                    <a16:creationId xmlns:a16="http://schemas.microsoft.com/office/drawing/2014/main" id="{E0BA7F03-06E1-4DC9-9439-34FD6EF63EEA}"/>
                  </a:ext>
                  <a:ext uri="{C183D7F6-B498-43B3-948B-1728B52AA6E4}">
                    <adec:decorative xmlns:adec="http://schemas.microsoft.com/office/drawing/2017/decorative" val="1"/>
                  </a:ext>
                </a:extLst>
              </p:cNvPr>
              <p:cNvSpPr txBox="1"/>
              <p:nvPr/>
            </p:nvSpPr>
            <p:spPr>
              <a:xfrm>
                <a:off x="3588497" y="327933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18</a:t>
                </a:r>
              </a:p>
            </p:txBody>
          </p:sp>
          <p:sp>
            <p:nvSpPr>
              <p:cNvPr id="16" name="TextBox 15">
                <a:extLst>
                  <a:ext uri="{FF2B5EF4-FFF2-40B4-BE49-F238E27FC236}">
                    <a16:creationId xmlns:a16="http://schemas.microsoft.com/office/drawing/2014/main" id="{BF51B4E7-79A0-4AD4-A124-8F3CF803B8F5}"/>
                  </a:ext>
                  <a:ext uri="{C183D7F6-B498-43B3-948B-1728B52AA6E4}">
                    <adec:decorative xmlns:adec="http://schemas.microsoft.com/office/drawing/2017/decorative" val="1"/>
                  </a:ext>
                </a:extLst>
              </p:cNvPr>
              <p:cNvSpPr txBox="1"/>
              <p:nvPr/>
            </p:nvSpPr>
            <p:spPr>
              <a:xfrm>
                <a:off x="5270029" y="3275111"/>
                <a:ext cx="398197" cy="307777"/>
              </a:xfrm>
              <a:prstGeom prst="rect">
                <a:avLst/>
              </a:prstGeom>
              <a:noFill/>
              <a:ln>
                <a:solidFill>
                  <a:srgbClr val="EB6E19"/>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11</a:t>
                </a:r>
              </a:p>
            </p:txBody>
          </p:sp>
          <p:sp>
            <p:nvSpPr>
              <p:cNvPr id="17" name="TextBox 16">
                <a:extLst>
                  <a:ext uri="{FF2B5EF4-FFF2-40B4-BE49-F238E27FC236}">
                    <a16:creationId xmlns:a16="http://schemas.microsoft.com/office/drawing/2014/main" id="{EAD1ACB5-8D10-447A-8512-8CC77D028BBD}"/>
                  </a:ext>
                  <a:ext uri="{C183D7F6-B498-43B3-948B-1728B52AA6E4}">
                    <adec:decorative xmlns:adec="http://schemas.microsoft.com/office/drawing/2017/decorative" val="1"/>
                  </a:ext>
                </a:extLst>
              </p:cNvPr>
              <p:cNvSpPr txBox="1"/>
              <p:nvPr/>
            </p:nvSpPr>
            <p:spPr>
              <a:xfrm>
                <a:off x="2947151"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37</a:t>
                </a:r>
              </a:p>
            </p:txBody>
          </p:sp>
          <p:sp>
            <p:nvSpPr>
              <p:cNvPr id="18" name="TextBox 17">
                <a:extLst>
                  <a:ext uri="{FF2B5EF4-FFF2-40B4-BE49-F238E27FC236}">
                    <a16:creationId xmlns:a16="http://schemas.microsoft.com/office/drawing/2014/main" id="{393196BC-65D8-4C10-87E1-25F4471540B0}"/>
                  </a:ext>
                  <a:ext uri="{C183D7F6-B498-43B3-948B-1728B52AA6E4}">
                    <adec:decorative xmlns:adec="http://schemas.microsoft.com/office/drawing/2017/decorative" val="1"/>
                  </a:ext>
                </a:extLst>
              </p:cNvPr>
              <p:cNvSpPr txBox="1"/>
              <p:nvPr/>
            </p:nvSpPr>
            <p:spPr>
              <a:xfrm>
                <a:off x="334534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26</a:t>
                </a:r>
              </a:p>
            </p:txBody>
          </p:sp>
          <p:sp>
            <p:nvSpPr>
              <p:cNvPr id="19" name="TextBox 18">
                <a:extLst>
                  <a:ext uri="{FF2B5EF4-FFF2-40B4-BE49-F238E27FC236}">
                    <a16:creationId xmlns:a16="http://schemas.microsoft.com/office/drawing/2014/main" id="{C9564090-B42B-476E-AF5C-6D3874077308}"/>
                  </a:ext>
                  <a:ext uri="{C183D7F6-B498-43B3-948B-1728B52AA6E4}">
                    <adec:decorative xmlns:adec="http://schemas.microsoft.com/office/drawing/2017/decorative" val="1"/>
                  </a:ext>
                </a:extLst>
              </p:cNvPr>
              <p:cNvSpPr txBox="1"/>
              <p:nvPr/>
            </p:nvSpPr>
            <p:spPr>
              <a:xfrm>
                <a:off x="3835754"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76</a:t>
                </a:r>
              </a:p>
            </p:txBody>
          </p:sp>
          <p:sp>
            <p:nvSpPr>
              <p:cNvPr id="20" name="TextBox 19">
                <a:extLst>
                  <a:ext uri="{FF2B5EF4-FFF2-40B4-BE49-F238E27FC236}">
                    <a16:creationId xmlns:a16="http://schemas.microsoft.com/office/drawing/2014/main" id="{185757C9-C087-4FAF-884D-183400D216E8}"/>
                  </a:ext>
                  <a:ext uri="{C183D7F6-B498-43B3-948B-1728B52AA6E4}">
                    <adec:decorative xmlns:adec="http://schemas.microsoft.com/office/drawing/2017/decorative" val="1"/>
                  </a:ext>
                </a:extLst>
              </p:cNvPr>
              <p:cNvSpPr txBox="1"/>
              <p:nvPr/>
            </p:nvSpPr>
            <p:spPr>
              <a:xfrm>
                <a:off x="422573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32</a:t>
                </a:r>
              </a:p>
            </p:txBody>
          </p:sp>
          <p:sp>
            <p:nvSpPr>
              <p:cNvPr id="21" name="TextBox 20">
                <a:extLst>
                  <a:ext uri="{FF2B5EF4-FFF2-40B4-BE49-F238E27FC236}">
                    <a16:creationId xmlns:a16="http://schemas.microsoft.com/office/drawing/2014/main" id="{AFA10777-D795-445A-9DD0-7C98889397F6}"/>
                  </a:ext>
                  <a:ext uri="{C183D7F6-B498-43B3-948B-1728B52AA6E4}">
                    <adec:decorative xmlns:adec="http://schemas.microsoft.com/office/drawing/2017/decorative" val="1"/>
                  </a:ext>
                </a:extLst>
              </p:cNvPr>
              <p:cNvSpPr txBox="1"/>
              <p:nvPr/>
            </p:nvSpPr>
            <p:spPr>
              <a:xfrm>
                <a:off x="4716143"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74</a:t>
                </a:r>
              </a:p>
            </p:txBody>
          </p:sp>
          <p:sp>
            <p:nvSpPr>
              <p:cNvPr id="22" name="TextBox 21">
                <a:extLst>
                  <a:ext uri="{FF2B5EF4-FFF2-40B4-BE49-F238E27FC236}">
                    <a16:creationId xmlns:a16="http://schemas.microsoft.com/office/drawing/2014/main" id="{06E43CD1-A952-45EE-8A06-B2B9ECE524CA}"/>
                  </a:ext>
                  <a:ext uri="{C183D7F6-B498-43B3-948B-1728B52AA6E4}">
                    <adec:decorative xmlns:adec="http://schemas.microsoft.com/office/drawing/2017/decorative" val="1"/>
                  </a:ext>
                </a:extLst>
              </p:cNvPr>
              <p:cNvSpPr txBox="1"/>
              <p:nvPr/>
            </p:nvSpPr>
            <p:spPr>
              <a:xfrm>
                <a:off x="5114340"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89</a:t>
                </a:r>
              </a:p>
            </p:txBody>
          </p:sp>
          <p:sp>
            <p:nvSpPr>
              <p:cNvPr id="24" name="TextBox 23">
                <a:extLst>
                  <a:ext uri="{FF2B5EF4-FFF2-40B4-BE49-F238E27FC236}">
                    <a16:creationId xmlns:a16="http://schemas.microsoft.com/office/drawing/2014/main" id="{1D5ED36F-F3C0-4AB8-AD10-D772DBFE12CC}"/>
                  </a:ext>
                  <a:ext uri="{C183D7F6-B498-43B3-948B-1728B52AA6E4}">
                    <adec:decorative xmlns:adec="http://schemas.microsoft.com/office/drawing/2017/decorative" val="1"/>
                  </a:ext>
                </a:extLst>
              </p:cNvPr>
              <p:cNvSpPr txBox="1"/>
              <p:nvPr/>
            </p:nvSpPr>
            <p:spPr>
              <a:xfrm>
                <a:off x="3146249" y="3769303"/>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20</a:t>
                </a:r>
              </a:p>
            </p:txBody>
          </p:sp>
          <p:sp>
            <p:nvSpPr>
              <p:cNvPr id="25" name="TextBox 24">
                <a:extLst>
                  <a:ext uri="{FF2B5EF4-FFF2-40B4-BE49-F238E27FC236}">
                    <a16:creationId xmlns:a16="http://schemas.microsoft.com/office/drawing/2014/main" id="{F68978DC-8D44-459E-9984-49954373B44F}"/>
                  </a:ext>
                  <a:ext uri="{C183D7F6-B498-43B3-948B-1728B52AA6E4}">
                    <adec:decorative xmlns:adec="http://schemas.microsoft.com/office/drawing/2017/decorative" val="1"/>
                  </a:ext>
                </a:extLst>
              </p:cNvPr>
              <p:cNvSpPr txBox="1"/>
              <p:nvPr/>
            </p:nvSpPr>
            <p:spPr>
              <a:xfrm>
                <a:off x="4044070" y="3773948"/>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28</a:t>
                </a:r>
              </a:p>
            </p:txBody>
          </p:sp>
          <p:sp>
            <p:nvSpPr>
              <p:cNvPr id="26" name="TextBox 25">
                <a:extLst>
                  <a:ext uri="{FF2B5EF4-FFF2-40B4-BE49-F238E27FC236}">
                    <a16:creationId xmlns:a16="http://schemas.microsoft.com/office/drawing/2014/main" id="{0475A117-9D5E-44C2-85BD-04F9347631B9}"/>
                  </a:ext>
                  <a:ext uri="{C183D7F6-B498-43B3-948B-1728B52AA6E4}">
                    <adec:decorative xmlns:adec="http://schemas.microsoft.com/office/drawing/2017/decorative" val="1"/>
                  </a:ext>
                </a:extLst>
              </p:cNvPr>
              <p:cNvSpPr txBox="1"/>
              <p:nvPr/>
            </p:nvSpPr>
            <p:spPr>
              <a:xfrm>
                <a:off x="4915242" y="3764659"/>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39</a:t>
                </a:r>
              </a:p>
            </p:txBody>
          </p:sp>
          <p:sp>
            <p:nvSpPr>
              <p:cNvPr id="27" name="TextBox 26">
                <a:extLst>
                  <a:ext uri="{FF2B5EF4-FFF2-40B4-BE49-F238E27FC236}">
                    <a16:creationId xmlns:a16="http://schemas.microsoft.com/office/drawing/2014/main" id="{32F5FA45-C520-4141-A16D-990321183D0E}"/>
                  </a:ext>
                  <a:ext uri="{C183D7F6-B498-43B3-948B-1728B52AA6E4}">
                    <adec:decorative xmlns:adec="http://schemas.microsoft.com/office/drawing/2017/decorative" val="1"/>
                  </a:ext>
                </a:extLst>
              </p:cNvPr>
              <p:cNvSpPr txBox="1"/>
              <p:nvPr/>
            </p:nvSpPr>
            <p:spPr>
              <a:xfrm>
                <a:off x="5711635" y="3764659"/>
                <a:ext cx="383438"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29</a:t>
                </a:r>
              </a:p>
            </p:txBody>
          </p:sp>
          <p:cxnSp>
            <p:nvCxnSpPr>
              <p:cNvPr id="28" name="Straight Connector 27">
                <a:extLst>
                  <a:ext uri="{FF2B5EF4-FFF2-40B4-BE49-F238E27FC236}">
                    <a16:creationId xmlns:a16="http://schemas.microsoft.com/office/drawing/2014/main" id="{ED0B8080-326C-48CB-B7CE-F7634259D9D2}"/>
                  </a:ext>
                  <a:ext uri="{C183D7F6-B498-43B3-948B-1728B52AA6E4}">
                    <adec:decorative xmlns:adec="http://schemas.microsoft.com/office/drawing/2017/decorative" val="1"/>
                  </a:ext>
                </a:extLst>
              </p:cNvPr>
              <p:cNvCxnSpPr/>
              <p:nvPr/>
            </p:nvCxnSpPr>
            <p:spPr>
              <a:xfrm flipH="1">
                <a:off x="3894434" y="2984644"/>
                <a:ext cx="573642" cy="284847"/>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9812509-2640-493B-ACAE-3D8D204F2E54}"/>
                  </a:ext>
                  <a:ext uri="{C183D7F6-B498-43B3-948B-1728B52AA6E4}">
                    <adec:decorative xmlns:adec="http://schemas.microsoft.com/office/drawing/2017/decorative" val="1"/>
                  </a:ext>
                </a:extLst>
              </p:cNvPr>
              <p:cNvCxnSpPr/>
              <p:nvPr/>
            </p:nvCxnSpPr>
            <p:spPr>
              <a:xfrm>
                <a:off x="4752591" y="2957626"/>
                <a:ext cx="716537" cy="330994"/>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BB851A3-DA63-4D8D-ABE6-F992F45E7E01}"/>
                  </a:ext>
                  <a:ext uri="{C183D7F6-B498-43B3-948B-1728B52AA6E4}">
                    <adec:decorative xmlns:adec="http://schemas.microsoft.com/office/drawing/2017/decorative" val="1"/>
                  </a:ext>
                </a:extLst>
              </p:cNvPr>
              <p:cNvCxnSpPr/>
              <p:nvPr/>
            </p:nvCxnSpPr>
            <p:spPr>
              <a:xfrm flipH="1">
                <a:off x="3338432" y="3610268"/>
                <a:ext cx="250066" cy="15903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CE30687-F7B7-40D6-B457-8981B596DF52}"/>
                  </a:ext>
                  <a:ext uri="{C183D7F6-B498-43B3-948B-1728B52AA6E4}">
                    <adec:decorative xmlns:adec="http://schemas.microsoft.com/office/drawing/2017/decorative" val="1"/>
                  </a:ext>
                </a:extLst>
              </p:cNvPr>
              <p:cNvCxnSpPr/>
              <p:nvPr/>
            </p:nvCxnSpPr>
            <p:spPr>
              <a:xfrm flipH="1">
                <a:off x="5107425" y="3610268"/>
                <a:ext cx="162606" cy="16368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34279F4-3FB3-4909-A81C-5D651E004572}"/>
                  </a:ext>
                  <a:ext uri="{C183D7F6-B498-43B3-948B-1728B52AA6E4}">
                    <adec:decorative xmlns:adec="http://schemas.microsoft.com/office/drawing/2017/decorative" val="1"/>
                  </a:ext>
                </a:extLst>
              </p:cNvPr>
              <p:cNvCxnSpPr/>
              <p:nvPr/>
            </p:nvCxnSpPr>
            <p:spPr>
              <a:xfrm flipH="1" flipV="1">
                <a:off x="3986695" y="3610268"/>
                <a:ext cx="249558" cy="16368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38CF59E-7EAA-48FE-A8C4-9706DB95C94F}"/>
                  </a:ext>
                  <a:ext uri="{C183D7F6-B498-43B3-948B-1728B52AA6E4}">
                    <adec:decorative xmlns:adec="http://schemas.microsoft.com/office/drawing/2017/decorative" val="1"/>
                  </a:ext>
                </a:extLst>
              </p:cNvPr>
              <p:cNvCxnSpPr/>
              <p:nvPr/>
            </p:nvCxnSpPr>
            <p:spPr>
              <a:xfrm flipH="1" flipV="1">
                <a:off x="5653759" y="3610269"/>
                <a:ext cx="250058"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55D3365-15F9-4289-9D44-E659CF0988E7}"/>
                  </a:ext>
                  <a:ext uri="{C183D7F6-B498-43B3-948B-1728B52AA6E4}">
                    <adec:decorative xmlns:adec="http://schemas.microsoft.com/office/drawing/2017/decorative" val="1"/>
                  </a:ext>
                </a:extLst>
              </p:cNvPr>
              <p:cNvCxnSpPr>
                <a:stCxn id="57" idx="0"/>
              </p:cNvCxnSpPr>
              <p:nvPr/>
            </p:nvCxnSpPr>
            <p:spPr>
              <a:xfrm flipV="1">
                <a:off x="3139334" y="4099817"/>
                <a:ext cx="122725"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8E6B03F-EDE4-4FEF-BC74-85BF6BF8DAA7}"/>
                  </a:ext>
                  <a:ext uri="{C183D7F6-B498-43B3-948B-1728B52AA6E4}">
                    <adec:decorative xmlns:adec="http://schemas.microsoft.com/office/drawing/2017/decorative" val="1"/>
                  </a:ext>
                </a:extLst>
              </p:cNvPr>
              <p:cNvCxnSpPr>
                <a:stCxn id="58" idx="0"/>
              </p:cNvCxnSpPr>
              <p:nvPr/>
            </p:nvCxnSpPr>
            <p:spPr>
              <a:xfrm flipH="1" flipV="1">
                <a:off x="3466924" y="4099817"/>
                <a:ext cx="706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7AB8B7A-3AA0-4714-BC2A-65786305177D}"/>
                  </a:ext>
                  <a:ext uri="{C183D7F6-B498-43B3-948B-1728B52AA6E4}">
                    <adec:decorative xmlns:adec="http://schemas.microsoft.com/office/drawing/2017/decorative" val="1"/>
                  </a:ext>
                </a:extLst>
              </p:cNvPr>
              <p:cNvCxnSpPr>
                <a:stCxn id="59" idx="0"/>
              </p:cNvCxnSpPr>
              <p:nvPr/>
            </p:nvCxnSpPr>
            <p:spPr>
              <a:xfrm flipV="1">
                <a:off x="4027937" y="4109105"/>
                <a:ext cx="80331"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39D941E-7960-4022-8175-FBFCAEC72FEF}"/>
                  </a:ext>
                  <a:ext uri="{C183D7F6-B498-43B3-948B-1728B52AA6E4}">
                    <adec:decorative xmlns:adec="http://schemas.microsoft.com/office/drawing/2017/decorative" val="1"/>
                  </a:ext>
                </a:extLst>
              </p:cNvPr>
              <p:cNvCxnSpPr/>
              <p:nvPr/>
            </p:nvCxnSpPr>
            <p:spPr>
              <a:xfrm flipH="1" flipV="1">
                <a:off x="4327340" y="4099817"/>
                <a:ext cx="90580"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AC64B88-7C6F-4B42-B41F-16B1318DEE19}"/>
                  </a:ext>
                  <a:ext uri="{C183D7F6-B498-43B3-948B-1728B52AA6E4}">
                    <adec:decorative xmlns:adec="http://schemas.microsoft.com/office/drawing/2017/decorative" val="1"/>
                  </a:ext>
                </a:extLst>
              </p:cNvPr>
              <p:cNvCxnSpPr/>
              <p:nvPr/>
            </p:nvCxnSpPr>
            <p:spPr>
              <a:xfrm flipV="1">
                <a:off x="4908326" y="4099817"/>
                <a:ext cx="908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0BFA9DB-A978-449F-9F63-9DDBA4B0621E}"/>
                  </a:ext>
                  <a:ext uri="{C183D7F6-B498-43B3-948B-1728B52AA6E4}">
                    <adec:decorative xmlns:adec="http://schemas.microsoft.com/office/drawing/2017/decorative" val="1"/>
                  </a:ext>
                </a:extLst>
              </p:cNvPr>
              <p:cNvCxnSpPr/>
              <p:nvPr/>
            </p:nvCxnSpPr>
            <p:spPr>
              <a:xfrm flipH="1" flipV="1">
                <a:off x="5255561" y="4109105"/>
                <a:ext cx="50962"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84207F50-D829-441E-A1B4-0A91BEEDEF4D}"/>
                  </a:ext>
                  <a:ext uri="{C183D7F6-B498-43B3-948B-1728B52AA6E4}">
                    <adec:decorative xmlns:adec="http://schemas.microsoft.com/office/drawing/2017/decorative" val="1"/>
                  </a:ext>
                </a:extLst>
              </p:cNvPr>
              <p:cNvSpPr txBox="1"/>
              <p:nvPr/>
            </p:nvSpPr>
            <p:spPr>
              <a:xfrm>
                <a:off x="3146249" y="3769303"/>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20</a:t>
                </a:r>
              </a:p>
            </p:txBody>
          </p:sp>
          <p:sp>
            <p:nvSpPr>
              <p:cNvPr id="42" name="TextBox 41">
                <a:extLst>
                  <a:ext uri="{FF2B5EF4-FFF2-40B4-BE49-F238E27FC236}">
                    <a16:creationId xmlns:a16="http://schemas.microsoft.com/office/drawing/2014/main" id="{871088E9-1A57-451B-A4D9-D0493D3FC3CA}"/>
                  </a:ext>
                  <a:ext uri="{C183D7F6-B498-43B3-948B-1728B52AA6E4}">
                    <adec:decorative xmlns:adec="http://schemas.microsoft.com/office/drawing/2017/decorative" val="1"/>
                  </a:ext>
                </a:extLst>
              </p:cNvPr>
              <p:cNvSpPr txBox="1"/>
              <p:nvPr/>
            </p:nvSpPr>
            <p:spPr>
              <a:xfrm>
                <a:off x="4044070" y="3773948"/>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28</a:t>
                </a:r>
              </a:p>
            </p:txBody>
          </p:sp>
          <p:sp>
            <p:nvSpPr>
              <p:cNvPr id="46" name="TextBox 45">
                <a:extLst>
                  <a:ext uri="{FF2B5EF4-FFF2-40B4-BE49-F238E27FC236}">
                    <a16:creationId xmlns:a16="http://schemas.microsoft.com/office/drawing/2014/main" id="{39C61B35-F0FA-439E-904F-1E4CD8F96B23}"/>
                  </a:ext>
                  <a:ext uri="{C183D7F6-B498-43B3-948B-1728B52AA6E4}">
                    <adec:decorative xmlns:adec="http://schemas.microsoft.com/office/drawing/2017/decorative" val="1"/>
                  </a:ext>
                </a:extLst>
              </p:cNvPr>
              <p:cNvSpPr txBox="1"/>
              <p:nvPr/>
            </p:nvSpPr>
            <p:spPr>
              <a:xfrm>
                <a:off x="2947151"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37</a:t>
                </a:r>
              </a:p>
            </p:txBody>
          </p:sp>
          <p:sp>
            <p:nvSpPr>
              <p:cNvPr id="47" name="TextBox 46">
                <a:extLst>
                  <a:ext uri="{FF2B5EF4-FFF2-40B4-BE49-F238E27FC236}">
                    <a16:creationId xmlns:a16="http://schemas.microsoft.com/office/drawing/2014/main" id="{F64F9888-0E5D-44FD-8CCA-230171B60EF2}"/>
                  </a:ext>
                  <a:ext uri="{C183D7F6-B498-43B3-948B-1728B52AA6E4}">
                    <adec:decorative xmlns:adec="http://schemas.microsoft.com/office/drawing/2017/decorative" val="1"/>
                  </a:ext>
                </a:extLst>
              </p:cNvPr>
              <p:cNvSpPr txBox="1"/>
              <p:nvPr/>
            </p:nvSpPr>
            <p:spPr>
              <a:xfrm>
                <a:off x="334534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26</a:t>
                </a:r>
              </a:p>
            </p:txBody>
          </p:sp>
          <p:sp>
            <p:nvSpPr>
              <p:cNvPr id="56" name="TextBox 55">
                <a:extLst>
                  <a:ext uri="{FF2B5EF4-FFF2-40B4-BE49-F238E27FC236}">
                    <a16:creationId xmlns:a16="http://schemas.microsoft.com/office/drawing/2014/main" id="{6087B08E-F810-48F6-98FD-8FC6E1FC27EF}"/>
                  </a:ext>
                  <a:ext uri="{C183D7F6-B498-43B3-948B-1728B52AA6E4}">
                    <adec:decorative xmlns:adec="http://schemas.microsoft.com/office/drawing/2017/decorative" val="1"/>
                  </a:ext>
                </a:extLst>
              </p:cNvPr>
              <p:cNvSpPr txBox="1"/>
              <p:nvPr/>
            </p:nvSpPr>
            <p:spPr>
              <a:xfrm>
                <a:off x="3835754"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76</a:t>
                </a:r>
              </a:p>
            </p:txBody>
          </p:sp>
          <p:sp>
            <p:nvSpPr>
              <p:cNvPr id="57" name="TextBox 56">
                <a:extLst>
                  <a:ext uri="{FF2B5EF4-FFF2-40B4-BE49-F238E27FC236}">
                    <a16:creationId xmlns:a16="http://schemas.microsoft.com/office/drawing/2014/main" id="{8C8CD950-8C99-4070-8111-1C1171DBC0D2}"/>
                  </a:ext>
                  <a:ext uri="{C183D7F6-B498-43B3-948B-1728B52AA6E4}">
                    <adec:decorative xmlns:adec="http://schemas.microsoft.com/office/drawing/2017/decorative" val="1"/>
                  </a:ext>
                </a:extLst>
              </p:cNvPr>
              <p:cNvSpPr txBox="1"/>
              <p:nvPr/>
            </p:nvSpPr>
            <p:spPr>
              <a:xfrm>
                <a:off x="422573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32</a:t>
                </a:r>
              </a:p>
            </p:txBody>
          </p:sp>
          <p:sp>
            <p:nvSpPr>
              <p:cNvPr id="58" name="TextBox 57">
                <a:extLst>
                  <a:ext uri="{FF2B5EF4-FFF2-40B4-BE49-F238E27FC236}">
                    <a16:creationId xmlns:a16="http://schemas.microsoft.com/office/drawing/2014/main" id="{46695E7F-1157-4296-9575-75ABE9F7757C}"/>
                  </a:ext>
                  <a:ext uri="{C183D7F6-B498-43B3-948B-1728B52AA6E4}">
                    <adec:decorative xmlns:adec="http://schemas.microsoft.com/office/drawing/2017/decorative" val="1"/>
                  </a:ext>
                </a:extLst>
              </p:cNvPr>
              <p:cNvSpPr txBox="1"/>
              <p:nvPr/>
            </p:nvSpPr>
            <p:spPr>
              <a:xfrm>
                <a:off x="4716143"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74</a:t>
                </a:r>
              </a:p>
            </p:txBody>
          </p:sp>
          <p:sp>
            <p:nvSpPr>
              <p:cNvPr id="59" name="TextBox 58">
                <a:extLst>
                  <a:ext uri="{FF2B5EF4-FFF2-40B4-BE49-F238E27FC236}">
                    <a16:creationId xmlns:a16="http://schemas.microsoft.com/office/drawing/2014/main" id="{7B1EFF9C-027F-44CB-9278-28DE7C644F43}"/>
                  </a:ext>
                  <a:ext uri="{C183D7F6-B498-43B3-948B-1728B52AA6E4}">
                    <adec:decorative xmlns:adec="http://schemas.microsoft.com/office/drawing/2017/decorative" val="1"/>
                  </a:ext>
                </a:extLst>
              </p:cNvPr>
              <p:cNvSpPr txBox="1"/>
              <p:nvPr/>
            </p:nvSpPr>
            <p:spPr>
              <a:xfrm>
                <a:off x="5114340"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89</a:t>
                </a:r>
              </a:p>
            </p:txBody>
          </p:sp>
          <p:cxnSp>
            <p:nvCxnSpPr>
              <p:cNvPr id="92" name="Straight Connector 91">
                <a:extLst>
                  <a:ext uri="{FF2B5EF4-FFF2-40B4-BE49-F238E27FC236}">
                    <a16:creationId xmlns:a16="http://schemas.microsoft.com/office/drawing/2014/main" id="{EBEA3ACF-2172-4675-AC74-9451CCF67AD0}"/>
                  </a:ext>
                  <a:ext uri="{C183D7F6-B498-43B3-948B-1728B52AA6E4}">
                    <adec:decorative xmlns:adec="http://schemas.microsoft.com/office/drawing/2017/decorative" val="1"/>
                  </a:ext>
                </a:extLst>
              </p:cNvPr>
              <p:cNvCxnSpPr/>
              <p:nvPr/>
            </p:nvCxnSpPr>
            <p:spPr>
              <a:xfrm flipV="1">
                <a:off x="5783097" y="4081725"/>
                <a:ext cx="908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CBC93E32-E9EB-4322-877A-2B3A674BE372}"/>
                  </a:ext>
                  <a:ext uri="{C183D7F6-B498-43B3-948B-1728B52AA6E4}">
                    <adec:decorative xmlns:adec="http://schemas.microsoft.com/office/drawing/2017/decorative" val="1"/>
                  </a:ext>
                </a:extLst>
              </p:cNvPr>
              <p:cNvSpPr txBox="1"/>
              <p:nvPr/>
            </p:nvSpPr>
            <p:spPr>
              <a:xfrm>
                <a:off x="5590914" y="4245403"/>
                <a:ext cx="383438"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66</a:t>
                </a:r>
              </a:p>
            </p:txBody>
          </p:sp>
          <p:cxnSp>
            <p:nvCxnSpPr>
              <p:cNvPr id="6" name="Connector: Curved 5">
                <a:extLst>
                  <a:ext uri="{FF2B5EF4-FFF2-40B4-BE49-F238E27FC236}">
                    <a16:creationId xmlns:a16="http://schemas.microsoft.com/office/drawing/2014/main" id="{C09502A7-2356-9681-FEF3-851BDA9ABA20}"/>
                  </a:ext>
                </a:extLst>
              </p:cNvPr>
              <p:cNvCxnSpPr>
                <a:stCxn id="94" idx="3"/>
                <a:endCxn id="14" idx="3"/>
              </p:cNvCxnSpPr>
              <p:nvPr/>
            </p:nvCxnSpPr>
            <p:spPr>
              <a:xfrm flipH="1" flipV="1">
                <a:off x="4752591" y="2944117"/>
                <a:ext cx="1221761" cy="1455175"/>
              </a:xfrm>
              <a:prstGeom prst="curvedConnector3">
                <a:avLst>
                  <a:gd name="adj1" fmla="val -55103"/>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FBECE8AE-C31A-3890-E32A-C04DAD6196F3}"/>
                </a:ext>
              </a:extLst>
            </p:cNvPr>
            <p:cNvSpPr txBox="1"/>
            <p:nvPr/>
          </p:nvSpPr>
          <p:spPr>
            <a:xfrm>
              <a:off x="3330682" y="2382897"/>
              <a:ext cx="2427226" cy="43088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Copy last element to root and delete last element</a:t>
              </a:r>
            </a:p>
          </p:txBody>
        </p:sp>
      </p:grpSp>
      <p:grpSp>
        <p:nvGrpSpPr>
          <p:cNvPr id="137" name="Group 136">
            <a:extLst>
              <a:ext uri="{FF2B5EF4-FFF2-40B4-BE49-F238E27FC236}">
                <a16:creationId xmlns:a16="http://schemas.microsoft.com/office/drawing/2014/main" id="{9D6E652D-ADDA-1DDB-3220-ECAF28BDA8A7}"/>
              </a:ext>
            </a:extLst>
          </p:cNvPr>
          <p:cNvGrpSpPr/>
          <p:nvPr/>
        </p:nvGrpSpPr>
        <p:grpSpPr>
          <a:xfrm>
            <a:off x="4336713" y="2556691"/>
            <a:ext cx="4447074" cy="1976600"/>
            <a:chOff x="5118255" y="2413645"/>
            <a:chExt cx="4447074" cy="1976600"/>
          </a:xfrm>
        </p:grpSpPr>
        <p:grpSp>
          <p:nvGrpSpPr>
            <p:cNvPr id="48" name="Group 47">
              <a:extLst>
                <a:ext uri="{FF2B5EF4-FFF2-40B4-BE49-F238E27FC236}">
                  <a16:creationId xmlns:a16="http://schemas.microsoft.com/office/drawing/2014/main" id="{32C11EEF-12F9-C078-1836-59D8B5B57833}"/>
                </a:ext>
              </a:extLst>
            </p:cNvPr>
            <p:cNvGrpSpPr/>
            <p:nvPr/>
          </p:nvGrpSpPr>
          <p:grpSpPr>
            <a:xfrm>
              <a:off x="5118255" y="2609201"/>
              <a:ext cx="3147922" cy="1781044"/>
              <a:chOff x="2947151" y="2790228"/>
              <a:chExt cx="3147922" cy="1781044"/>
            </a:xfrm>
          </p:grpSpPr>
          <p:sp>
            <p:nvSpPr>
              <p:cNvPr id="49" name="TextBox 48">
                <a:extLst>
                  <a:ext uri="{FF2B5EF4-FFF2-40B4-BE49-F238E27FC236}">
                    <a16:creationId xmlns:a16="http://schemas.microsoft.com/office/drawing/2014/main" id="{0C1F3AE8-4D06-7C49-4085-1F11EA041B52}"/>
                  </a:ext>
                  <a:ext uri="{C183D7F6-B498-43B3-948B-1728B52AA6E4}">
                    <adec:decorative xmlns:adec="http://schemas.microsoft.com/office/drawing/2017/decorative" val="1"/>
                  </a:ext>
                </a:extLst>
              </p:cNvPr>
              <p:cNvSpPr txBox="1"/>
              <p:nvPr/>
            </p:nvSpPr>
            <p:spPr>
              <a:xfrm>
                <a:off x="4468076" y="2790228"/>
                <a:ext cx="383438" cy="307777"/>
              </a:xfrm>
              <a:prstGeom prst="rect">
                <a:avLst/>
              </a:prstGeom>
              <a:noFill/>
              <a:ln>
                <a:solidFill>
                  <a:srgbClr val="00DA63"/>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66</a:t>
                </a:r>
              </a:p>
            </p:txBody>
          </p:sp>
          <p:sp>
            <p:nvSpPr>
              <p:cNvPr id="50" name="TextBox 49">
                <a:extLst>
                  <a:ext uri="{FF2B5EF4-FFF2-40B4-BE49-F238E27FC236}">
                    <a16:creationId xmlns:a16="http://schemas.microsoft.com/office/drawing/2014/main" id="{E819150A-6A38-028E-1856-682BAB6C0024}"/>
                  </a:ext>
                  <a:ext uri="{C183D7F6-B498-43B3-948B-1728B52AA6E4}">
                    <adec:decorative xmlns:adec="http://schemas.microsoft.com/office/drawing/2017/decorative" val="1"/>
                  </a:ext>
                </a:extLst>
              </p:cNvPr>
              <p:cNvSpPr txBox="1"/>
              <p:nvPr/>
            </p:nvSpPr>
            <p:spPr>
              <a:xfrm>
                <a:off x="3588497" y="327933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18</a:t>
                </a:r>
              </a:p>
            </p:txBody>
          </p:sp>
          <p:sp>
            <p:nvSpPr>
              <p:cNvPr id="51" name="TextBox 50">
                <a:extLst>
                  <a:ext uri="{FF2B5EF4-FFF2-40B4-BE49-F238E27FC236}">
                    <a16:creationId xmlns:a16="http://schemas.microsoft.com/office/drawing/2014/main" id="{9D7B2F8A-9255-39BD-B85D-770B4A88552C}"/>
                  </a:ext>
                  <a:ext uri="{C183D7F6-B498-43B3-948B-1728B52AA6E4}">
                    <adec:decorative xmlns:adec="http://schemas.microsoft.com/office/drawing/2017/decorative" val="1"/>
                  </a:ext>
                </a:extLst>
              </p:cNvPr>
              <p:cNvSpPr txBox="1"/>
              <p:nvPr/>
            </p:nvSpPr>
            <p:spPr>
              <a:xfrm>
                <a:off x="5270029" y="3275111"/>
                <a:ext cx="398197" cy="307777"/>
              </a:xfrm>
              <a:prstGeom prst="rect">
                <a:avLst/>
              </a:prstGeom>
              <a:noFill/>
              <a:ln>
                <a:solidFill>
                  <a:srgbClr val="EB6E19"/>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11</a:t>
                </a:r>
              </a:p>
            </p:txBody>
          </p:sp>
          <p:sp>
            <p:nvSpPr>
              <p:cNvPr id="52" name="TextBox 51">
                <a:extLst>
                  <a:ext uri="{FF2B5EF4-FFF2-40B4-BE49-F238E27FC236}">
                    <a16:creationId xmlns:a16="http://schemas.microsoft.com/office/drawing/2014/main" id="{AB336F0D-D4A9-54DE-384C-EEA47979EBEC}"/>
                  </a:ext>
                  <a:ext uri="{C183D7F6-B498-43B3-948B-1728B52AA6E4}">
                    <adec:decorative xmlns:adec="http://schemas.microsoft.com/office/drawing/2017/decorative" val="1"/>
                  </a:ext>
                </a:extLst>
              </p:cNvPr>
              <p:cNvSpPr txBox="1"/>
              <p:nvPr/>
            </p:nvSpPr>
            <p:spPr>
              <a:xfrm>
                <a:off x="2947151"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37</a:t>
                </a:r>
              </a:p>
            </p:txBody>
          </p:sp>
          <p:sp>
            <p:nvSpPr>
              <p:cNvPr id="53" name="TextBox 52">
                <a:extLst>
                  <a:ext uri="{FF2B5EF4-FFF2-40B4-BE49-F238E27FC236}">
                    <a16:creationId xmlns:a16="http://schemas.microsoft.com/office/drawing/2014/main" id="{5344AE48-360C-6E8C-1905-A4EC624511BE}"/>
                  </a:ext>
                  <a:ext uri="{C183D7F6-B498-43B3-948B-1728B52AA6E4}">
                    <adec:decorative xmlns:adec="http://schemas.microsoft.com/office/drawing/2017/decorative" val="1"/>
                  </a:ext>
                </a:extLst>
              </p:cNvPr>
              <p:cNvSpPr txBox="1"/>
              <p:nvPr/>
            </p:nvSpPr>
            <p:spPr>
              <a:xfrm>
                <a:off x="334534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26</a:t>
                </a:r>
              </a:p>
            </p:txBody>
          </p:sp>
          <p:sp>
            <p:nvSpPr>
              <p:cNvPr id="54" name="TextBox 53">
                <a:extLst>
                  <a:ext uri="{FF2B5EF4-FFF2-40B4-BE49-F238E27FC236}">
                    <a16:creationId xmlns:a16="http://schemas.microsoft.com/office/drawing/2014/main" id="{17A83FBE-E784-3119-ACC3-B8F0A70A58DB}"/>
                  </a:ext>
                  <a:ext uri="{C183D7F6-B498-43B3-948B-1728B52AA6E4}">
                    <adec:decorative xmlns:adec="http://schemas.microsoft.com/office/drawing/2017/decorative" val="1"/>
                  </a:ext>
                </a:extLst>
              </p:cNvPr>
              <p:cNvSpPr txBox="1"/>
              <p:nvPr/>
            </p:nvSpPr>
            <p:spPr>
              <a:xfrm>
                <a:off x="3835754"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76</a:t>
                </a:r>
              </a:p>
            </p:txBody>
          </p:sp>
          <p:sp>
            <p:nvSpPr>
              <p:cNvPr id="55" name="TextBox 54">
                <a:extLst>
                  <a:ext uri="{FF2B5EF4-FFF2-40B4-BE49-F238E27FC236}">
                    <a16:creationId xmlns:a16="http://schemas.microsoft.com/office/drawing/2014/main" id="{6F494ACF-74DE-5A71-B89A-7C8270591D41}"/>
                  </a:ext>
                  <a:ext uri="{C183D7F6-B498-43B3-948B-1728B52AA6E4}">
                    <adec:decorative xmlns:adec="http://schemas.microsoft.com/office/drawing/2017/decorative" val="1"/>
                  </a:ext>
                </a:extLst>
              </p:cNvPr>
              <p:cNvSpPr txBox="1"/>
              <p:nvPr/>
            </p:nvSpPr>
            <p:spPr>
              <a:xfrm>
                <a:off x="422573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32</a:t>
                </a:r>
              </a:p>
            </p:txBody>
          </p:sp>
          <p:sp>
            <p:nvSpPr>
              <p:cNvPr id="60" name="TextBox 59">
                <a:extLst>
                  <a:ext uri="{FF2B5EF4-FFF2-40B4-BE49-F238E27FC236}">
                    <a16:creationId xmlns:a16="http://schemas.microsoft.com/office/drawing/2014/main" id="{BF548DD8-8BF3-F796-73E6-52C61CA0F6B8}"/>
                  </a:ext>
                  <a:ext uri="{C183D7F6-B498-43B3-948B-1728B52AA6E4}">
                    <adec:decorative xmlns:adec="http://schemas.microsoft.com/office/drawing/2017/decorative" val="1"/>
                  </a:ext>
                </a:extLst>
              </p:cNvPr>
              <p:cNvSpPr txBox="1"/>
              <p:nvPr/>
            </p:nvSpPr>
            <p:spPr>
              <a:xfrm>
                <a:off x="4716143"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74</a:t>
                </a:r>
              </a:p>
            </p:txBody>
          </p:sp>
          <p:sp>
            <p:nvSpPr>
              <p:cNvPr id="61" name="TextBox 60">
                <a:extLst>
                  <a:ext uri="{FF2B5EF4-FFF2-40B4-BE49-F238E27FC236}">
                    <a16:creationId xmlns:a16="http://schemas.microsoft.com/office/drawing/2014/main" id="{72EA9E55-CDB9-151D-86F6-9CCAC09F730B}"/>
                  </a:ext>
                  <a:ext uri="{C183D7F6-B498-43B3-948B-1728B52AA6E4}">
                    <adec:decorative xmlns:adec="http://schemas.microsoft.com/office/drawing/2017/decorative" val="1"/>
                  </a:ext>
                </a:extLst>
              </p:cNvPr>
              <p:cNvSpPr txBox="1"/>
              <p:nvPr/>
            </p:nvSpPr>
            <p:spPr>
              <a:xfrm>
                <a:off x="5114340"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89</a:t>
                </a:r>
              </a:p>
            </p:txBody>
          </p:sp>
          <p:sp>
            <p:nvSpPr>
              <p:cNvPr id="62" name="TextBox 61">
                <a:extLst>
                  <a:ext uri="{FF2B5EF4-FFF2-40B4-BE49-F238E27FC236}">
                    <a16:creationId xmlns:a16="http://schemas.microsoft.com/office/drawing/2014/main" id="{6B7AEC1B-8BEB-3C9F-FDBA-3B9CE125D7EE}"/>
                  </a:ext>
                  <a:ext uri="{C183D7F6-B498-43B3-948B-1728B52AA6E4}">
                    <adec:decorative xmlns:adec="http://schemas.microsoft.com/office/drawing/2017/decorative" val="1"/>
                  </a:ext>
                </a:extLst>
              </p:cNvPr>
              <p:cNvSpPr txBox="1"/>
              <p:nvPr/>
            </p:nvSpPr>
            <p:spPr>
              <a:xfrm>
                <a:off x="3146249" y="3769303"/>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20</a:t>
                </a:r>
              </a:p>
            </p:txBody>
          </p:sp>
          <p:sp>
            <p:nvSpPr>
              <p:cNvPr id="63" name="TextBox 62">
                <a:extLst>
                  <a:ext uri="{FF2B5EF4-FFF2-40B4-BE49-F238E27FC236}">
                    <a16:creationId xmlns:a16="http://schemas.microsoft.com/office/drawing/2014/main" id="{DEB85E4D-522D-DD43-8460-D36AFAE570DD}"/>
                  </a:ext>
                  <a:ext uri="{C183D7F6-B498-43B3-948B-1728B52AA6E4}">
                    <adec:decorative xmlns:adec="http://schemas.microsoft.com/office/drawing/2017/decorative" val="1"/>
                  </a:ext>
                </a:extLst>
              </p:cNvPr>
              <p:cNvSpPr txBox="1"/>
              <p:nvPr/>
            </p:nvSpPr>
            <p:spPr>
              <a:xfrm>
                <a:off x="4044070" y="3773948"/>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28</a:t>
                </a:r>
              </a:p>
            </p:txBody>
          </p:sp>
          <p:sp>
            <p:nvSpPr>
              <p:cNvPr id="64" name="TextBox 63">
                <a:extLst>
                  <a:ext uri="{FF2B5EF4-FFF2-40B4-BE49-F238E27FC236}">
                    <a16:creationId xmlns:a16="http://schemas.microsoft.com/office/drawing/2014/main" id="{86862A1C-C6F9-DADC-651A-24C231C1A776}"/>
                  </a:ext>
                  <a:ext uri="{C183D7F6-B498-43B3-948B-1728B52AA6E4}">
                    <adec:decorative xmlns:adec="http://schemas.microsoft.com/office/drawing/2017/decorative" val="1"/>
                  </a:ext>
                </a:extLst>
              </p:cNvPr>
              <p:cNvSpPr txBox="1"/>
              <p:nvPr/>
            </p:nvSpPr>
            <p:spPr>
              <a:xfrm>
                <a:off x="4915242" y="3764659"/>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39</a:t>
                </a:r>
              </a:p>
            </p:txBody>
          </p:sp>
          <p:sp>
            <p:nvSpPr>
              <p:cNvPr id="65" name="TextBox 64">
                <a:extLst>
                  <a:ext uri="{FF2B5EF4-FFF2-40B4-BE49-F238E27FC236}">
                    <a16:creationId xmlns:a16="http://schemas.microsoft.com/office/drawing/2014/main" id="{085023B6-6B8D-2837-29E4-1C925800F99E}"/>
                  </a:ext>
                  <a:ext uri="{C183D7F6-B498-43B3-948B-1728B52AA6E4}">
                    <adec:decorative xmlns:adec="http://schemas.microsoft.com/office/drawing/2017/decorative" val="1"/>
                  </a:ext>
                </a:extLst>
              </p:cNvPr>
              <p:cNvSpPr txBox="1"/>
              <p:nvPr/>
            </p:nvSpPr>
            <p:spPr>
              <a:xfrm>
                <a:off x="5711635" y="3764659"/>
                <a:ext cx="383438"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29</a:t>
                </a:r>
              </a:p>
            </p:txBody>
          </p:sp>
          <p:cxnSp>
            <p:nvCxnSpPr>
              <p:cNvPr id="66" name="Straight Connector 65">
                <a:extLst>
                  <a:ext uri="{FF2B5EF4-FFF2-40B4-BE49-F238E27FC236}">
                    <a16:creationId xmlns:a16="http://schemas.microsoft.com/office/drawing/2014/main" id="{689EF3F7-2057-4CFB-305E-5BC8A6ED5B21}"/>
                  </a:ext>
                  <a:ext uri="{C183D7F6-B498-43B3-948B-1728B52AA6E4}">
                    <adec:decorative xmlns:adec="http://schemas.microsoft.com/office/drawing/2017/decorative" val="1"/>
                  </a:ext>
                </a:extLst>
              </p:cNvPr>
              <p:cNvCxnSpPr/>
              <p:nvPr/>
            </p:nvCxnSpPr>
            <p:spPr>
              <a:xfrm flipH="1">
                <a:off x="3894434" y="2984644"/>
                <a:ext cx="573642" cy="284847"/>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548B6167-679E-FF7E-24F1-8376EF9AAC76}"/>
                  </a:ext>
                  <a:ext uri="{C183D7F6-B498-43B3-948B-1728B52AA6E4}">
                    <adec:decorative xmlns:adec="http://schemas.microsoft.com/office/drawing/2017/decorative" val="1"/>
                  </a:ext>
                </a:extLst>
              </p:cNvPr>
              <p:cNvCxnSpPr>
                <a:cxnSpLocks/>
                <a:stCxn id="49" idx="3"/>
              </p:cNvCxnSpPr>
              <p:nvPr/>
            </p:nvCxnSpPr>
            <p:spPr>
              <a:xfrm>
                <a:off x="4851514" y="2944117"/>
                <a:ext cx="617614" cy="344503"/>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A7125B24-72FD-0493-FE0F-EFD4F1B36340}"/>
                  </a:ext>
                  <a:ext uri="{C183D7F6-B498-43B3-948B-1728B52AA6E4}">
                    <adec:decorative xmlns:adec="http://schemas.microsoft.com/office/drawing/2017/decorative" val="1"/>
                  </a:ext>
                </a:extLst>
              </p:cNvPr>
              <p:cNvCxnSpPr/>
              <p:nvPr/>
            </p:nvCxnSpPr>
            <p:spPr>
              <a:xfrm flipH="1">
                <a:off x="3338432" y="3610268"/>
                <a:ext cx="250066" cy="15903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9A4ABB38-7704-42A4-14A0-A96172B233FC}"/>
                  </a:ext>
                  <a:ext uri="{C183D7F6-B498-43B3-948B-1728B52AA6E4}">
                    <adec:decorative xmlns:adec="http://schemas.microsoft.com/office/drawing/2017/decorative" val="1"/>
                  </a:ext>
                </a:extLst>
              </p:cNvPr>
              <p:cNvCxnSpPr/>
              <p:nvPr/>
            </p:nvCxnSpPr>
            <p:spPr>
              <a:xfrm flipH="1">
                <a:off x="5107425" y="3610268"/>
                <a:ext cx="162606" cy="16368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BA47272-C702-6A7F-6F48-5E554EC0A67A}"/>
                  </a:ext>
                  <a:ext uri="{C183D7F6-B498-43B3-948B-1728B52AA6E4}">
                    <adec:decorative xmlns:adec="http://schemas.microsoft.com/office/drawing/2017/decorative" val="1"/>
                  </a:ext>
                </a:extLst>
              </p:cNvPr>
              <p:cNvCxnSpPr/>
              <p:nvPr/>
            </p:nvCxnSpPr>
            <p:spPr>
              <a:xfrm flipH="1" flipV="1">
                <a:off x="3986695" y="3610268"/>
                <a:ext cx="249558" cy="16368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E206AC36-8AE8-4F02-4B42-E8A943466CC0}"/>
                  </a:ext>
                  <a:ext uri="{C183D7F6-B498-43B3-948B-1728B52AA6E4}">
                    <adec:decorative xmlns:adec="http://schemas.microsoft.com/office/drawing/2017/decorative" val="1"/>
                  </a:ext>
                </a:extLst>
              </p:cNvPr>
              <p:cNvCxnSpPr/>
              <p:nvPr/>
            </p:nvCxnSpPr>
            <p:spPr>
              <a:xfrm flipH="1" flipV="1">
                <a:off x="5653759" y="3610269"/>
                <a:ext cx="250058"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1DC789D1-298B-F6A0-2C98-922C63DC97C3}"/>
                  </a:ext>
                  <a:ext uri="{C183D7F6-B498-43B3-948B-1728B52AA6E4}">
                    <adec:decorative xmlns:adec="http://schemas.microsoft.com/office/drawing/2017/decorative" val="1"/>
                  </a:ext>
                </a:extLst>
              </p:cNvPr>
              <p:cNvCxnSpPr>
                <a:stCxn id="83" idx="0"/>
              </p:cNvCxnSpPr>
              <p:nvPr/>
            </p:nvCxnSpPr>
            <p:spPr>
              <a:xfrm flipV="1">
                <a:off x="3139334" y="4099817"/>
                <a:ext cx="122725"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EEC198F8-6950-2004-F2D4-9329149D628C}"/>
                  </a:ext>
                  <a:ext uri="{C183D7F6-B498-43B3-948B-1728B52AA6E4}">
                    <adec:decorative xmlns:adec="http://schemas.microsoft.com/office/drawing/2017/decorative" val="1"/>
                  </a:ext>
                </a:extLst>
              </p:cNvPr>
              <p:cNvCxnSpPr>
                <a:stCxn id="84" idx="0"/>
              </p:cNvCxnSpPr>
              <p:nvPr/>
            </p:nvCxnSpPr>
            <p:spPr>
              <a:xfrm flipH="1" flipV="1">
                <a:off x="3466924" y="4099817"/>
                <a:ext cx="706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4135FF07-AA00-9069-757A-0783C7044F44}"/>
                  </a:ext>
                  <a:ext uri="{C183D7F6-B498-43B3-948B-1728B52AA6E4}">
                    <adec:decorative xmlns:adec="http://schemas.microsoft.com/office/drawing/2017/decorative" val="1"/>
                  </a:ext>
                </a:extLst>
              </p:cNvPr>
              <p:cNvCxnSpPr>
                <a:stCxn id="85" idx="0"/>
              </p:cNvCxnSpPr>
              <p:nvPr/>
            </p:nvCxnSpPr>
            <p:spPr>
              <a:xfrm flipV="1">
                <a:off x="4027937" y="4109105"/>
                <a:ext cx="80331"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013BE074-4042-5C9A-7FAA-D70692C30BB2}"/>
                  </a:ext>
                  <a:ext uri="{C183D7F6-B498-43B3-948B-1728B52AA6E4}">
                    <adec:decorative xmlns:adec="http://schemas.microsoft.com/office/drawing/2017/decorative" val="1"/>
                  </a:ext>
                </a:extLst>
              </p:cNvPr>
              <p:cNvCxnSpPr/>
              <p:nvPr/>
            </p:nvCxnSpPr>
            <p:spPr>
              <a:xfrm flipH="1" flipV="1">
                <a:off x="4327340" y="4099817"/>
                <a:ext cx="90580"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CB1F961-41CB-6E0E-D90A-764D930040FE}"/>
                  </a:ext>
                  <a:ext uri="{C183D7F6-B498-43B3-948B-1728B52AA6E4}">
                    <adec:decorative xmlns:adec="http://schemas.microsoft.com/office/drawing/2017/decorative" val="1"/>
                  </a:ext>
                </a:extLst>
              </p:cNvPr>
              <p:cNvCxnSpPr/>
              <p:nvPr/>
            </p:nvCxnSpPr>
            <p:spPr>
              <a:xfrm flipV="1">
                <a:off x="4908326" y="4099817"/>
                <a:ext cx="908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0EE2534-A989-CD53-ED8A-8FFEC00C1739}"/>
                  </a:ext>
                  <a:ext uri="{C183D7F6-B498-43B3-948B-1728B52AA6E4}">
                    <adec:decorative xmlns:adec="http://schemas.microsoft.com/office/drawing/2017/decorative" val="1"/>
                  </a:ext>
                </a:extLst>
              </p:cNvPr>
              <p:cNvCxnSpPr/>
              <p:nvPr/>
            </p:nvCxnSpPr>
            <p:spPr>
              <a:xfrm flipH="1" flipV="1">
                <a:off x="5255561" y="4109105"/>
                <a:ext cx="50962"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9CAFB51D-1F50-BBEA-2C8D-6D6FB2BC6AC8}"/>
                  </a:ext>
                  <a:ext uri="{C183D7F6-B498-43B3-948B-1728B52AA6E4}">
                    <adec:decorative xmlns:adec="http://schemas.microsoft.com/office/drawing/2017/decorative" val="1"/>
                  </a:ext>
                </a:extLst>
              </p:cNvPr>
              <p:cNvSpPr txBox="1"/>
              <p:nvPr/>
            </p:nvSpPr>
            <p:spPr>
              <a:xfrm>
                <a:off x="3146249" y="3769303"/>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20</a:t>
                </a:r>
              </a:p>
            </p:txBody>
          </p:sp>
          <p:sp>
            <p:nvSpPr>
              <p:cNvPr id="79" name="TextBox 78">
                <a:extLst>
                  <a:ext uri="{FF2B5EF4-FFF2-40B4-BE49-F238E27FC236}">
                    <a16:creationId xmlns:a16="http://schemas.microsoft.com/office/drawing/2014/main" id="{BB9A8310-015D-FC9B-B05D-40F1C861E946}"/>
                  </a:ext>
                  <a:ext uri="{C183D7F6-B498-43B3-948B-1728B52AA6E4}">
                    <adec:decorative xmlns:adec="http://schemas.microsoft.com/office/drawing/2017/decorative" val="1"/>
                  </a:ext>
                </a:extLst>
              </p:cNvPr>
              <p:cNvSpPr txBox="1"/>
              <p:nvPr/>
            </p:nvSpPr>
            <p:spPr>
              <a:xfrm>
                <a:off x="4044070" y="3773948"/>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28</a:t>
                </a:r>
              </a:p>
            </p:txBody>
          </p:sp>
          <p:sp>
            <p:nvSpPr>
              <p:cNvPr id="80" name="TextBox 79">
                <a:extLst>
                  <a:ext uri="{FF2B5EF4-FFF2-40B4-BE49-F238E27FC236}">
                    <a16:creationId xmlns:a16="http://schemas.microsoft.com/office/drawing/2014/main" id="{0C66D409-A5F2-D480-D7A3-9A1338C5F812}"/>
                  </a:ext>
                  <a:ext uri="{C183D7F6-B498-43B3-948B-1728B52AA6E4}">
                    <adec:decorative xmlns:adec="http://schemas.microsoft.com/office/drawing/2017/decorative" val="1"/>
                  </a:ext>
                </a:extLst>
              </p:cNvPr>
              <p:cNvSpPr txBox="1"/>
              <p:nvPr/>
            </p:nvSpPr>
            <p:spPr>
              <a:xfrm>
                <a:off x="2947151"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37</a:t>
                </a:r>
              </a:p>
            </p:txBody>
          </p:sp>
          <p:sp>
            <p:nvSpPr>
              <p:cNvPr id="81" name="TextBox 80">
                <a:extLst>
                  <a:ext uri="{FF2B5EF4-FFF2-40B4-BE49-F238E27FC236}">
                    <a16:creationId xmlns:a16="http://schemas.microsoft.com/office/drawing/2014/main" id="{22C21C97-B778-59CD-3340-A7B2AFA25435}"/>
                  </a:ext>
                  <a:ext uri="{C183D7F6-B498-43B3-948B-1728B52AA6E4}">
                    <adec:decorative xmlns:adec="http://schemas.microsoft.com/office/drawing/2017/decorative" val="1"/>
                  </a:ext>
                </a:extLst>
              </p:cNvPr>
              <p:cNvSpPr txBox="1"/>
              <p:nvPr/>
            </p:nvSpPr>
            <p:spPr>
              <a:xfrm>
                <a:off x="334534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26</a:t>
                </a:r>
              </a:p>
            </p:txBody>
          </p:sp>
          <p:sp>
            <p:nvSpPr>
              <p:cNvPr id="82" name="TextBox 81">
                <a:extLst>
                  <a:ext uri="{FF2B5EF4-FFF2-40B4-BE49-F238E27FC236}">
                    <a16:creationId xmlns:a16="http://schemas.microsoft.com/office/drawing/2014/main" id="{93B8E06C-F14B-9898-6925-B97D65688BA6}"/>
                  </a:ext>
                  <a:ext uri="{C183D7F6-B498-43B3-948B-1728B52AA6E4}">
                    <adec:decorative xmlns:adec="http://schemas.microsoft.com/office/drawing/2017/decorative" val="1"/>
                  </a:ext>
                </a:extLst>
              </p:cNvPr>
              <p:cNvSpPr txBox="1"/>
              <p:nvPr/>
            </p:nvSpPr>
            <p:spPr>
              <a:xfrm>
                <a:off x="3835754"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76</a:t>
                </a:r>
              </a:p>
            </p:txBody>
          </p:sp>
          <p:sp>
            <p:nvSpPr>
              <p:cNvPr id="83" name="TextBox 82">
                <a:extLst>
                  <a:ext uri="{FF2B5EF4-FFF2-40B4-BE49-F238E27FC236}">
                    <a16:creationId xmlns:a16="http://schemas.microsoft.com/office/drawing/2014/main" id="{41E5486E-5169-8689-9BE3-179F897871B2}"/>
                  </a:ext>
                  <a:ext uri="{C183D7F6-B498-43B3-948B-1728B52AA6E4}">
                    <adec:decorative xmlns:adec="http://schemas.microsoft.com/office/drawing/2017/decorative" val="1"/>
                  </a:ext>
                </a:extLst>
              </p:cNvPr>
              <p:cNvSpPr txBox="1"/>
              <p:nvPr/>
            </p:nvSpPr>
            <p:spPr>
              <a:xfrm>
                <a:off x="422573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32</a:t>
                </a:r>
              </a:p>
            </p:txBody>
          </p:sp>
          <p:sp>
            <p:nvSpPr>
              <p:cNvPr id="84" name="TextBox 83">
                <a:extLst>
                  <a:ext uri="{FF2B5EF4-FFF2-40B4-BE49-F238E27FC236}">
                    <a16:creationId xmlns:a16="http://schemas.microsoft.com/office/drawing/2014/main" id="{F63A1694-14F5-9947-32D1-C981E9FAD91C}"/>
                  </a:ext>
                  <a:ext uri="{C183D7F6-B498-43B3-948B-1728B52AA6E4}">
                    <adec:decorative xmlns:adec="http://schemas.microsoft.com/office/drawing/2017/decorative" val="1"/>
                  </a:ext>
                </a:extLst>
              </p:cNvPr>
              <p:cNvSpPr txBox="1"/>
              <p:nvPr/>
            </p:nvSpPr>
            <p:spPr>
              <a:xfrm>
                <a:off x="4716143"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74</a:t>
                </a:r>
              </a:p>
            </p:txBody>
          </p:sp>
          <p:sp>
            <p:nvSpPr>
              <p:cNvPr id="85" name="TextBox 84">
                <a:extLst>
                  <a:ext uri="{FF2B5EF4-FFF2-40B4-BE49-F238E27FC236}">
                    <a16:creationId xmlns:a16="http://schemas.microsoft.com/office/drawing/2014/main" id="{24378340-0AE4-846E-B883-9BD89D6BAB81}"/>
                  </a:ext>
                  <a:ext uri="{C183D7F6-B498-43B3-948B-1728B52AA6E4}">
                    <adec:decorative xmlns:adec="http://schemas.microsoft.com/office/drawing/2017/decorative" val="1"/>
                  </a:ext>
                </a:extLst>
              </p:cNvPr>
              <p:cNvSpPr txBox="1"/>
              <p:nvPr/>
            </p:nvSpPr>
            <p:spPr>
              <a:xfrm>
                <a:off x="5114340"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89</a:t>
                </a:r>
              </a:p>
            </p:txBody>
          </p:sp>
        </p:grpSp>
        <p:cxnSp>
          <p:nvCxnSpPr>
            <p:cNvPr id="89" name="Connector: Curved 88">
              <a:extLst>
                <a:ext uri="{FF2B5EF4-FFF2-40B4-BE49-F238E27FC236}">
                  <a16:creationId xmlns:a16="http://schemas.microsoft.com/office/drawing/2014/main" id="{B275AF37-1658-78A7-D1FC-97C0DBDE8ED9}"/>
                </a:ext>
              </a:extLst>
            </p:cNvPr>
            <p:cNvCxnSpPr>
              <a:cxnSpLocks/>
              <a:stCxn id="49" idx="3"/>
            </p:cNvCxnSpPr>
            <p:nvPr/>
          </p:nvCxnSpPr>
          <p:spPr>
            <a:xfrm>
              <a:off x="7022618" y="2763090"/>
              <a:ext cx="1453459" cy="991096"/>
            </a:xfrm>
            <a:prstGeom prst="curvedConnector3">
              <a:avLst>
                <a:gd name="adj1" fmla="val 103100"/>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B06801B1-3AA6-2EFD-6684-FB9578CE2195}"/>
                </a:ext>
              </a:extLst>
            </p:cNvPr>
            <p:cNvSpPr txBox="1"/>
            <p:nvPr/>
          </p:nvSpPr>
          <p:spPr>
            <a:xfrm>
              <a:off x="7138103" y="2413645"/>
              <a:ext cx="2427226"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err="1">
                  <a:ln>
                    <a:noFill/>
                  </a:ln>
                  <a:solidFill>
                    <a:srgbClr val="0081E2"/>
                  </a:solidFill>
                  <a:effectLst/>
                  <a:uLnTx/>
                  <a:uFillTx/>
                  <a:latin typeface="Consolas" panose="020B0609020204030204" pitchFamily="49" charset="0"/>
                  <a:ea typeface="+mn-ea"/>
                  <a:cs typeface="+mn-cs"/>
                </a:rPr>
                <a:t>Heapify</a:t>
              </a:r>
              <a:r>
                <a:rPr kumimoji="0" lang="en-US" sz="105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 down</a:t>
              </a:r>
            </a:p>
          </p:txBody>
        </p:sp>
      </p:grpSp>
      <p:grpSp>
        <p:nvGrpSpPr>
          <p:cNvPr id="138" name="Group 137">
            <a:extLst>
              <a:ext uri="{FF2B5EF4-FFF2-40B4-BE49-F238E27FC236}">
                <a16:creationId xmlns:a16="http://schemas.microsoft.com/office/drawing/2014/main" id="{5686D179-B4D1-52BF-2114-754CA231F865}"/>
              </a:ext>
            </a:extLst>
          </p:cNvPr>
          <p:cNvGrpSpPr/>
          <p:nvPr/>
        </p:nvGrpSpPr>
        <p:grpSpPr>
          <a:xfrm>
            <a:off x="8011855" y="2720021"/>
            <a:ext cx="5191710" cy="1781044"/>
            <a:chOff x="8591389" y="2627293"/>
            <a:chExt cx="5191710" cy="1781044"/>
          </a:xfrm>
        </p:grpSpPr>
        <p:grpSp>
          <p:nvGrpSpPr>
            <p:cNvPr id="100" name="Group 99">
              <a:extLst>
                <a:ext uri="{FF2B5EF4-FFF2-40B4-BE49-F238E27FC236}">
                  <a16:creationId xmlns:a16="http://schemas.microsoft.com/office/drawing/2014/main" id="{165BAD35-005A-E2A6-053E-23CB97DE440D}"/>
                </a:ext>
              </a:extLst>
            </p:cNvPr>
            <p:cNvGrpSpPr/>
            <p:nvPr/>
          </p:nvGrpSpPr>
          <p:grpSpPr>
            <a:xfrm>
              <a:off x="8591389" y="2627293"/>
              <a:ext cx="3147922" cy="1781044"/>
              <a:chOff x="2947151" y="2790228"/>
              <a:chExt cx="3147922" cy="1781044"/>
            </a:xfrm>
          </p:grpSpPr>
          <p:sp>
            <p:nvSpPr>
              <p:cNvPr id="101" name="TextBox 100">
                <a:extLst>
                  <a:ext uri="{FF2B5EF4-FFF2-40B4-BE49-F238E27FC236}">
                    <a16:creationId xmlns:a16="http://schemas.microsoft.com/office/drawing/2014/main" id="{10F9BEB8-E739-CFA4-435D-97B97933A079}"/>
                  </a:ext>
                  <a:ext uri="{C183D7F6-B498-43B3-948B-1728B52AA6E4}">
                    <adec:decorative xmlns:adec="http://schemas.microsoft.com/office/drawing/2017/decorative" val="1"/>
                  </a:ext>
                </a:extLst>
              </p:cNvPr>
              <p:cNvSpPr txBox="1"/>
              <p:nvPr/>
            </p:nvSpPr>
            <p:spPr>
              <a:xfrm>
                <a:off x="4468076" y="2790228"/>
                <a:ext cx="383438"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11</a:t>
                </a:r>
              </a:p>
            </p:txBody>
          </p:sp>
          <p:sp>
            <p:nvSpPr>
              <p:cNvPr id="102" name="TextBox 101">
                <a:extLst>
                  <a:ext uri="{FF2B5EF4-FFF2-40B4-BE49-F238E27FC236}">
                    <a16:creationId xmlns:a16="http://schemas.microsoft.com/office/drawing/2014/main" id="{FB46B601-D989-7CD8-D573-EB40077A84CC}"/>
                  </a:ext>
                  <a:ext uri="{C183D7F6-B498-43B3-948B-1728B52AA6E4}">
                    <adec:decorative xmlns:adec="http://schemas.microsoft.com/office/drawing/2017/decorative" val="1"/>
                  </a:ext>
                </a:extLst>
              </p:cNvPr>
              <p:cNvSpPr txBox="1"/>
              <p:nvPr/>
            </p:nvSpPr>
            <p:spPr>
              <a:xfrm>
                <a:off x="3588497" y="327933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18</a:t>
                </a:r>
              </a:p>
            </p:txBody>
          </p:sp>
          <p:sp>
            <p:nvSpPr>
              <p:cNvPr id="103" name="TextBox 102">
                <a:extLst>
                  <a:ext uri="{FF2B5EF4-FFF2-40B4-BE49-F238E27FC236}">
                    <a16:creationId xmlns:a16="http://schemas.microsoft.com/office/drawing/2014/main" id="{918E0A68-9A81-A5E4-4591-C5A483B4550D}"/>
                  </a:ext>
                  <a:ext uri="{C183D7F6-B498-43B3-948B-1728B52AA6E4}">
                    <adec:decorative xmlns:adec="http://schemas.microsoft.com/office/drawing/2017/decorative" val="1"/>
                  </a:ext>
                </a:extLst>
              </p:cNvPr>
              <p:cNvSpPr txBox="1"/>
              <p:nvPr/>
            </p:nvSpPr>
            <p:spPr>
              <a:xfrm>
                <a:off x="5270029" y="3275111"/>
                <a:ext cx="398197" cy="307777"/>
              </a:xfrm>
              <a:prstGeom prst="rect">
                <a:avLst/>
              </a:prstGeom>
              <a:noFill/>
              <a:ln>
                <a:solidFill>
                  <a:srgbClr val="00DA63"/>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66</a:t>
                </a:r>
              </a:p>
            </p:txBody>
          </p:sp>
          <p:sp>
            <p:nvSpPr>
              <p:cNvPr id="104" name="TextBox 103">
                <a:extLst>
                  <a:ext uri="{FF2B5EF4-FFF2-40B4-BE49-F238E27FC236}">
                    <a16:creationId xmlns:a16="http://schemas.microsoft.com/office/drawing/2014/main" id="{3F34C4EC-CA9C-CDD0-89D7-449F47CC1F6C}"/>
                  </a:ext>
                  <a:ext uri="{C183D7F6-B498-43B3-948B-1728B52AA6E4}">
                    <adec:decorative xmlns:adec="http://schemas.microsoft.com/office/drawing/2017/decorative" val="1"/>
                  </a:ext>
                </a:extLst>
              </p:cNvPr>
              <p:cNvSpPr txBox="1"/>
              <p:nvPr/>
            </p:nvSpPr>
            <p:spPr>
              <a:xfrm>
                <a:off x="2947151"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37</a:t>
                </a:r>
              </a:p>
            </p:txBody>
          </p:sp>
          <p:sp>
            <p:nvSpPr>
              <p:cNvPr id="105" name="TextBox 104">
                <a:extLst>
                  <a:ext uri="{FF2B5EF4-FFF2-40B4-BE49-F238E27FC236}">
                    <a16:creationId xmlns:a16="http://schemas.microsoft.com/office/drawing/2014/main" id="{FC314F42-7012-A7C4-6822-7C29C3AF017E}"/>
                  </a:ext>
                  <a:ext uri="{C183D7F6-B498-43B3-948B-1728B52AA6E4}">
                    <adec:decorative xmlns:adec="http://schemas.microsoft.com/office/drawing/2017/decorative" val="1"/>
                  </a:ext>
                </a:extLst>
              </p:cNvPr>
              <p:cNvSpPr txBox="1"/>
              <p:nvPr/>
            </p:nvSpPr>
            <p:spPr>
              <a:xfrm>
                <a:off x="334534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26</a:t>
                </a:r>
              </a:p>
            </p:txBody>
          </p:sp>
          <p:sp>
            <p:nvSpPr>
              <p:cNvPr id="106" name="TextBox 105">
                <a:extLst>
                  <a:ext uri="{FF2B5EF4-FFF2-40B4-BE49-F238E27FC236}">
                    <a16:creationId xmlns:a16="http://schemas.microsoft.com/office/drawing/2014/main" id="{41159D6D-95A2-F29E-42B4-850D5859F504}"/>
                  </a:ext>
                  <a:ext uri="{C183D7F6-B498-43B3-948B-1728B52AA6E4}">
                    <adec:decorative xmlns:adec="http://schemas.microsoft.com/office/drawing/2017/decorative" val="1"/>
                  </a:ext>
                </a:extLst>
              </p:cNvPr>
              <p:cNvSpPr txBox="1"/>
              <p:nvPr/>
            </p:nvSpPr>
            <p:spPr>
              <a:xfrm>
                <a:off x="3835754"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76</a:t>
                </a:r>
              </a:p>
            </p:txBody>
          </p:sp>
          <p:sp>
            <p:nvSpPr>
              <p:cNvPr id="107" name="TextBox 106">
                <a:extLst>
                  <a:ext uri="{FF2B5EF4-FFF2-40B4-BE49-F238E27FC236}">
                    <a16:creationId xmlns:a16="http://schemas.microsoft.com/office/drawing/2014/main" id="{3C67AD70-2F35-F6A8-9FBE-1E2471F8076A}"/>
                  </a:ext>
                  <a:ext uri="{C183D7F6-B498-43B3-948B-1728B52AA6E4}">
                    <adec:decorative xmlns:adec="http://schemas.microsoft.com/office/drawing/2017/decorative" val="1"/>
                  </a:ext>
                </a:extLst>
              </p:cNvPr>
              <p:cNvSpPr txBox="1"/>
              <p:nvPr/>
            </p:nvSpPr>
            <p:spPr>
              <a:xfrm>
                <a:off x="422573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32</a:t>
                </a:r>
              </a:p>
            </p:txBody>
          </p:sp>
          <p:sp>
            <p:nvSpPr>
              <p:cNvPr id="108" name="TextBox 107">
                <a:extLst>
                  <a:ext uri="{FF2B5EF4-FFF2-40B4-BE49-F238E27FC236}">
                    <a16:creationId xmlns:a16="http://schemas.microsoft.com/office/drawing/2014/main" id="{23B9157A-A1EC-F5ED-C9F7-8D56CDFB330F}"/>
                  </a:ext>
                  <a:ext uri="{C183D7F6-B498-43B3-948B-1728B52AA6E4}">
                    <adec:decorative xmlns:adec="http://schemas.microsoft.com/office/drawing/2017/decorative" val="1"/>
                  </a:ext>
                </a:extLst>
              </p:cNvPr>
              <p:cNvSpPr txBox="1"/>
              <p:nvPr/>
            </p:nvSpPr>
            <p:spPr>
              <a:xfrm>
                <a:off x="4716143"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74</a:t>
                </a:r>
              </a:p>
            </p:txBody>
          </p:sp>
          <p:sp>
            <p:nvSpPr>
              <p:cNvPr id="109" name="TextBox 108">
                <a:extLst>
                  <a:ext uri="{FF2B5EF4-FFF2-40B4-BE49-F238E27FC236}">
                    <a16:creationId xmlns:a16="http://schemas.microsoft.com/office/drawing/2014/main" id="{A01FB342-A88B-DC42-AA5A-D7E21C2517EB}"/>
                  </a:ext>
                  <a:ext uri="{C183D7F6-B498-43B3-948B-1728B52AA6E4}">
                    <adec:decorative xmlns:adec="http://schemas.microsoft.com/office/drawing/2017/decorative" val="1"/>
                  </a:ext>
                </a:extLst>
              </p:cNvPr>
              <p:cNvSpPr txBox="1"/>
              <p:nvPr/>
            </p:nvSpPr>
            <p:spPr>
              <a:xfrm>
                <a:off x="5114340"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89</a:t>
                </a:r>
              </a:p>
            </p:txBody>
          </p:sp>
          <p:sp>
            <p:nvSpPr>
              <p:cNvPr id="110" name="TextBox 109">
                <a:extLst>
                  <a:ext uri="{FF2B5EF4-FFF2-40B4-BE49-F238E27FC236}">
                    <a16:creationId xmlns:a16="http://schemas.microsoft.com/office/drawing/2014/main" id="{4A2CAE2E-8828-194A-F96D-85F0FC9D70F7}"/>
                  </a:ext>
                  <a:ext uri="{C183D7F6-B498-43B3-948B-1728B52AA6E4}">
                    <adec:decorative xmlns:adec="http://schemas.microsoft.com/office/drawing/2017/decorative" val="1"/>
                  </a:ext>
                </a:extLst>
              </p:cNvPr>
              <p:cNvSpPr txBox="1"/>
              <p:nvPr/>
            </p:nvSpPr>
            <p:spPr>
              <a:xfrm>
                <a:off x="3146249" y="3769303"/>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20</a:t>
                </a:r>
              </a:p>
            </p:txBody>
          </p:sp>
          <p:sp>
            <p:nvSpPr>
              <p:cNvPr id="111" name="TextBox 110">
                <a:extLst>
                  <a:ext uri="{FF2B5EF4-FFF2-40B4-BE49-F238E27FC236}">
                    <a16:creationId xmlns:a16="http://schemas.microsoft.com/office/drawing/2014/main" id="{E9CD9750-1746-6CB4-379F-383E1CAE4D0C}"/>
                  </a:ext>
                  <a:ext uri="{C183D7F6-B498-43B3-948B-1728B52AA6E4}">
                    <adec:decorative xmlns:adec="http://schemas.microsoft.com/office/drawing/2017/decorative" val="1"/>
                  </a:ext>
                </a:extLst>
              </p:cNvPr>
              <p:cNvSpPr txBox="1"/>
              <p:nvPr/>
            </p:nvSpPr>
            <p:spPr>
              <a:xfrm>
                <a:off x="4044070" y="3773948"/>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28</a:t>
                </a:r>
              </a:p>
            </p:txBody>
          </p:sp>
          <p:sp>
            <p:nvSpPr>
              <p:cNvPr id="112" name="TextBox 111">
                <a:extLst>
                  <a:ext uri="{FF2B5EF4-FFF2-40B4-BE49-F238E27FC236}">
                    <a16:creationId xmlns:a16="http://schemas.microsoft.com/office/drawing/2014/main" id="{F14C4BAF-D982-0273-73B4-A95FE869C746}"/>
                  </a:ext>
                  <a:ext uri="{C183D7F6-B498-43B3-948B-1728B52AA6E4}">
                    <adec:decorative xmlns:adec="http://schemas.microsoft.com/office/drawing/2017/decorative" val="1"/>
                  </a:ext>
                </a:extLst>
              </p:cNvPr>
              <p:cNvSpPr txBox="1"/>
              <p:nvPr/>
            </p:nvSpPr>
            <p:spPr>
              <a:xfrm>
                <a:off x="4915242" y="3764659"/>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39</a:t>
                </a:r>
              </a:p>
            </p:txBody>
          </p:sp>
          <p:sp>
            <p:nvSpPr>
              <p:cNvPr id="113" name="TextBox 112">
                <a:extLst>
                  <a:ext uri="{FF2B5EF4-FFF2-40B4-BE49-F238E27FC236}">
                    <a16:creationId xmlns:a16="http://schemas.microsoft.com/office/drawing/2014/main" id="{C9776088-E38B-741A-3CA4-A11F41441B26}"/>
                  </a:ext>
                  <a:ext uri="{C183D7F6-B498-43B3-948B-1728B52AA6E4}">
                    <adec:decorative xmlns:adec="http://schemas.microsoft.com/office/drawing/2017/decorative" val="1"/>
                  </a:ext>
                </a:extLst>
              </p:cNvPr>
              <p:cNvSpPr txBox="1"/>
              <p:nvPr/>
            </p:nvSpPr>
            <p:spPr>
              <a:xfrm>
                <a:off x="5711635" y="3764659"/>
                <a:ext cx="383438"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29</a:t>
                </a:r>
              </a:p>
            </p:txBody>
          </p:sp>
          <p:cxnSp>
            <p:nvCxnSpPr>
              <p:cNvPr id="114" name="Straight Connector 113">
                <a:extLst>
                  <a:ext uri="{FF2B5EF4-FFF2-40B4-BE49-F238E27FC236}">
                    <a16:creationId xmlns:a16="http://schemas.microsoft.com/office/drawing/2014/main" id="{21C5F9C9-0D55-F00A-E585-70C1975647CA}"/>
                  </a:ext>
                  <a:ext uri="{C183D7F6-B498-43B3-948B-1728B52AA6E4}">
                    <adec:decorative xmlns:adec="http://schemas.microsoft.com/office/drawing/2017/decorative" val="1"/>
                  </a:ext>
                </a:extLst>
              </p:cNvPr>
              <p:cNvCxnSpPr/>
              <p:nvPr/>
            </p:nvCxnSpPr>
            <p:spPr>
              <a:xfrm flipH="1">
                <a:off x="3894434" y="2984644"/>
                <a:ext cx="573642" cy="284847"/>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BF1E9AD5-A8E3-7D93-2F63-F7732E348923}"/>
                  </a:ext>
                  <a:ext uri="{C183D7F6-B498-43B3-948B-1728B52AA6E4}">
                    <adec:decorative xmlns:adec="http://schemas.microsoft.com/office/drawing/2017/decorative" val="1"/>
                  </a:ext>
                </a:extLst>
              </p:cNvPr>
              <p:cNvCxnSpPr>
                <a:cxnSpLocks/>
                <a:stCxn id="101" idx="3"/>
              </p:cNvCxnSpPr>
              <p:nvPr/>
            </p:nvCxnSpPr>
            <p:spPr>
              <a:xfrm>
                <a:off x="4851514" y="2944117"/>
                <a:ext cx="617614" cy="344503"/>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6893BC83-791E-FDDF-4214-A0C98EDF6F1F}"/>
                  </a:ext>
                  <a:ext uri="{C183D7F6-B498-43B3-948B-1728B52AA6E4}">
                    <adec:decorative xmlns:adec="http://schemas.microsoft.com/office/drawing/2017/decorative" val="1"/>
                  </a:ext>
                </a:extLst>
              </p:cNvPr>
              <p:cNvCxnSpPr/>
              <p:nvPr/>
            </p:nvCxnSpPr>
            <p:spPr>
              <a:xfrm flipH="1">
                <a:off x="3338432" y="3610268"/>
                <a:ext cx="250066" cy="15903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28C86501-C913-ECC5-874B-B1CB8FC3EE02}"/>
                  </a:ext>
                  <a:ext uri="{C183D7F6-B498-43B3-948B-1728B52AA6E4}">
                    <adec:decorative xmlns:adec="http://schemas.microsoft.com/office/drawing/2017/decorative" val="1"/>
                  </a:ext>
                </a:extLst>
              </p:cNvPr>
              <p:cNvCxnSpPr/>
              <p:nvPr/>
            </p:nvCxnSpPr>
            <p:spPr>
              <a:xfrm flipH="1">
                <a:off x="5107425" y="3610268"/>
                <a:ext cx="162606" cy="16368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FF008063-297D-2581-AF31-6CEB26BC2316}"/>
                  </a:ext>
                  <a:ext uri="{C183D7F6-B498-43B3-948B-1728B52AA6E4}">
                    <adec:decorative xmlns:adec="http://schemas.microsoft.com/office/drawing/2017/decorative" val="1"/>
                  </a:ext>
                </a:extLst>
              </p:cNvPr>
              <p:cNvCxnSpPr/>
              <p:nvPr/>
            </p:nvCxnSpPr>
            <p:spPr>
              <a:xfrm flipH="1" flipV="1">
                <a:off x="3986695" y="3610268"/>
                <a:ext cx="249558" cy="16368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21B77173-DBA6-848B-6846-4CE60B1379C1}"/>
                  </a:ext>
                  <a:ext uri="{C183D7F6-B498-43B3-948B-1728B52AA6E4}">
                    <adec:decorative xmlns:adec="http://schemas.microsoft.com/office/drawing/2017/decorative" val="1"/>
                  </a:ext>
                </a:extLst>
              </p:cNvPr>
              <p:cNvCxnSpPr/>
              <p:nvPr/>
            </p:nvCxnSpPr>
            <p:spPr>
              <a:xfrm flipH="1" flipV="1">
                <a:off x="5653759" y="3610269"/>
                <a:ext cx="250058"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5E2FE011-DC0B-4CEE-F4CE-F94DF80BC330}"/>
                  </a:ext>
                  <a:ext uri="{C183D7F6-B498-43B3-948B-1728B52AA6E4}">
                    <adec:decorative xmlns:adec="http://schemas.microsoft.com/office/drawing/2017/decorative" val="1"/>
                  </a:ext>
                </a:extLst>
              </p:cNvPr>
              <p:cNvCxnSpPr>
                <a:stCxn id="131" idx="0"/>
              </p:cNvCxnSpPr>
              <p:nvPr/>
            </p:nvCxnSpPr>
            <p:spPr>
              <a:xfrm flipV="1">
                <a:off x="3139334" y="4099817"/>
                <a:ext cx="122725"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A59D38AB-8B97-8690-C6DF-212AD707AC0C}"/>
                  </a:ext>
                  <a:ext uri="{C183D7F6-B498-43B3-948B-1728B52AA6E4}">
                    <adec:decorative xmlns:adec="http://schemas.microsoft.com/office/drawing/2017/decorative" val="1"/>
                  </a:ext>
                </a:extLst>
              </p:cNvPr>
              <p:cNvCxnSpPr>
                <a:stCxn id="132" idx="0"/>
              </p:cNvCxnSpPr>
              <p:nvPr/>
            </p:nvCxnSpPr>
            <p:spPr>
              <a:xfrm flipH="1" flipV="1">
                <a:off x="3466924" y="4099817"/>
                <a:ext cx="706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C063C65D-3D93-622A-D375-5356A3A4941C}"/>
                  </a:ext>
                  <a:ext uri="{C183D7F6-B498-43B3-948B-1728B52AA6E4}">
                    <adec:decorative xmlns:adec="http://schemas.microsoft.com/office/drawing/2017/decorative" val="1"/>
                  </a:ext>
                </a:extLst>
              </p:cNvPr>
              <p:cNvCxnSpPr>
                <a:stCxn id="133" idx="0"/>
              </p:cNvCxnSpPr>
              <p:nvPr/>
            </p:nvCxnSpPr>
            <p:spPr>
              <a:xfrm flipV="1">
                <a:off x="4027937" y="4109105"/>
                <a:ext cx="80331"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70EBCCAE-230E-F47D-8CB9-7C1D745E34D0}"/>
                  </a:ext>
                  <a:ext uri="{C183D7F6-B498-43B3-948B-1728B52AA6E4}">
                    <adec:decorative xmlns:adec="http://schemas.microsoft.com/office/drawing/2017/decorative" val="1"/>
                  </a:ext>
                </a:extLst>
              </p:cNvPr>
              <p:cNvCxnSpPr/>
              <p:nvPr/>
            </p:nvCxnSpPr>
            <p:spPr>
              <a:xfrm flipH="1" flipV="1">
                <a:off x="4327340" y="4099817"/>
                <a:ext cx="90580"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FA0548F3-72BD-C997-FC78-B86807BAE15E}"/>
                  </a:ext>
                  <a:ext uri="{C183D7F6-B498-43B3-948B-1728B52AA6E4}">
                    <adec:decorative xmlns:adec="http://schemas.microsoft.com/office/drawing/2017/decorative" val="1"/>
                  </a:ext>
                </a:extLst>
              </p:cNvPr>
              <p:cNvCxnSpPr/>
              <p:nvPr/>
            </p:nvCxnSpPr>
            <p:spPr>
              <a:xfrm flipV="1">
                <a:off x="4908326" y="4099817"/>
                <a:ext cx="908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F0AD1A9F-BA01-693A-AFC2-765873B77BB4}"/>
                  </a:ext>
                  <a:ext uri="{C183D7F6-B498-43B3-948B-1728B52AA6E4}">
                    <adec:decorative xmlns:adec="http://schemas.microsoft.com/office/drawing/2017/decorative" val="1"/>
                  </a:ext>
                </a:extLst>
              </p:cNvPr>
              <p:cNvCxnSpPr/>
              <p:nvPr/>
            </p:nvCxnSpPr>
            <p:spPr>
              <a:xfrm flipH="1" flipV="1">
                <a:off x="5255561" y="4109105"/>
                <a:ext cx="50962"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9A829482-24CE-AEAD-14F5-E7E2C29E6ADC}"/>
                  </a:ext>
                  <a:ext uri="{C183D7F6-B498-43B3-948B-1728B52AA6E4}">
                    <adec:decorative xmlns:adec="http://schemas.microsoft.com/office/drawing/2017/decorative" val="1"/>
                  </a:ext>
                </a:extLst>
              </p:cNvPr>
              <p:cNvSpPr txBox="1"/>
              <p:nvPr/>
            </p:nvSpPr>
            <p:spPr>
              <a:xfrm>
                <a:off x="3146249" y="3769303"/>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20</a:t>
                </a:r>
              </a:p>
            </p:txBody>
          </p:sp>
          <p:sp>
            <p:nvSpPr>
              <p:cNvPr id="127" name="TextBox 126">
                <a:extLst>
                  <a:ext uri="{FF2B5EF4-FFF2-40B4-BE49-F238E27FC236}">
                    <a16:creationId xmlns:a16="http://schemas.microsoft.com/office/drawing/2014/main" id="{523BD8BF-FB33-4E86-1DF1-3629206E03B2}"/>
                  </a:ext>
                  <a:ext uri="{C183D7F6-B498-43B3-948B-1728B52AA6E4}">
                    <adec:decorative xmlns:adec="http://schemas.microsoft.com/office/drawing/2017/decorative" val="1"/>
                  </a:ext>
                </a:extLst>
              </p:cNvPr>
              <p:cNvSpPr txBox="1"/>
              <p:nvPr/>
            </p:nvSpPr>
            <p:spPr>
              <a:xfrm>
                <a:off x="4044070" y="3773948"/>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28</a:t>
                </a:r>
              </a:p>
            </p:txBody>
          </p:sp>
          <p:sp>
            <p:nvSpPr>
              <p:cNvPr id="128" name="TextBox 127">
                <a:extLst>
                  <a:ext uri="{FF2B5EF4-FFF2-40B4-BE49-F238E27FC236}">
                    <a16:creationId xmlns:a16="http://schemas.microsoft.com/office/drawing/2014/main" id="{893F5F31-56A5-0411-ECC4-5FA15B25F925}"/>
                  </a:ext>
                  <a:ext uri="{C183D7F6-B498-43B3-948B-1728B52AA6E4}">
                    <adec:decorative xmlns:adec="http://schemas.microsoft.com/office/drawing/2017/decorative" val="1"/>
                  </a:ext>
                </a:extLst>
              </p:cNvPr>
              <p:cNvSpPr txBox="1"/>
              <p:nvPr/>
            </p:nvSpPr>
            <p:spPr>
              <a:xfrm>
                <a:off x="2947151"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37</a:t>
                </a:r>
              </a:p>
            </p:txBody>
          </p:sp>
          <p:sp>
            <p:nvSpPr>
              <p:cNvPr id="129" name="TextBox 128">
                <a:extLst>
                  <a:ext uri="{FF2B5EF4-FFF2-40B4-BE49-F238E27FC236}">
                    <a16:creationId xmlns:a16="http://schemas.microsoft.com/office/drawing/2014/main" id="{29032DBB-5C88-587C-D0D3-367FB208EC18}"/>
                  </a:ext>
                  <a:ext uri="{C183D7F6-B498-43B3-948B-1728B52AA6E4}">
                    <adec:decorative xmlns:adec="http://schemas.microsoft.com/office/drawing/2017/decorative" val="1"/>
                  </a:ext>
                </a:extLst>
              </p:cNvPr>
              <p:cNvSpPr txBox="1"/>
              <p:nvPr/>
            </p:nvSpPr>
            <p:spPr>
              <a:xfrm>
                <a:off x="334534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26</a:t>
                </a:r>
              </a:p>
            </p:txBody>
          </p:sp>
          <p:sp>
            <p:nvSpPr>
              <p:cNvPr id="130" name="TextBox 129">
                <a:extLst>
                  <a:ext uri="{FF2B5EF4-FFF2-40B4-BE49-F238E27FC236}">
                    <a16:creationId xmlns:a16="http://schemas.microsoft.com/office/drawing/2014/main" id="{2E7625B4-C580-180D-EFEB-B5A1CBCF6461}"/>
                  </a:ext>
                  <a:ext uri="{C183D7F6-B498-43B3-948B-1728B52AA6E4}">
                    <adec:decorative xmlns:adec="http://schemas.microsoft.com/office/drawing/2017/decorative" val="1"/>
                  </a:ext>
                </a:extLst>
              </p:cNvPr>
              <p:cNvSpPr txBox="1"/>
              <p:nvPr/>
            </p:nvSpPr>
            <p:spPr>
              <a:xfrm>
                <a:off x="3835754"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76</a:t>
                </a:r>
              </a:p>
            </p:txBody>
          </p:sp>
          <p:sp>
            <p:nvSpPr>
              <p:cNvPr id="131" name="TextBox 130">
                <a:extLst>
                  <a:ext uri="{FF2B5EF4-FFF2-40B4-BE49-F238E27FC236}">
                    <a16:creationId xmlns:a16="http://schemas.microsoft.com/office/drawing/2014/main" id="{C8063547-767F-8B32-AD7C-74D6984008D9}"/>
                  </a:ext>
                  <a:ext uri="{C183D7F6-B498-43B3-948B-1728B52AA6E4}">
                    <adec:decorative xmlns:adec="http://schemas.microsoft.com/office/drawing/2017/decorative" val="1"/>
                  </a:ext>
                </a:extLst>
              </p:cNvPr>
              <p:cNvSpPr txBox="1"/>
              <p:nvPr/>
            </p:nvSpPr>
            <p:spPr>
              <a:xfrm>
                <a:off x="422573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32</a:t>
                </a:r>
              </a:p>
            </p:txBody>
          </p:sp>
          <p:sp>
            <p:nvSpPr>
              <p:cNvPr id="132" name="TextBox 131">
                <a:extLst>
                  <a:ext uri="{FF2B5EF4-FFF2-40B4-BE49-F238E27FC236}">
                    <a16:creationId xmlns:a16="http://schemas.microsoft.com/office/drawing/2014/main" id="{D5841C81-C017-6E97-95FE-19A0E28C01BA}"/>
                  </a:ext>
                  <a:ext uri="{C183D7F6-B498-43B3-948B-1728B52AA6E4}">
                    <adec:decorative xmlns:adec="http://schemas.microsoft.com/office/drawing/2017/decorative" val="1"/>
                  </a:ext>
                </a:extLst>
              </p:cNvPr>
              <p:cNvSpPr txBox="1"/>
              <p:nvPr/>
            </p:nvSpPr>
            <p:spPr>
              <a:xfrm>
                <a:off x="4716143"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74</a:t>
                </a:r>
              </a:p>
            </p:txBody>
          </p:sp>
          <p:sp>
            <p:nvSpPr>
              <p:cNvPr id="133" name="TextBox 132">
                <a:extLst>
                  <a:ext uri="{FF2B5EF4-FFF2-40B4-BE49-F238E27FC236}">
                    <a16:creationId xmlns:a16="http://schemas.microsoft.com/office/drawing/2014/main" id="{48AC17B4-516F-CC60-4678-60710BE32DDE}"/>
                  </a:ext>
                  <a:ext uri="{C183D7F6-B498-43B3-948B-1728B52AA6E4}">
                    <adec:decorative xmlns:adec="http://schemas.microsoft.com/office/drawing/2017/decorative" val="1"/>
                  </a:ext>
                </a:extLst>
              </p:cNvPr>
              <p:cNvSpPr txBox="1"/>
              <p:nvPr/>
            </p:nvSpPr>
            <p:spPr>
              <a:xfrm>
                <a:off x="5114340"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89</a:t>
                </a:r>
              </a:p>
            </p:txBody>
          </p:sp>
        </p:grpSp>
        <p:cxnSp>
          <p:nvCxnSpPr>
            <p:cNvPr id="134" name="Connector: Curved 133">
              <a:extLst>
                <a:ext uri="{FF2B5EF4-FFF2-40B4-BE49-F238E27FC236}">
                  <a16:creationId xmlns:a16="http://schemas.microsoft.com/office/drawing/2014/main" id="{4745B09A-A51F-9ACF-8F9F-25CBC54AA52A}"/>
                </a:ext>
              </a:extLst>
            </p:cNvPr>
            <p:cNvCxnSpPr>
              <a:cxnSpLocks/>
            </p:cNvCxnSpPr>
            <p:nvPr/>
          </p:nvCxnSpPr>
          <p:spPr>
            <a:xfrm rot="16200000" flipH="1">
              <a:off x="11355354" y="3225730"/>
              <a:ext cx="637786" cy="636747"/>
            </a:xfrm>
            <a:prstGeom prst="curvedConnector3">
              <a:avLst>
                <a:gd name="adj1" fmla="val -5244"/>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5" name="TextBox 134">
              <a:extLst>
                <a:ext uri="{FF2B5EF4-FFF2-40B4-BE49-F238E27FC236}">
                  <a16:creationId xmlns:a16="http://schemas.microsoft.com/office/drawing/2014/main" id="{3326FD3B-2710-9CD6-0DF3-031DCCFC37B7}"/>
                </a:ext>
              </a:extLst>
            </p:cNvPr>
            <p:cNvSpPr txBox="1"/>
            <p:nvPr/>
          </p:nvSpPr>
          <p:spPr>
            <a:xfrm>
              <a:off x="11355873" y="2831982"/>
              <a:ext cx="2427226" cy="2539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err="1">
                  <a:ln>
                    <a:noFill/>
                  </a:ln>
                  <a:solidFill>
                    <a:srgbClr val="0081E2"/>
                  </a:solidFill>
                  <a:effectLst/>
                  <a:uLnTx/>
                  <a:uFillTx/>
                  <a:latin typeface="Consolas" panose="020B0609020204030204" pitchFamily="49" charset="0"/>
                  <a:ea typeface="+mn-ea"/>
                  <a:cs typeface="+mn-cs"/>
                </a:rPr>
                <a:t>Heapify</a:t>
              </a:r>
              <a:r>
                <a:rPr kumimoji="0" lang="en-US" sz="105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 down</a:t>
              </a:r>
            </a:p>
          </p:txBody>
        </p:sp>
      </p:grpSp>
    </p:spTree>
    <p:extLst>
      <p:ext uri="{BB962C8B-B14F-4D97-AF65-F5344CB8AC3E}">
        <p14:creationId xmlns:p14="http://schemas.microsoft.com/office/powerpoint/2010/main" val="36828548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8DF2D-4C21-45B7-8CEE-41E2C22A3166}"/>
              </a:ext>
            </a:extLst>
          </p:cNvPr>
          <p:cNvSpPr>
            <a:spLocks noGrp="1"/>
          </p:cNvSpPr>
          <p:nvPr>
            <p:ph type="title"/>
          </p:nvPr>
        </p:nvSpPr>
        <p:spPr/>
        <p:txBody>
          <a:bodyPr>
            <a:normAutofit/>
          </a:bodyPr>
          <a:lstStyle/>
          <a:p>
            <a:r>
              <a:rPr lang="en-US" dirty="0">
                <a:solidFill>
                  <a:schemeClr val="bg1"/>
                </a:solidFill>
                <a:latin typeface="Gotham Bold" pitchFamily="50" charset="0"/>
              </a:rPr>
              <a:t>Binary </a:t>
            </a:r>
            <a:r>
              <a:rPr lang="en-US" dirty="0" err="1">
                <a:solidFill>
                  <a:schemeClr val="bg1"/>
                </a:solidFill>
                <a:latin typeface="Gotham Bold" pitchFamily="50" charset="0"/>
              </a:rPr>
              <a:t>MinHeap</a:t>
            </a:r>
            <a:r>
              <a:rPr lang="en-US" dirty="0">
                <a:solidFill>
                  <a:schemeClr val="bg1"/>
                </a:solidFill>
                <a:latin typeface="Gotham Bold" pitchFamily="50" charset="0"/>
              </a:rPr>
              <a:t> Deletion</a:t>
            </a:r>
          </a:p>
        </p:txBody>
      </p:sp>
      <p:sp>
        <p:nvSpPr>
          <p:cNvPr id="4" name="Rectangle 3">
            <a:extLst>
              <a:ext uri="{FF2B5EF4-FFF2-40B4-BE49-F238E27FC236}">
                <a16:creationId xmlns:a16="http://schemas.microsoft.com/office/drawing/2014/main" id="{4C690315-1707-4AD5-8859-99D7FEE7815A}"/>
              </a:ext>
            </a:extLst>
          </p:cNvPr>
          <p:cNvSpPr/>
          <p:nvPr/>
        </p:nvSpPr>
        <p:spPr>
          <a:xfrm>
            <a:off x="1654198" y="1708562"/>
            <a:ext cx="8743941" cy="45935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EB6E19"/>
                </a:solidFill>
                <a:effectLst/>
                <a:uLnTx/>
                <a:uFillTx/>
                <a:latin typeface="Gotham Bold" pitchFamily="50" charset="0"/>
                <a:ea typeface="+mn-ea"/>
                <a:cs typeface="+mn-cs"/>
              </a:rPr>
              <a:t>Heap Deletion (ExtractMin)</a:t>
            </a:r>
          </a:p>
        </p:txBody>
      </p:sp>
      <p:sp>
        <p:nvSpPr>
          <p:cNvPr id="14" name="TextBox 13">
            <a:extLst>
              <a:ext uri="{FF2B5EF4-FFF2-40B4-BE49-F238E27FC236}">
                <a16:creationId xmlns:a16="http://schemas.microsoft.com/office/drawing/2014/main" id="{F8E2067A-50DC-4B3B-A941-515F73642C24}"/>
              </a:ext>
              <a:ext uri="{C183D7F6-B498-43B3-948B-1728B52AA6E4}">
                <adec:decorative xmlns:adec="http://schemas.microsoft.com/office/drawing/2017/decorative" val="1"/>
              </a:ext>
            </a:extLst>
          </p:cNvPr>
          <p:cNvSpPr txBox="1"/>
          <p:nvPr/>
        </p:nvSpPr>
        <p:spPr>
          <a:xfrm>
            <a:off x="4417919" y="2692901"/>
            <a:ext cx="383438" cy="307777"/>
          </a:xfrm>
          <a:prstGeom prst="rect">
            <a:avLst/>
          </a:prstGeom>
          <a:noFill/>
          <a:ln>
            <a:solidFill>
              <a:srgbClr val="00DA63"/>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11</a:t>
            </a:r>
          </a:p>
        </p:txBody>
      </p:sp>
      <p:sp>
        <p:nvSpPr>
          <p:cNvPr id="15" name="TextBox 14">
            <a:extLst>
              <a:ext uri="{FF2B5EF4-FFF2-40B4-BE49-F238E27FC236}">
                <a16:creationId xmlns:a16="http://schemas.microsoft.com/office/drawing/2014/main" id="{E0BA7F03-06E1-4DC9-9439-34FD6EF63EEA}"/>
              </a:ext>
              <a:ext uri="{C183D7F6-B498-43B3-948B-1728B52AA6E4}">
                <adec:decorative xmlns:adec="http://schemas.microsoft.com/office/drawing/2017/decorative" val="1"/>
              </a:ext>
            </a:extLst>
          </p:cNvPr>
          <p:cNvSpPr txBox="1"/>
          <p:nvPr/>
        </p:nvSpPr>
        <p:spPr>
          <a:xfrm>
            <a:off x="3588497" y="327933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18</a:t>
            </a:r>
          </a:p>
        </p:txBody>
      </p:sp>
      <p:sp>
        <p:nvSpPr>
          <p:cNvPr id="16" name="TextBox 15">
            <a:extLst>
              <a:ext uri="{FF2B5EF4-FFF2-40B4-BE49-F238E27FC236}">
                <a16:creationId xmlns:a16="http://schemas.microsoft.com/office/drawing/2014/main" id="{BF51B4E7-79A0-4AD4-A124-8F3CF803B8F5}"/>
              </a:ext>
              <a:ext uri="{C183D7F6-B498-43B3-948B-1728B52AA6E4}">
                <adec:decorative xmlns:adec="http://schemas.microsoft.com/office/drawing/2017/decorative" val="1"/>
              </a:ext>
            </a:extLst>
          </p:cNvPr>
          <p:cNvSpPr txBox="1"/>
          <p:nvPr/>
        </p:nvSpPr>
        <p:spPr>
          <a:xfrm>
            <a:off x="5270029" y="3275111"/>
            <a:ext cx="398197" cy="307777"/>
          </a:xfrm>
          <a:prstGeom prst="rect">
            <a:avLst/>
          </a:prstGeom>
          <a:noFill/>
          <a:ln>
            <a:solidFill>
              <a:srgbClr val="00DA63"/>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29</a:t>
            </a:r>
          </a:p>
        </p:txBody>
      </p:sp>
      <p:sp>
        <p:nvSpPr>
          <p:cNvPr id="17" name="TextBox 16">
            <a:extLst>
              <a:ext uri="{FF2B5EF4-FFF2-40B4-BE49-F238E27FC236}">
                <a16:creationId xmlns:a16="http://schemas.microsoft.com/office/drawing/2014/main" id="{EAD1ACB5-8D10-447A-8512-8CC77D028BBD}"/>
              </a:ext>
              <a:ext uri="{C183D7F6-B498-43B3-948B-1728B52AA6E4}">
                <adec:decorative xmlns:adec="http://schemas.microsoft.com/office/drawing/2017/decorative" val="1"/>
              </a:ext>
            </a:extLst>
          </p:cNvPr>
          <p:cNvSpPr txBox="1"/>
          <p:nvPr/>
        </p:nvSpPr>
        <p:spPr>
          <a:xfrm>
            <a:off x="2947151"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37</a:t>
            </a:r>
          </a:p>
        </p:txBody>
      </p:sp>
      <p:sp>
        <p:nvSpPr>
          <p:cNvPr id="18" name="TextBox 17">
            <a:extLst>
              <a:ext uri="{FF2B5EF4-FFF2-40B4-BE49-F238E27FC236}">
                <a16:creationId xmlns:a16="http://schemas.microsoft.com/office/drawing/2014/main" id="{393196BC-65D8-4C10-87E1-25F4471540B0}"/>
              </a:ext>
              <a:ext uri="{C183D7F6-B498-43B3-948B-1728B52AA6E4}">
                <adec:decorative xmlns:adec="http://schemas.microsoft.com/office/drawing/2017/decorative" val="1"/>
              </a:ext>
            </a:extLst>
          </p:cNvPr>
          <p:cNvSpPr txBox="1"/>
          <p:nvPr/>
        </p:nvSpPr>
        <p:spPr>
          <a:xfrm>
            <a:off x="334534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26</a:t>
            </a:r>
          </a:p>
        </p:txBody>
      </p:sp>
      <p:sp>
        <p:nvSpPr>
          <p:cNvPr id="19" name="TextBox 18">
            <a:extLst>
              <a:ext uri="{FF2B5EF4-FFF2-40B4-BE49-F238E27FC236}">
                <a16:creationId xmlns:a16="http://schemas.microsoft.com/office/drawing/2014/main" id="{C9564090-B42B-476E-AF5C-6D3874077308}"/>
              </a:ext>
              <a:ext uri="{C183D7F6-B498-43B3-948B-1728B52AA6E4}">
                <adec:decorative xmlns:adec="http://schemas.microsoft.com/office/drawing/2017/decorative" val="1"/>
              </a:ext>
            </a:extLst>
          </p:cNvPr>
          <p:cNvSpPr txBox="1"/>
          <p:nvPr/>
        </p:nvSpPr>
        <p:spPr>
          <a:xfrm>
            <a:off x="3835754"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76</a:t>
            </a:r>
          </a:p>
        </p:txBody>
      </p:sp>
      <p:sp>
        <p:nvSpPr>
          <p:cNvPr id="20" name="TextBox 19">
            <a:extLst>
              <a:ext uri="{FF2B5EF4-FFF2-40B4-BE49-F238E27FC236}">
                <a16:creationId xmlns:a16="http://schemas.microsoft.com/office/drawing/2014/main" id="{185757C9-C087-4FAF-884D-183400D216E8}"/>
              </a:ext>
              <a:ext uri="{C183D7F6-B498-43B3-948B-1728B52AA6E4}">
                <adec:decorative xmlns:adec="http://schemas.microsoft.com/office/drawing/2017/decorative" val="1"/>
              </a:ext>
            </a:extLst>
          </p:cNvPr>
          <p:cNvSpPr txBox="1"/>
          <p:nvPr/>
        </p:nvSpPr>
        <p:spPr>
          <a:xfrm>
            <a:off x="422573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32</a:t>
            </a:r>
          </a:p>
        </p:txBody>
      </p:sp>
      <p:sp>
        <p:nvSpPr>
          <p:cNvPr id="21" name="TextBox 20">
            <a:extLst>
              <a:ext uri="{FF2B5EF4-FFF2-40B4-BE49-F238E27FC236}">
                <a16:creationId xmlns:a16="http://schemas.microsoft.com/office/drawing/2014/main" id="{AFA10777-D795-445A-9DD0-7C98889397F6}"/>
              </a:ext>
              <a:ext uri="{C183D7F6-B498-43B3-948B-1728B52AA6E4}">
                <adec:decorative xmlns:adec="http://schemas.microsoft.com/office/drawing/2017/decorative" val="1"/>
              </a:ext>
            </a:extLst>
          </p:cNvPr>
          <p:cNvSpPr txBox="1"/>
          <p:nvPr/>
        </p:nvSpPr>
        <p:spPr>
          <a:xfrm>
            <a:off x="4716143"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74</a:t>
            </a:r>
          </a:p>
        </p:txBody>
      </p:sp>
      <p:sp>
        <p:nvSpPr>
          <p:cNvPr id="22" name="TextBox 21">
            <a:extLst>
              <a:ext uri="{FF2B5EF4-FFF2-40B4-BE49-F238E27FC236}">
                <a16:creationId xmlns:a16="http://schemas.microsoft.com/office/drawing/2014/main" id="{06E43CD1-A952-45EE-8A06-B2B9ECE524CA}"/>
              </a:ext>
              <a:ext uri="{C183D7F6-B498-43B3-948B-1728B52AA6E4}">
                <adec:decorative xmlns:adec="http://schemas.microsoft.com/office/drawing/2017/decorative" val="1"/>
              </a:ext>
            </a:extLst>
          </p:cNvPr>
          <p:cNvSpPr txBox="1"/>
          <p:nvPr/>
        </p:nvSpPr>
        <p:spPr>
          <a:xfrm>
            <a:off x="5114340"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89</a:t>
            </a:r>
          </a:p>
        </p:txBody>
      </p:sp>
      <p:sp>
        <p:nvSpPr>
          <p:cNvPr id="24" name="TextBox 23">
            <a:extLst>
              <a:ext uri="{FF2B5EF4-FFF2-40B4-BE49-F238E27FC236}">
                <a16:creationId xmlns:a16="http://schemas.microsoft.com/office/drawing/2014/main" id="{1D5ED36F-F3C0-4AB8-AD10-D772DBFE12CC}"/>
              </a:ext>
              <a:ext uri="{C183D7F6-B498-43B3-948B-1728B52AA6E4}">
                <adec:decorative xmlns:adec="http://schemas.microsoft.com/office/drawing/2017/decorative" val="1"/>
              </a:ext>
            </a:extLst>
          </p:cNvPr>
          <p:cNvSpPr txBox="1"/>
          <p:nvPr/>
        </p:nvSpPr>
        <p:spPr>
          <a:xfrm>
            <a:off x="3146249" y="3769303"/>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20</a:t>
            </a:r>
          </a:p>
        </p:txBody>
      </p:sp>
      <p:sp>
        <p:nvSpPr>
          <p:cNvPr id="25" name="TextBox 24">
            <a:extLst>
              <a:ext uri="{FF2B5EF4-FFF2-40B4-BE49-F238E27FC236}">
                <a16:creationId xmlns:a16="http://schemas.microsoft.com/office/drawing/2014/main" id="{F68978DC-8D44-459E-9984-49954373B44F}"/>
              </a:ext>
              <a:ext uri="{C183D7F6-B498-43B3-948B-1728B52AA6E4}">
                <adec:decorative xmlns:adec="http://schemas.microsoft.com/office/drawing/2017/decorative" val="1"/>
              </a:ext>
            </a:extLst>
          </p:cNvPr>
          <p:cNvSpPr txBox="1"/>
          <p:nvPr/>
        </p:nvSpPr>
        <p:spPr>
          <a:xfrm>
            <a:off x="4044070" y="3773948"/>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28</a:t>
            </a:r>
          </a:p>
        </p:txBody>
      </p:sp>
      <p:sp>
        <p:nvSpPr>
          <p:cNvPr id="26" name="TextBox 25">
            <a:extLst>
              <a:ext uri="{FF2B5EF4-FFF2-40B4-BE49-F238E27FC236}">
                <a16:creationId xmlns:a16="http://schemas.microsoft.com/office/drawing/2014/main" id="{0475A117-9D5E-44C2-85BD-04F9347631B9}"/>
              </a:ext>
              <a:ext uri="{C183D7F6-B498-43B3-948B-1728B52AA6E4}">
                <adec:decorative xmlns:adec="http://schemas.microsoft.com/office/drawing/2017/decorative" val="1"/>
              </a:ext>
            </a:extLst>
          </p:cNvPr>
          <p:cNvSpPr txBox="1"/>
          <p:nvPr/>
        </p:nvSpPr>
        <p:spPr>
          <a:xfrm>
            <a:off x="4915242" y="3764659"/>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39</a:t>
            </a:r>
          </a:p>
        </p:txBody>
      </p:sp>
      <p:sp>
        <p:nvSpPr>
          <p:cNvPr id="27" name="TextBox 26">
            <a:extLst>
              <a:ext uri="{FF2B5EF4-FFF2-40B4-BE49-F238E27FC236}">
                <a16:creationId xmlns:a16="http://schemas.microsoft.com/office/drawing/2014/main" id="{32F5FA45-C520-4141-A16D-990321183D0E}"/>
              </a:ext>
              <a:ext uri="{C183D7F6-B498-43B3-948B-1728B52AA6E4}">
                <adec:decorative xmlns:adec="http://schemas.microsoft.com/office/drawing/2017/decorative" val="1"/>
              </a:ext>
            </a:extLst>
          </p:cNvPr>
          <p:cNvSpPr txBox="1"/>
          <p:nvPr/>
        </p:nvSpPr>
        <p:spPr>
          <a:xfrm>
            <a:off x="5711635" y="3764659"/>
            <a:ext cx="383438" cy="307777"/>
          </a:xfrm>
          <a:prstGeom prst="rect">
            <a:avLst/>
          </a:prstGeom>
          <a:noFill/>
          <a:ln>
            <a:solidFill>
              <a:srgbClr val="00DA63"/>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66</a:t>
            </a:r>
          </a:p>
        </p:txBody>
      </p:sp>
      <p:cxnSp>
        <p:nvCxnSpPr>
          <p:cNvPr id="28" name="Straight Connector 27">
            <a:extLst>
              <a:ext uri="{FF2B5EF4-FFF2-40B4-BE49-F238E27FC236}">
                <a16:creationId xmlns:a16="http://schemas.microsoft.com/office/drawing/2014/main" id="{ED0B8080-326C-48CB-B7CE-F7634259D9D2}"/>
              </a:ext>
              <a:ext uri="{C183D7F6-B498-43B3-948B-1728B52AA6E4}">
                <adec:decorative xmlns:adec="http://schemas.microsoft.com/office/drawing/2017/decorative" val="1"/>
              </a:ext>
            </a:extLst>
          </p:cNvPr>
          <p:cNvCxnSpPr/>
          <p:nvPr/>
        </p:nvCxnSpPr>
        <p:spPr>
          <a:xfrm flipH="1">
            <a:off x="3894434" y="2984644"/>
            <a:ext cx="573642" cy="284847"/>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9812509-2640-493B-ACAE-3D8D204F2E54}"/>
              </a:ext>
              <a:ext uri="{C183D7F6-B498-43B3-948B-1728B52AA6E4}">
                <adec:decorative xmlns:adec="http://schemas.microsoft.com/office/drawing/2017/decorative" val="1"/>
              </a:ext>
            </a:extLst>
          </p:cNvPr>
          <p:cNvCxnSpPr/>
          <p:nvPr/>
        </p:nvCxnSpPr>
        <p:spPr>
          <a:xfrm>
            <a:off x="4752591" y="2957626"/>
            <a:ext cx="716537" cy="330994"/>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BB851A3-DA63-4D8D-ABE6-F992F45E7E01}"/>
              </a:ext>
              <a:ext uri="{C183D7F6-B498-43B3-948B-1728B52AA6E4}">
                <adec:decorative xmlns:adec="http://schemas.microsoft.com/office/drawing/2017/decorative" val="1"/>
              </a:ext>
            </a:extLst>
          </p:cNvPr>
          <p:cNvCxnSpPr/>
          <p:nvPr/>
        </p:nvCxnSpPr>
        <p:spPr>
          <a:xfrm flipH="1">
            <a:off x="3338432" y="3610268"/>
            <a:ext cx="250066" cy="159035"/>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CE30687-F7B7-40D6-B457-8981B596DF52}"/>
              </a:ext>
              <a:ext uri="{C183D7F6-B498-43B3-948B-1728B52AA6E4}">
                <adec:decorative xmlns:adec="http://schemas.microsoft.com/office/drawing/2017/decorative" val="1"/>
              </a:ext>
            </a:extLst>
          </p:cNvPr>
          <p:cNvCxnSpPr/>
          <p:nvPr/>
        </p:nvCxnSpPr>
        <p:spPr>
          <a:xfrm flipH="1">
            <a:off x="5107425" y="3610268"/>
            <a:ext cx="162606" cy="16368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34279F4-3FB3-4909-A81C-5D651E004572}"/>
              </a:ext>
              <a:ext uri="{C183D7F6-B498-43B3-948B-1728B52AA6E4}">
                <adec:decorative xmlns:adec="http://schemas.microsoft.com/office/drawing/2017/decorative" val="1"/>
              </a:ext>
            </a:extLst>
          </p:cNvPr>
          <p:cNvCxnSpPr/>
          <p:nvPr/>
        </p:nvCxnSpPr>
        <p:spPr>
          <a:xfrm flipH="1" flipV="1">
            <a:off x="3986695" y="3610268"/>
            <a:ext cx="249558" cy="16368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38CF59E-7EAA-48FE-A8C4-9706DB95C94F}"/>
              </a:ext>
              <a:ext uri="{C183D7F6-B498-43B3-948B-1728B52AA6E4}">
                <adec:decorative xmlns:adec="http://schemas.microsoft.com/office/drawing/2017/decorative" val="1"/>
              </a:ext>
            </a:extLst>
          </p:cNvPr>
          <p:cNvCxnSpPr/>
          <p:nvPr/>
        </p:nvCxnSpPr>
        <p:spPr>
          <a:xfrm flipH="1" flipV="1">
            <a:off x="5653759" y="3610269"/>
            <a:ext cx="250058"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55D3365-15F9-4289-9D44-E659CF0988E7}"/>
              </a:ext>
              <a:ext uri="{C183D7F6-B498-43B3-948B-1728B52AA6E4}">
                <adec:decorative xmlns:adec="http://schemas.microsoft.com/office/drawing/2017/decorative" val="1"/>
              </a:ext>
            </a:extLst>
          </p:cNvPr>
          <p:cNvCxnSpPr>
            <a:stCxn id="57" idx="0"/>
          </p:cNvCxnSpPr>
          <p:nvPr/>
        </p:nvCxnSpPr>
        <p:spPr>
          <a:xfrm flipV="1">
            <a:off x="3139334" y="4099817"/>
            <a:ext cx="122725"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8E6B03F-EDE4-4FEF-BC74-85BF6BF8DAA7}"/>
              </a:ext>
              <a:ext uri="{C183D7F6-B498-43B3-948B-1728B52AA6E4}">
                <adec:decorative xmlns:adec="http://schemas.microsoft.com/office/drawing/2017/decorative" val="1"/>
              </a:ext>
            </a:extLst>
          </p:cNvPr>
          <p:cNvCxnSpPr>
            <a:stCxn id="58" idx="0"/>
          </p:cNvCxnSpPr>
          <p:nvPr/>
        </p:nvCxnSpPr>
        <p:spPr>
          <a:xfrm flipH="1" flipV="1">
            <a:off x="3466924" y="4099817"/>
            <a:ext cx="706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47AB8B7A-3AA0-4714-BC2A-65786305177D}"/>
              </a:ext>
              <a:ext uri="{C183D7F6-B498-43B3-948B-1728B52AA6E4}">
                <adec:decorative xmlns:adec="http://schemas.microsoft.com/office/drawing/2017/decorative" val="1"/>
              </a:ext>
            </a:extLst>
          </p:cNvPr>
          <p:cNvCxnSpPr>
            <a:stCxn id="59" idx="0"/>
          </p:cNvCxnSpPr>
          <p:nvPr/>
        </p:nvCxnSpPr>
        <p:spPr>
          <a:xfrm flipV="1">
            <a:off x="4027937" y="4109105"/>
            <a:ext cx="80331"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39D941E-7960-4022-8175-FBFCAEC72FEF}"/>
              </a:ext>
              <a:ext uri="{C183D7F6-B498-43B3-948B-1728B52AA6E4}">
                <adec:decorative xmlns:adec="http://schemas.microsoft.com/office/drawing/2017/decorative" val="1"/>
              </a:ext>
            </a:extLst>
          </p:cNvPr>
          <p:cNvCxnSpPr/>
          <p:nvPr/>
        </p:nvCxnSpPr>
        <p:spPr>
          <a:xfrm flipH="1" flipV="1">
            <a:off x="4327340" y="4099817"/>
            <a:ext cx="90580"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AC64B88-7C6F-4B42-B41F-16B1318DEE19}"/>
              </a:ext>
              <a:ext uri="{C183D7F6-B498-43B3-948B-1728B52AA6E4}">
                <adec:decorative xmlns:adec="http://schemas.microsoft.com/office/drawing/2017/decorative" val="1"/>
              </a:ext>
            </a:extLst>
          </p:cNvPr>
          <p:cNvCxnSpPr/>
          <p:nvPr/>
        </p:nvCxnSpPr>
        <p:spPr>
          <a:xfrm flipV="1">
            <a:off x="4908326" y="4099817"/>
            <a:ext cx="90806" cy="163678"/>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50BFA9DB-A978-449F-9F63-9DDBA4B0621E}"/>
              </a:ext>
              <a:ext uri="{C183D7F6-B498-43B3-948B-1728B52AA6E4}">
                <adec:decorative xmlns:adec="http://schemas.microsoft.com/office/drawing/2017/decorative" val="1"/>
              </a:ext>
            </a:extLst>
          </p:cNvPr>
          <p:cNvCxnSpPr/>
          <p:nvPr/>
        </p:nvCxnSpPr>
        <p:spPr>
          <a:xfrm flipH="1" flipV="1">
            <a:off x="5255561" y="4109105"/>
            <a:ext cx="50962" cy="154390"/>
          </a:xfrm>
          <a:prstGeom prst="line">
            <a:avLst/>
          </a:prstGeom>
          <a:ln>
            <a:solidFill>
              <a:srgbClr val="EB6E19"/>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84207F50-D829-441E-A1B4-0A91BEEDEF4D}"/>
              </a:ext>
              <a:ext uri="{C183D7F6-B498-43B3-948B-1728B52AA6E4}">
                <adec:decorative xmlns:adec="http://schemas.microsoft.com/office/drawing/2017/decorative" val="1"/>
              </a:ext>
            </a:extLst>
          </p:cNvPr>
          <p:cNvSpPr txBox="1"/>
          <p:nvPr/>
        </p:nvSpPr>
        <p:spPr>
          <a:xfrm>
            <a:off x="3146249" y="3769303"/>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20</a:t>
            </a:r>
          </a:p>
        </p:txBody>
      </p:sp>
      <p:sp>
        <p:nvSpPr>
          <p:cNvPr id="42" name="TextBox 41">
            <a:extLst>
              <a:ext uri="{FF2B5EF4-FFF2-40B4-BE49-F238E27FC236}">
                <a16:creationId xmlns:a16="http://schemas.microsoft.com/office/drawing/2014/main" id="{871088E9-1A57-451B-A4D9-D0493D3FC3CA}"/>
              </a:ext>
              <a:ext uri="{C183D7F6-B498-43B3-948B-1728B52AA6E4}">
                <adec:decorative xmlns:adec="http://schemas.microsoft.com/office/drawing/2017/decorative" val="1"/>
              </a:ext>
            </a:extLst>
          </p:cNvPr>
          <p:cNvSpPr txBox="1"/>
          <p:nvPr/>
        </p:nvSpPr>
        <p:spPr>
          <a:xfrm>
            <a:off x="4044070" y="3773948"/>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28</a:t>
            </a:r>
          </a:p>
        </p:txBody>
      </p:sp>
      <p:sp>
        <p:nvSpPr>
          <p:cNvPr id="46" name="TextBox 45">
            <a:extLst>
              <a:ext uri="{FF2B5EF4-FFF2-40B4-BE49-F238E27FC236}">
                <a16:creationId xmlns:a16="http://schemas.microsoft.com/office/drawing/2014/main" id="{39C61B35-F0FA-439E-904F-1E4CD8F96B23}"/>
              </a:ext>
              <a:ext uri="{C183D7F6-B498-43B3-948B-1728B52AA6E4}">
                <adec:decorative xmlns:adec="http://schemas.microsoft.com/office/drawing/2017/decorative" val="1"/>
              </a:ext>
            </a:extLst>
          </p:cNvPr>
          <p:cNvSpPr txBox="1"/>
          <p:nvPr/>
        </p:nvSpPr>
        <p:spPr>
          <a:xfrm>
            <a:off x="2947151"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37</a:t>
            </a:r>
          </a:p>
        </p:txBody>
      </p:sp>
      <p:sp>
        <p:nvSpPr>
          <p:cNvPr id="47" name="TextBox 46">
            <a:extLst>
              <a:ext uri="{FF2B5EF4-FFF2-40B4-BE49-F238E27FC236}">
                <a16:creationId xmlns:a16="http://schemas.microsoft.com/office/drawing/2014/main" id="{F64F9888-0E5D-44FD-8CCA-230171B60EF2}"/>
              </a:ext>
              <a:ext uri="{C183D7F6-B498-43B3-948B-1728B52AA6E4}">
                <adec:decorative xmlns:adec="http://schemas.microsoft.com/office/drawing/2017/decorative" val="1"/>
              </a:ext>
            </a:extLst>
          </p:cNvPr>
          <p:cNvSpPr txBox="1"/>
          <p:nvPr/>
        </p:nvSpPr>
        <p:spPr>
          <a:xfrm>
            <a:off x="334534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26</a:t>
            </a:r>
          </a:p>
        </p:txBody>
      </p:sp>
      <p:sp>
        <p:nvSpPr>
          <p:cNvPr id="56" name="TextBox 55">
            <a:extLst>
              <a:ext uri="{FF2B5EF4-FFF2-40B4-BE49-F238E27FC236}">
                <a16:creationId xmlns:a16="http://schemas.microsoft.com/office/drawing/2014/main" id="{6087B08E-F810-48F6-98FD-8FC6E1FC27EF}"/>
              </a:ext>
              <a:ext uri="{C183D7F6-B498-43B3-948B-1728B52AA6E4}">
                <adec:decorative xmlns:adec="http://schemas.microsoft.com/office/drawing/2017/decorative" val="1"/>
              </a:ext>
            </a:extLst>
          </p:cNvPr>
          <p:cNvSpPr txBox="1"/>
          <p:nvPr/>
        </p:nvSpPr>
        <p:spPr>
          <a:xfrm>
            <a:off x="3835754"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76</a:t>
            </a:r>
          </a:p>
        </p:txBody>
      </p:sp>
      <p:sp>
        <p:nvSpPr>
          <p:cNvPr id="57" name="TextBox 56">
            <a:extLst>
              <a:ext uri="{FF2B5EF4-FFF2-40B4-BE49-F238E27FC236}">
                <a16:creationId xmlns:a16="http://schemas.microsoft.com/office/drawing/2014/main" id="{8C8CD950-8C99-4070-8111-1C1171DBC0D2}"/>
              </a:ext>
              <a:ext uri="{C183D7F6-B498-43B3-948B-1728B52AA6E4}">
                <adec:decorative xmlns:adec="http://schemas.microsoft.com/office/drawing/2017/decorative" val="1"/>
              </a:ext>
            </a:extLst>
          </p:cNvPr>
          <p:cNvSpPr txBox="1"/>
          <p:nvPr/>
        </p:nvSpPr>
        <p:spPr>
          <a:xfrm>
            <a:off x="4225737"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32</a:t>
            </a:r>
          </a:p>
        </p:txBody>
      </p:sp>
      <p:sp>
        <p:nvSpPr>
          <p:cNvPr id="58" name="TextBox 57">
            <a:extLst>
              <a:ext uri="{FF2B5EF4-FFF2-40B4-BE49-F238E27FC236}">
                <a16:creationId xmlns:a16="http://schemas.microsoft.com/office/drawing/2014/main" id="{46695E7F-1157-4296-9575-75ABE9F7757C}"/>
              </a:ext>
              <a:ext uri="{C183D7F6-B498-43B3-948B-1728B52AA6E4}">
                <adec:decorative xmlns:adec="http://schemas.microsoft.com/office/drawing/2017/decorative" val="1"/>
              </a:ext>
            </a:extLst>
          </p:cNvPr>
          <p:cNvSpPr txBox="1"/>
          <p:nvPr/>
        </p:nvSpPr>
        <p:spPr>
          <a:xfrm>
            <a:off x="4716143"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74</a:t>
            </a:r>
          </a:p>
        </p:txBody>
      </p:sp>
      <p:sp>
        <p:nvSpPr>
          <p:cNvPr id="59" name="TextBox 58">
            <a:extLst>
              <a:ext uri="{FF2B5EF4-FFF2-40B4-BE49-F238E27FC236}">
                <a16:creationId xmlns:a16="http://schemas.microsoft.com/office/drawing/2014/main" id="{7B1EFF9C-027F-44CB-9278-28DE7C644F43}"/>
              </a:ext>
              <a:ext uri="{C183D7F6-B498-43B3-948B-1728B52AA6E4}">
                <adec:decorative xmlns:adec="http://schemas.microsoft.com/office/drawing/2017/decorative" val="1"/>
              </a:ext>
            </a:extLst>
          </p:cNvPr>
          <p:cNvSpPr txBox="1"/>
          <p:nvPr/>
        </p:nvSpPr>
        <p:spPr>
          <a:xfrm>
            <a:off x="5114340" y="4263495"/>
            <a:ext cx="384365" cy="307777"/>
          </a:xfrm>
          <a:prstGeom prst="rect">
            <a:avLst/>
          </a:prstGeom>
          <a:noFill/>
          <a:ln>
            <a:solidFill>
              <a:srgbClr val="EB6E19"/>
            </a:solid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89</a:t>
            </a:r>
          </a:p>
        </p:txBody>
      </p:sp>
      <p:sp>
        <p:nvSpPr>
          <p:cNvPr id="91" name="TextBox 90">
            <a:extLst>
              <a:ext uri="{FF2B5EF4-FFF2-40B4-BE49-F238E27FC236}">
                <a16:creationId xmlns:a16="http://schemas.microsoft.com/office/drawing/2014/main" id="{E5725829-2922-425D-922A-C990322C4BD0}"/>
              </a:ext>
              <a:ext uri="{C183D7F6-B498-43B3-948B-1728B52AA6E4}">
                <adec:decorative xmlns:adec="http://schemas.microsoft.com/office/drawing/2017/decorative" val="1"/>
              </a:ext>
            </a:extLst>
          </p:cNvPr>
          <p:cNvSpPr txBox="1"/>
          <p:nvPr/>
        </p:nvSpPr>
        <p:spPr>
          <a:xfrm>
            <a:off x="4372629" y="5362662"/>
            <a:ext cx="369757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1E2"/>
                </a:solidFill>
                <a:effectLst/>
                <a:uLnTx/>
                <a:uFillTx/>
                <a:latin typeface="Consolas" panose="020B0609020204030204" pitchFamily="49" charset="0"/>
                <a:ea typeface="+mn-ea"/>
                <a:cs typeface="+mn-cs"/>
              </a:rPr>
              <a:t>O(log n) time to ExtractMin!</a:t>
            </a:r>
            <a:endParaRPr kumimoji="0" lang="en-US" sz="1800" b="0" i="0" u="none" strike="noStrike" kern="1200" cap="none" spc="0" normalizeH="0" baseline="0" noProof="0" dirty="0">
              <a:ln>
                <a:noFill/>
              </a:ln>
              <a:solidFill>
                <a:srgbClr val="EB6E19"/>
              </a:solidFill>
              <a:effectLst/>
              <a:uLnTx/>
              <a:uFillTx/>
              <a:latin typeface="Consolas" panose="020B0609020204030204" pitchFamily="49" charset="0"/>
              <a:ea typeface="+mn-ea"/>
              <a:cs typeface="+mn-cs"/>
            </a:endParaRPr>
          </a:p>
        </p:txBody>
      </p:sp>
      <p:grpSp>
        <p:nvGrpSpPr>
          <p:cNvPr id="40" name="Group 39">
            <a:extLst>
              <a:ext uri="{FF2B5EF4-FFF2-40B4-BE49-F238E27FC236}">
                <a16:creationId xmlns:a16="http://schemas.microsoft.com/office/drawing/2014/main" id="{BB912247-1EE8-4F73-9B4B-562D63F52F9E}"/>
              </a:ext>
            </a:extLst>
          </p:cNvPr>
          <p:cNvGrpSpPr/>
          <p:nvPr/>
        </p:nvGrpSpPr>
        <p:grpSpPr>
          <a:xfrm>
            <a:off x="11337354" y="6025684"/>
            <a:ext cx="841781" cy="748032"/>
            <a:chOff x="11337354" y="6025684"/>
            <a:chExt cx="841781" cy="748032"/>
          </a:xfrm>
        </p:grpSpPr>
        <p:pic>
          <p:nvPicPr>
            <p:cNvPr id="43" name="Picture 2">
              <a:extLst>
                <a:ext uri="{FF2B5EF4-FFF2-40B4-BE49-F238E27FC236}">
                  <a16:creationId xmlns:a16="http://schemas.microsoft.com/office/drawing/2014/main" id="{31AE31D6-DD2B-49FB-83A2-8CEA11642F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24975" y="6538912"/>
              <a:ext cx="666541" cy="234804"/>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descr="Logo COP3530">
              <a:extLst>
                <a:ext uri="{FF2B5EF4-FFF2-40B4-BE49-F238E27FC236}">
                  <a16:creationId xmlns:a16="http://schemas.microsoft.com/office/drawing/2014/main" id="{112AD4BC-CF10-4F9B-BB13-C97281E376D7}"/>
                </a:ext>
              </a:extLst>
            </p:cNvPr>
            <p:cNvPicPr>
              <a:picLocks noChangeAspect="1"/>
            </p:cNvPicPr>
            <p:nvPr/>
          </p:nvPicPr>
          <p:blipFill rotWithShape="1">
            <a:blip r:embed="rId4"/>
            <a:srcRect t="1" b="20587"/>
            <a:stretch/>
          </p:blipFill>
          <p:spPr>
            <a:xfrm>
              <a:off x="11337354" y="6025684"/>
              <a:ext cx="841781" cy="465491"/>
            </a:xfrm>
            <a:prstGeom prst="rect">
              <a:avLst/>
            </a:prstGeom>
          </p:spPr>
        </p:pic>
      </p:grpSp>
      <p:sp>
        <p:nvSpPr>
          <p:cNvPr id="3" name="Slide Number Placeholder 2">
            <a:extLst>
              <a:ext uri="{FF2B5EF4-FFF2-40B4-BE49-F238E27FC236}">
                <a16:creationId xmlns:a16="http://schemas.microsoft.com/office/drawing/2014/main" id="{DCF1B655-5D12-46AB-AA0B-6EB08F39D7B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17C28E0-2F8B-4999-AEA2-B3AA3AE8994F}"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57139"/>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12287</TotalTime>
  <Words>6865</Words>
  <Application>Microsoft Office PowerPoint</Application>
  <PresentationFormat>Widescreen</PresentationFormat>
  <Paragraphs>1729</Paragraphs>
  <Slides>62</Slides>
  <Notes>62</Notes>
  <HiddenSlides>7</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62</vt:i4>
      </vt:variant>
    </vt:vector>
  </HeadingPairs>
  <TitlesOfParts>
    <vt:vector size="75" baseType="lpstr">
      <vt:lpstr>Arial</vt:lpstr>
      <vt:lpstr>Calibri</vt:lpstr>
      <vt:lpstr>Calibri Light</vt:lpstr>
      <vt:lpstr>Cambria Math</vt:lpstr>
      <vt:lpstr>Consolas</vt:lpstr>
      <vt:lpstr>Courier New</vt:lpstr>
      <vt:lpstr>Gotham Bold</vt:lpstr>
      <vt:lpstr>Lato Extended</vt:lpstr>
      <vt:lpstr>Tw Cen MT</vt:lpstr>
      <vt:lpstr>Wingdings</vt:lpstr>
      <vt:lpstr>1_Office Theme</vt:lpstr>
      <vt:lpstr>2_Office Theme</vt:lpstr>
      <vt:lpstr>3_Office Theme</vt:lpstr>
      <vt:lpstr>PowerPoint Presentation</vt:lpstr>
      <vt:lpstr>  Categories of Data Structures  </vt:lpstr>
      <vt:lpstr>   Exam 2 Logistics   </vt:lpstr>
      <vt:lpstr>Common Representations</vt:lpstr>
      <vt:lpstr>Edge List</vt:lpstr>
      <vt:lpstr>Edge List</vt:lpstr>
      <vt:lpstr>Adjacency Matrix</vt:lpstr>
      <vt:lpstr>Adjacency Matrix Implementation</vt:lpstr>
      <vt:lpstr>Adjacency Matrix</vt:lpstr>
      <vt:lpstr>Adjacency List</vt:lpstr>
      <vt:lpstr>Adjacency List Implementation</vt:lpstr>
      <vt:lpstr>PowerPoint Presentation</vt:lpstr>
      <vt:lpstr>PowerPoint Presentation</vt:lpstr>
      <vt:lpstr>PowerPoint Presentation</vt:lpstr>
      <vt:lpstr>PowerPoint Presentation</vt:lpstr>
      <vt:lpstr>PowerPoint Presentation</vt:lpstr>
      <vt:lpstr>Valid DFS: Which DFS are valid?</vt:lpstr>
      <vt:lpstr>Valid DFS: Which DFS are valid?</vt:lpstr>
      <vt:lpstr>Applied Traversal</vt:lpstr>
      <vt:lpstr>Applied Traversal</vt:lpstr>
      <vt:lpstr>              BFS          vs          DFS</vt:lpstr>
      <vt:lpstr>BFS Pseudocode</vt:lpstr>
      <vt:lpstr>Graph Algorithm Mix n Match</vt:lpstr>
      <vt:lpstr>Graph Algorithm Mix n Match</vt:lpstr>
      <vt:lpstr>PowerPoint Presentation</vt:lpstr>
      <vt:lpstr>Which of the choices below represent a valid topological sort ordering of this graph?</vt:lpstr>
      <vt:lpstr>Which of the choices below represent a valid topological sort ordering of this graph?</vt:lpstr>
      <vt:lpstr>What does this code do?</vt:lpstr>
      <vt:lpstr>What does this code do?</vt:lpstr>
      <vt:lpstr>Scenario</vt:lpstr>
      <vt:lpstr>Scenario</vt:lpstr>
      <vt:lpstr>Scenario</vt:lpstr>
      <vt:lpstr>Scenario</vt:lpstr>
      <vt:lpstr>PowerPoint Presentation</vt:lpstr>
      <vt:lpstr>MST using Prims starting from “I”</vt:lpstr>
      <vt:lpstr>MST using Prims starting from “I”</vt:lpstr>
      <vt:lpstr>PowerPoint Presentation</vt:lpstr>
      <vt:lpstr>Dijkstra with A as source</vt:lpstr>
      <vt:lpstr>Dijkstra with A as source</vt:lpstr>
      <vt:lpstr>PowerPoint Presentation</vt:lpstr>
      <vt:lpstr>Dijkstra with A as source</vt:lpstr>
      <vt:lpstr>Dijkstra with A as source</vt:lpstr>
      <vt:lpstr>PowerPoint Presentation</vt:lpstr>
      <vt:lpstr>Algorithmic Paradigms</vt:lpstr>
      <vt:lpstr>Bin Packing</vt:lpstr>
      <vt:lpstr>Algorithm for Huffman Encoding</vt:lpstr>
      <vt:lpstr>Algorithm for Huffman Encoding</vt:lpstr>
      <vt:lpstr>Algorithm for Huffman Encoding</vt:lpstr>
      <vt:lpstr>Algorithm for Huffman Encoding</vt:lpstr>
      <vt:lpstr>Algorithm for Huffman Encoding</vt:lpstr>
      <vt:lpstr>Algorithm for Huffman Encoding</vt:lpstr>
      <vt:lpstr>Algorithm for Huffman Encoding</vt:lpstr>
      <vt:lpstr>Algorithm for Huffman Encoding</vt:lpstr>
      <vt:lpstr>Algorithm for Huffman Encoding</vt:lpstr>
      <vt:lpstr>Questions</vt:lpstr>
      <vt:lpstr>Binary Heap</vt:lpstr>
      <vt:lpstr>Binary Heap Insertion</vt:lpstr>
      <vt:lpstr>Binary Heap Insertion</vt:lpstr>
      <vt:lpstr>Binary Heap Insertion</vt:lpstr>
      <vt:lpstr>Binary MinHeap Deletion</vt:lpstr>
      <vt:lpstr>Binary MinHeap Deletion</vt:lpstr>
      <vt:lpstr>Binary MinHeap Deletion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Graphs</dc:title>
  <dc:creator>amanpreet kapoor</dc:creator>
  <cp:lastModifiedBy>Kapoor,Amanpreet</cp:lastModifiedBy>
  <cp:revision>744</cp:revision>
  <dcterms:created xsi:type="dcterms:W3CDTF">2020-04-14T17:15:24Z</dcterms:created>
  <dcterms:modified xsi:type="dcterms:W3CDTF">2026-07-27T16:55:33Z</dcterms:modified>
</cp:coreProperties>
</file>