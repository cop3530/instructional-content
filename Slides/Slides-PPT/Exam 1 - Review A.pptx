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36"/>
  </p:notesMasterIdLst>
  <p:sldIdLst>
    <p:sldId id="268" r:id="rId3"/>
    <p:sldId id="440" r:id="rId4"/>
    <p:sldId id="377" r:id="rId5"/>
    <p:sldId id="493" r:id="rId6"/>
    <p:sldId id="406" r:id="rId7"/>
    <p:sldId id="504" r:id="rId8"/>
    <p:sldId id="505" r:id="rId9"/>
    <p:sldId id="480" r:id="rId10"/>
    <p:sldId id="494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06" r:id="rId19"/>
    <p:sldId id="507" r:id="rId20"/>
    <p:sldId id="508" r:id="rId21"/>
    <p:sldId id="681" r:id="rId22"/>
    <p:sldId id="682" r:id="rId23"/>
    <p:sldId id="485" r:id="rId24"/>
    <p:sldId id="487" r:id="rId25"/>
    <p:sldId id="509" r:id="rId26"/>
    <p:sldId id="486" r:id="rId27"/>
    <p:sldId id="688" r:id="rId28"/>
    <p:sldId id="690" r:id="rId29"/>
    <p:sldId id="689" r:id="rId30"/>
    <p:sldId id="684" r:id="rId31"/>
    <p:sldId id="686" r:id="rId32"/>
    <p:sldId id="685" r:id="rId33"/>
    <p:sldId id="687" r:id="rId34"/>
    <p:sldId id="39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1E2"/>
    <a:srgbClr val="EB6E19"/>
    <a:srgbClr val="00B050"/>
    <a:srgbClr val="D5E5E7"/>
    <a:srgbClr val="00DA63"/>
    <a:srgbClr val="E60000"/>
    <a:srgbClr val="F7FA82"/>
    <a:srgbClr val="FF939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846E1-99B9-47BF-BA5D-00D1AB335FFB}" v="3" dt="2026-10-01T16:36:44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522" autoAdjust="0"/>
  </p:normalViewPr>
  <p:slideViewPr>
    <p:cSldViewPr snapToGrid="0">
      <p:cViewPr varScale="1">
        <p:scale>
          <a:sx n="92" d="100"/>
          <a:sy n="92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oor,Amanpreet" userId="5465ae5f-3ea6-4989-a24a-46ffecd15609" providerId="ADAL" clId="{E7E610D5-8D10-40F3-A5B7-2B0026961471}"/>
    <pc:docChg chg="delSld modSld">
      <pc:chgData name="Kapoor,Amanpreet" userId="5465ae5f-3ea6-4989-a24a-46ffecd15609" providerId="ADAL" clId="{E7E610D5-8D10-40F3-A5B7-2B0026961471}" dt="2026-10-01T16:36:48.028" v="54" actId="207"/>
      <pc:docMkLst>
        <pc:docMk/>
      </pc:docMkLst>
      <pc:sldChg chg="modSp mod">
        <pc:chgData name="Kapoor,Amanpreet" userId="5465ae5f-3ea6-4989-a24a-46ffecd15609" providerId="ADAL" clId="{E7E610D5-8D10-40F3-A5B7-2B0026961471}" dt="2026-10-01T16:36:48.028" v="54" actId="207"/>
        <pc:sldMkLst>
          <pc:docMk/>
          <pc:sldMk cId="1488638803" sldId="406"/>
        </pc:sldMkLst>
        <pc:spChg chg="mod">
          <ac:chgData name="Kapoor,Amanpreet" userId="5465ae5f-3ea6-4989-a24a-46ffecd15609" providerId="ADAL" clId="{E7E610D5-8D10-40F3-A5B7-2B0026961471}" dt="2026-10-01T16:36:48.028" v="54" actId="207"/>
          <ac:spMkLst>
            <pc:docMk/>
            <pc:sldMk cId="1488638803" sldId="406"/>
            <ac:spMk id="5" creationId="{B9F3F2B3-9659-875A-AE5F-17F90640C5E8}"/>
          </ac:spMkLst>
        </pc:spChg>
      </pc:sldChg>
      <pc:sldChg chg="modSp mod">
        <pc:chgData name="Kapoor,Amanpreet" userId="5465ae5f-3ea6-4989-a24a-46ffecd15609" providerId="ADAL" clId="{E7E610D5-8D10-40F3-A5B7-2B0026961471}" dt="2026-10-01T16:35:58.095" v="44" actId="207"/>
        <pc:sldMkLst>
          <pc:docMk/>
          <pc:sldMk cId="2790307224" sldId="493"/>
        </pc:sldMkLst>
        <pc:spChg chg="mod">
          <ac:chgData name="Kapoor,Amanpreet" userId="5465ae5f-3ea6-4989-a24a-46ffecd15609" providerId="ADAL" clId="{E7E610D5-8D10-40F3-A5B7-2B0026961471}" dt="2026-10-01T16:35:58.095" v="44" actId="207"/>
          <ac:spMkLst>
            <pc:docMk/>
            <pc:sldMk cId="2790307224" sldId="493"/>
            <ac:spMk id="4" creationId="{4A681ECE-2602-4BFB-B297-488969F24B6C}"/>
          </ac:spMkLst>
        </pc:spChg>
      </pc:sldChg>
      <pc:sldChg chg="del">
        <pc:chgData name="Kapoor,Amanpreet" userId="5465ae5f-3ea6-4989-a24a-46ffecd15609" providerId="ADAL" clId="{E7E610D5-8D10-40F3-A5B7-2B0026961471}" dt="2026-10-01T16:36:14.599" v="45" actId="47"/>
        <pc:sldMkLst>
          <pc:docMk/>
          <pc:sldMk cId="8960134" sldId="6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86AF1-EF24-4659-9089-2771856A9EA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017C-A127-4C06-BF43-1875A8859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0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18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631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78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39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246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738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869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9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816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250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344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317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797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444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322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095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011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796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40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278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954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982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541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855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2863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9B61-F069-091E-40CA-3B40AF64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D06FB-9C88-8377-19FB-1CFF5EA13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19E2E-4051-DC97-3ED5-CC796D440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ADB8-8989-063C-C59D-CF6112D3D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5767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E6EB-47E5-3D8F-806E-6D3ABF75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D1E1D-26B8-4DD4-1D22-A733CAFEC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7A0C2-AEAD-A1F5-620B-F676A3226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4F8B8-422C-1CC1-6896-5CE9BA249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109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851A-28DE-1D37-691E-C40AF3C0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DCFC6-C116-1055-08CD-36344CDCD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E23F2-9099-5C16-F684-A9F19247A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DFD61-0969-DA35-AB64-B317AD46F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268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8737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7759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9303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179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71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6885-9ED8-4298-9149-C5A410E7F61A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6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EFF0-82F5-4880-81B9-BC73A963ECC3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6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6811-681C-4AC5-84B7-A52FB525DDA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18EC-8AAB-4CFD-80CE-1D0FB821064C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C400D-05DF-4711-8592-640F86665B5F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0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A921-A295-445C-9DF4-D32E11171EBC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1947-2C73-49DA-BF00-06FEB90FBFE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9FA88-D630-40A8-A7C1-451FFA95718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107A-0A76-4A69-98CE-85E509F6FEC6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5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7952-6535-4065-B4F6-C94B3D00772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0D39-F97D-4ECC-909C-35255E9A37F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8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03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62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51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63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42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1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38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13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57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938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4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3CE7D-A49F-42F1-B54B-0205BF41E48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8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9C2D7-406E-45EE-9F57-B83131B4924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7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mfFdECreuzJLSRuCWvGjSMqbiQ88ZvFY_9UHE3I9iNM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BJ4hyD7vP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nlinegdb.com/OefiHIntV" TargetMode="External"/><Relationship Id="rId4" Type="http://schemas.openxmlformats.org/officeDocument/2006/relationships/hyperlink" Target="https://onlinegdb.com/BJ6gewQDP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COP3530">
            <a:extLst>
              <a:ext uri="{FF2B5EF4-FFF2-40B4-BE49-F238E27FC236}">
                <a16:creationId xmlns:a16="http://schemas.microsoft.com/office/drawing/2014/main" id="{F5930E70-AA2A-4DEA-8F19-8204A14E7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893" y="5351818"/>
            <a:ext cx="2162976" cy="1506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Exam 1 Review - A</a:t>
            </a:r>
          </a:p>
        </p:txBody>
      </p:sp>
    </p:spTree>
    <p:extLst>
      <p:ext uri="{BB962C8B-B14F-4D97-AF65-F5344CB8AC3E}">
        <p14:creationId xmlns:p14="http://schemas.microsoft.com/office/powerpoint/2010/main" val="3060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Categories of Data Structures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6" name="Rectangle 3" descr="Linear Ordered&#10;">
            <a:extLst>
              <a:ext uri="{FF2B5EF4-FFF2-40B4-BE49-F238E27FC236}">
                <a16:creationId xmlns:a16="http://schemas.microsoft.com/office/drawing/2014/main" id="{DE85FF53-6E49-47B6-8225-7E1DAC29F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1869648"/>
            <a:ext cx="2286000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Linear Ordered</a:t>
            </a:r>
          </a:p>
        </p:txBody>
      </p:sp>
      <p:sp>
        <p:nvSpPr>
          <p:cNvPr id="7" name="Rectangle 4" descr="Non-linear Ordered&#10;">
            <a:extLst>
              <a:ext uri="{FF2B5EF4-FFF2-40B4-BE49-F238E27FC236}">
                <a16:creationId xmlns:a16="http://schemas.microsoft.com/office/drawing/2014/main" id="{730497DA-87E3-4A4E-9552-C89037D50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20" y="1869648"/>
            <a:ext cx="2286000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Non-linear Ordered</a:t>
            </a:r>
          </a:p>
        </p:txBody>
      </p:sp>
      <p:sp>
        <p:nvSpPr>
          <p:cNvPr id="11" name="Rectangle 5" descr="lists">
            <a:extLst>
              <a:ext uri="{FF2B5EF4-FFF2-40B4-BE49-F238E27FC236}">
                <a16:creationId xmlns:a16="http://schemas.microsoft.com/office/drawing/2014/main" id="{BBD6B998-2174-4960-9806-558F886FC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2588102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Lists</a:t>
            </a:r>
          </a:p>
        </p:txBody>
      </p:sp>
      <p:sp>
        <p:nvSpPr>
          <p:cNvPr id="13" name="Rectangle 6" descr="stacks">
            <a:extLst>
              <a:ext uri="{FF2B5EF4-FFF2-40B4-BE49-F238E27FC236}">
                <a16:creationId xmlns:a16="http://schemas.microsoft.com/office/drawing/2014/main" id="{93E8E40F-D540-4C4F-975D-8707208E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3301425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Stacks</a:t>
            </a:r>
          </a:p>
        </p:txBody>
      </p:sp>
      <p:sp>
        <p:nvSpPr>
          <p:cNvPr id="14" name="Rectangle 7" descr="queues">
            <a:extLst>
              <a:ext uri="{FF2B5EF4-FFF2-40B4-BE49-F238E27FC236}">
                <a16:creationId xmlns:a16="http://schemas.microsoft.com/office/drawing/2014/main" id="{DBB16A03-0ADE-4DE8-A76F-D33130AF0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4014748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Queues</a:t>
            </a:r>
          </a:p>
        </p:txBody>
      </p:sp>
      <p:sp>
        <p:nvSpPr>
          <p:cNvPr id="15" name="Rectangle 8" descr="trees">
            <a:extLst>
              <a:ext uri="{FF2B5EF4-FFF2-40B4-BE49-F238E27FC236}">
                <a16:creationId xmlns:a16="http://schemas.microsoft.com/office/drawing/2014/main" id="{CA97C4B6-41C6-4BDA-B757-AFF8296F1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20" y="2599434"/>
            <a:ext cx="22860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Trees</a:t>
            </a:r>
          </a:p>
        </p:txBody>
      </p:sp>
      <p:sp>
        <p:nvSpPr>
          <p:cNvPr id="16" name="Rectangle 9" descr="graphs">
            <a:extLst>
              <a:ext uri="{FF2B5EF4-FFF2-40B4-BE49-F238E27FC236}">
                <a16:creationId xmlns:a16="http://schemas.microsoft.com/office/drawing/2014/main" id="{5A639A53-6E3A-46B8-96B3-AE35D35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154" y="3301425"/>
            <a:ext cx="22860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Gotham Bold" pitchFamily="50" charset="0"/>
              </a:rPr>
              <a:t>Heaps</a:t>
            </a:r>
          </a:p>
        </p:txBody>
      </p:sp>
      <p:grpSp>
        <p:nvGrpSpPr>
          <p:cNvPr id="25" name="Group 24" descr="Linear Data Structures">
            <a:extLst>
              <a:ext uri="{FF2B5EF4-FFF2-40B4-BE49-F238E27FC236}">
                <a16:creationId xmlns:a16="http://schemas.microsoft.com/office/drawing/2014/main" id="{C4FE9C71-86DE-4070-982E-BADCC35B4E91}"/>
              </a:ext>
            </a:extLst>
          </p:cNvPr>
          <p:cNvGrpSpPr/>
          <p:nvPr/>
        </p:nvGrpSpPr>
        <p:grpSpPr>
          <a:xfrm>
            <a:off x="1831868" y="4993848"/>
            <a:ext cx="1456888" cy="304800"/>
            <a:chOff x="877748" y="4343400"/>
            <a:chExt cx="1456888" cy="304800"/>
          </a:xfrm>
          <a:solidFill>
            <a:schemeClr val="accent6">
              <a:lumMod val="75000"/>
            </a:schemeClr>
          </a:solidFill>
        </p:grpSpPr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1FDDD2FA-8EB8-4969-BDE9-BBEFF8E17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748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81226823-D927-4CFC-9D60-DFF032658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792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44CAFCF0-8DD4-458A-BF11-416332294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9836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49FE957-18FD-4073-A520-F7172DE43CA8}"/>
                </a:ext>
              </a:extLst>
            </p:cNvPr>
            <p:cNvCxnSpPr>
              <a:cxnSpLocks noChangeShapeType="1"/>
              <a:stCxn id="26" idx="6"/>
              <a:endCxn id="27" idx="2"/>
            </p:cNvCxnSpPr>
            <p:nvPr/>
          </p:nvCxnSpPr>
          <p:spPr bwMode="auto">
            <a:xfrm>
              <a:off x="1182548" y="4495800"/>
              <a:ext cx="271244" cy="0"/>
            </a:xfrm>
            <a:prstGeom prst="line">
              <a:avLst/>
            </a:prstGeom>
            <a:grp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6D8996-2669-4634-9753-F687C728F2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50203" y="4495800"/>
              <a:ext cx="304800" cy="0"/>
            </a:xfrm>
            <a:prstGeom prst="line">
              <a:avLst/>
            </a:prstGeom>
            <a:grp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31" name="Group 30" descr="Non-Linear Data Structures">
            <a:extLst>
              <a:ext uri="{FF2B5EF4-FFF2-40B4-BE49-F238E27FC236}">
                <a16:creationId xmlns:a16="http://schemas.microsoft.com/office/drawing/2014/main" id="{BBCA3FB5-E4E4-4A55-A2BA-67A34490B071}"/>
              </a:ext>
            </a:extLst>
          </p:cNvPr>
          <p:cNvGrpSpPr/>
          <p:nvPr/>
        </p:nvGrpSpPr>
        <p:grpSpPr>
          <a:xfrm>
            <a:off x="5225372" y="4686961"/>
            <a:ext cx="987552" cy="911352"/>
            <a:chOff x="4079846" y="3744286"/>
            <a:chExt cx="987552" cy="91135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D06E595-9B3B-4CCB-9BDB-BBDFCB0F3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46" y="37442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47F677-4DCC-4D8C-A1AE-1F791E081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646" y="38204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9D2F77B-58EA-434A-9B0C-23C2FAFE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46" y="43538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AE1F873-515C-4395-9A03-190B6BF12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446" y="42776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6" name="Straight Connector 27">
              <a:extLst>
                <a:ext uri="{FF2B5EF4-FFF2-40B4-BE49-F238E27FC236}">
                  <a16:creationId xmlns:a16="http://schemas.microsoft.com/office/drawing/2014/main" id="{5A300474-4AF3-4B14-AC0F-944DB12EE000}"/>
                </a:ext>
              </a:extLst>
            </p:cNvPr>
            <p:cNvCxnSpPr>
              <a:cxnSpLocks noChangeShapeType="1"/>
              <a:stCxn id="32" idx="6"/>
              <a:endCxn id="33" idx="2"/>
            </p:cNvCxnSpPr>
            <p:nvPr/>
          </p:nvCxnSpPr>
          <p:spPr bwMode="auto">
            <a:xfrm>
              <a:off x="4381598" y="3895162"/>
              <a:ext cx="384048" cy="7620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7" name="Straight Connector 29">
              <a:extLst>
                <a:ext uri="{FF2B5EF4-FFF2-40B4-BE49-F238E27FC236}">
                  <a16:creationId xmlns:a16="http://schemas.microsoft.com/office/drawing/2014/main" id="{2B26994C-2449-49C4-959A-08A707E3B0EA}"/>
                </a:ext>
              </a:extLst>
            </p:cNvPr>
            <p:cNvCxnSpPr>
              <a:cxnSpLocks noChangeShapeType="1"/>
              <a:stCxn id="33" idx="4"/>
              <a:endCxn id="35" idx="0"/>
            </p:cNvCxnSpPr>
            <p:nvPr/>
          </p:nvCxnSpPr>
          <p:spPr bwMode="auto">
            <a:xfrm flipH="1">
              <a:off x="4840322" y="4122238"/>
              <a:ext cx="76200" cy="155448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16A74199-DDE2-460E-8EF9-DC0C699CAD5D}"/>
                </a:ext>
              </a:extLst>
            </p:cNvPr>
            <p:cNvCxnSpPr>
              <a:cxnSpLocks noChangeShapeType="1"/>
              <a:stCxn id="32" idx="5"/>
              <a:endCxn id="35" idx="1"/>
            </p:cNvCxnSpPr>
            <p:nvPr/>
          </p:nvCxnSpPr>
          <p:spPr bwMode="auto">
            <a:xfrm>
              <a:off x="4337407" y="4001847"/>
              <a:ext cx="396230" cy="32003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F8A83CAE-9C4A-4C60-8A1C-7F6AE7A2B7EC}"/>
                </a:ext>
              </a:extLst>
            </p:cNvPr>
            <p:cNvCxnSpPr>
              <a:cxnSpLocks noChangeShapeType="1"/>
              <a:stCxn id="32" idx="4"/>
            </p:cNvCxnSpPr>
            <p:nvPr/>
          </p:nvCxnSpPr>
          <p:spPr bwMode="auto">
            <a:xfrm>
              <a:off x="4230722" y="4046038"/>
              <a:ext cx="169093" cy="363987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4584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Agenda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1279490" y="1553282"/>
            <a:ext cx="9904324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81E2"/>
                </a:solidFill>
                <a:latin typeface="Gotham Bold" pitchFamily="50" charset="0"/>
              </a:rPr>
              <a:t>Record this Lecture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81E2"/>
                </a:solidFill>
                <a:latin typeface="Gotham Bold" pitchFamily="50" charset="0"/>
              </a:rPr>
              <a:t>Announcements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EB6E19"/>
                </a:solidFill>
                <a:latin typeface="Gotham Bold" pitchFamily="50" charset="0"/>
              </a:rPr>
              <a:t>Exam 1 Logistics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EB6E19"/>
                </a:solidFill>
                <a:latin typeface="Gotham Bold" pitchFamily="50" charset="0"/>
              </a:rPr>
              <a:t>Exam Review A: </a:t>
            </a:r>
            <a:r>
              <a:rPr lang="en-US" sz="3200" dirty="0">
                <a:solidFill>
                  <a:srgbClr val="0081E2"/>
                </a:solidFill>
                <a:latin typeface="Gotham Bold" pitchFamily="50" charset="0"/>
              </a:rPr>
              <a:t>Module 2 and 3</a:t>
            </a:r>
          </a:p>
        </p:txBody>
      </p:sp>
    </p:spTree>
    <p:extLst>
      <p:ext uri="{BB962C8B-B14F-4D97-AF65-F5344CB8AC3E}">
        <p14:creationId xmlns:p14="http://schemas.microsoft.com/office/powerpoint/2010/main" val="212089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Exam 1 Logistics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987636" y="1483169"/>
            <a:ext cx="10876415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Date and timings 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</a:rPr>
              <a:t>For campus students (excluding students who need accommodations):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Exam 1 will be on Oct 6 (Tuesday) at 8:20 pm to 10:10 pm on campus in-person. The location of the exam is dependent on your last name.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PUGH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Pugh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Hall 170 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Abichou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- Kalariya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TUR Turlington Hall L005 : Kanige - Perojevic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WEIL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Weil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Hall 0270: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Petrychenko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- Zozaya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</a:rPr>
              <a:t>For campus students who need accommodations as per DRC: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Exam 1 will be on Oct 6 (Tuesday). You can take the exam on Honorlock anytime at home between 6 pm to 11:59 pm at your home.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exam duration is 1 hr 50 minutes hours.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You are allowed the following for your exam: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</a:rPr>
              <a:t>one double sided handwritten sheet of notes (letter size/A4 page).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</a:rPr>
              <a:t>4 double sided blank sheets of scratch paper (letter size/A4 page).</a:t>
            </a:r>
          </a:p>
        </p:txBody>
      </p:sp>
    </p:spTree>
    <p:extLst>
      <p:ext uri="{BB962C8B-B14F-4D97-AF65-F5344CB8AC3E}">
        <p14:creationId xmlns:p14="http://schemas.microsoft.com/office/powerpoint/2010/main" val="279030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Exam 1 Topics and Expectations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3F2B3-9659-875A-AE5F-17F90640C5E8}"/>
              </a:ext>
            </a:extLst>
          </p:cNvPr>
          <p:cNvSpPr txBox="1"/>
          <p:nvPr/>
        </p:nvSpPr>
        <p:spPr>
          <a:xfrm>
            <a:off x="1083527" y="1823445"/>
            <a:ext cx="1087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1E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https://docs.google.com/document/d/1mfFdECreuzJLSRuCWvGjSMqbiQ88ZvFY_9UHE3I9iNM/edit?usp=sharing</a:t>
            </a:r>
            <a:r>
              <a:rPr lang="en-US" dirty="0">
                <a:solidFill>
                  <a:srgbClr val="0081E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863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84228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adding an item to a stack in the worst case in terms of Big O notation?</a:t>
            </a:r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8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84228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adding an item to a stack in the worst case in terms of Big O notation?</a:t>
            </a:r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O(1)</a:t>
            </a:r>
          </a:p>
        </p:txBody>
      </p:sp>
    </p:spTree>
    <p:extLst>
      <p:ext uri="{BB962C8B-B14F-4D97-AF65-F5344CB8AC3E}">
        <p14:creationId xmlns:p14="http://schemas.microsoft.com/office/powerpoint/2010/main" val="409437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k;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j=n; j&gt;1; j=j/2)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k =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*j;</a:t>
            </a:r>
          </a:p>
        </p:txBody>
      </p:sp>
    </p:spTree>
    <p:extLst>
      <p:ext uri="{BB962C8B-B14F-4D97-AF65-F5344CB8AC3E}">
        <p14:creationId xmlns:p14="http://schemas.microsoft.com/office/powerpoint/2010/main" val="22820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k;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j=n; j&gt;1; j=j/2)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k = i*j;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O(n log</a:t>
            </a:r>
            <a:r>
              <a:rPr lang="en-US" sz="2000" baseline="-25000" dirty="0">
                <a:solidFill>
                  <a:srgbClr val="00DA63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294124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int i = 1;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while (i &lt; n)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i = i * m;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73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int i = 1;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while (i &lt; n)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i = i * m;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O (</a:t>
            </a:r>
            <a:r>
              <a:rPr lang="en-US" sz="2000" dirty="0" err="1">
                <a:solidFill>
                  <a:srgbClr val="00DA63"/>
                </a:solidFill>
                <a:latin typeface="Consolas" panose="020B0609020204030204" pitchFamily="49" charset="0"/>
              </a:rPr>
              <a:t>log</a:t>
            </a:r>
            <a:r>
              <a:rPr lang="en-US" sz="2000" baseline="-25000" dirty="0" err="1">
                <a:solidFill>
                  <a:srgbClr val="00DA63"/>
                </a:solidFill>
                <a:latin typeface="Consolas" panose="020B0609020204030204" pitchFamily="49" charset="0"/>
              </a:rPr>
              <a:t>m</a:t>
            </a:r>
            <a:r>
              <a:rPr lang="en-US" sz="2000" baseline="-25000" dirty="0">
                <a:solidFill>
                  <a:srgbClr val="00DA6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n)</a:t>
            </a:r>
          </a:p>
        </p:txBody>
      </p:sp>
    </p:spTree>
    <p:extLst>
      <p:ext uri="{BB962C8B-B14F-4D97-AF65-F5344CB8AC3E}">
        <p14:creationId xmlns:p14="http://schemas.microsoft.com/office/powerpoint/2010/main" val="32978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result = 0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result += i;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j = 1; j &lt; m; j *= 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result *= j;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70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result = 0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result += i;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j = 1; j &lt; m; j *= 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result *= j;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O(n+log</a:t>
            </a:r>
            <a:r>
              <a:rPr lang="en-US" sz="2000" baseline="-25000" dirty="0">
                <a:solidFill>
                  <a:srgbClr val="00DA63"/>
                </a:solidFill>
                <a:latin typeface="Consolas" panose="020B0609020204030204" pitchFamily="49" charset="0"/>
              </a:rPr>
              <a:t>2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250422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i=n; i&gt;0; i/=2)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j&lt;i;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6359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What is the computational complexity of the following code snippet?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i=n; i&gt;0; i/=2)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j&lt;i;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O(n)</a:t>
            </a:r>
          </a:p>
        </p:txBody>
      </p:sp>
    </p:spTree>
    <p:extLst>
      <p:ext uri="{BB962C8B-B14F-4D97-AF65-F5344CB8AC3E}">
        <p14:creationId xmlns:p14="http://schemas.microsoft.com/office/powerpoint/2010/main" val="2916700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21277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Which code snippet will take less time to execute on a computer?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 A                                    B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n;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4DF68-D3B8-4D4F-85C6-D314CAD1A865}"/>
              </a:ext>
            </a:extLst>
          </p:cNvPr>
          <p:cNvSpPr txBox="1"/>
          <p:nvPr/>
        </p:nvSpPr>
        <p:spPr>
          <a:xfrm>
            <a:off x="6353071" y="2798239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2n; i++)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2n; </a:t>
            </a:r>
            <a:r>
              <a:rPr lang="en-US" sz="18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</p:txBody>
      </p:sp>
    </p:spTree>
    <p:extLst>
      <p:ext uri="{BB962C8B-B14F-4D97-AF65-F5344CB8AC3E}">
        <p14:creationId xmlns:p14="http://schemas.microsoft.com/office/powerpoint/2010/main" val="188823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8" y="1828743"/>
            <a:ext cx="921277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Which code snippet will take less time to execute on a computer?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 A                                    B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n;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4DF68-D3B8-4D4F-85C6-D314CAD1A865}"/>
              </a:ext>
            </a:extLst>
          </p:cNvPr>
          <p:cNvSpPr txBox="1"/>
          <p:nvPr/>
        </p:nvSpPr>
        <p:spPr>
          <a:xfrm>
            <a:off x="6353071" y="2798239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2n; i++)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2n; </a:t>
            </a:r>
            <a:r>
              <a:rPr lang="en-US" sz="18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</p:txBody>
      </p:sp>
    </p:spTree>
    <p:extLst>
      <p:ext uri="{BB962C8B-B14F-4D97-AF65-F5344CB8AC3E}">
        <p14:creationId xmlns:p14="http://schemas.microsoft.com/office/powerpoint/2010/main" val="128738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9" y="1828743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Which code snippet will have a higher growth rate </a:t>
            </a:r>
            <a:r>
              <a:rPr lang="en-US" sz="2000" dirty="0" err="1">
                <a:solidFill>
                  <a:srgbClr val="0081E2"/>
                </a:solidFill>
                <a:latin typeface="Consolas" panose="020B0609020204030204" pitchFamily="49" charset="0"/>
              </a:rPr>
              <a:t>asymtotically</a:t>
            </a:r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 in terms of Big O notation?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 A                                    B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n;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4DF68-D3B8-4D4F-85C6-D314CAD1A865}"/>
              </a:ext>
            </a:extLst>
          </p:cNvPr>
          <p:cNvSpPr txBox="1"/>
          <p:nvPr/>
        </p:nvSpPr>
        <p:spPr>
          <a:xfrm>
            <a:off x="6297419" y="3059496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2n; i++)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2n; </a:t>
            </a:r>
            <a:r>
              <a:rPr lang="en-US" sz="18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</p:txBody>
      </p:sp>
    </p:spTree>
    <p:extLst>
      <p:ext uri="{BB962C8B-B14F-4D97-AF65-F5344CB8AC3E}">
        <p14:creationId xmlns:p14="http://schemas.microsoft.com/office/powerpoint/2010/main" val="1211821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6009-18FB-490F-970D-3C9B83737A5E}"/>
              </a:ext>
            </a:extLst>
          </p:cNvPr>
          <p:cNvSpPr txBox="1"/>
          <p:nvPr/>
        </p:nvSpPr>
        <p:spPr>
          <a:xfrm>
            <a:off x="1039619" y="1828743"/>
            <a:ext cx="10515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1E2"/>
                </a:solidFill>
                <a:latin typeface="Consolas" panose="020B0609020204030204" pitchFamily="49" charset="0"/>
              </a:rPr>
              <a:t>Which code snippet will have a higher growth rate asymptotically in terms of Big O notation?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 A                                    B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n; i++)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n; </a:t>
            </a:r>
            <a:r>
              <a:rPr lang="en-US" sz="20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Answer: A and B grow at the same rate </a:t>
            </a:r>
            <a:r>
              <a:rPr lang="en-US" sz="2000" dirty="0" err="1">
                <a:solidFill>
                  <a:srgbClr val="00DA63"/>
                </a:solidFill>
                <a:latin typeface="Consolas" panose="020B0609020204030204" pitchFamily="49" charset="0"/>
              </a:rPr>
              <a:t>asymtotically</a:t>
            </a:r>
            <a:endParaRPr lang="en-US" sz="2000" dirty="0">
              <a:solidFill>
                <a:srgbClr val="00DA63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4DF68-D3B8-4D4F-85C6-D314CAD1A865}"/>
              </a:ext>
            </a:extLst>
          </p:cNvPr>
          <p:cNvSpPr txBox="1"/>
          <p:nvPr/>
        </p:nvSpPr>
        <p:spPr>
          <a:xfrm>
            <a:off x="6297419" y="3059496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for (int i=1; i &lt; 2n; i++)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for (int j=1; j &lt; 2n; </a:t>
            </a:r>
            <a:r>
              <a:rPr lang="en-US" sz="1800" dirty="0" err="1">
                <a:solidFill>
                  <a:srgbClr val="EB6E19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		sum = sum + 1;</a:t>
            </a:r>
          </a:p>
        </p:txBody>
      </p:sp>
    </p:spTree>
    <p:extLst>
      <p:ext uri="{BB962C8B-B14F-4D97-AF65-F5344CB8AC3E}">
        <p14:creationId xmlns:p14="http://schemas.microsoft.com/office/powerpoint/2010/main" val="2651317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Linked Lists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9790759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Consider a class List that implements an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ordered</a:t>
            </a: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list backed by a singly linked list with a head pointer. The invariant “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ordered</a:t>
            </a: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” is maintained always. Given that representation, what is the worst-case time complexity of the following operations? Assume the list is sorted in ascending order.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A. Insert an item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B. Finding the minimum element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C. Delete the largest element from list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D. Finding the largest element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E. Finding a random element, n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F. Deleting the minimum element in the list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14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Linked Lists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9790759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Consider a class List that implements an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ordered</a:t>
            </a: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list backed by a singly linked list with a head pointer. The invariant “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ordered</a:t>
            </a: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” is maintained always. Given that representation, what is the worst-case time complexity of the following operations? Assume the list is sorted in ascending order.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A. Insert an item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O(n)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B. Finding the minimum element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O(1)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C. Delete the largest element from list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O(n)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D. Finding the largest element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O(n)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E. Finding a random element, n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O(n)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F. Deleting the minimum element in the list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: O(1)</a:t>
            </a:r>
          </a:p>
          <a:p>
            <a:endParaRPr lang="en-US" sz="16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079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Stacks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Postfix Evaluation “2 3 1 * + 9 -“. We scan all elements one by one.</a:t>
            </a:r>
            <a:b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</a:b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279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Stacks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Postfix Evaluation “2 3 1 * + 9 -“. We scan all elements one by one.</a:t>
            </a:r>
          </a:p>
          <a:p>
            <a:b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1) Scan ‘2’, it’s a number, so push it to stack. Stack contains ‘2’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2) Scan ‘3’, again a number, push it to stack, stack now contains ‘2 3’ (from bottom to top)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3) Scan ‘1’, again a number, push it to stack, stack now contains ‘2 3 1’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4) Scan ‘*’, it’s an operator, pop two operands from stack, apply the * operator on operands, we get 3*1 which results in 3. We push the result ‘3’ to stack. Stack now becomes ‘2 3’.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5) Scan ‘+’, it’s an operator, pop two operands from stack, apply the + operator on operands, we get 3 + 2 which results in 5. We push the result ‘5’ to stack. Stack now becomes ‘5’.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6) Scan ‘9’, it’s a number, we push it to the stack. Stack now becomes ‘5 9’.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7) Scan ‘-‘, it’s an operator, pop two operands from stack, apply the – operator on operands, we get 5 – 9 which results in -4. We push the result ‘-4’ to stack. Stack now becomes ‘-4’.</a:t>
            </a:r>
            <a:b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8) There are no more elements to scan, we return the top element from stack (which is the only element left in stack).</a:t>
            </a:r>
          </a:p>
        </p:txBody>
      </p:sp>
    </p:spTree>
    <p:extLst>
      <p:ext uri="{BB962C8B-B14F-4D97-AF65-F5344CB8AC3E}">
        <p14:creationId xmlns:p14="http://schemas.microsoft.com/office/powerpoint/2010/main" val="3921623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Output Prediction / Coding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https://onlinegdb.com/BJ4hyD7vP</a:t>
            </a: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https://onlinegdb.com/BJ6gewQDP</a:t>
            </a: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https://onlinegdb.com/OefiHIntV</a:t>
            </a: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92846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Coding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69B1C4-5084-4E0D-9FA0-9C8B794FA1FE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Check whether a string is a Palindrome using a Stack.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Write C++ code for adding an element in the rear in a doubly linked list consisting of a head and tail.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Write C++ code to find the median in a single linked using slow and fast pointer technique. – </a:t>
            </a:r>
            <a:r>
              <a:rPr lang="en-US" sz="1600" dirty="0" err="1">
                <a:solidFill>
                  <a:srgbClr val="EB6E19"/>
                </a:solidFill>
                <a:latin typeface="Consolas" panose="020B0609020204030204" pitchFamily="49" charset="0"/>
              </a:rPr>
              <a:t>Edugator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 4.5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51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3AF71-80B0-BFD6-53C1-46703DA47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AAD8-AAAA-1CAA-383C-D8248A35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Coding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5FA25D5-0E5F-6DAA-FACA-88A6EE2758BB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Design a Stack data structure in C++ that supports push, pop and min operations in O(1) time. You can use an STL Tack if needed.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02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8DB82-FD2C-CB4E-EA1D-F8AA41B4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D1D0-3765-A726-5B35-8A2A679E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Coding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82CEE2F-3E04-2EB1-21D1-2C9829DFD984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Design a Stack data structure in C++ that supports push, pop and min operations in O(1) time. You can use an STL Tack if needed.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27AB7-19EE-8ABC-B042-A5E8858F0AA7}"/>
              </a:ext>
            </a:extLst>
          </p:cNvPr>
          <p:cNvSpPr txBox="1"/>
          <p:nvPr/>
        </p:nvSpPr>
        <p:spPr>
          <a:xfrm>
            <a:off x="1451985" y="2390351"/>
            <a:ext cx="9799134" cy="442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stack&lt;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s;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// main stack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stack&lt;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keeps track of current minimums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Push an element onto the stack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push(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x) {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s.push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pPr>
              <a:lnSpc>
                <a:spcPts val="2025"/>
              </a:lnSpc>
              <a:buNone/>
            </a:pP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If </a:t>
            </a:r>
            <a:r>
              <a:rPr 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minStack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empty or x &lt;= current min, push to </a:t>
            </a:r>
            <a:r>
              <a:rPr 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minStack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minStack.empty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|| x &lt;=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minStack.top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minStack.push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minStack.push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minStack.top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81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2C84-A1D5-709B-4D66-6BCAE9E8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3E86-86C8-0A14-0E8B-65FC90F3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Coding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086F6AA-CEAB-A12B-8E9A-C4159899F0E0}"/>
              </a:ext>
            </a:extLst>
          </p:cNvPr>
          <p:cNvSpPr txBox="1">
            <a:spLocks/>
          </p:cNvSpPr>
          <p:nvPr/>
        </p:nvSpPr>
        <p:spPr>
          <a:xfrm>
            <a:off x="940881" y="1690688"/>
            <a:ext cx="10978592" cy="50579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Design a Stack data structure in C++ that supports push, pop and min operations in O(1) time. You can use an STL Tack if needed.</a:t>
            </a: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1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200A8-E81F-D90C-0AB8-E551C55CFD0A}"/>
              </a:ext>
            </a:extLst>
          </p:cNvPr>
          <p:cNvSpPr txBox="1"/>
          <p:nvPr/>
        </p:nvSpPr>
        <p:spPr>
          <a:xfrm>
            <a:off x="1095607" y="2314112"/>
            <a:ext cx="7513134" cy="4434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Pop the top element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pop() {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s.empty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underflow_error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"Stack is empty"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s.pop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minStack.pop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Get the current minimum in O(1)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min() {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minStack.empty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underflow_error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"Stack is empty"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minStack.top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55248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0D817-7706-4B40-61E0-933842B0CC61}"/>
              </a:ext>
            </a:extLst>
          </p:cNvPr>
          <p:cNvSpPr txBox="1"/>
          <p:nvPr/>
        </p:nvSpPr>
        <p:spPr>
          <a:xfrm>
            <a:off x="1103126" y="2326068"/>
            <a:ext cx="92529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Recognize the following techniques with the most appropriate algorithm.</a:t>
            </a:r>
          </a:p>
          <a:p>
            <a:endParaRPr lang="en-US" dirty="0">
              <a:solidFill>
                <a:srgbClr val="EB6E19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Finds smallest element and puts in lowest index, then puts second smallest in the second index, and so 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Swaps neighboring items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Rearranges elements at a gap and reduces gaps across passes until it converges</a:t>
            </a:r>
          </a:p>
          <a:p>
            <a:endParaRPr lang="en-US" dirty="0">
              <a:solidFill>
                <a:srgbClr val="EB6E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74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0D817-7706-4B40-61E0-933842B0CC61}"/>
              </a:ext>
            </a:extLst>
          </p:cNvPr>
          <p:cNvSpPr txBox="1"/>
          <p:nvPr/>
        </p:nvSpPr>
        <p:spPr>
          <a:xfrm>
            <a:off x="1103126" y="2326068"/>
            <a:ext cx="92529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Recognize the following techniques with the most appropriate algorithm.</a:t>
            </a:r>
          </a:p>
          <a:p>
            <a:endParaRPr lang="en-US" dirty="0">
              <a:solidFill>
                <a:srgbClr val="EB6E19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Finds smallest element and puts in lowest index, then puts second smallest in the second index, and so on: </a:t>
            </a:r>
            <a:r>
              <a:rPr lang="en-US" dirty="0">
                <a:solidFill>
                  <a:srgbClr val="0081E2"/>
                </a:solidFill>
              </a:rPr>
              <a:t>Selection Sort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Swaps neighboring items: </a:t>
            </a:r>
            <a:r>
              <a:rPr lang="en-US" dirty="0">
                <a:solidFill>
                  <a:srgbClr val="0081E2"/>
                </a:solidFill>
              </a:rPr>
              <a:t>Bubble Sort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Rearranges elements at a gap and reduces gaps across passes until it converges</a:t>
            </a:r>
            <a:r>
              <a:rPr lang="en-US" dirty="0">
                <a:solidFill>
                  <a:srgbClr val="0081E2"/>
                </a:solidFill>
              </a:rPr>
              <a:t>: Shell Sort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EB6E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089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0D817-7706-4B40-61E0-933842B0CC61}"/>
              </a:ext>
            </a:extLst>
          </p:cNvPr>
          <p:cNvSpPr txBox="1"/>
          <p:nvPr/>
        </p:nvSpPr>
        <p:spPr>
          <a:xfrm>
            <a:off x="1166921" y="1805073"/>
            <a:ext cx="925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What will be the values in the array after one pass of the follow algorithms: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4A2710-3343-894E-F0EE-C7A118C5D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56026"/>
              </p:ext>
            </p:extLst>
          </p:nvPr>
        </p:nvGraphicFramePr>
        <p:xfrm>
          <a:off x="1729413" y="2590996"/>
          <a:ext cx="812799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6382">
                  <a:extLst>
                    <a:ext uri="{9D8B030D-6E8A-4147-A177-3AD203B41FA5}">
                      <a16:colId xmlns:a16="http://schemas.microsoft.com/office/drawing/2014/main" val="2338198008"/>
                    </a:ext>
                  </a:extLst>
                </a:gridCol>
                <a:gridCol w="2512284">
                  <a:extLst>
                    <a:ext uri="{9D8B030D-6E8A-4147-A177-3AD203B41FA5}">
                      <a16:colId xmlns:a16="http://schemas.microsoft.com/office/drawing/2014/main" val="21205856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126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Sort Algorithm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After One Pass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857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Bubble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D5E5E7"/>
                          </a:solidFill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D5E5E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03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Selection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5E5E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0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Shell (gap, n/2)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5E5E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5E5E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25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Quick (last element is pivot)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5E5E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389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275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Mini Review – Sorting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0D817-7706-4B40-61E0-933842B0CC61}"/>
              </a:ext>
            </a:extLst>
          </p:cNvPr>
          <p:cNvSpPr txBox="1"/>
          <p:nvPr/>
        </p:nvSpPr>
        <p:spPr>
          <a:xfrm>
            <a:off x="1166921" y="1805073"/>
            <a:ext cx="925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What will be the values in the array after one pass of the follow algorithms: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4A2710-3343-894E-F0EE-C7A118C5DB77}"/>
              </a:ext>
            </a:extLst>
          </p:cNvPr>
          <p:cNvGraphicFramePr>
            <a:graphicFrameLocks noGrp="1"/>
          </p:cNvGraphicFramePr>
          <p:nvPr/>
        </p:nvGraphicFramePr>
        <p:xfrm>
          <a:off x="1729413" y="2590996"/>
          <a:ext cx="812799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6382">
                  <a:extLst>
                    <a:ext uri="{9D8B030D-6E8A-4147-A177-3AD203B41FA5}">
                      <a16:colId xmlns:a16="http://schemas.microsoft.com/office/drawing/2014/main" val="2338198008"/>
                    </a:ext>
                  </a:extLst>
                </a:gridCol>
                <a:gridCol w="2512284">
                  <a:extLst>
                    <a:ext uri="{9D8B030D-6E8A-4147-A177-3AD203B41FA5}">
                      <a16:colId xmlns:a16="http://schemas.microsoft.com/office/drawing/2014/main" val="21205856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126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Sort Algorithm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After One Pass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857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Bubble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D5E5E7"/>
                          </a:solidFill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D5E5E7"/>
                          </a:solidFill>
                        </a:rPr>
                        <a:t>6, 7, 0, 5, 11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03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Selection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0, 7, 11, 6, 5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0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Shell (gap, n/2)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5E5E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0, 5, 11, 6, 7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25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81E2"/>
                          </a:solidFill>
                        </a:rPr>
                        <a:t>Quick (last element is pivot)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6, 7, 11, 0, 5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E5E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0, 5, 11, 7, 6</a:t>
                      </a:r>
                    </a:p>
                  </a:txBody>
                  <a:tcPr>
                    <a:lnL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389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30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767" y="2555666"/>
            <a:ext cx="3562978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082642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6932</TotalTime>
  <Words>2543</Words>
  <Application>Microsoft Office PowerPoint</Application>
  <PresentationFormat>Widescreen</PresentationFormat>
  <Paragraphs>340</Paragraphs>
  <Slides>33</Slides>
  <Notes>33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Consolas</vt:lpstr>
      <vt:lpstr>Gotham Bold</vt:lpstr>
      <vt:lpstr>Wingdings</vt:lpstr>
      <vt:lpstr>1_Office Theme</vt:lpstr>
      <vt:lpstr>2_Office Theme</vt:lpstr>
      <vt:lpstr>PowerPoint Presentation</vt:lpstr>
      <vt:lpstr>  Categories of Data Structures  </vt:lpstr>
      <vt:lpstr>   Agenda   </vt:lpstr>
      <vt:lpstr>   Exam 1 Logistics   </vt:lpstr>
      <vt:lpstr>Exam 1 Topics and Expectations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Complexity</vt:lpstr>
      <vt:lpstr>Mini Review – Linked Lists</vt:lpstr>
      <vt:lpstr>Mini Review – Linked Lists</vt:lpstr>
      <vt:lpstr>Mini Review – Stacks</vt:lpstr>
      <vt:lpstr>Mini Review – Stacks</vt:lpstr>
      <vt:lpstr>Output Prediction / Coding Questions</vt:lpstr>
      <vt:lpstr>Mini Review – Coding questions</vt:lpstr>
      <vt:lpstr>Mini Review – Coding questions</vt:lpstr>
      <vt:lpstr>Mini Review – Coding questions</vt:lpstr>
      <vt:lpstr>Mini Review – Coding questions</vt:lpstr>
      <vt:lpstr>Mini Review – Sorting</vt:lpstr>
      <vt:lpstr>Mini Review – Sorting</vt:lpstr>
      <vt:lpstr>Mini Review – Sorting</vt:lpstr>
      <vt:lpstr>Mini Review – Sorting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Amanpreet Kapoor Amanpreet Kapoor</dc:title>
  <dc:creator>amanpreet kapoor</dc:creator>
  <cp:lastModifiedBy>Kapoor,Amanpreet</cp:lastModifiedBy>
  <cp:revision>427</cp:revision>
  <dcterms:created xsi:type="dcterms:W3CDTF">2020-04-14T17:15:24Z</dcterms:created>
  <dcterms:modified xsi:type="dcterms:W3CDTF">2026-10-01T16:36:51Z</dcterms:modified>
</cp:coreProperties>
</file>